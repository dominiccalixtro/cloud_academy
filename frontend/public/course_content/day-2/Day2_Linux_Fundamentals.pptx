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Welcome everyone back for Day 2. Yesterday we covered how computers, the Internet, and the cloud work in general. Today we go hands-on with Linux — the operating system that runs the vast majority of servers in the world, including most of AWS.
COMMON QUESTIONS: "Do I need to install Linux on my own computer?" — No, we'll use a cloud/virtual terminal so everyone has an identical environment.
EXTRA EXPLANATION: Set expectations — this is a hands-on, terminal-heavy session. Encourage students to type every command themselves rather than just watching.
ANIMATION: Fade in title, then Float In the subtitle and duration/audience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Walk through each objective briefly. Emphasize that these six skills form the backbone of daily cloud-engineering work — every AWS engineer uses these constantly.
COMMON QUESTIONS: "Will we need to memorize every command?" — No, focus on understanding concepts; commands become muscle memory with practice.
ANIMATION: Appear each card in sequence (Fade, staggered by 0.2s) as you talk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Preview the flow of the day so students know what's coming and can pace themselves. Mention breaks will happen roughly every 45-60 minutes.
EXTRA EXPLANATION: Note that the Hands-On Lab ties everything together, so don't worry about memorizing each command in isolation — it all gets reinforced in the lab.
ANIMATION: Wipe or Appear each row top-to-bottom.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Ask the question aloud and call on 3-4 volunteers. This surfaces the room's experience level and gets people talking early.
COMMON QUESTIONS: Students who've "only used Windows/Mac" often worry they're behind — reassure them everyone starts Linux fresh, since even Mac/Windows users rarely touch a terminal.
EXTRA EXPLANATION: If someone mentions Android or Chrome OS, point out both are Linux-based under the hood — a fun preview of how widespread Linux already is in their daily life.
ANIMATION: Zoom in on the quote bubble, then Fade in the OS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Define Linux simply as an operating system, just like Windows or macOS, but free and open-source. Emphasize students almost certainly already use Linux daily without realizing it (Android, routers, smart TVs).
COMMON QUESTIONS: "Is Linux hard to learn?" — It has a learning curve at first because of the command line, but it becomes very intuitive with repetition.
EXTRA EXPLANATION: 'Open-source' means the source code is publicly available for anyone to view, modify, and distribute — this is why so many different versions (distributions) exist.
ANIMATION: Fade in the definition card, then Float In the Tux mascot from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Walk through the timeline left to right. Keep it light — the key takeaway is that Linux began as a hobby project by a student (Linus Torvalds) and grew into the operating system that now powers most of the Internet and cloud.
COMMON QUESTIONS: "Is Linux still being updated?" — Yes, thousands of contributors worldwide update the kernel continuously; new versions release every few months.
EXTRA EXPLANATION: 'Torvalds' name is often mispronounced — no need to dwell on it, just note he's Finnish and started this at university in 1991.
ANIMATION: Appear each timeline milestone left-to-right (Fade), connected line draws via Wipe.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Reinforce that this isn't a niche skill — it's foundational. Nearly every EC2 instance, container, and Lambda function under the hood ultimately relies on Linux.
COMMON QUESTIONS: "Can't I just use Windows Server on AWS?" — Yes, AWS supports Windows Server too, but Linux dominates due to lower cost and automation-friendliness.
EXTRA EXPLANATION: Mention Amazon Linux specifically — AWS's own Linux distribution optimized for EC2.
ANIMATION: Float In each reason card, then Zoom in on the closing statistic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Clarify a common point of confusion for beginners: there is no single 'Linux' program to download. Instead, there are many distributions, each with different defaults, package managers, and target use cases.
COMMON QUESTIONS: "Which distro should I learn?" — For this bootcamp, we'll focus on Ubuntu and Amazon Linux since they're most common in AWS environments.
ANIMATION: Fade in definition, then Zoom in on analogy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Point out these six as the ones students are most likely to encounter professionally. Ubuntu and Amazon Linux will be our main focus in labs.
COMMON QUESTIONS: "What's the difference between CentOS and Red Hat?" — RHEL is commercial with paid support; CentOS/Rocky Linux are free community rebuilds of the same codebase.
EXTRA EXPLANATION: Debian is the 'parent' distro that Ubuntu is built on — useful to know when troubleshooting since many commands overlap.
ANIMATION: Appear each logo card in a staggered grid (Fade, 0.15s stagger).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Go row by row, anchoring each Linux concept to something students already recognize from Windows. Filesystem and CLI rows tend to generate the most questions.
COMMON QUESTIONS: "Does Linux have a desktop like Windows?" — Yes, several (GNOME, KDE), but cloud servers almost always run headless (no GUI) to save resources.
EXTRA EXPLANATION: Point out that PowerShell is Windows' attempt to catch up to the flexibility Linux's Bash shell has had for decades.
ANIMATION: Appear header row (Fade), then Wipe in each table row top-to-bottom.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Walk down the stack. You type a command (User) → the Shell interprets it → the Kernel carries it out → Hardware actually does the work. This is the mental model students will use for the rest of the course.
COMMON QUESTIONS: "What exactly is Bash?" — Bash is the most common shell; it's the program that reads what you type and turns it into kernel instructions.
EXTRA EXPLANATION: The kernel never talks to users directly — it's protected. This is a security feature, not a limitation.
ANIMATION: Morph transition top-down through each layer as you explain it; arrows Fade in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Unlike Windows' multiple drive letters (C:, D:), Linux has one single tree starting at the root, written as a forward slash /. Every other directory branches from there.
COMMON QUESTIONS: "Where's my C: drive?" — There isn't one; external drives and partitions get 'mounted' as folders inside this same tree instead.
EXTRA EXPLANATION: Emphasize case-sensitivity: /Home and /home are different paths in Linux, unlike Windows.
ANIMATION: Zoom in on root /, then Fade in each branch left-to-right with connecting lines drawn via Wipe.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Go through each directory quickly with a one-line description. Students don't need to memorize all of these today — /home, /etc, and /var are the ones they'll touch most as beginners.
COMMON QUESTIONS: "Why is it called /etc?" — Historically short for 'et cetera' — a catch-all for configuration files.
EXTRA EXPLANATION: Warn students that /root is the ADMIN user's home folder, completely different from the / root directory — a very common beginner mix-up.
ANIMATION: Appear each directory card in a staggered grid (Fade, 0.15s stagger).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Transition into the hands-on portion. From here forward, students should have their terminal open and follow along live.
COMMON QUESTIONS: "What if I make a typo?" — Totally normal; the terminal will just say 'command not found' — nothing breaks.
EXTRA EXPLANATION: Remind students the terminal is case-sensitive and space-sensitive — extra spaces or wrong capitalization are the #1 source of errors.
ANIMATION: Fade in section title, Float In subtitle.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Have everyone type pwd together and read their output aloud. This confirms everyone's terminal is working before moving on.
COMMON QUESTIONS: "My output says /home/ubuntu instead of /home/student" — That's fine, it just reflects their own username.
EXTRA EXPLANATION: pwd stands for 'print working directory' — 'working directory' is just a formal term for 'current folder'.
ANIMATION: Appear terminal window (Fade), then type-on effect for the command if supported; Float In the side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Show plain ls first, then build up to ls -l and ls -a, explaining what new information each flag reveals.
COMMON QUESTIONS: "What do the d and dashes mean in ls -l?" — Preview that this is the permissions column, which we'll cover in detail shortly.
EXTRA EXPLANATION: Flags (the dash options) can be combined: -la is the same as -l -a.
ANIMATION: Appear terminal, then Fade in each flag description in the side list sequentially.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This is often the trickiest concept for beginners. Draw the distinction between absolute paths (always start with /) and relative paths (depend on where you currently are).
COMMON QUESTIONS: "What does cd with no arguments do?" — Takes you straight home, same as cd ~.
EXTRA EXPLANATION: Two dots .. always means 'parent folder' — a concept shared across nearly every OS, including Windows and macOS.
ANIMATION: Appear terminal window; Float In the path-types glossary one row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Demonstrate both commands live, then run ls to prove the folder and file now exist. This reinforces the create → verify habit.
COMMON QUESTIONS: "Can I create nested folders in one command?" — Yes, with mkdir -p parent/child/grandchild.
EXTRA EXPLANATION: touch is often used to update a file's 'last modified' timestamp on an existing file, not just to create new ones.
ANIMATION: Appear terminal window, then Fade in the mkdir and touch explanation cards in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Quick recap before moving into file management. Ask students to call out each command's purpose from memory before you reveal it.
COMMON QUESTIONS: None expected — this is a consolidation slide.
EXTRA EXPLANATION: Reassure students that repetition in the lab will cement these — no need to memorize perfectly right now.
ANIMATION: Appear each card left-to-right (Fade, staggered).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Introduce this block as 'file management' — the everyday tasks of copying, moving, editing, and removing files that most people currently do by dragging icons.
COMMON QUESTIONS: "Is this safer or riskier than drag-and-drop?" — Riskier if used carelessly (no Recycle Bin!), but far more powerful for automation.
EXTRA EXPLANATION: Preview that rm deletes permanently — no undo — so we'll be extra careful with that one.
ANIMATION: Fade in title, Float In subtitle.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Run the command live, then ls to prove both files now exist side by side.
COMMON QUESTIONS: "What happens if backup.txt already exists?" — cp overwrites it silently by default, so caution is needed.
EXTRA EXPLANATION: cp source destination — order always matters, source first.
ANIMATION: Appear terminal, Morph the before/after diagram to show the file duplicating.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Highlight the dual nature of mv — same command handles both relocating a file and renaming it, since renaming is really just 'moving' a file to a new name in the same folder.
COMMON QUESTIONS: "How do I rename without moving?" — Just use mv oldname newname in the same directory.
EXTRA EXPLANATION: Like cp, mv will silently overwrite an existing destination file — always double-check destination names.
ANIMATION: Appear terminal, Fade in explanation card, Float In analogy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Slow down here. This is the single most dangerous beginner command. Emphasize there is no confirmation dialog and no undo.
COMMON QUESTIONS: "Is there any way to recover a deleted file?" — Not through rm itself; special recovery tools sometimes work but are unreliable, so prevention is the real safeguard.
EXTRA EXPLANATION: rm -i adds a confirmation prompt before every deletion — recommend beginners alias rm to rm -i while they build confidence.
ANIMATION: Appear terminal, then Zoom in on the warning card for emphasis.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Demonstrate all three live: cat to view, echo with &gt;&gt; to append, and nano to open an interactive editor session. Show how to save and exit nano (Ctrl+O, Enter, Ctrl+X).
COMMON QUESTIONS: "What's the difference between &gt; and &gt;&gt;?" — Single &gt; overwrites the whole file; double &gt;&gt; appends to the end.
EXTRA EXPLANATION: nano displays its shortcut keys at the bottom of the screen (the ^ symbol means Ctrl) — reassure students they don't need to memorize them.
ANIMATION: Appear terminal, Fade in each command explanation in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Frame permissions as Linux's built-in security system — every single file has an owner and a defined set of rules for who else can touch it.
COMMON QUESTIONS: "Is this the same as a password?" — No, permissions control what an already-logged-in user can do; passwords control who can log in at all.
ANIMATION: Fade in title, Float In subtitle.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Every file on a Linux system tracks these three categories independently — a file can be fully open to its owner, read-only for the group, and completely blocked for everyone else.
COMMON QUESTIONS: "Can a file belong to more than one group?" — A file has one owning group, but users can belong to multiple groups.
EXTRA EXPLANATION: 'Others' is sometimes the riskiest category to leave too open — it means literally any user on that system.
ANIMATION: Appear each of the three cards left-to-right (Fade).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Break down the rwx letters one at a time, then show the full 9-character string from ls -l and map each group of 3 back to Owner/Group/Others from the previous slide.
COMMON QUESTIONS: "What does a dash mean instead of a letter?" — A dash means that permission is NOT granted, e.g. r-- means read only, no write, no execute.
EXTRA EXPLANATION: The very first character (often a dash or 'd') indicates file vs. directory, not a permission at all.
ANIMATION: Appear r, w, x cards in sequence (Fade), then Zoom in on the full permission string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Show the r=4, w=2, x=1 shorthand, then walk through how 7 (4+2+1), 5 (4+1), and 4 (4) are built from combinations. Run chmod live and confirm the change with ls -l.
COMMON QUESTIONS: "Why 755 for scripts?" — The owner needs full control, but group/others typically only need to run it, not edit it.
EXTRA EXPLANATION: 777 grants every permission to every user — flag this as a common but risky beginner shortcut, not a best practice.
ANIMATION: Appear the r/w/x legend, then Wipe in each chmod example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Tie the abstract permission bits to a concrete, familiar scenario — a real website's files. Walk through each line and ask students to interpret the permissions themselves before you explain.
COMMON QUESTIONS: "Why would a website file need execute permission?" — Only scripts (like deploy.sh) need execute; static pages like index.html never do.
EXTRA EXPLANATION: This is a great moment to mention that misconfigured permissions are a leading cause of real security breaches.
ANIMATION: Appear terminal, then Fade in the explanation paragraph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Clarify the hierarchy: every daemon and service is technically a process, but not every process is a daemon or service. This slide sets up the commands on the next slide.
COMMON QUESTIONS: "Is a service the same as a daemon?" — A service is really just a daemon that's registered with systemd so it can be managed (started, stopped, enabled at boot).
EXTRA EXPLANATION: Common examples of services: sshd (remote login), nginx (web server), cron (scheduled tasks).
ANIMATION: Appear each concept card left-to-right with connecting arrows (Fade).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Demonstrate ps aux and top live so students see real running processes on their own machine. Then show systemctl status on a common service like nginx or sshd.
COMMON QUESTIONS: "What's the difference between top and htop?" — htop is a more visual, colorized, and interactive version of top; not installed by default everywhere.
EXTRA EXPLANATION: kill sends a signal asking a process to stop; kill -9 forces it immediately and should be a last resort.
ANIMATION: Appear terminal window, Fade in each command description sequentially.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Introduce SSH as the primary way engineers access cloud servers day-to-day — there's usually no monitor or keyboard physically attached to a cloud server.
COMMON QUESTIONS: "Is SSH the same as a VPN?" — No, SSH gives you a command-line session on one specific machine; a VPN connects your whole device to a network.
EXTRA EXPLANATION: Preview that in AWS, SSH is exactly how engineers connect to EC2 instances — this sets up Day 3's networking content.
ANIMATION: Fade in the definition card, Float In the key icon from the right, Zoom on the analogy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Trace the path visually: your laptop opens an encrypted tunnel across the Internet directly to port 22 on the remote server, which then grants a command-line session.
COMMON QUESTIONS: "Why port 22 specifically?" — It's simply the standard, agreed-upon port for SSH traffic — like how web traffic conventionally uses port 80/443.
EXTRA EXPLANATION: Mention that in real AWS environments, this port is normally restricted by a security group to specific trusted IP addresses — a preview of Day 3.
ANIMATION: Float In each node of the chain left-to-right, then Zoom in on the terminal command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Explain the public/private key pair model in plain terms: the public key is like a lock installed on the server; the private key is the one physical key that opens it.
COMMON QUESTIONS: "Can two people share the same private key?" — Technically possible but bad practice; each engineer should have their own key pair for accountability.
EXTRA EXPLANATION: AWS EC2 uses exactly this model — when you launch an instance, AWS gives you a .pem private key file and stores the matching public key on the server for you.
ANIMATION: Appear terminal, Fade in public/private key explanation, Zoom on the tip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Transition the class into independent practice. Explain that this lab reuses every command taught today in one connected exercise, rather than in isolation.
COMMON QUESTIONS: "What if I get stuck?" — Raise a hand; circulate and help; also remind them errors are expected and part of learning the terminal.
EXTRA EXPLANATION: Recommend pairing up if the group is large — talking through commands out loud reinforces retention.
ANIMATION: Fade in title, Float In subtitle.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Walk students through this exact sequence step by step, pausing after each command to confirm everyone's output matches.
COMMON QUESTIONS: "Why create separate folders like logs and configs?" — Mirrors real project structure conventions engineers use to stay organized.
EXTRA EXPLANATION: This block reuses mkdir, cd, touch, echo, and cat all in one flow — call that out explicitly as reinforcement.
LAB COMMANDS (type exactly):
mkdir ~/lab &amp;&amp; cd ~/lab
mkdir logs configs scripts
touch configs/app.conf
echo "debug=true" &gt; configs/app.conf
cat configs/app.conf
ANIMATION: Wipe in each step row top-to-bottom as you demonstrate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Continue the guided lab into permissions and process commands. Have students confirm the rwxr-xr-x output after chmod 755 before moving on.
COMMON QUESTIONS: "Why grep bash specifically?" — grep filters the long ps aux output down to just lines containing 'bash', making it easier to find your own session.
EXTRA EXPLANATION: The pipe symbol | sends the output of one command as input into the next — a powerful pattern worth previewing briefly.
LAB COMMANDS (type exactly):
touch scripts/deploy.sh
chmod 755 scripts/deploy.sh
ls -l scripts/
cp configs/app.conf configs/app.conf.bak
ps aux | grep bash
ANIMATION: Wipe in each step row top-to-bottom; Fade in the bonus tip box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Unlike the previous two guided lab slides, this is an independent challenge — don't demonstrate commands live. Give the full 15 minutes, then circulate to help individually.
COMMON QUESTIONS: "Can I look back at earlier slides?" — Yes, encourage it; this activity is meant to reinforce recall, not test memorization under pressure.
EXTRA EXPLANATION: If a pair/individual finishes early, challenge them to also write a one-line comment inside index.html using echo with &gt;&gt;, and to try mv to rename a file without moving it.
SUGGESTED SOLUTION COMMANDS (for your reference while circulating):
mkdir -p ~/website/{html,css,scripts}
touch ~/website/html/index.html
echo "&lt;h1&gt;Hello, Linux!&lt;/h1&gt;" &gt; ~/website/html/index.html
cp ~/website/html/index.html ~/website/html/index.html.bak
chmod 755 ~/website/scripts
chmod 644 ~/website/html/*
ls -l ~/website/html ~/website/scripts
ANIMATION: Appear the challenge card and timer card together (Fade), then Float In the success-criteria card last so it doesn't give away the answer too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Frame this as a 'save yourself pain later' slide. Ask if anyone has already made one of these mistakes on their own computer — normalizing early mistakes builds confidence.
COMMON QUESTIONS: "Isn't sudo required a lot of the time?" — Yes for system-level tasks, but it should be deliberate, not a reflexive fix for every permission error.
EXTRA EXPLANATION: Recommend rm -i and always running ls before any destructive command as simple daily habits.
ANIMATION: Appear each mistake card in sequence (Fade), then Zoom in on the closing tip.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Give students 2-3 minutes to answer individually or in pairs before revealing answers on the following answer-key slide.
COMMON QUESTIONS: None expected — this is a knowledge check.
EXTRA EXPLANATION: Treat wrong answers as teaching moments, not failures — revisit the relevant earlier slide briefly if a question trips up the group.
ANIMATION: Appear each question top-to-bottom (Fade, staggered).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Continue the same quiz flow. Question 10 is a good discussion prompt — let a couple students explain in their own words before confirming the answer.
COMMON QUESTIONS: None expected.
EXTRA EXPLANATION: This half leans more on permissions and SSH — revisit those sections if the group is shaky.
ANIMATION: Appear each question top-to-bottom (Fade, staggered).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Reveal answers one at a time if possible, briefly re-explaining any that a lot of students got wrong. Keep the tone encouraging — this is a checkpoint, not a graded exam.
COMMON QUESTIONS: Expect debate on Q6/Q7 (permission strings) — walk through the rwx breakdown again if needed.
EXTRA EXPLANATION: If most of the class missed the same question, that's useful signal to revisit that topic briefly before the lab wraps up.
ANIMATION: Appear each answer in a staggered grid (Fade).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Frame homework as reinforcement, not new material — all three tasks reuse commands from today's lesson.
COMMON QUESTIONS: "Do I need my own server for this?" — No, the same practice environment used in class works fine.
EXTRA EXPLANATION: Encourage students to intentionally try to break something small (in a test folder) — recovering from mistakes is itself great practice.
ANIMATION: Appear each homework card left-to-right (Fade).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Present this as a living reference students can screenshot or print and keep next to their keyboard for the next few weeks.
COMMON QUESTIONS: "Is there an official Linux documentation site?" — Yes, mention man pages (man &lt;command&gt;) as the built-in, always-available reference.
EXTRA EXPLANATION: Encourage students to build their own personal cheat sheet as they learn new commands going forward.
ANIMATION: Appear cheat-sheet grid (Fade, staggered), then Float In the YouTube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End on a forward-looking note — today's Linux and SSH knowledge is the direct foundation for tomorrow's networking concepts, especially ports and security groups.
COMMON QUESTIONS: "Do we need to install anything before Day 3?" — No, just complete today's homework and come ready to continue in the same practice environment.
EXTRA EXPLANATION: Tease that we'll revisit the SSH port 22 example from today once we cover firewalls and security groups.
ANIMATION: Fade in title, Float In subtitle.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SAY: Close with genuine encouragement — Linux fundamentals are the hardest conceptual jump in the whole bootcamp for many beginners, and finishing this session is real progress.
COMMON QUESTIONS: "What if I still feel shaky on some commands?" — Completely normal; remind them of the cheat sheet and that repetition in tomorrow's networking lab will reinforce today's material.
EXTRA EXPLANATION: Thank students for their engagement and remind them where to find recorded materials or slides for review.
ANIMATION: Zoom in on the Tux icon, then Fade in the closing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1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161E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ENGINEERING BOOTCAMP  ·  DAY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Fundamentals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Navigating, managing, and securing a Linux system — the foundation every cloud engineer builds 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4462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hours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5193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beginners — no IT background required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23960" y="2194560"/>
            <a:ext cx="2468880" cy="2468880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12" name="Image 0" descr="/home/claude/ppt2/icon_linux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6491" y="2787091"/>
            <a:ext cx="1283818" cy="128381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366760" y="1737360"/>
            <a:ext cx="3383280" cy="3383280"/>
          </a:xfrm>
          <a:prstGeom prst="ellipse">
            <a:avLst/>
          </a:prstGeom>
          <a:ln w="19050">
            <a:solidFill>
              <a:srgbClr val="FF9900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" y="1943100"/>
            <a:ext cx="777240" cy="77724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7" name="Image 0" descr="/home/claude/ppt2/icon_linux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918" y="212963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Linux is and why cloud engineers depend on 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70248" y="17373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5988" y="1943100"/>
            <a:ext cx="777240" cy="77724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1" name="Image 1" descr="/home/claude/ppt2/icon_route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26" y="21296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Linux file system using the command line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91856" y="173736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97596" y="1943100"/>
            <a:ext cx="777240" cy="77724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5" name="Image 2" descr="/home/claude/ppt2/icon_file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134" y="212963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0456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copy, move, and delete files and directories safely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977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54380" y="4183380"/>
            <a:ext cx="777240" cy="77724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9" name="Image 3" descr="/home/claude/ppt2/icon_usershield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8" y="4369918"/>
            <a:ext cx="404165" cy="4041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50292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users, groups, and file permissions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270248" y="3977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475988" y="4183380"/>
            <a:ext cx="777240" cy="77724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3" name="Image 4" descr="/home/claude/ppt2/icon_cogs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526" y="4369918"/>
            <a:ext cx="404165" cy="4041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98848" y="50292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manage running processes and services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7991856" y="3977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197596" y="4183380"/>
            <a:ext cx="777240" cy="77724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7" name="Image 5" descr="/home/claude/ppt2/icon_key_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4134" y="4369918"/>
            <a:ext cx="404165" cy="40416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220456" y="50292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remote Linux server securely using SSH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81328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81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Linux &amp; Distributions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39112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03120"/>
            <a:ext cx="402336" cy="402336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03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3911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Architecture &amp; File System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724912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24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660904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File Management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346704"/>
            <a:ext cx="402336" cy="402336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467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282696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Permissions &amp; Processes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904488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968496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68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904488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&amp; Remote Access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590288"/>
            <a:ext cx="402336" cy="402336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590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52628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148072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12080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212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17320" y="514807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Wrap-Up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Warm 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9418320" cy="2194560"/>
          </a:xfrm>
          <a:prstGeom prst="roundRect">
            <a:avLst>
              <a:gd name="adj" fmla="val 5833"/>
            </a:avLst>
          </a:prstGeom>
          <a:solidFill>
            <a:srgbClr val="161E2D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2880360"/>
            <a:ext cx="1188720" cy="1188720"/>
          </a:xfrm>
          <a:prstGeom prst="ellipse">
            <a:avLst/>
          </a:prstGeom>
          <a:solidFill>
            <a:srgbClr val="2E3B4E"/>
          </a:solidFill>
          <a:ln/>
        </p:spPr>
      </p:sp>
      <p:pic>
        <p:nvPicPr>
          <p:cNvPr id="7" name="Image 0" descr="/home/claude/ppt2/icon_commen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4133" y="3165653"/>
            <a:ext cx="618134" cy="6181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0" y="288036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operating systems have you used?”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 ·  macOS  ·  Chrome OS  ·  Android  ·  Linux  ·  None yet — and that's OK!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LINUX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Linux?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Linux is and why it matters for cloud engineering.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a free, open-source operating system — like Windows or macOS — that runs on servers, phones, and even the AWS cloud itself.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37560"/>
            <a:ext cx="118872" cy="11887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open-source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630168"/>
            <a:ext cx="118872" cy="11887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93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stable &amp; secure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922776"/>
            <a:ext cx="118872" cy="11887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7856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most of the Internet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18120" y="1783080"/>
            <a:ext cx="2468880" cy="24688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/home/claude/ppt2/icon_linux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0651" y="2375611"/>
            <a:ext cx="1283818" cy="128381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635240" y="1600200"/>
            <a:ext cx="2834640" cy="2834640"/>
          </a:xfrm>
          <a:prstGeom prst="ellipse">
            <a:avLst/>
          </a:prstGeom>
          <a:ln w="15875">
            <a:solidFill>
              <a:srgbClr val="232F3E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7772400" y="4343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Tux, the Linux mascot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480560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48056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 </a:t>
            </a:r>
            <a:pPr indent="0" marL="0">
              <a:buNone/>
            </a:pPr>
            <a:r>
              <a:rPr lang="en-US" sz="115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like the engine of a car — you may never see it, but it's what powers almost everything under the hood.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LINUX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Brief History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Linux evolved from a hobby project into the backbone of the cloud.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79676" y="2788920"/>
            <a:ext cx="82296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76756" y="22860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ppt2/icon_history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158" y="2527402"/>
            <a:ext cx="523037" cy="52303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76756" y="2286000"/>
            <a:ext cx="1005840" cy="1005840"/>
          </a:xfrm>
          <a:prstGeom prst="ellipse">
            <a:avLst/>
          </a:prstGeom>
          <a:ln w="1905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" y="3429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59536" y="3840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is created at Bell Labs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19956" y="22860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ppt2/icon_book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358" y="2527402"/>
            <a:ext cx="523037" cy="52303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19956" y="2286000"/>
            <a:ext cx="1005840" cy="1005840"/>
          </a:xfrm>
          <a:prstGeom prst="ellipse">
            <a:avLst/>
          </a:prstGeom>
          <a:ln w="19050">
            <a:solidFill>
              <a:srgbClr val="FF99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65576" y="3429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1983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02736" y="3840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GNU Project begins, aiming for a free UNIX-like OS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963156" y="22860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ppt2/icon_linux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558" y="2527402"/>
            <a:ext cx="523037" cy="52303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63156" y="2286000"/>
            <a:ext cx="1005840" cy="1005840"/>
          </a:xfrm>
          <a:prstGeom prst="ellipse">
            <a:avLst/>
          </a:prstGeom>
          <a:ln w="19050">
            <a:solidFill>
              <a:srgbClr val="FF990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08776" y="3429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1991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345936" y="3840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Torvalds releases the Linux kernel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706356" y="22860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ppt2/icon_server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7758" y="2527402"/>
            <a:ext cx="523037" cy="523037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706356" y="2286000"/>
            <a:ext cx="1005840" cy="1005840"/>
          </a:xfrm>
          <a:prstGeom prst="ellipse">
            <a:avLst/>
          </a:prstGeom>
          <a:ln w="19050">
            <a:solidFill>
              <a:srgbClr val="FF99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951976" y="3429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2000s+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089136" y="3840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becomes the standard for servers &amp; the cloud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2120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232F3E"/>
          </a:solidFill>
          <a:ln/>
        </p:spPr>
      </p:sp>
      <p:sp>
        <p:nvSpPr>
          <p:cNvPr id="28" name="Shape 22"/>
          <p:cNvSpPr/>
          <p:nvPr/>
        </p:nvSpPr>
        <p:spPr>
          <a:xfrm>
            <a:off x="704088" y="5266944"/>
            <a:ext cx="457200" cy="457200"/>
          </a:xfrm>
          <a:prstGeom prst="ellipse">
            <a:avLst/>
          </a:prstGeom>
          <a:solidFill>
            <a:srgbClr val="33455B"/>
          </a:solidFill>
          <a:ln/>
        </p:spPr>
      </p:sp>
      <p:pic>
        <p:nvPicPr>
          <p:cNvPr id="29" name="Image 4" descr="/home/claude/ppt2/icon_lightbulb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5376672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34440" y="5212080"/>
            <a:ext cx="10177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“Linux” = kernel only. Say “GNU/Linux” = kernel + all the surrounding tools that make it usable.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LINUX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Cloud Engineers Use Linux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cloud runs on Linux — here's why engineers prefer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" y="19659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61E2D"/>
          </a:solidFill>
          <a:ln/>
        </p:spPr>
      </p:sp>
      <p:sp>
        <p:nvSpPr>
          <p:cNvPr id="6" name="Shape 4"/>
          <p:cNvSpPr/>
          <p:nvPr/>
        </p:nvSpPr>
        <p:spPr>
          <a:xfrm>
            <a:off x="1522476" y="2194560"/>
            <a:ext cx="914400" cy="914400"/>
          </a:xfrm>
          <a:prstGeom prst="ellipse">
            <a:avLst/>
          </a:prstGeom>
          <a:solidFill>
            <a:srgbClr val="2E3B4E"/>
          </a:solidFill>
          <a:ln/>
        </p:spPr>
      </p:sp>
      <p:pic>
        <p:nvPicPr>
          <p:cNvPr id="7" name="Image 0" descr="/home/claude/ppt2/icon_linux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932" y="241401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2104" y="3246120"/>
            <a:ext cx="2295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&amp; Open-Source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256" y="3657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 costs at scale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65576" y="19659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61E2D"/>
          </a:solidFill>
          <a:ln/>
        </p:spPr>
      </p:sp>
      <p:sp>
        <p:nvSpPr>
          <p:cNvPr id="11" name="Shape 8"/>
          <p:cNvSpPr/>
          <p:nvPr/>
        </p:nvSpPr>
        <p:spPr>
          <a:xfrm>
            <a:off x="4265676" y="2194560"/>
            <a:ext cx="914400" cy="914400"/>
          </a:xfrm>
          <a:prstGeom prst="ellipse">
            <a:avLst/>
          </a:prstGeom>
          <a:solidFill>
            <a:srgbClr val="2E3B4E"/>
          </a:solidFill>
          <a:ln/>
        </p:spPr>
      </p:sp>
      <p:pic>
        <p:nvPicPr>
          <p:cNvPr id="12" name="Image 1" descr="/home/claude/ppt2/icon_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241401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246120"/>
            <a:ext cx="2295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Rock-Solid Stability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48456" y="3657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run for years without reboot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08776" y="19659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61E2D"/>
          </a:solidFill>
          <a:ln/>
        </p:spPr>
      </p:sp>
      <p:sp>
        <p:nvSpPr>
          <p:cNvPr id="16" name="Shape 12"/>
          <p:cNvSpPr/>
          <p:nvPr/>
        </p:nvSpPr>
        <p:spPr>
          <a:xfrm>
            <a:off x="7008876" y="2194560"/>
            <a:ext cx="914400" cy="914400"/>
          </a:xfrm>
          <a:prstGeom prst="ellipse">
            <a:avLst/>
          </a:prstGeom>
          <a:solidFill>
            <a:srgbClr val="2E3B4E"/>
          </a:solidFill>
          <a:ln/>
        </p:spPr>
      </p:sp>
      <p:pic>
        <p:nvPicPr>
          <p:cNvPr id="17" name="Image 2" descr="/home/claude/ppt2/icon_cog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32" y="241401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18504" y="3246120"/>
            <a:ext cx="2295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Automation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91656" y="3657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 for repetitive tasks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51976" y="19659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61E2D"/>
          </a:solidFill>
          <a:ln/>
        </p:spPr>
      </p:sp>
      <p:sp>
        <p:nvSpPr>
          <p:cNvPr id="21" name="Shape 16"/>
          <p:cNvSpPr/>
          <p:nvPr/>
        </p:nvSpPr>
        <p:spPr>
          <a:xfrm>
            <a:off x="9752076" y="2194560"/>
            <a:ext cx="914400" cy="914400"/>
          </a:xfrm>
          <a:prstGeom prst="ellipse">
            <a:avLst/>
          </a:prstGeom>
          <a:solidFill>
            <a:srgbClr val="2E3B4E"/>
          </a:solidFill>
          <a:ln/>
        </p:spPr>
      </p:sp>
      <p:pic>
        <p:nvPicPr>
          <p:cNvPr id="22" name="Image 3" descr="/home/claude/ppt2/icon_shiel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532" y="2414016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61704" y="3246120"/>
            <a:ext cx="2295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Security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34856" y="3657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 controls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1371600" y="4709160"/>
            <a:ext cx="9418320" cy="594360"/>
          </a:xfrm>
          <a:prstGeom prst="roundRect">
            <a:avLst>
              <a:gd name="adj" fmla="val 49231"/>
            </a:avLst>
          </a:prstGeom>
          <a:solidFill>
            <a:srgbClr val="FF9900"/>
          </a:solidFill>
          <a:ln/>
        </p:spPr>
      </p:sp>
      <p:sp>
        <p:nvSpPr>
          <p:cNvPr id="26" name="Text 20"/>
          <p:cNvSpPr/>
          <p:nvPr/>
        </p:nvSpPr>
        <p:spPr>
          <a:xfrm>
            <a:off x="1371600" y="470916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90% of public cloud workloads run on Linux.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LINUX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Distribution?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that “Linux” is a family of operating systems, not just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“distribution” (or “distro”) is the Linux kernel packaged together with tools, software, and a package manager — ready to install and use.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42900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 </a:t>
            </a:r>
            <a:pPr indent="0" marL="0">
              <a:buNone/>
            </a:pPr>
            <a:r>
              <a:rPr lang="en-US" sz="115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kernel as a car engine, and each distro as a different car built around that same engine — a sedan, a truck, a sports car.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0" y="2194560"/>
            <a:ext cx="2743200" cy="2743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/home/claude/ppt2/icon_linux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2852928"/>
            <a:ext cx="1426464" cy="14264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LINUX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Linux Distributions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" y="1965960"/>
            <a:ext cx="868680" cy="86868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6" name="Image 0" descr="/home/claude/ppt2/icon_ubuntu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" y="21744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83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Beginner-friendly, huge community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70248" y="1463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5988" y="1965960"/>
            <a:ext cx="868680" cy="86868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1" name="Image 1" descr="/home/claude/ppt2/icon_aws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471" y="217444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783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Linux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04688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own, optimized for EC2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91856" y="1463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97596" y="1965960"/>
            <a:ext cx="868680" cy="86868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6" name="Image 2" descr="/home/claude/ppt2/icon_debian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217444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26296" y="1783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Debian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226296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the base for Ubuntu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38728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4380" y="4041648"/>
            <a:ext cx="868680" cy="86868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1" name="Image 3" descr="/home/claude/ppt2/icon_rocky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" y="4250131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38587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Rocky Linux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783080" y="431596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free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70248" y="3538728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75988" y="4041648"/>
            <a:ext cx="868680" cy="86868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6" name="Image 4" descr="/home/claude/ppt2/icon_redhat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471" y="4250131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04688" y="38587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Hat (RHEL)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504688" y="431596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standard, paid support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91856" y="3538728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97596" y="4041648"/>
            <a:ext cx="868680" cy="86868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31" name="Image 5" descr="/home/claude/ppt2/icon_centos_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079" y="4250131"/>
            <a:ext cx="451714" cy="45171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26296" y="38587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CentOS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226296" y="4315968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rebuild of RHEL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LINUX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vs. Linux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Linux to the OS most students already know.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66160" y="1828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10916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860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C:\, D:\ drive letters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22860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tree, starts at 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52928"/>
            <a:ext cx="11091672" cy="566928"/>
          </a:xfrm>
          <a:prstGeom prst="rect">
            <a:avLst/>
          </a:prstGeom>
          <a:solidFill>
            <a:srgbClr val="FAFAFB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529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66160" y="285292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built-in controls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28529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permissions by default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19856"/>
            <a:ext cx="110916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41985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66160" y="341985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licenses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341985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open-source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86784"/>
            <a:ext cx="11091672" cy="566928"/>
          </a:xfrm>
          <a:prstGeom prst="rect">
            <a:avLst/>
          </a:prstGeom>
          <a:solidFill>
            <a:srgbClr val="FAFAFB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8678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566160" y="398678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/ CMD (optional)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398678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— primary interface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553712"/>
            <a:ext cx="110916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5371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566160" y="455371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by default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455371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often disabled on servers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120640"/>
            <a:ext cx="11091672" cy="566928"/>
          </a:xfrm>
          <a:prstGeom prst="rect">
            <a:avLst/>
          </a:prstGeom>
          <a:solidFill>
            <a:srgbClr val="FAFAFB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1206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Usage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66160" y="512064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 enterprise apps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51206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for servers &amp; cloud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Linux Is Structured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your commands travel from you down to the physical hardware.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08276" y="1783080"/>
            <a:ext cx="7772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08276" y="1783080"/>
            <a:ext cx="128016" cy="9144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Shape 6"/>
          <p:cNvSpPr/>
          <p:nvPr/>
        </p:nvSpPr>
        <p:spPr>
          <a:xfrm>
            <a:off x="2702052" y="1911096"/>
            <a:ext cx="658368" cy="658368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9" name="Image 0" descr="/home/claude/ppt2/icon_user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0060" y="2069104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88436" y="1892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88436" y="225856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typing commands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20156" y="269748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208276" y="2862072"/>
            <a:ext cx="7772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08276" y="2862072"/>
            <a:ext cx="128016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5" name="Shape 12"/>
          <p:cNvSpPr/>
          <p:nvPr/>
        </p:nvSpPr>
        <p:spPr>
          <a:xfrm>
            <a:off x="2702052" y="2990088"/>
            <a:ext cx="658368" cy="658368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6" name="Image 1" descr="/home/claude/ppt2/icon_terminal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060" y="3148096"/>
            <a:ext cx="342351" cy="34235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88436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88436" y="33375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your commands (Bash)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820156" y="377647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2208276" y="3941064"/>
            <a:ext cx="7772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208276" y="3941064"/>
            <a:ext cx="128016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2" name="Shape 18"/>
          <p:cNvSpPr/>
          <p:nvPr/>
        </p:nvSpPr>
        <p:spPr>
          <a:xfrm>
            <a:off x="2702052" y="4069080"/>
            <a:ext cx="658368" cy="658368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3" name="Image 2" descr="/home/claude/ppt2/icon_linux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060" y="4227088"/>
            <a:ext cx="342351" cy="34235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488436" y="4050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3488436" y="441655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manages memory, CPU, devices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820156" y="485546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08276" y="5020056"/>
            <a:ext cx="7772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208276" y="5020056"/>
            <a:ext cx="128016" cy="914400"/>
          </a:xfrm>
          <a:prstGeom prst="rect">
            <a:avLst/>
          </a:prstGeom>
          <a:solidFill>
            <a:srgbClr val="5A6B75"/>
          </a:solidFill>
          <a:ln/>
        </p:spPr>
      </p:sp>
      <p:sp>
        <p:nvSpPr>
          <p:cNvPr id="29" name="Shape 24"/>
          <p:cNvSpPr/>
          <p:nvPr/>
        </p:nvSpPr>
        <p:spPr>
          <a:xfrm>
            <a:off x="2702052" y="5148072"/>
            <a:ext cx="658368" cy="658368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30" name="Image 3" descr="/home/claude/ppt2/icon_server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060" y="5306080"/>
            <a:ext cx="342351" cy="34235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488436" y="51297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3488436" y="549554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disk, network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Starts at 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tree structure that organizes every file on a Linux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 </a:t>
            </a:r>
            <a:pPr indent="0" marL="0">
              <a:buNone/>
            </a:pPr>
            <a:r>
              <a:rPr lang="en-US" sz="115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/ as the root of a tree — every folder and file branches out from that single starting point.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54396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5454396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4476" y="3108960"/>
            <a:ext cx="0" cy="32004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3429000"/>
            <a:ext cx="10835640" cy="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22476" y="3429000"/>
            <a:ext cx="0" cy="27432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703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3858768"/>
            <a:ext cx="457200" cy="4572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5" name="Image 0" descr="/home/claude/ppt2/icon_folder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968496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62456" y="37033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351276" y="3429000"/>
            <a:ext cx="0" cy="27432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05456" y="3703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660904" y="3858768"/>
            <a:ext cx="457200" cy="4572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0" name="Image 1" descr="/home/claude/ppt2/icon_folder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3968496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191256" y="37033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180076" y="3429000"/>
            <a:ext cx="0" cy="27432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34256" y="3703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89704" y="3858768"/>
            <a:ext cx="457200" cy="4572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5" name="Image 2" descr="/home/claude/ppt2/icon_folder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3968496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020056" y="37033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7008876" y="3429000"/>
            <a:ext cx="0" cy="27432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163056" y="3703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18504" y="3858768"/>
            <a:ext cx="457200" cy="4572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30" name="Image 3" descr="/home/claude/ppt2/icon_folder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968496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48856" y="37033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/tmp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8837676" y="3429000"/>
            <a:ext cx="0" cy="27432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991856" y="3703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147304" y="3858768"/>
            <a:ext cx="457200" cy="4572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35" name="Image 4" descr="/home/claude/ppt2/icon_folder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3968496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677656" y="37033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10666476" y="3429000"/>
            <a:ext cx="0" cy="27432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820656" y="3703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9976104" y="3858768"/>
            <a:ext cx="457200" cy="4572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40" name="Image 5" descr="/home/claude/ppt2/icon_folder_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3968496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506456" y="37033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Lives 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64208"/>
            <a:ext cx="731520" cy="73152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6" name="Image 0" descr="/home/claude/ppt2/icon_home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839773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642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folders for each user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0248" y="1463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8848" y="1664208"/>
            <a:ext cx="731520" cy="73152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1" name="Image 1" descr="/home/claude/ppt2/icon_cog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413" y="1839773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6642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98848" y="2468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configuration files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91856" y="1463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0456" y="1664208"/>
            <a:ext cx="731520" cy="73152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6" name="Image 2" descr="/home/claude/ppt2/icon_database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1839773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9136" y="16642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0456" y="2468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data — logs, caches, mail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538728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3739896"/>
            <a:ext cx="731520" cy="73152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1" name="Image 3" descr="/home/claude/ppt2/icon_clock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3915461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373989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5445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files, cleared on reboot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70248" y="3538728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8848" y="3739896"/>
            <a:ext cx="731520" cy="73152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6" name="Image 4" descr="/home/claude/ppt2/icon_cogs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3915461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7528" y="373989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498848" y="45445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user programs &amp; libraries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91856" y="3538728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20456" y="3739896"/>
            <a:ext cx="731520" cy="73152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31" name="Image 5" descr="/home/claude/ppt2/icon_usershield_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021" y="3915461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89136" y="373989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20456" y="45445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folder for the root (admin) user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NAVIGATION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Your Way Around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commands to move through the file system with confidence.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326880" y="2331720"/>
            <a:ext cx="2194560" cy="2194560"/>
          </a:xfrm>
          <a:prstGeom prst="ellipse">
            <a:avLst/>
          </a:prstGeom>
          <a:solidFill>
            <a:srgbClr val="161E2D"/>
          </a:solidFill>
          <a:ln/>
        </p:spPr>
      </p:sp>
      <p:pic>
        <p:nvPicPr>
          <p:cNvPr id="7" name="Image 0" descr="/home/claude/ppt2/icon_termina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3574" y="2858414"/>
            <a:ext cx="1141171" cy="11411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NAVIGATION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pwd — Print Working Directory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exactly where you are in the file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1920240"/>
          </a:xfrm>
          <a:prstGeom prst="roundRect">
            <a:avLst>
              <a:gd name="adj" fmla="val 4286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76072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76072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93395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93395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93395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/home/student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7764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 </a:t>
            </a:r>
            <a:pPr indent="0" marL="0">
              <a:buNone/>
            </a:pPr>
            <a:r>
              <a:rPr lang="en-US" sz="115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checking the “You Are Here” marker on a mall map before deciding where to walk.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2940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22402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confirm your location before running commands that create, move, or delete files — especially with sudo.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397764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232F3E"/>
          </a:solidFill>
          <a:ln/>
        </p:spPr>
      </p:sp>
      <p:sp>
        <p:nvSpPr>
          <p:cNvPr id="20" name="Shape 18"/>
          <p:cNvSpPr/>
          <p:nvPr/>
        </p:nvSpPr>
        <p:spPr>
          <a:xfrm>
            <a:off x="6784848" y="4032504"/>
            <a:ext cx="457200" cy="457200"/>
          </a:xfrm>
          <a:prstGeom prst="ellipse">
            <a:avLst/>
          </a:prstGeom>
          <a:solidFill>
            <a:srgbClr val="33455B"/>
          </a:solidFill>
          <a:ln/>
        </p:spPr>
      </p:sp>
      <p:pic>
        <p:nvPicPr>
          <p:cNvPr id="21" name="Image 0" descr="/home/claude/ppt2/icon_lightbulb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4142232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0" y="397764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pwd a reflex — run it any time you feel unsure of your location.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NAVIGATION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 — List Directory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files and folders inside your current location.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2880360"/>
          </a:xfrm>
          <a:prstGeom prst="roundRect">
            <a:avLst>
              <a:gd name="adj" fmla="val 2857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76072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76072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93395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93395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93395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  Downloads  Pictures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drwxr-xr-x  2 student student 4096 Documents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5295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..  .bashrc  Documents  Downloads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2940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 </a:t>
            </a:r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format — permissions, size, date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2788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-a  </a:t>
            </a:r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hidden files (start with .)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-lh  </a:t>
            </a:r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format, human-readable sizes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97764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232F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784848" y="4032504"/>
            <a:ext cx="457200" cy="457200"/>
          </a:xfrm>
          <a:prstGeom prst="ellipse">
            <a:avLst/>
          </a:prstGeom>
          <a:solidFill>
            <a:srgbClr val="33455B"/>
          </a:solidFill>
          <a:ln/>
        </p:spPr>
      </p:sp>
      <p:pic>
        <p:nvPicPr>
          <p:cNvPr id="25" name="Image 0" descr="/home/claude/ppt2/icon_lightbulb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4142232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0" y="397764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-la (combined) is the single most-used command for beginners — teach it early.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NAVIGATION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— Change Directory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between folders using relative and absolute paths.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2880360"/>
          </a:xfrm>
          <a:prstGeom prst="roundRect">
            <a:avLst>
              <a:gd name="adj" fmla="val 2857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76072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76072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93395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93395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93395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Documents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(moved into Documents)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(moved up one level)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5295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/var/log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(jumped straight to /var/log)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15137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46227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(returned to your home folder)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TYPES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2286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2560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/ — e.g. /var/log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9400" y="2971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where you are — e.g. ../log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3657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= here   .. = up one   ~ = home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NAVIGATION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mkdir &amp; touch — Create Folders and 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directories and empty files from the command 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2286000"/>
          </a:xfrm>
          <a:prstGeom prst="roundRect">
            <a:avLst>
              <a:gd name="adj" fmla="val 3600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76072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76072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93395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93395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93395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projects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(new folder created)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notes.txt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(new empty file created)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5295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notes.txt  projects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0" y="1874520"/>
            <a:ext cx="4937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331720"/>
            <a:ext cx="822960" cy="82296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1" name="Image 0" descr="/home/claude/ppt2/icon_folder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390" y="2529230"/>
            <a:ext cx="427939" cy="42793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00100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01000" y="2560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Directory” — creates a new, empty folder.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040880" y="3200400"/>
            <a:ext cx="822960" cy="82296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5" name="Image 1" descr="/home/claude/ppt2/icon_file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390" y="3397910"/>
            <a:ext cx="427939" cy="42793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001000" y="3401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8001000" y="3767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new, empty file (or updates its timestamp).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48640" y="43434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232F3E"/>
          </a:solidFill>
          <a:ln/>
        </p:spPr>
      </p:sp>
      <p:sp>
        <p:nvSpPr>
          <p:cNvPr id="29" name="Shape 25"/>
          <p:cNvSpPr/>
          <p:nvPr/>
        </p:nvSpPr>
        <p:spPr>
          <a:xfrm>
            <a:off x="704088" y="4398264"/>
            <a:ext cx="457200" cy="457200"/>
          </a:xfrm>
          <a:prstGeom prst="ellipse">
            <a:avLst/>
          </a:prstGeom>
          <a:solidFill>
            <a:srgbClr val="33455B"/>
          </a:solidFill>
          <a:ln/>
        </p:spPr>
      </p:sp>
      <p:pic>
        <p:nvPicPr>
          <p:cNvPr id="30" name="Image 2" descr="/home/claude/ppt2/icon_lightbulb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507992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34440" y="4343400"/>
            <a:ext cx="10177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and file names are case-sensitive and shouldn't contain spaces — use hyphens or underscores instead.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NAVIGATION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210312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161E2D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2376" y="31089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am I?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25496" y="210312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161E2D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25496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62656" y="31089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here?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65776" y="210312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161E2D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02936" y="31089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somewhere else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06056" y="210312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161E2D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06056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43216" y="31089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folder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46336" y="210312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161E2D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6336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83496" y="31089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FILES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Copy, Move &amp; Edit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lifecycle of your files directly from the terminal.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326880" y="2331720"/>
            <a:ext cx="2194560" cy="2194560"/>
          </a:xfrm>
          <a:prstGeom prst="ellipse">
            <a:avLst/>
          </a:prstGeom>
          <a:solidFill>
            <a:srgbClr val="161E2D"/>
          </a:solidFill>
          <a:ln/>
        </p:spPr>
      </p:sp>
      <p:pic>
        <p:nvPicPr>
          <p:cNvPr id="7" name="Image 0" descr="/home/claude/ppt2/icon_fi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3574" y="2858414"/>
            <a:ext cx="1141171" cy="11411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— Copy 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 file or folder without removing the original.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76072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76072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93395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93395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93395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notes.txt backup.txt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18288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0940" y="2446020"/>
            <a:ext cx="502920" cy="50292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7" name="Image 0" descr="/home/claude/ppt2/icon_file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1641" y="2566721"/>
            <a:ext cx="261518" cy="26151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62940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notes.txt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006840" y="21945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9555480" y="18288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5548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912096" y="2276856"/>
            <a:ext cx="384048" cy="384048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3" name="Image 1" descr="/home/claude/ppt2/icon_file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268" y="2369028"/>
            <a:ext cx="199705" cy="199705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0369296" y="2276856"/>
            <a:ext cx="384048" cy="384048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5" name="Image 2" descr="/home/claude/ppt2/icon_file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1468" y="2369028"/>
            <a:ext cx="199705" cy="19970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55548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notes.txt   backup.txt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48640" y="35204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232F3E"/>
          </a:solidFill>
          <a:ln/>
        </p:spPr>
      </p:sp>
      <p:sp>
        <p:nvSpPr>
          <p:cNvPr id="28" name="Shape 23"/>
          <p:cNvSpPr/>
          <p:nvPr/>
        </p:nvSpPr>
        <p:spPr>
          <a:xfrm>
            <a:off x="704088" y="3575304"/>
            <a:ext cx="457200" cy="457200"/>
          </a:xfrm>
          <a:prstGeom prst="ellipse">
            <a:avLst/>
          </a:prstGeom>
          <a:solidFill>
            <a:srgbClr val="33455B"/>
          </a:solidFill>
          <a:ln/>
        </p:spPr>
      </p:sp>
      <p:pic>
        <p:nvPicPr>
          <p:cNvPr id="29" name="Image 3" descr="/home/claude/ppt2/icon_lightbulb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68503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34440" y="3520440"/>
            <a:ext cx="10177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cp -r when copying an entire folder — the -r means “recursive.”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77240" y="425196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 </a:t>
            </a:r>
            <a:pPr indent="0" marL="0">
              <a:buNone/>
            </a:pPr>
            <a:r>
              <a:rPr lang="en-US" sz="115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photocopying a document — the original stays right where it was.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— Move or Rename 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a file, or rename it — mv does both.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1737360"/>
          </a:xfrm>
          <a:prstGeom prst="roundRect">
            <a:avLst>
              <a:gd name="adj" fmla="val 4737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76072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76072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93395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93395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93395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notes.txt Documents/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(file moved into Documents)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backup.txt backup-old.txt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(file renamed)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828800"/>
            <a:ext cx="4937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= move AND rename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24231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cp, the original disappears from its old location — there's only ever one copy.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9476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 </a:t>
            </a:r>
            <a:pPr indent="0" marL="0">
              <a:buNone/>
            </a:pPr>
            <a:r>
              <a:rPr lang="en-US" sz="115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physically moving a paper file from one folder to another in a filing cabinet — it only exists in one place at a time.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— Remove Files (Use With Care)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3A241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F2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files and folders permanently — there is no Recycle Bin.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760720" cy="1920240"/>
          </a:xfrm>
          <a:prstGeom prst="roundRect">
            <a:avLst>
              <a:gd name="adj" fmla="val 4286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576072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21408"/>
            <a:ext cx="576072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07111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07111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207111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old-file.txt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7340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(permanently deleted)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04495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 old-folder/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35584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(folder and contents deleted)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4937760" cy="1920240"/>
          </a:xfrm>
          <a:prstGeom prst="roundRect">
            <a:avLst>
              <a:gd name="adj" fmla="val 4762"/>
            </a:avLst>
          </a:prstGeom>
          <a:solidFill>
            <a:srgbClr val="3A1F17"/>
          </a:solidFill>
          <a:ln w="15875">
            <a:solidFill>
              <a:srgbClr val="E55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63740" y="2263140"/>
            <a:ext cx="777240" cy="777240"/>
          </a:xfrm>
          <a:prstGeom prst="ellipse">
            <a:avLst/>
          </a:prstGeom>
          <a:solidFill>
            <a:srgbClr val="4A2A20"/>
          </a:solidFill>
          <a:ln/>
        </p:spPr>
      </p:sp>
      <p:pic>
        <p:nvPicPr>
          <p:cNvPr id="19" name="Image 0" descr="/home/claude/ppt2/icon_warning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0278" y="2449678"/>
            <a:ext cx="404165" cy="40416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00100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Undo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001000" y="26974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deletes immediately and permanently — there is no Recycle Bin or Trash to recover from.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232F3E"/>
          </a:solidFill>
          <a:ln/>
        </p:spPr>
      </p:sp>
      <p:sp>
        <p:nvSpPr>
          <p:cNvPr id="23" name="Shape 20"/>
          <p:cNvSpPr/>
          <p:nvPr/>
        </p:nvSpPr>
        <p:spPr>
          <a:xfrm>
            <a:off x="704088" y="4123944"/>
            <a:ext cx="457200" cy="457200"/>
          </a:xfrm>
          <a:prstGeom prst="ellipse">
            <a:avLst/>
          </a:prstGeom>
          <a:solidFill>
            <a:srgbClr val="33455B"/>
          </a:solidFill>
          <a:ln/>
        </p:spPr>
      </p:sp>
      <p:pic>
        <p:nvPicPr>
          <p:cNvPr id="24" name="Image 1" descr="/home/claude/ppt2/icon_lightbulb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33672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34440" y="4069080"/>
            <a:ext cx="10177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ls first to confirm exactly what you're about to delete — and never run rm -rf / on any system.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cat, nano &amp; echo — View &amp; Edit Content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create, and edit text file content without leaving the terminal.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3017520"/>
          </a:xfrm>
          <a:prstGeom prst="roundRect">
            <a:avLst>
              <a:gd name="adj" fmla="val 2727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76072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76072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93395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93395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93395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notes.txt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from Linux!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"New line" &gt;&gt; notes.txt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(appends text to the file)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5295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 notes.txt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(opens the file in an editor)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 file's contents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2834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3154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text, or write it to a file with 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114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beginner-friendly text editor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Do What?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Linux's permission system decides exactly who can read, write, or run each file.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326880" y="2331720"/>
            <a:ext cx="2194560" cy="2194560"/>
          </a:xfrm>
          <a:prstGeom prst="ellipse">
            <a:avLst/>
          </a:prstGeom>
          <a:solidFill>
            <a:srgbClr val="161E2D"/>
          </a:solidFill>
          <a:ln/>
        </p:spPr>
      </p:sp>
      <p:pic>
        <p:nvPicPr>
          <p:cNvPr id="7" name="Image 0" descr="/home/claude/ppt2/icon_usershiel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3574" y="2858414"/>
            <a:ext cx="1141171" cy="11411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Group &amp; Others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three levels every Linux file permission applies 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2396" y="1965960"/>
            <a:ext cx="32918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2396" y="1965960"/>
            <a:ext cx="3291840" cy="1097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Shape 6"/>
          <p:cNvSpPr/>
          <p:nvPr/>
        </p:nvSpPr>
        <p:spPr>
          <a:xfrm>
            <a:off x="2025396" y="2468880"/>
            <a:ext cx="1005840" cy="100584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9" name="Image 0" descr="/home/claude/ppt2/icon_user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798" y="2710282"/>
            <a:ext cx="523037" cy="5230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2396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10996" y="4023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who created the file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48556" y="1965960"/>
            <a:ext cx="32918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48556" y="1965960"/>
            <a:ext cx="3291840" cy="109728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4" name="Shape 11"/>
          <p:cNvSpPr/>
          <p:nvPr/>
        </p:nvSpPr>
        <p:spPr>
          <a:xfrm>
            <a:off x="5591556" y="2468880"/>
            <a:ext cx="1005840" cy="100584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5" name="Image 1" descr="/home/claude/ppt2/icon_users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58" y="2710282"/>
            <a:ext cx="523037" cy="5230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48556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77156" y="4023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sharing access rights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14716" y="1965960"/>
            <a:ext cx="32918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14716" y="1965960"/>
            <a:ext cx="3291840" cy="109728"/>
          </a:xfrm>
          <a:prstGeom prst="rect">
            <a:avLst/>
          </a:prstGeom>
          <a:solidFill>
            <a:srgbClr val="5A6B75"/>
          </a:solidFill>
          <a:ln/>
        </p:spPr>
      </p:sp>
      <p:sp>
        <p:nvSpPr>
          <p:cNvPr id="20" name="Shape 16"/>
          <p:cNvSpPr/>
          <p:nvPr/>
        </p:nvSpPr>
        <p:spPr>
          <a:xfrm>
            <a:off x="9157716" y="2468880"/>
            <a:ext cx="1005840" cy="100584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1" name="Image 2" descr="/home/claude/ppt2/icon_globe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118" y="2710282"/>
            <a:ext cx="523037" cy="52303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14716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243316" y="4023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on the system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47091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" y="470916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 </a:t>
            </a:r>
            <a:pPr indent="0" marL="0">
              <a:buNone/>
            </a:pPr>
            <a:r>
              <a:rPr lang="en-US" sz="115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an office document: you (owner) can edit it, your team (group) can view it, and the rest of the building (others) can't open it at all.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Write &amp; Execute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the rwx letters shown by ls -l into their real meaning.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2396" y="19202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882396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2396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5276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file contents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8556" y="19202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4448556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448556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1436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or delete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4716" y="19202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8014716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014716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7596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a program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979676" y="41605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45436" y="416052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-rwx</a:t>
            </a:r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r-x</a:t>
            </a:r>
            <a:pPr indent="0" marL="0">
              <a:buNone/>
            </a:pPr>
            <a:r>
              <a:rPr lang="en-US" sz="2400" b="1" dirty="0">
                <a:solidFill>
                  <a:srgbClr val="5A6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r--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71516" y="41605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read, write, execute   ·   Group: read, execute   ·   Others: read only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chmod — Changing Permissions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numeric shorthand to set exact permission levels.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4     w = 2     x =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numbers for each of Owner / Group / Others.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828800"/>
            <a:ext cx="6309360" cy="1371600"/>
          </a:xfrm>
          <a:prstGeom prst="roundRect">
            <a:avLst>
              <a:gd name="adj" fmla="val 6000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0" y="1828800"/>
            <a:ext cx="630936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1984248"/>
            <a:ext cx="630936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2" name="Shape 10"/>
          <p:cNvSpPr/>
          <p:nvPr/>
        </p:nvSpPr>
        <p:spPr>
          <a:xfrm>
            <a:off x="5468112" y="193395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5687568" y="193395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4" name="Shape 12"/>
          <p:cNvSpPr/>
          <p:nvPr/>
        </p:nvSpPr>
        <p:spPr>
          <a:xfrm>
            <a:off x="5907024" y="193395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828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2286000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755 script.sh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2900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57400" y="3429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 r-x r-x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42900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you run — you edit, others just execute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32511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25112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057400" y="432511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rw- r-- r--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325112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documents — you edit, others read only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22122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21224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057400" y="522122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 rwx rwx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5221224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for everyone — avoid unless required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2E3B4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permissions protect a real web server.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1672" cy="2651760"/>
          </a:xfrm>
          <a:prstGeom prst="roundRect">
            <a:avLst>
              <a:gd name="adj" fmla="val 3103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11091672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75688"/>
            <a:ext cx="11091672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02539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02539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202539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920240"/>
            <a:ext cx="10085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root@web-server: /var/www/html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10543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/var/www/html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688336"/>
            <a:ext cx="10543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 1 root   root    2048  index.html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999232"/>
            <a:ext cx="10543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-rwxr-xr-x  1 root   www    512   deploy.sh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310128"/>
            <a:ext cx="10543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drwx------  2 root   root   4096  private/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is world-readable so visitors' browsers can load the page — but only root can edit it. deploy.sh is executable for the web group. private/ is fully locked to everyone but root.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Processes, Daemons &amp;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different kinds of programs running on your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3524" y="20116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7964" y="2331720"/>
            <a:ext cx="914400" cy="9144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8" name="Image 0" descr="/home/claude/ppt2/icon_cog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55117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3524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6404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running program, e.g. nano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46804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402836" y="20116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37276" y="2331720"/>
            <a:ext cx="914400" cy="9144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4" name="Image 1" descr="/home/claude/ppt2/icon_heartbeat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55117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02836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85716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process with no user interface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786116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8042148" y="20116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276588" y="2331720"/>
            <a:ext cx="914400" cy="9144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20" name="Image 2" descr="/home/claude/ppt2/icon_cogs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6044" y="255117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2148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225028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daemon (start/stop/restart)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4805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7240" y="448056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 </a:t>
            </a:r>
            <a:pPr indent="0" marL="0">
              <a:buNone/>
            </a:pPr>
            <a:r>
              <a:rPr lang="en-US" sz="115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is any employee at work; a daemon is one working silently in the back office; a service is that employee on an official, managed schedule.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Managing Processes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running, watch resource usage, and stop or manage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3017520"/>
          </a:xfrm>
          <a:prstGeom prst="roundRect">
            <a:avLst>
              <a:gd name="adj" fmla="val 2727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76072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76072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93395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93395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93395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PID  CPU  MEM  COMMAND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(live resource dashboard)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5295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4821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(stops process ID 4821)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15137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nginx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46227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(checks a service's health)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2940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processes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29400" y="25786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/ htop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29400" y="28529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real-time resource monitor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29400" y="332841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29400" y="3602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 process by its PID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29400" y="407822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29400" y="43525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stop, restart &amp; check services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&amp; REMOTE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to a Remote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SSH lets you securely control a server from anywhere.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(Secure Shell) lets you log into and control a remote Linux machine over the Internet, encrypted end-to-end.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246120"/>
            <a:ext cx="118872" cy="11887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08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38728"/>
            <a:ext cx="118872" cy="11887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01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over port 22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831336"/>
            <a:ext cx="118872" cy="11887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69417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keys instead of passwords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1874520"/>
            <a:ext cx="2377440" cy="23774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/home/claude/ppt2/icon_key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4426" y="2445106"/>
            <a:ext cx="1236269" cy="1236269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726680" y="1737360"/>
            <a:ext cx="2651760" cy="2651760"/>
          </a:xfrm>
          <a:prstGeom prst="ellipse">
            <a:avLst/>
          </a:prstGeom>
          <a:ln w="15875">
            <a:solidFill>
              <a:srgbClr val="232F3E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548640" y="44805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48056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 </a:t>
            </a:r>
            <a:pPr indent="0" marL="0">
              <a:buNone/>
            </a:pPr>
            <a:r>
              <a:rPr lang="en-US" sz="115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is like a locked front door with a house key — only someone holding the exact matching key gets inside.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&amp; REMOTE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SSH Connection Travels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85316" y="22860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161E2D"/>
          </a:solidFill>
          <a:ln/>
        </p:spPr>
      </p:sp>
      <p:sp>
        <p:nvSpPr>
          <p:cNvPr id="5" name="Shape 3"/>
          <p:cNvSpPr/>
          <p:nvPr/>
        </p:nvSpPr>
        <p:spPr>
          <a:xfrm>
            <a:off x="2345436" y="2560320"/>
            <a:ext cx="914400" cy="914400"/>
          </a:xfrm>
          <a:prstGeom prst="ellipse">
            <a:avLst/>
          </a:prstGeom>
          <a:solidFill>
            <a:srgbClr val="2E3B4E"/>
          </a:solidFill>
          <a:ln/>
        </p:spPr>
      </p:sp>
      <p:pic>
        <p:nvPicPr>
          <p:cNvPr id="6" name="Image 0" descr="/home/claude/ppt2/icon_lapto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4892" y="27797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5316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68196" y="3977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ssh client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219956" y="3063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677156" y="22860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161E2D"/>
          </a:solidFill>
          <a:ln/>
        </p:spPr>
      </p:sp>
      <p:sp>
        <p:nvSpPr>
          <p:cNvPr id="11" name="Shape 8"/>
          <p:cNvSpPr/>
          <p:nvPr/>
        </p:nvSpPr>
        <p:spPr>
          <a:xfrm>
            <a:off x="5637276" y="2560320"/>
            <a:ext cx="914400" cy="914400"/>
          </a:xfrm>
          <a:prstGeom prst="ellipse">
            <a:avLst/>
          </a:prstGeom>
          <a:solidFill>
            <a:srgbClr val="2E3B4E"/>
          </a:solidFill>
          <a:ln/>
        </p:spPr>
      </p:sp>
      <p:pic>
        <p:nvPicPr>
          <p:cNvPr id="12" name="Image 1" descr="/home/claude/ppt2/icon_glob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77977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7156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60036" y="3977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tunnel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511796" y="3063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7968996" y="22860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161E2D"/>
          </a:solidFill>
          <a:ln/>
        </p:spPr>
      </p:sp>
      <p:sp>
        <p:nvSpPr>
          <p:cNvPr id="17" name="Shape 13"/>
          <p:cNvSpPr/>
          <p:nvPr/>
        </p:nvSpPr>
        <p:spPr>
          <a:xfrm>
            <a:off x="8929116" y="2560320"/>
            <a:ext cx="914400" cy="914400"/>
          </a:xfrm>
          <a:prstGeom prst="ellipse">
            <a:avLst/>
          </a:prstGeom>
          <a:solidFill>
            <a:srgbClr val="2E3B4E"/>
          </a:solidFill>
          <a:ln/>
        </p:spPr>
      </p:sp>
      <p:pic>
        <p:nvPicPr>
          <p:cNvPr id="18" name="Image 2" descr="/home/claude/ppt2/icon_serve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572" y="277977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68996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Server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151876" y="3977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on port 22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1979676" y="4617720"/>
            <a:ext cx="8229600" cy="1234440"/>
          </a:xfrm>
          <a:prstGeom prst="roundRect">
            <a:avLst>
              <a:gd name="adj" fmla="val 6667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979676" y="4617720"/>
            <a:ext cx="822960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23" name="Shape 18"/>
          <p:cNvSpPr/>
          <p:nvPr/>
        </p:nvSpPr>
        <p:spPr>
          <a:xfrm>
            <a:off x="1979676" y="4773168"/>
            <a:ext cx="822960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24" name="Shape 19"/>
          <p:cNvSpPr/>
          <p:nvPr/>
        </p:nvSpPr>
        <p:spPr>
          <a:xfrm>
            <a:off x="2144268" y="472287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5" name="Shape 20"/>
          <p:cNvSpPr/>
          <p:nvPr/>
        </p:nvSpPr>
        <p:spPr>
          <a:xfrm>
            <a:off x="2363724" y="472287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26" name="Shape 21"/>
          <p:cNvSpPr/>
          <p:nvPr/>
        </p:nvSpPr>
        <p:spPr>
          <a:xfrm>
            <a:off x="2583180" y="472287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27" name="Text 22"/>
          <p:cNvSpPr/>
          <p:nvPr/>
        </p:nvSpPr>
        <p:spPr>
          <a:xfrm>
            <a:off x="2802636" y="46177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2253996" y="507492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student@203.0.113.10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2253996" y="538581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to Ubuntu 22.04 LTS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&amp; REMOTE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Keys vs. Passwords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key-based authentication is the professional standard.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2103120"/>
          </a:xfrm>
          <a:prstGeom prst="roundRect">
            <a:avLst>
              <a:gd name="adj" fmla="val 3913"/>
            </a:avLst>
          </a:prstGeom>
          <a:solidFill>
            <a:srgbClr val="0F162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A0E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760720" cy="320040"/>
          </a:xfrm>
          <a:prstGeom prst="roundRect">
            <a:avLst>
              <a:gd name="adj" fmla="val 25714"/>
            </a:avLst>
          </a:prstGeom>
          <a:solidFill>
            <a:srgbClr val="1B243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760720" cy="16459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933956"/>
            <a:ext cx="118872" cy="118872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933956"/>
            <a:ext cx="118872" cy="118872"/>
          </a:xfrm>
          <a:prstGeom prst="ellipse">
            <a:avLst/>
          </a:prstGeom>
          <a:solidFill>
            <a:srgbClr val="F2C51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933956"/>
            <a:ext cx="118872" cy="118872"/>
          </a:xfrm>
          <a:prstGeom prst="ellipse">
            <a:avLst/>
          </a:prstGeom>
          <a:solidFill>
            <a:srgbClr val="2AC9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user@linux-server: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rsa -b 4096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(generates a public/private key pair)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mykey.pem student@203.0.113.10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(connects using a private key file)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82880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011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key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0" y="2331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the server — safe to share, it's just a lock.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0" y="2743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key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 your laptop — never share it, it's the actual key.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0" y="34747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matching public/private pair unlocks the connection — no password to guess or steal.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232F3E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" y="4261104"/>
            <a:ext cx="457200" cy="457200"/>
          </a:xfrm>
          <a:prstGeom prst="ellipse">
            <a:avLst/>
          </a:prstGeom>
          <a:solidFill>
            <a:srgbClr val="33455B"/>
          </a:solidFill>
          <a:ln/>
        </p:spPr>
      </p:sp>
      <p:pic>
        <p:nvPicPr>
          <p:cNvPr id="25" name="Image 0" descr="/home/claude/ppt2/icon_lightbulb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4370832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34440" y="4206240"/>
            <a:ext cx="10177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email or upload a .pem private key file anywhere — treat it exactly like a physical house key.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All Together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lab combining navigation, files, permissions, and processes.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326880" y="2331720"/>
            <a:ext cx="2194560" cy="2194560"/>
          </a:xfrm>
          <a:prstGeom prst="ellipse">
            <a:avLst/>
          </a:prstGeom>
          <a:solidFill>
            <a:srgbClr val="161E2D"/>
          </a:solidFill>
          <a:ln/>
        </p:spPr>
      </p:sp>
      <p:pic>
        <p:nvPicPr>
          <p:cNvPr id="7" name="Image 0" descr="/home/claude/ppt2/icon_termina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3574" y="2858414"/>
            <a:ext cx="1141171" cy="11411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 — Part 1: Setup &amp; Navigation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36776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367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4904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~/lab &amp;&amp; cd ~/lab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enter a fresh lab folder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69464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9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423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logs configs scripts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25880" y="28072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three subfolders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02152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02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3558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configs/app.conf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25880" y="373989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empty config file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34840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434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28853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"debug=true" &gt; configs/app.conf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25880" y="46725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setting into the file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4807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67528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67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22122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configs/app.conf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25880" y="56052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content was saved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 — Part 2: Permissions &amp; Processes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36776"/>
            <a:ext cx="402336" cy="402336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367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4904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scripts/deploy.sh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placeholder 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69464"/>
            <a:ext cx="402336" cy="402336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9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4231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755 scripts/deploy.sh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25880" y="28072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executable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02152"/>
            <a:ext cx="402336" cy="402336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02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35584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scripts/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25880" y="373989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new permissions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34840"/>
            <a:ext cx="402336" cy="402336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434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28853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configs/app.conf configs/app.conf.bak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25880" y="467258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the config file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4807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67528"/>
            <a:ext cx="402336" cy="402336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67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22122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| grep bash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25880" y="560527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own shell's process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232F3E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088" y="5632704"/>
            <a:ext cx="457200" cy="457200"/>
          </a:xfrm>
          <a:prstGeom prst="ellipse">
            <a:avLst/>
          </a:prstGeom>
          <a:solidFill>
            <a:srgbClr val="33455B"/>
          </a:solidFill>
          <a:ln/>
        </p:spPr>
      </p:sp>
      <p:pic>
        <p:nvPicPr>
          <p:cNvPr id="31" name="Image 0" descr="/home/claude/ppt2/icon_lightbulb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5742432"/>
            <a:ext cx="237744" cy="23774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234440" y="5577840"/>
            <a:ext cx="10177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Try renaming deploy.sh with mv, then re-checking its permissions with ls -l.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Activity — On Your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3D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0700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today's commands independently, without step-by-step guidance.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347472" cy="34747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36829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project folder called website in your home directory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347472" cy="347472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80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82549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it, create html/, css/, and scripts/ subfolders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347472" cy="34747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28269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index.html file and add one line of text to 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347472" cy="347472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94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73989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backup copy of index.html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251960"/>
            <a:ext cx="347472" cy="34747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51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19709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scripts/ files to be executable (755) and html/ files to read-only for others (644)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709160"/>
            <a:ext cx="347472" cy="347472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09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465429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 change using ls -l before moving 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1828800"/>
            <a:ext cx="4937760" cy="160020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</p:sp>
      <p:sp>
        <p:nvSpPr>
          <p:cNvPr id="27" name="Shape 25"/>
          <p:cNvSpPr/>
          <p:nvPr/>
        </p:nvSpPr>
        <p:spPr>
          <a:xfrm>
            <a:off x="6972300" y="2217420"/>
            <a:ext cx="777240" cy="777240"/>
          </a:xfrm>
          <a:prstGeom prst="ellipse">
            <a:avLst/>
          </a:prstGeom>
          <a:solidFill>
            <a:srgbClr val="2E3B4E"/>
          </a:solidFill>
          <a:ln/>
        </p:spPr>
      </p:sp>
      <p:pic>
        <p:nvPicPr>
          <p:cNvPr id="28" name="Image 0" descr="/home/claude/ppt2/icon_c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8838" y="2403958"/>
            <a:ext cx="404165" cy="40416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90956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7909560" y="254203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solo or in pairs. Use the cheat sheet only if you get stuck.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629400" y="3611880"/>
            <a:ext cx="4937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72300" y="4000500"/>
            <a:ext cx="777240" cy="77724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33" name="Image 1" descr="/home/claude/ppt2/icon_check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838" y="4187038"/>
            <a:ext cx="404165" cy="404165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90956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Looks Like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7909560" y="41605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folder structure, a readable index.html, a backup file, and correct permissions confirmed with ls -l.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BEGINNER MISTAKES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These Early Pitfalls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3524" y="196596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161E2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7964" y="2286000"/>
            <a:ext cx="914400" cy="914400"/>
          </a:xfrm>
          <a:prstGeom prst="ellipse">
            <a:avLst/>
          </a:prstGeom>
          <a:solidFill>
            <a:srgbClr val="3A2A26"/>
          </a:solidFill>
          <a:ln/>
        </p:spPr>
      </p:sp>
      <p:pic>
        <p:nvPicPr>
          <p:cNvPr id="6" name="Image 0" descr="/home/claude/ppt2/icon_tras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5054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0684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B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Without Checking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92124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rm without ls-ing first — no undo exists.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02836" y="196596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161E2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37276" y="2286000"/>
            <a:ext cx="914400" cy="914400"/>
          </a:xfrm>
          <a:prstGeom prst="ellipse">
            <a:avLst/>
          </a:prstGeom>
          <a:solidFill>
            <a:srgbClr val="3A2A26"/>
          </a:solidFill>
          <a:ln/>
        </p:spPr>
      </p:sp>
      <p:pic>
        <p:nvPicPr>
          <p:cNvPr id="11" name="Image 1" descr="/home/claude/ppt2/icon_user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5054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9996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B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sudo Everywhere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31436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every command as admin “just in case.”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2148" y="196596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161E2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276588" y="2286000"/>
            <a:ext cx="914400" cy="914400"/>
          </a:xfrm>
          <a:prstGeom prst="ellipse">
            <a:avLst/>
          </a:prstGeom>
          <a:solidFill>
            <a:srgbClr val="3A2A26"/>
          </a:solidFill>
          <a:ln/>
        </p:spPr>
      </p:sp>
      <p:pic>
        <p:nvPicPr>
          <p:cNvPr id="16" name="Image 2" descr="/home/claude/ppt2/icon_warning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6044" y="250545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9308" y="3337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B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777 Permissions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70748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“Fixing” access errors by opening everything to everyone.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232F3E"/>
          </a:solidFill>
          <a:ln/>
        </p:spPr>
      </p:sp>
      <p:sp>
        <p:nvSpPr>
          <p:cNvPr id="20" name="Shape 15"/>
          <p:cNvSpPr/>
          <p:nvPr/>
        </p:nvSpPr>
        <p:spPr>
          <a:xfrm>
            <a:off x="704088" y="5084064"/>
            <a:ext cx="457200" cy="457200"/>
          </a:xfrm>
          <a:prstGeom prst="ellipse">
            <a:avLst/>
          </a:prstGeom>
          <a:solidFill>
            <a:srgbClr val="33455B"/>
          </a:solidFill>
          <a:ln/>
        </p:spPr>
      </p:sp>
      <p:pic>
        <p:nvPicPr>
          <p:cNvPr id="21" name="Image 3" descr="/home/claude/ppt2/icon_lightbulb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19379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5029200"/>
            <a:ext cx="10177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habit early: pwd → ls → then act. Confirm before you commit.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— Questions 1–5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28216"/>
            <a:ext cx="420624" cy="42062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command shows your current directory?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96896"/>
            <a:ext cx="420624" cy="420624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96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command lists files, including hidden ones?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65576"/>
            <a:ext cx="420624" cy="42062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kernel do?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334256"/>
            <a:ext cx="420624" cy="420624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342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1605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root of the Linux file system called?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202936"/>
            <a:ext cx="420624" cy="42062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029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029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command creates a new, empty file?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— Questions 6–10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28216"/>
            <a:ext cx="420624" cy="42062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letters r, w, and x represent?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96896"/>
            <a:ext cx="420624" cy="420624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96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chmod 755 grant to the Group category?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65576"/>
            <a:ext cx="420624" cy="42062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command shows a live view of running processes?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334256"/>
            <a:ext cx="420624" cy="420624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342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1605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port does SSH use by default?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202936"/>
            <a:ext cx="420624" cy="42062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029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029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you avoid chmod 777 on real systems?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— Answer Key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1E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pwd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417320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1E2D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41732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ls -a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93976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1E2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93976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Manages hardware, memory &amp; processes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093976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1E2D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93976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/ (root)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1E2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7063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touch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2770632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1E2D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77063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rwx r-x r-x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1E2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4728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Read &amp; execute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3447288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1E2D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44728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top (or htop)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1E2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2394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Port 22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0760" y="4123944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1E2D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123944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It grants full access to every user — a major security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DAY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64592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15668" y="2057400"/>
            <a:ext cx="914400" cy="9144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6" name="Image 0" descr="/home/claude/ppt2/icon_route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124" y="2276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3154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Navigation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86968" y="3703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15 minutes creating, moving, and deleting test files/folders.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4256" y="164592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37276" y="2057400"/>
            <a:ext cx="914400" cy="9144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1" name="Image 1" descr="/home/claude/ppt2/icon_usershield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2768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3154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Custom Permissions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8576" y="3703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script and set it to 755; a text file and set it to 644.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55864" y="164592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58884" y="2057400"/>
            <a:ext cx="914400" cy="914400"/>
          </a:xfrm>
          <a:prstGeom prst="ellipse">
            <a:avLst/>
          </a:prstGeom>
          <a:solidFill>
            <a:srgbClr val="FFF3DE"/>
          </a:solidFill>
          <a:ln/>
        </p:spPr>
      </p:sp>
      <p:pic>
        <p:nvPicPr>
          <p:cNvPr id="16" name="Image 2" descr="/home/claude/ppt2/icon_cogs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0" y="227685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38744" y="3154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Processes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3703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top or htop and identify 3 processes currently running.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 &amp;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41732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current directory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70248" y="1417320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7408" y="14173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79008" y="141732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files, detailed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91856" y="1417320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9016" y="14173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0616" y="141732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home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1984248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984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19842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folder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70248" y="1984248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1984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79008" y="19842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file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91856" y="1984248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9016" y="1984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0616" y="19842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(recursive for folders)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551176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55117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57400" y="255117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/ rename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0248" y="2551176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255117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79008" y="255117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(recursive)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91856" y="2551176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9016" y="255117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755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0616" y="255117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 r-x r-x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118104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11810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57400" y="3118104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processes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70248" y="3118104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311810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79008" y="3118104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resource monitor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991856" y="3118104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29016" y="311810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user@ip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00616" y="3118104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login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RECOMMENDATIONS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5029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“Linux Crash Course” — NetworkChuck   • “Linux Command Line for Beginners” — freeCodeCamp   • “Linux Permissions Explained” — Techno Tim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3: Networking Fundamentals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addresses, subnets, ports, and how AWS networking ties it all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326880" y="2331720"/>
            <a:ext cx="2194560" cy="2194560"/>
          </a:xfrm>
          <a:prstGeom prst="ellipse">
            <a:avLst/>
          </a:prstGeom>
          <a:solidFill>
            <a:srgbClr val="161E2D"/>
          </a:solidFill>
          <a:ln/>
        </p:spPr>
      </p:sp>
      <p:pic>
        <p:nvPicPr>
          <p:cNvPr id="7" name="Image 0" descr="/home/claude/ppt2/icon_networ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3574" y="2858414"/>
            <a:ext cx="1141171" cy="11411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5180076" y="1554480"/>
            <a:ext cx="1828800" cy="1828800"/>
          </a:xfrm>
          <a:prstGeom prst="ellipse">
            <a:avLst/>
          </a:prstGeom>
          <a:solidFill>
            <a:srgbClr val="161E2D"/>
          </a:solidFill>
          <a:ln/>
        </p:spPr>
      </p:sp>
      <p:pic>
        <p:nvPicPr>
          <p:cNvPr id="4" name="Image 0" descr="/home/claude/ppt2/icon_linux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8988" y="1993392"/>
            <a:ext cx="950976" cy="950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5760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Work Today!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71600" y="43434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navigate, manage, and secure a Linux system with confidence.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LINUX FUNDAMENTALS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2026-08-03T11:54:12Z</dcterms:created>
  <dcterms:modified xsi:type="dcterms:W3CDTF">2026-08-03T11:54:12Z</dcterms:modified>
</cp:coreProperties>
</file>