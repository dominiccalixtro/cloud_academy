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image" Target="../media/image-17-1.png"/><Relationship Id="rId4" Type="http://schemas.openxmlformats.org/officeDocument/2006/relationships/image" Target="../media/image-17-1.png"/><Relationship Id="rId5" Type="http://schemas.openxmlformats.org/officeDocument/2006/relationships/image" Target="../media/image-17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3200400"/>
            <a:ext cx="3840480" cy="384048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ENGINEERING BOOTCAMP  •  DAY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8961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Computers, the Internet,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Cloud Computing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foundations session for a complete beginner — how machines think, how they talk to each other, and why the cloud changed everything.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709160"/>
            <a:ext cx="2148840" cy="685800"/>
          </a:xfrm>
          <a:prstGeom prst="roundRect">
            <a:avLst>
              <a:gd name="adj" fmla="val 13333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7091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hours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71800" y="470916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47091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walkthrough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32120" y="4709160"/>
            <a:ext cx="2651760" cy="685800"/>
          </a:xfrm>
          <a:prstGeom prst="roundRect">
            <a:avLst>
              <a:gd name="adj" fmla="val 13333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47091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AWS-ready mindset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today is building toward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F4F7F9"/>
          </a:solidFill>
          <a:ln/>
        </p:spPr>
      </p:sp>
      <p:pic>
        <p:nvPicPr>
          <p:cNvPr id="5" name="Image 0" descr="/home/claude/icons/check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659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965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514600"/>
            <a:ext cx="44805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Day 1, your friend should understand: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computers work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devices communicate over the Internet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cloud computing is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companies use AWS instead of buying their own servers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943600" y="1691640"/>
            <a:ext cx="5715000" cy="4480560"/>
          </a:xfrm>
          <a:prstGeom prst="roundRect">
            <a:avLst>
              <a:gd name="adj" fmla="val 2449"/>
            </a:avLst>
          </a:prstGeom>
          <a:solidFill>
            <a:srgbClr val="21295C"/>
          </a:solidFill>
          <a:ln/>
        </p:spPr>
      </p:sp>
      <p:pic>
        <p:nvPicPr>
          <p:cNvPr id="9" name="Image 1" descr="/home/claude/icons/cog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96596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12280" y="196596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 — can your friend answer these?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263640" y="260604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6400800" y="260604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computer?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9006840" y="260604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9144000" y="260604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server?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263640" y="370332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6400800" y="37033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Internet?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9006840" y="370332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9144000" y="37033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 website load?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263640" y="48006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6400800" y="480060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cloud computing?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9006840" y="48006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9144000" y="480060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companies use AWS?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•  20 MINUTES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computer?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that receives input, processes data, stores data, and produces output.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280160" y="2743200"/>
            <a:ext cx="2377440" cy="1920240"/>
          </a:xfrm>
          <a:prstGeom prst="roundRect">
            <a:avLst>
              <a:gd name="adj" fmla="val 6667"/>
            </a:avLst>
          </a:prstGeom>
          <a:solidFill>
            <a:srgbClr val="F4F7F9"/>
          </a:solidFill>
          <a:ln w="19050">
            <a:solidFill>
              <a:srgbClr val="D6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306324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/home/claude/icons/lapto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2848" y="3319272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4069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80160" y="43708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794760" y="33375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5029200" y="2743200"/>
            <a:ext cx="2377440" cy="1920240"/>
          </a:xfrm>
          <a:prstGeom prst="roundRect">
            <a:avLst>
              <a:gd name="adj" fmla="val 6667"/>
            </a:avLst>
          </a:prstGeom>
          <a:solidFill>
            <a:srgbClr val="F4F7F9"/>
          </a:solidFill>
          <a:ln w="19050">
            <a:solidFill>
              <a:srgbClr val="D6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760720" y="306324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1" descr="/home/claude/icons/cpu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888" y="3319272"/>
            <a:ext cx="512064" cy="5120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29200" y="4069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029200" y="43708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543800" y="33375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7" name="Shape 13"/>
          <p:cNvSpPr/>
          <p:nvPr/>
        </p:nvSpPr>
        <p:spPr>
          <a:xfrm>
            <a:off x="8778240" y="2743200"/>
            <a:ext cx="2377440" cy="1920240"/>
          </a:xfrm>
          <a:prstGeom prst="roundRect">
            <a:avLst>
              <a:gd name="adj" fmla="val 6667"/>
            </a:avLst>
          </a:prstGeom>
          <a:solidFill>
            <a:srgbClr val="F4F7F9"/>
          </a:solidFill>
          <a:ln w="19050">
            <a:solidFill>
              <a:srgbClr val="D6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509760" y="306324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2" descr="/home/claude/icons/glob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28" y="3319272"/>
            <a:ext cx="512064" cy="5120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778240" y="4069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778240" y="43708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1280160" y="5074920"/>
            <a:ext cx="9601200" cy="1051560"/>
          </a:xfrm>
          <a:prstGeom prst="roundRect">
            <a:avLst>
              <a:gd name="adj" fmla="val 8696"/>
            </a:avLst>
          </a:prstGeom>
          <a:solidFill>
            <a:srgbClr val="D6E8F0"/>
          </a:solidFill>
          <a:ln/>
        </p:spPr>
      </p:sp>
      <p:sp>
        <p:nvSpPr>
          <p:cNvPr id="23" name="Text 18"/>
          <p:cNvSpPr/>
          <p:nvPr/>
        </p:nvSpPr>
        <p:spPr>
          <a:xfrm>
            <a:off x="1554480" y="5074920"/>
            <a:ext cx="9052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friend: </a:t>
            </a:r>
            <a:pPr indent="0" marL="0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happens when you open Google Chrome?” — this is the activity for this section.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•  INSIDE THE BOX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components of a computer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42032" cy="4206240"/>
          </a:xfrm>
          <a:prstGeom prst="roundRect">
            <a:avLst>
              <a:gd name="adj" fmla="val 4317"/>
            </a:avLst>
          </a:prstGeom>
          <a:solidFill>
            <a:srgbClr val="21295C"/>
          </a:solidFill>
          <a:ln/>
        </p:spPr>
      </p:sp>
      <p:sp>
        <p:nvSpPr>
          <p:cNvPr id="5" name="Shape 3"/>
          <p:cNvSpPr/>
          <p:nvPr/>
        </p:nvSpPr>
        <p:spPr>
          <a:xfrm>
            <a:off x="1435608" y="2011680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icons/cpu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912" y="2157984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548640" y="3291840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“brain”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3749040"/>
            <a:ext cx="2176272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instructions and performs calculations. Opening Chrome triggers thousands of CPU instructions.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46704" y="1691640"/>
            <a:ext cx="2542032" cy="4206240"/>
          </a:xfrm>
          <a:prstGeom prst="roundRect">
            <a:avLst>
              <a:gd name="adj" fmla="val 4317"/>
            </a:avLst>
          </a:prstGeom>
          <a:solidFill>
            <a:srgbClr val="065A82"/>
          </a:solidFill>
          <a:ln/>
        </p:spPr>
      </p:sp>
      <p:sp>
        <p:nvSpPr>
          <p:cNvPr id="11" name="Shape 8"/>
          <p:cNvSpPr/>
          <p:nvPr/>
        </p:nvSpPr>
        <p:spPr>
          <a:xfrm>
            <a:off x="4233672" y="2011680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icons/ram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2157984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46704" y="292608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RAM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3346704" y="3291840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memory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529584" y="3749040"/>
            <a:ext cx="2176272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RAM as your desk — more RAM means a bigger desk. Everything in it disappears on shutdown.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144768" y="1691640"/>
            <a:ext cx="2542032" cy="4206240"/>
          </a:xfrm>
          <a:prstGeom prst="roundRect">
            <a:avLst>
              <a:gd name="adj" fmla="val 4317"/>
            </a:avLst>
          </a:prstGeom>
          <a:solidFill>
            <a:srgbClr val="21295C"/>
          </a:solidFill>
          <a:ln/>
        </p:spPr>
      </p:sp>
      <p:sp>
        <p:nvSpPr>
          <p:cNvPr id="17" name="Shape 13"/>
          <p:cNvSpPr/>
          <p:nvPr/>
        </p:nvSpPr>
        <p:spPr>
          <a:xfrm>
            <a:off x="7031736" y="2011680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/home/claude/icons/storage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157984"/>
            <a:ext cx="475488" cy="4754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44768" y="292608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6144768" y="3291840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memory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327648" y="3749040"/>
            <a:ext cx="2176272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or HDD. Stores Windows, games, documents, and pictures for the long term.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8942832" y="1691640"/>
            <a:ext cx="2542032" cy="4206240"/>
          </a:xfrm>
          <a:prstGeom prst="roundRect">
            <a:avLst>
              <a:gd name="adj" fmla="val 4317"/>
            </a:avLst>
          </a:prstGeom>
          <a:solidFill>
            <a:srgbClr val="065A82"/>
          </a:solidFill>
          <a:ln/>
        </p:spPr>
      </p:sp>
      <p:sp>
        <p:nvSpPr>
          <p:cNvPr id="23" name="Shape 18"/>
          <p:cNvSpPr/>
          <p:nvPr/>
        </p:nvSpPr>
        <p:spPr>
          <a:xfrm>
            <a:off x="9829800" y="2011680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/home/claude/icons/gpu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6104" y="2157984"/>
            <a:ext cx="475488" cy="4754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942832" y="292608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</a:t>
            </a:r>
            <a:endParaRPr lang="en-US" sz="1900" dirty="0"/>
          </a:p>
        </p:txBody>
      </p:sp>
      <p:sp>
        <p:nvSpPr>
          <p:cNvPr id="26" name="Text 20"/>
          <p:cNvSpPr/>
          <p:nvPr/>
        </p:nvSpPr>
        <p:spPr>
          <a:xfrm>
            <a:off x="8942832" y="3291840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Graphics processor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9125712" y="3749040"/>
            <a:ext cx="2176272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visuals — essential for gaming, AI workloads, and video editing.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•  ACTIVITY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when you open Chrome?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79476" y="28346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299923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024128" y="29992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5196" y="345643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5196" y="376732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loads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71116" y="324612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327148" y="28346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71800" y="299923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2971800" y="29992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72868" y="345643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72868" y="376732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Chrome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18788" y="324612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274820" y="28346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19472" y="299923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4919472" y="29992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20540" y="345643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20540" y="376732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instructions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66460" y="324612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222492" y="28346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67144" y="299923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6867144" y="29992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68212" y="345643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RAM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68212" y="376732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active data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14132" y="324612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170164" y="28346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14816" y="299923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8814816" y="29992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15884" y="345643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15884" y="376732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interface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861804" y="324612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0117836" y="28346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62488" y="299923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/>
          <p:nvPr/>
        </p:nvSpPr>
        <p:spPr>
          <a:xfrm>
            <a:off x="10762488" y="29992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163556" y="345643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163556" y="376732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it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97280" y="466344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your friend toward this exact sequence — it's the mental model for everything that follows.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•  15 MINUTES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Operating System?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035040" cy="4206240"/>
          </a:xfrm>
          <a:prstGeom prst="roundRect">
            <a:avLst>
              <a:gd name="adj" fmla="val 2609"/>
            </a:avLst>
          </a:prstGeom>
          <a:solidFill>
            <a:srgbClr val="F4F7F9"/>
          </a:solidFill>
          <a:ln/>
        </p:spPr>
      </p:sp>
      <p:pic>
        <p:nvPicPr>
          <p:cNvPr id="5" name="Image 0" descr="/home/claude/icons/cogs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488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21488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manager of the computer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88036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Operating System manages hardware and allows applications to run.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 OS, nothing works.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4434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68680" y="480060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480060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651760" y="480060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12" name="Text 9"/>
          <p:cNvSpPr/>
          <p:nvPr/>
        </p:nvSpPr>
        <p:spPr>
          <a:xfrm>
            <a:off x="2651760" y="480060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434840" y="480060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14" name="Text 11"/>
          <p:cNvSpPr/>
          <p:nvPr/>
        </p:nvSpPr>
        <p:spPr>
          <a:xfrm>
            <a:off x="4434840" y="480060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903720" y="1828800"/>
            <a:ext cx="4754880" cy="4206240"/>
          </a:xfrm>
          <a:prstGeom prst="roundRect">
            <a:avLst>
              <a:gd name="adj" fmla="val 2609"/>
            </a:avLst>
          </a:prstGeom>
          <a:solidFill>
            <a:srgbClr val="21295C"/>
          </a:solidFill>
          <a:ln/>
        </p:spPr>
      </p:sp>
      <p:pic>
        <p:nvPicPr>
          <p:cNvPr id="16" name="Image 1" descr="/home/claude/icons/lapto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2331720"/>
            <a:ext cx="1463040" cy="1463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60920" y="402336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D6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“Think of it as the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D6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 of the computer.”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•  20 MINUTES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vs. server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only use clients. Cloud engineers manage servers.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431036" y="2377440"/>
            <a:ext cx="2743200" cy="173736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2455164" y="2606040"/>
            <a:ext cx="694944" cy="6949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home/claude/icons/laptop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3180" y="2734056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31036" y="3383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Laptop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31036" y="37307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data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74236" y="29260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722876" y="2377440"/>
            <a:ext cx="2743200" cy="1737360"/>
          </a:xfrm>
          <a:prstGeom prst="roundRect">
            <a:avLst>
              <a:gd name="adj" fmla="val 6316"/>
            </a:avLst>
          </a:prstGeom>
          <a:solidFill>
            <a:srgbClr val="065A82"/>
          </a:solidFill>
          <a:ln/>
        </p:spPr>
      </p:sp>
      <p:sp>
        <p:nvSpPr>
          <p:cNvPr id="12" name="Shape 9"/>
          <p:cNvSpPr/>
          <p:nvPr/>
        </p:nvSpPr>
        <p:spPr>
          <a:xfrm>
            <a:off x="5747004" y="2606040"/>
            <a:ext cx="694944" cy="6949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/home/claude/icons/server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020" y="2734056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22876" y="3383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Server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722876" y="37307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7466076" y="29260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3"/>
          <p:cNvSpPr/>
          <p:nvPr/>
        </p:nvSpPr>
        <p:spPr>
          <a:xfrm>
            <a:off x="8014716" y="2377440"/>
            <a:ext cx="2743200" cy="1737360"/>
          </a:xfrm>
          <a:prstGeom prst="roundRect">
            <a:avLst>
              <a:gd name="adj" fmla="val 6316"/>
            </a:avLst>
          </a:prstGeom>
          <a:solidFill>
            <a:srgbClr val="065A82"/>
          </a:solidFill>
          <a:ln/>
        </p:spPr>
      </p:sp>
      <p:sp>
        <p:nvSpPr>
          <p:cNvPr id="18" name="Shape 14"/>
          <p:cNvSpPr/>
          <p:nvPr/>
        </p:nvSpPr>
        <p:spPr>
          <a:xfrm>
            <a:off x="9038844" y="2606040"/>
            <a:ext cx="694944" cy="6949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/home/claude/icons/database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0" y="2734056"/>
            <a:ext cx="438912" cy="4389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014716" y="3383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Database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014716" y="37307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data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548640" y="4526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OF SERVERS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48640" y="4846320"/>
            <a:ext cx="2057400" cy="640080"/>
          </a:xfrm>
          <a:prstGeom prst="roundRect">
            <a:avLst>
              <a:gd name="adj" fmla="val 11429"/>
            </a:avLst>
          </a:prstGeom>
          <a:solidFill>
            <a:srgbClr val="F4F7F9"/>
          </a:solidFill>
          <a:ln w="12700">
            <a:solidFill>
              <a:srgbClr val="D6E8F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48640" y="484632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2788920" y="4846320"/>
            <a:ext cx="2057400" cy="640080"/>
          </a:xfrm>
          <a:prstGeom prst="roundRect">
            <a:avLst>
              <a:gd name="adj" fmla="val 11429"/>
            </a:avLst>
          </a:prstGeom>
          <a:solidFill>
            <a:srgbClr val="F4F7F9"/>
          </a:solidFill>
          <a:ln w="12700">
            <a:solidFill>
              <a:srgbClr val="D6E8F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2788920" y="484632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Server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5029200" y="4846320"/>
            <a:ext cx="2057400" cy="640080"/>
          </a:xfrm>
          <a:prstGeom prst="roundRect">
            <a:avLst>
              <a:gd name="adj" fmla="val 11429"/>
            </a:avLst>
          </a:prstGeom>
          <a:solidFill>
            <a:srgbClr val="F4F7F9"/>
          </a:solidFill>
          <a:ln w="12700">
            <a:solidFill>
              <a:srgbClr val="D6E8F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029200" y="484632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Server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7269480" y="4846320"/>
            <a:ext cx="2057400" cy="640080"/>
          </a:xfrm>
          <a:prstGeom prst="roundRect">
            <a:avLst>
              <a:gd name="adj" fmla="val 11429"/>
            </a:avLst>
          </a:prstGeom>
          <a:solidFill>
            <a:srgbClr val="F4F7F9"/>
          </a:solidFill>
          <a:ln w="12700">
            <a:solidFill>
              <a:srgbClr val="D6E8F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269480" y="484632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Server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9509760" y="4846320"/>
            <a:ext cx="2057400" cy="640080"/>
          </a:xfrm>
          <a:prstGeom prst="roundRect">
            <a:avLst>
              <a:gd name="adj" fmla="val 11429"/>
            </a:avLst>
          </a:prstGeom>
          <a:solidFill>
            <a:srgbClr val="F4F7F9"/>
          </a:solidFill>
          <a:ln w="12700">
            <a:solidFill>
              <a:srgbClr val="D6E8F0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9509760" y="484632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Server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548640" y="571500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D6E8F0"/>
          </a:solidFill>
          <a:ln/>
        </p:spPr>
      </p:sp>
      <p:sp>
        <p:nvSpPr>
          <p:cNvPr id="34" name="Text 29"/>
          <p:cNvSpPr/>
          <p:nvPr/>
        </p:nvSpPr>
        <p:spPr>
          <a:xfrm>
            <a:off x="822960" y="57150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</a:t>
            </a:r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Facebook running on your laptop?”  No — it runs on thousands of servers around the world.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•  30 MINUTES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Internet?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computers connected together.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1812" y="233172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81812" y="2331720"/>
            <a:ext cx="1920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02052" y="2560320"/>
            <a:ext cx="256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958084" y="233172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2958084" y="2331720"/>
            <a:ext cx="1920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PLDT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78324" y="2560320"/>
            <a:ext cx="256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134356" y="233172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134356" y="2331720"/>
            <a:ext cx="1920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54596" y="2560320"/>
            <a:ext cx="256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10628" y="233172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0628" y="2331720"/>
            <a:ext cx="1920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230868" y="2560320"/>
            <a:ext cx="256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486900" y="233172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9486900" y="2331720"/>
            <a:ext cx="1920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Server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0" y="35661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website works this way.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160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TYPE  www.google.com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" y="45262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16636" y="45262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162556" y="4663440"/>
            <a:ext cx="219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382012" y="45262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2427732" y="45262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073652" y="4663440"/>
            <a:ext cx="219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293108" y="45262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338828" y="45262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IP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984748" y="4663440"/>
            <a:ext cx="219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204204" y="45262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249924" y="45262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Server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895844" y="4663440"/>
            <a:ext cx="219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115300" y="45262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8161020" y="45262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806940" y="4663440"/>
            <a:ext cx="219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10026396" y="45262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10072116" y="45262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displays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•  KEY TERMS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Vocabulary you'll use every day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084832" cy="4114800"/>
          </a:xfrm>
          <a:prstGeom prst="roundRect">
            <a:avLst>
              <a:gd name="adj" fmla="val 5263"/>
            </a:avLst>
          </a:prstGeom>
          <a:solidFill>
            <a:srgbClr val="F4F7F9"/>
          </a:solidFill>
          <a:ln w="15875">
            <a:solidFill>
              <a:srgbClr val="D6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61872" y="2057400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icons/glob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2185416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88036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13232" y="3291840"/>
            <a:ext cx="1755648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collection of web pages.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98064" y="1783080"/>
            <a:ext cx="2084832" cy="4114800"/>
          </a:xfrm>
          <a:prstGeom prst="roundRect">
            <a:avLst>
              <a:gd name="adj" fmla="val 5263"/>
            </a:avLst>
          </a:prstGeom>
          <a:solidFill>
            <a:srgbClr val="F4F7F9"/>
          </a:solidFill>
          <a:ln w="15875">
            <a:solidFill>
              <a:srgbClr val="D6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11296" y="2057400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icons/lapto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2185416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07792" y="288036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962656" y="3291840"/>
            <a:ext cx="1755648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Firefox, Edge, Safari.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47488" y="1783080"/>
            <a:ext cx="2084832" cy="4114800"/>
          </a:xfrm>
          <a:prstGeom prst="roundRect">
            <a:avLst>
              <a:gd name="adj" fmla="val 5263"/>
            </a:avLst>
          </a:prstGeom>
          <a:solidFill>
            <a:srgbClr val="F4F7F9"/>
          </a:solidFill>
          <a:ln w="15875">
            <a:solidFill>
              <a:srgbClr val="D6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760720" y="2057400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icons/wifi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36" y="218541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57216" y="288036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ISP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212080" y="3291840"/>
            <a:ext cx="1755648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Service Provider — e.g. PLDT, Globe, Converge.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296912" y="1783080"/>
            <a:ext cx="2084832" cy="4114800"/>
          </a:xfrm>
          <a:prstGeom prst="roundRect">
            <a:avLst>
              <a:gd name="adj" fmla="val 5263"/>
            </a:avLst>
          </a:prstGeom>
          <a:solidFill>
            <a:srgbClr val="F4F7F9"/>
          </a:solidFill>
          <a:ln w="15875">
            <a:solidFill>
              <a:srgbClr val="D6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10144" y="2057400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/home/claude/icons/networ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18541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288036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61504" y="3291840"/>
            <a:ext cx="1755648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Internet's phonebook. Converts google.com into an IP address.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9546336" y="1783080"/>
            <a:ext cx="2084832" cy="4114800"/>
          </a:xfrm>
          <a:prstGeom prst="roundRect">
            <a:avLst>
              <a:gd name="adj" fmla="val 5263"/>
            </a:avLst>
          </a:prstGeom>
          <a:solidFill>
            <a:srgbClr val="F4F7F9"/>
          </a:solidFill>
          <a:ln w="15875">
            <a:solidFill>
              <a:srgbClr val="D6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259568" y="2057400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4" descr="/home/claude/icons/serve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7584" y="2185416"/>
            <a:ext cx="402336" cy="40233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56064" y="288036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 Address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9710928" y="3291840"/>
            <a:ext cx="1755648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device has one, e.g. 192.168.1.100.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548640" y="603504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D6E8F0"/>
          </a:solidFill>
          <a:ln/>
        </p:spPr>
      </p:sp>
      <p:sp>
        <p:nvSpPr>
          <p:cNvPr id="30" name="Text 23"/>
          <p:cNvSpPr/>
          <p:nvPr/>
        </p:nvSpPr>
        <p:spPr>
          <a:xfrm>
            <a:off x="777240" y="603504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moment: run  ping google.com  and  nslookup google.com  in Command Prompt to see DNS resolve a name to an IP in real time.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 •  20 MINUTES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server?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 is simply another computer — the difference is that it serves requests.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45236" y="228600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4F7F9"/>
          </a:solidFill>
          <a:ln w="15875">
            <a:solidFill>
              <a:srgbClr val="D6E8F0"/>
            </a:solidFill>
            <a:prstDash val="solid"/>
          </a:ln>
        </p:spPr>
      </p:sp>
      <p:pic>
        <p:nvPicPr>
          <p:cNvPr id="6" name="Image 0" descr="/home/claude/icons/laptop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1076" y="2468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6676" y="3063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214116" y="26974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488436" y="228600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4F7F9"/>
          </a:solidFill>
          <a:ln w="15875">
            <a:solidFill>
              <a:srgbClr val="D6E8F0"/>
            </a:solidFill>
            <a:prstDash val="solid"/>
          </a:ln>
        </p:spPr>
      </p:sp>
      <p:pic>
        <p:nvPicPr>
          <p:cNvPr id="10" name="Image 1" descr="/home/claude/icons/exchange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4276" y="24688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79876" y="3063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Website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957316" y="26974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231636" y="228600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/>
        </p:spPr>
      </p:sp>
      <p:pic>
        <p:nvPicPr>
          <p:cNvPr id="14" name="Image 2" descr="/home/claude/icons/serv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476" y="246888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23076" y="3063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8700516" y="26974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8974836" y="228600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4F7F9"/>
          </a:solidFill>
          <a:ln w="15875">
            <a:solidFill>
              <a:srgbClr val="D6E8F0"/>
            </a:solidFill>
            <a:prstDash val="solid"/>
          </a:ln>
        </p:spPr>
      </p:sp>
      <p:pic>
        <p:nvPicPr>
          <p:cNvPr id="18" name="Image 3" descr="/home/claude/icons/exchange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0676" y="246888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66276" y="3063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Website Back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54864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USUALLY HAVE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8640" y="448056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22" name="Text 16"/>
          <p:cNvSpPr/>
          <p:nvPr/>
        </p:nvSpPr>
        <p:spPr>
          <a:xfrm>
            <a:off x="640080" y="448056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RAM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2788920" y="448056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24" name="Text 18"/>
          <p:cNvSpPr/>
          <p:nvPr/>
        </p:nvSpPr>
        <p:spPr>
          <a:xfrm>
            <a:off x="2880360" y="448056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CPUs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029200" y="448056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26" name="Text 20"/>
          <p:cNvSpPr/>
          <p:nvPr/>
        </p:nvSpPr>
        <p:spPr>
          <a:xfrm>
            <a:off x="5120640" y="448056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networking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7269480" y="448056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28" name="Text 22"/>
          <p:cNvSpPr/>
          <p:nvPr/>
        </p:nvSpPr>
        <p:spPr>
          <a:xfrm>
            <a:off x="7360920" y="448056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9509760" y="448056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30" name="Text 24"/>
          <p:cNvSpPr/>
          <p:nvPr/>
        </p:nvSpPr>
        <p:spPr>
          <a:xfrm>
            <a:off x="9601200" y="448056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power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 •  30 MINUTES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cloud computing?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opening a coffee shop.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03520" cy="3840480"/>
          </a:xfrm>
          <a:prstGeom prst="roundRect">
            <a:avLst>
              <a:gd name="adj" fmla="val 2857"/>
            </a:avLst>
          </a:prstGeom>
          <a:solidFill>
            <a:srgbClr val="F4F7F9"/>
          </a:solidFill>
          <a:ln w="19050">
            <a:solidFill>
              <a:srgbClr val="D6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 everything yourself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4389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5074920"/>
            <a:ext cx="4617720" cy="640080"/>
          </a:xfrm>
          <a:prstGeom prst="roundRect">
            <a:avLst>
              <a:gd name="adj" fmla="val 11429"/>
            </a:avLst>
          </a:prstGeom>
          <a:solidFill>
            <a:srgbClr val="21295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507492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millions of pesos over time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2057400"/>
            <a:ext cx="5303520" cy="3840480"/>
          </a:xfrm>
          <a:prstGeom prst="roundRect">
            <a:avLst>
              <a:gd name="adj" fmla="val 2857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29400" y="26060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 from AWS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29400" y="320040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629400" y="5074920"/>
            <a:ext cx="46177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507492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simply rent what you need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means: </a:t>
            </a:r>
            <a:pPr algn="ctr"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computing resources over the Internet without owning the physical infrastructure.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 •  BENEFITS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companies use AWS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084832" cy="192024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</p:spPr>
      </p:sp>
      <p:sp>
        <p:nvSpPr>
          <p:cNvPr id="5" name="Shape 3"/>
          <p:cNvSpPr/>
          <p:nvPr/>
        </p:nvSpPr>
        <p:spPr>
          <a:xfrm>
            <a:off x="1280160" y="201168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icons/dollar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8176" y="2139696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74320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only for what you use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798064" y="1737360"/>
            <a:ext cx="2084832" cy="192024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</p:spPr>
      </p:sp>
      <p:sp>
        <p:nvSpPr>
          <p:cNvPr id="9" name="Shape 6"/>
          <p:cNvSpPr/>
          <p:nvPr/>
        </p:nvSpPr>
        <p:spPr>
          <a:xfrm>
            <a:off x="3529584" y="201168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/home/claude/icons/scale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139696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35224" y="274320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up or down quickly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047488" y="1737360"/>
            <a:ext cx="2084832" cy="192024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</p:spPr>
      </p:sp>
      <p:sp>
        <p:nvSpPr>
          <p:cNvPr id="13" name="Shape 9"/>
          <p:cNvSpPr/>
          <p:nvPr/>
        </p:nvSpPr>
        <p:spPr>
          <a:xfrm>
            <a:off x="5779008" y="201168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/home/claude/icons/globe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2139696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84648" y="274320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globally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296912" y="1737360"/>
            <a:ext cx="2084832" cy="192024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</p:spPr>
      </p:sp>
      <p:sp>
        <p:nvSpPr>
          <p:cNvPr id="17" name="Shape 12"/>
          <p:cNvSpPr/>
          <p:nvPr/>
        </p:nvSpPr>
        <p:spPr>
          <a:xfrm>
            <a:off x="8028432" y="201168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/home/claude/icons/check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2139696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34072" y="274320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reliability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9546336" y="1737360"/>
            <a:ext cx="2084832" cy="192024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</p:spPr>
      </p:sp>
      <p:sp>
        <p:nvSpPr>
          <p:cNvPr id="21" name="Shape 15"/>
          <p:cNvSpPr/>
          <p:nvPr/>
        </p:nvSpPr>
        <p:spPr>
          <a:xfrm>
            <a:off x="10277856" y="201168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4" descr="/home/claude/icons/lock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5872" y="2139696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683496" y="274320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security features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548640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IN EVERYDAY LIFE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548640" y="42976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4F7F9"/>
          </a:solidFill>
          <a:ln w="12700">
            <a:solidFill>
              <a:srgbClr val="D6E8F0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685800" y="4480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Netflix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685800" y="49377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3337560" y="42976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4F7F9"/>
          </a:solidFill>
          <a:ln w="12700">
            <a:solidFill>
              <a:srgbClr val="D6E8F0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3474720" y="4480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Airbnb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3474720" y="49377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6126480" y="42976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4F7F9"/>
          </a:solidFill>
          <a:ln w="12700">
            <a:solidFill>
              <a:srgbClr val="D6E8F0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6263640" y="4480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Samsung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6263640" y="49377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services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915400" y="42976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4F7F9"/>
          </a:solidFill>
          <a:ln w="12700">
            <a:solidFill>
              <a:srgbClr val="D6E8F0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9052560" y="4480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Adobe</a:t>
            </a:r>
            <a:endParaRPr lang="en-US" sz="1600" dirty="0"/>
          </a:p>
        </p:txBody>
      </p:sp>
      <p:sp>
        <p:nvSpPr>
          <p:cNvPr id="36" name="Text 29"/>
          <p:cNvSpPr/>
          <p:nvPr/>
        </p:nvSpPr>
        <p:spPr>
          <a:xfrm>
            <a:off x="9052560" y="49377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services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large companies use multiple cloud providers, but AWS is one of the most widely adopted.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 •  REAL-LIFE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Suppose you create an online store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D6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AWS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8680" y="2514600"/>
            <a:ext cx="4480560" cy="594360"/>
          </a:xfrm>
          <a:prstGeom prst="roundRect">
            <a:avLst>
              <a:gd name="adj" fmla="val 12308"/>
            </a:avLst>
          </a:prstGeom>
          <a:solidFill>
            <a:srgbClr val="F4F7F9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51460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5146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Servers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560320" y="3063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291840"/>
            <a:ext cx="4480560" cy="594360"/>
          </a:xfrm>
          <a:prstGeom prst="roundRect">
            <a:avLst>
              <a:gd name="adj" fmla="val 12308"/>
            </a:avLst>
          </a:prstGeom>
          <a:solidFill>
            <a:srgbClr val="F4F7F9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29184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32918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Building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560320" y="3840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" y="4069080"/>
            <a:ext cx="4480560" cy="594360"/>
          </a:xfrm>
          <a:prstGeom prst="roundRect">
            <a:avLst>
              <a:gd name="adj" fmla="val 12308"/>
            </a:avLst>
          </a:prstGeom>
          <a:solidFill>
            <a:srgbClr val="F4F7F9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06908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63040" y="40690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Hardware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560320" y="4617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4846320"/>
            <a:ext cx="4480560" cy="594360"/>
          </a:xfrm>
          <a:prstGeom prst="roundRect">
            <a:avLst>
              <a:gd name="adj" fmla="val 12308"/>
            </a:avLst>
          </a:prstGeom>
          <a:solidFill>
            <a:srgbClr val="F4F7F9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84632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63040" y="48463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Failed Components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309360" y="182880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21295C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AWS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29400" y="2514600"/>
            <a:ext cx="4480560" cy="640080"/>
          </a:xfrm>
          <a:prstGeom prst="roundRect">
            <a:avLst>
              <a:gd name="adj" fmla="val 11429"/>
            </a:avLst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0" y="25146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223760" y="25146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EC2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21040" y="3108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29400" y="3383280"/>
            <a:ext cx="4480560" cy="640080"/>
          </a:xfrm>
          <a:prstGeom prst="roundRect">
            <a:avLst>
              <a:gd name="adj" fmla="val 11429"/>
            </a:avLst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33832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223760" y="33832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Website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21040" y="3977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629400" y="4251960"/>
            <a:ext cx="4480560" cy="640080"/>
          </a:xfrm>
          <a:prstGeom prst="roundRect">
            <a:avLst>
              <a:gd name="adj" fmla="val 11429"/>
            </a:avLst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42519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223760" y="42519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629400" y="52578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manages the underlying hardware for you.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UNDERSTANDING  •  10 MINUTES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quiz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288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82880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brain of the computer?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6060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60604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RAM used for?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3832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338328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RAM and SSD?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1605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416052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Operating System?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9377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493776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server?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63640" y="182880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18288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0" y="182880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Internet?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263640" y="260604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26060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0" y="260604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DNS?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63640" y="338328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33832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58000" y="338328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IP address?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263640" y="416052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41605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58000" y="416052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cloud computing?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263640" y="493776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49377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58000" y="493776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companies use AWS?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Command Prompt and run: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4F7F9"/>
          </a:solidFill>
          <a:ln w="15875">
            <a:solidFill>
              <a:srgbClr val="D6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47672"/>
            <a:ext cx="2834640" cy="621792"/>
          </a:xfrm>
          <a:prstGeom prst="roundRect">
            <a:avLst>
              <a:gd name="adj" fmla="val 8824"/>
            </a:avLst>
          </a:prstGeom>
          <a:solidFill>
            <a:srgbClr val="1B2A3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47672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F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hostname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40480" y="1783080"/>
            <a:ext cx="7589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your computer's name?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98648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4F7F9"/>
          </a:solidFill>
          <a:ln w="15875">
            <a:solidFill>
              <a:srgbClr val="D6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063240"/>
            <a:ext cx="2834640" cy="621792"/>
          </a:xfrm>
          <a:prstGeom prst="roundRect">
            <a:avLst>
              <a:gd name="adj" fmla="val 8824"/>
            </a:avLst>
          </a:prstGeom>
          <a:solidFill>
            <a:srgbClr val="1B2A3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063240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F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ipconfig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40480" y="2898648"/>
            <a:ext cx="7589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IPv4 Address, Default Gateway, and DNS Server.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014216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4F7F9"/>
          </a:solidFill>
          <a:ln w="15875">
            <a:solidFill>
              <a:srgbClr val="D6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4178808"/>
            <a:ext cx="2834640" cy="621792"/>
          </a:xfrm>
          <a:prstGeom prst="roundRect">
            <a:avLst>
              <a:gd name="adj" fmla="val 8824"/>
            </a:avLst>
          </a:prstGeom>
          <a:solidFill>
            <a:srgbClr val="1B2A33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178808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F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google.com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40480" y="4014216"/>
            <a:ext cx="7589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the IP address returned, packet loss, and round-trip time (latency).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129784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4F7F9"/>
          </a:solidFill>
          <a:ln w="15875">
            <a:solidFill>
              <a:srgbClr val="D6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5294376"/>
            <a:ext cx="2834640" cy="621792"/>
          </a:xfrm>
          <a:prstGeom prst="roundRect">
            <a:avLst>
              <a:gd name="adj" fmla="val 8824"/>
            </a:avLst>
          </a:prstGeom>
          <a:solidFill>
            <a:srgbClr val="1B2A3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294376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F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nslookup google.com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840480" y="5129784"/>
            <a:ext cx="7589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DNS server answered and the IP address(es) returned.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Day 2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F4F7F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videos on: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30175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Internet Works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Cloud Computing?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Global Infrastructure (Regions and Availability Zones)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51960" y="173736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1965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 from memory: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26280" y="24231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26280" y="2724912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26280" y="2880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26280" y="3182112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26280" y="3337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26280" y="3639312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26280" y="3794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26280" y="4096512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4251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26280" y="4553712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26280" y="47091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26280" y="5010912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26280" y="5166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955280" y="1737360"/>
            <a:ext cx="3685032" cy="4297680"/>
          </a:xfrm>
          <a:prstGeom prst="roundRect">
            <a:avLst>
              <a:gd name="adj" fmla="val 2978"/>
            </a:avLst>
          </a:prstGeom>
          <a:solidFill>
            <a:srgbClr val="F4F7F9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 in your own words: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29600" y="2423160"/>
            <a:ext cx="32004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doesn't your laptop store every website you visit?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DNS necessary?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advantages does AWS provide compared to buying your own servers?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moving to Day 2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friend should be able to explain, without notes:</a:t>
            </a:r>
            <a:endParaRPr lang="en-US" sz="1500" dirty="0"/>
          </a:p>
        </p:txBody>
      </p:sp>
      <p:pic>
        <p:nvPicPr>
          <p:cNvPr id="6" name="Image 0" descr="/home/claud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2199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214884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of the CPU, RAM, storage, and operating system.</a:t>
            </a:r>
            <a:endParaRPr lang="en-US" sz="1500" dirty="0"/>
          </a:p>
        </p:txBody>
      </p:sp>
      <p:pic>
        <p:nvPicPr>
          <p:cNvPr id="8" name="Image 1" descr="/home/claud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99232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29260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a client and a server.</a:t>
            </a:r>
            <a:endParaRPr lang="en-US" sz="1500" dirty="0"/>
          </a:p>
        </p:txBody>
      </p:sp>
      <p:pic>
        <p:nvPicPr>
          <p:cNvPr id="10" name="Image 2" descr="/home/claud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776472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370332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website request travels from a browser to a server and back.</a:t>
            </a:r>
            <a:endParaRPr lang="en-US" sz="1500" dirty="0"/>
          </a:p>
        </p:txBody>
      </p:sp>
      <p:pic>
        <p:nvPicPr>
          <p:cNvPr id="12" name="Image 3" descr="/home/claud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53712"/>
            <a:ext cx="365760" cy="3657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88720" y="448056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DNS and IP addresses are.</a:t>
            </a:r>
            <a:endParaRPr lang="en-US" sz="1500" dirty="0"/>
          </a:p>
        </p:txBody>
      </p:sp>
      <p:pic>
        <p:nvPicPr>
          <p:cNvPr id="14" name="Image 4" descr="/home/claude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330952"/>
            <a:ext cx="365760" cy="36576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88720" y="52578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cloud computing is and why businesses use AWS.</a:t>
            </a:r>
            <a:endParaRPr lang="en-US" sz="1500" dirty="0"/>
          </a:p>
        </p:txBody>
      </p:sp>
      <p:sp>
        <p:nvSpPr>
          <p:cNvPr id="16" name="Shape 9"/>
          <p:cNvSpPr/>
          <p:nvPr/>
        </p:nvSpPr>
        <p:spPr>
          <a:xfrm>
            <a:off x="548640" y="617220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1C7293">
              <a:alpha val="80000"/>
            </a:srgbClr>
          </a:solidFill>
          <a:ln/>
        </p:spPr>
      </p:sp>
      <p:sp>
        <p:nvSpPr>
          <p:cNvPr id="17" name="Text 10"/>
          <p:cNvSpPr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conceptual foundation makes the networking and Linux topics ahead much easier to understand.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2026-08-02T19:12:11Z</dcterms:created>
  <dcterms:modified xsi:type="dcterms:W3CDTF">2026-08-02T19:12:11Z</dcterms:modified>
</cp:coreProperties>
</file>