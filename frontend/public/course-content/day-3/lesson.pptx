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Welcome students back for Day 3. Today we connect two dots from the first two days: how the Internet actually works (Day 1) and the Linux servers we now know how to operate (Day 2). By the end of today, students will understand exactly what happens between typing a URL and seeing a webpage.
STORYTELLING EXAMPLE: Share a quick story of a time a 'the Internet is down' problem turned out to be a DNS or firewall issue — foreshadowing why today's troubleshooting skills matter.
QUESTIONS TO ASK: "On a scale of 1-5, how comfortable are you with terms like IP address, router, or firewall today?" Gauge the room.
COMMON MISCONCEPTIONS: Many beginners think 'the Internet' and 'WiFi' are the same thing, or that a router and modem are interchangeable — we'll clear this up today.
ANIMATION: Fade in title, Float In subtitle and prerequisites.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Read through the objectives at a brisk pace — this is a lot of ground, so set the expectation that we'll build understanding layer by layer, not all at once.
QUESTIONS TO ASK: "Which of these terms have you heard before, even if you don't fully understand them?" Show of hands on IP address, DNS, firewall, VPN.
COMMON MISCONCEPTIONS: Students often expect networking to be 'harder' than Linux — reassure them it's more about vocabulary and mental models than typed commands.
ANIMATION: Appear each objective card in a staggered grid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Preview the six blocks of today's 3-hour session, and mention we'll take short breaks between major blocks.
QUESTIONS TO ASK: None needed — this is an orientation slide.
COMMON MISCONCEPTIONS: None expected.
ANIMATION: Wipe or Appear each row top-to-bottom.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Ask the question and collect 3-4 guesses on the whiteboard/chat without correcting them yet. Common partial answers: 'it sends a request', 'DNS is involved', 'it downloads the page'.
STORYTELLING EXAMPLE: Compare it to mailing a letter — you need an address (IP), a way to look up that address (DNS), and a postal system to route it (the Internet) — all of which we'll unpack today.
QUESTIONS TO ASK: "What's the very FIRST thing that has to happen before any data can even be sent?" (Expected answer: finding the destination's IP address, i.e. DNS lookup.)
COMMON MISCONCEPTIONS: Many think typing a URL directly sends data to Google — they don't yet realize DNS translation happens first.
ANIMATION: Zoom in on the quote bubble, then Fade in the closing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Ground the abstract definition in the familiar diagram: your laptop talks to a router, which forwards traffic to the wider Internet, which eventually reaches a server somewhere.
STORYTELLING EXAMPLE: Trace a real request — clicking a link in your browser sends a request that hops through your home router, your ISP, and dozens of other networks before reaching Google's servers.
QUESTIONS TO ASK: "What device in your home connects you to your Internet provider?" (Expected: a router or a combined router/modem.)
COMMON MISCONCEPTIONS: Students often think their laptop connects 'directly' to a website — emphasize the many hops in between.
ANIMATION: Fade in the definition card, then animate the flowchain left-to-right using Float In or a Motion Path to represent data traveling.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Move from smallest to largest scope: PAN (a few feet) → LAN (a building) → MAN (a city) → WAN (states/countries) → the Internet (the whole world).
STORYTELLING EXAMPLE: A company with offices in three cities uses a WAN to connect them privately, while each office's own WiFi is a separate LAN.
QUESTIONS TO ASK: "Is your home WiFi a LAN or a WAN?" (Expected: LAN.)
COMMON MISCONCEPTIONS: Students often assume MAN is obscure/unused — mention municipal WiFi and cable ISPs as concrete examples.
ANIMATION: Appear header (Fade), then Wipe in each row top-to-bottom.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left to right, building the physical path data takes: modem connects you to your ISP, router directs traffic, switch fans it out to individual devices, AP adds WiFi, firewall filters for safety.
STORYTELLING EXAMPLE: Most home 'routers' are actually combo devices — modem + router + switch + AP all in one box, which is why the distinction can be confusing at first.
QUESTIONS TO ASK: "Which of these devices would you find inside a data center rack versus in a home?" (All of them exist in both, but data centers use dedicated, more powerful versions of each.)
COMMON MISCONCEPTIONS: Confusing 'router' and 'modem' is extremely common — stress that a modem talks to your ISP, a router manages your own network.
ANIMATION: Appear each device card left-to-right (Fade, staggered).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Introduce the OSI model as a conceptual reference — a shared vocabulary engineers use to describe where in the network stack a problem or technology lives. Read bottom-up: Physical wires carry Bits, which build up to full Application data.
STORYTELLING EXAMPLE: A mnemonic many students like: 'Please Do Not Throw Sausage Pizza Away' (Physical, Data Link, Network, Transport, Session, Presentation, Application).
QUESTIONS TO ASK: "Which layer do you think a web browser operates at?" (Expected: Application, Layer 7.)
COMMON MISCONCEPTIONS: Students often think data 'skips' layers — clarify every layer is used on both the sending and receiving side, even if invisibly.
ANIMATION: Appear each layer bottom-to-top (Layer 1 first) to mirror how data is actually built up, using Fade or Wipe.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Reinforce the previous slide with concrete analogies and named protocols so the abstract layer numbers start to feel tangible.
STORYTELLING EXAMPLE: When a website 'won't load', experienced engineers mentally walk the stack: is DNS resolving (L3/L7)? Is the port open (L4)? Is there a cable/WiFi issue (L1)? This model organizes troubleshooting.
QUESTIONS TO ASK: "If a website loads but is very slow, which layers are probably NOT the problem?" (Physical/Data Link are likely fine since data is arriving at all.)
COMMON MISCONCEPTIONS: Students sometimes think you must memorize all 7 layers with equal depth — clarify that Layers 3, 4, and 7 matter most day-to-day for cloud engineers.
ANIMATION: Wipe in each table row top-to-bottom, Zoom in on the closing tip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that TCP/IP is what's actually implemented in real networks and the Internet, while OSI is mainly a teaching/reference tool. Map the 4 TCP/IP layers back to the 7 OSI layers we just covered.
STORYTELLING EXAMPLE: When engineers say 'Layer 3 problem' or 'Layer 4 problem' they're using OSI numbering even while working on TCP/IP-based systems — both models coexist in daily vocabulary.
QUESTIONS TO ASK: "Which TCP/IP layer would DNS belong to?" (Expected: Application.)
COMMON MISCONCEPTIONS: Students sometimes think they need to pick 'one model' to learn — clarify both are used interchangeably in real conversations.
ANIMATION: Appear each TCP/IP layer bottom-to-top (Fade), then Float In the comparison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how a simple message gets progressively wrapped with more addressing information as it moves down the stack, and unwrapped in reverse order on the receiving end.
STORYTELLING EXAMPLE: A wooden Russian nesting doll is another great visual — the outermost 'doll' (Ethernet Frame) is what physically travels the local wire, but inside is the IP Packet, and inside that the TCP Segment, and inside that your data.
QUESTIONS TO ASK: "Which layer adds the destination IP address?" (Expected: the IP Packet layer.)
COMMON MISCONCEPTIONS: Students often think headers replace data rather than wrap around it — clarify nothing is lost, only added.
ANIMATION: Reveal each wrapped layer growing outward using Zoom or Morph, mimicking data being wrapped layer by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Break down an IP address into its two conceptual parts — network portion identifies which network you're on, host portion identifies which specific device within that network.
STORYTELLING EXAMPLE: Compare it to a street address: the street name is like the network portion (shared by everyone on that street), and the house number is the host portion (unique to you).
QUESTIONS TO ASK: "If two devices share the same network portion, can they usually talk to each other directly?" (Expected: yes, they're on the same local network.)
COMMON MISCONCEPTIONS: Students often think all four numbers are equally 'network' or equally 'host' — clarify the split point depends on the subnet mask, covered next.
ANIMATION: Zoom in on the IP address example, Fade in the network/host color-coded labels, Float In the examples panel.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RFC 1918 as the standard that reserved specific IP ranges for private use, guaranteeing they'll never conflict with real public Internet addresses. This is why millions of homes can all safely use 192.168.1.1.
STORYTELLING EXAMPLE: Multiple apartment buildings can each have a unit '101' — same private label reused everywhere — but each building's real street address (public IP) is globally unique.
QUESTIONS TO ASK: "Why can't two different companies' public web servers share the same public IP address?" (Expected: it would create routing conflicts since public IPs must be globally unique.)
COMMON MISCONCEPTIONS: Students often think private IPs are 'more secure' inherently — clarify it's really about not being directly reachable, not true encryption or security.
ANIMATION: Appear the private card first (Fade), then the public card (Fade), highlighting the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Use the 192.168.1.0/24 example throughout: .0 is the network address (unusable), .1-.254 are usable hosts, .255 is the broadcast (unusable), and typically .1 is the gateway by convention.
STORYTELLING EXAMPLE: If you shout down a hallway (broadcast), everyone in that hallway (subnet) hears it — but it doesn't reach neighboring hallways (other subnets) without going through a door (the gateway/router).
QUESTIONS TO ASK: "In a /24 network, how many addresses are actually usable for devices?" (Expected: 254 — 256 total minus network and broadcast.)
COMMON MISCONCEPTIONS: Beginners often think all 256 addresses in a /24 are assignable to devices — clarify 2 are always reserved.
ANIMATION: Appear each of the four concept cards left-to-right (Fade), then Float In the analogy and mistake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CIDR as shorthand replacing the older 'subnet mask' notation (255.255.255.0). The bigger the number after the slash, the smaller the network — this trips up almost every beginner at first.
STORYTELLING EXAMPLE: Think of it like zoom level on a map — a /24 is a whole neighborhood, a /28 is a single small street. Higher CIDR number = more zoomed in = fewer addresses.
QUESTIONS TO ASK: "Which is bigger: a /24 or a /28 network?" (Expected: /24 is bigger — count the usable hosts column together.)
COMMON MISCONCEPTIONS: Assuming a higher CIDR number means a bigger network is the single most common subnetting mistake — repeat the correction clearly.
ANIMATION: Zoom in on the CIDR example, then Wipe in each table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Work through this live on the board. Starting from 192.168.1.0/24 (254 hosts), splitting in half gives two /25s, splitting again gives four /26s, and again gives eight /27s.
STORYTELLING EXAMPLE: Think of cutting a pizza — /24 is the whole pizza, /25 is cutting it in half, /26 cuts each half again into quarters, and so on. Same total pizza, smaller slices.
QUESTIONS TO ASK: "If we split /24 into 4 equal parts, what CIDR do we get, and how many usable hosts per part?" (Expected: /26, 62 hosts.)
COMMON MISCONCEPTIONS: Students often try to divide the CIDR number itself rather than doubling/halving the address space — walk through the math slowly.
ANIMATION: Appear each split card left-to-right (Fade), then Zoom in on the trick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that routers make a decision for every single packet: check the routing table for the best match, or send it to the default gateway if nothing matches — repeated at every hop until the destination is reached.
STORYTELLING EXAMPLE: Mail sorting facilities do this constantly — each facility just needs to know the next facility to forward a letter to, not the entire path in advance.
QUESTIONS TO ASK: "What happens if a router has no matching route AND no default gateway?" (Expected: the packet gets dropped.)
COMMON MISCONCEPTIONS: Students often think a single router 'knows' the entire path to a destination in advance — clarify it's a hop-by-hop decision.
ANIMATION: Appear each concept card left-to-right (Fade), then Float In the analogy and mistake callouts.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Anchor the difference in OSI layers we already covered: switches operate at Layer 2 using MAC addresses within one network, routers operate at Layer 3 using IP addresses to connect separate networks.
STORYTELLING EXAMPLE: In an office, a switch lets every desk on the same floor talk to each other instantly; a router is needed the moment traffic needs to leave that floor (network) entirely.
QUESTIONS TO ASK: "If two PCs are on the exact same LAN, do they need a router to talk to each other?" (Expected: No, a switch is enough.)
COMMON MISCONCEPTIONS: Many beginners use 'router' as a catch-all term for any networking box — clarify that home 'routers' are usually router+switch+AP combos.
ANIMATION: Appear header, Wipe in each comparison row, Zoom on the analogy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Build directly on the IP addressing concept: the IP gets you to the right building (server), and the port number gets you to the right door once you're there (the specific running service, like a web server or SSH).
STORYTELLING EXAMPLE: A hotel has one street address but hundreds of room numbers — the address gets your taxi there, but you still need the room number to reach the right person.
QUESTIONS TO ASK: "Can two different services run on the same server using two different ports at the same time?" (Expected: Yes — that's the whole point of ports.)
COMMON MISCONCEPTIONS: Students sometimes think an IP address alone identifies a specific website or service — clarify the port is what disambiguates it.
ANIMATION: Fade in the definition, Float In the IP/port analogy, Zoom on the plug icon.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Go through the highest-priority ports first: 22 (SSH — they already used this Day 2), 80/443 (web traffic), and 53 (DNS) are the ones students will encounter constantly.
STORYTELLING EXAMPLE: Point out that port 80 vs 443 is literally the difference between the padlock icon showing or not showing in a browser address bar.
QUESTIONS TO ASK: "Which port did we use every time we connected to our Linux server on Day 2?" (Expected: 22, SSH.)
COMMON MISCONCEPTIONS: Students often confuse port 20/21 (FTP) with port 22 (SSH) since they're numerically close but functionally unrelated.
ANIMATION: Appear each port card in a staggered grid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Cover the remaining ports, emphasizing database ports (3306, 5432) since students will meet these again when working with AWS RDS.
STORYTELLING EXAMPLE: 8080 and 8443 are common 'alternate' ports developers use for testing, so they don't need admin rights to bind to the standard 80/443 ports.
QUESTIONS TO ASK: "Why might a company run a web app on 8080 instead of 80 during development?" (Expected: ports below 1024 often require elevated permissions.)
COMMON MISCONCEPTIONS: Students sometimes think port numbers are randomly assigned — clarify IANA maintains an official registry of standard port assignments.
ANIMATION: Appear each port card (Fade), then Float In the memorization tip and pattern callout.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Frame protocols as agreed-upon 'languages' — both sender and receiver must speak the same protocol for communication to succeed. Point out several (HTTP, DNS, SSH) they've technically already used without realizing it.
STORYTELLING EXAMPLE: ARP is like shouting 'who has this street address?' in a room and waiting for the matching person's 'name tag' (MAC address) to respond.
QUESTIONS TO ASK: "Which protocol did the ping command we might use later rely on?" (Expected: ICMP.)
COMMON MISCONCEPTIONS: Students often think HTTP and HTTPS are entirely different protocols rather than the same protocol with an added encryption layer (TLS).
ANIMATION: Appear each protocol tile in a staggered grid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Frame the core tradeoff: TCP trades speed for reliability (like a phone call with confirmation of every word), UDP trades reliability for speed (like shouting across a room — if they miss it, too bad).
STORYTELLING EXAMPLE: A video call uses UDP — if one video frame is lost, you'd rather keep going smoothly than pause and re-send an old frame. A file download uses TCP — losing even one piece of the file would corrupt it.
QUESTIONS TO ASK: "Why does DNS often use UDP instead of TCP?" (Expected: DNS queries are small and speed matters more than guaranteed delivery — if it fails, the client just asks again quickly.)
COMMON MISCONCEPTIONS: Students sometimes assume UDP is simply 'worse' than TCP — reframe it as a deliberate tradeoff suited to different use cases.
ANIMATION: Appear TCP card first (Fade), then UDP card (Fade), for a clean side-by-side contrast.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slide finally answers today's icebreaker question in full. Walk through all five steps of a DNS lookup, emphasizing this all happens in milliseconds before any actual webpage data is transferred.
STORYTELLING EXAMPLE: Compare it to asking a librarian (Resolver) who directs you to the right building (Root), then the right floor (TLD), then the right shelf (Authoritative) to finally find the exact book (IP address) you need.
QUESTIONS TO ASK: "After DNS resolves the domain to an IP, does the browser need to repeat this whole process for every single request to that site?" (Expected: No — results are cached temporarily.)
COMMON MISCONCEPTIONS: Students often think DNS servers 'store' websites — clarify DNS only stores the mapping from name to IP address, not any actual website content.
ANIMATION: Animate the flowchain left-to-right with Motion Paths or Float In to represent the lookup traveling through each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Walk through the DORA sequence step by step — this is exactly what happens the instant a laptop connects to a new WiFi network, entirely automatically and usually within a second or two.
STORYTELLING EXAMPLE: Compare it to checking into a hotel: you ask if there's a room (Discover), the front desk offers you room 204 (Offer), you accept (Request), and they hand you the key and confirm you're checked in (Acknowledge).
QUESTIONS TO ASK: "What would happen if a device never completed the DORA process?" (Expected: it wouldn't get a usable IP address and couldn't communicate on the network.)
COMMON MISCONCEPTIONS: Students sometimes think DHCP assigns a permanent IP forever — clarify these are typically temporary 'leases' that get renewed or reassigned.
ANIMATION: Appear each DORA step in sequence (Fade or Float In) to visually simulate the negotiation happening in real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NAT as the reason your entire household can access the Internet using just one public IP address — the router translates between many private addresses and that single public one.
STORYTELLING EXAMPLE: A company's front desk (the router doing NAT) receives all incoming calls to one main phone number, then routes each call internally to the correct employee extension — and outgoing calls all show that same main number.
QUESTIONS TO ASK: "Why can't someone on the Internet directly reach your laptop by IP address if you're behind NAT?" (Expected: your laptop only has a private IP; the public Internet only sees the router's public IP.)
COMMON MISCONCEPTIONS: Students often think NAT is a security feature by design — clarify it's primarily an address-conservation technique, though it has a side-effect of hiding internal devices.
ANIMATION: Animate the flowchain with Float In, then Appear each NAT type card left-to-right.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the core difference: stateful firewalls remember an approved connection and auto-allow its replies; stateless firewalls check every packet fresh, requiring explicit rules for both inbound and outbound traffic.
STORYTELLING EXAMPLE: A stateful firewall is like a bouncer who remembers your face after checking your ID once; a stateless firewall checks ID at every single door, every single time, with no memory.
QUESTIONS TO ASK: "If AWS Security Groups are stateful, do you need a separate outbound rule to allow a reply to traffic you already allowed in?" (Expected: No — that's the benefit of statefulness.)
COMMON MISCONCEPTIONS: Students often assume NACLs and Security Groups do the exact same job — clarify NACLs are stateless and apply at the subnet level, Security Groups are stateful and apply per-instance.
ANIMATION: Appear stateful card, then stateless card (Fade), then Wipe in the three real-world example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Explain a VPN as an encrypted 'tunnel' through an otherwise untrusted network (like public WiFi or the open Internet) — the data inside is unreadable to anyone intercepting it along the way.
STORYTELLING EXAMPLE: Using public airport WiFi without a VPN is like having a conversation in a crowded room; a VPN is like stepping into a private, soundproof booth to have that same conversation.
QUESTIONS TO ASK: "Does a VPN hide WHO you're sending data to, or WHAT the data actually says?" (Expected: it primarily protects the content/what, though it can also mask your apparent location/IP.)
COMMON MISCONCEPTIONS: Students sometimes think VPNs make you 'anonymous' online — clarify it protects data in transit, but doesn't make all online activity untraceable.
ANIMATION: Zoom in on the tunnel graphic, then Float In the analogy and AWS tip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Frame this as the beginner's diagnostic toolkit, mapped loosely to the OSI layers: ping/traceroute for basic reachability, netstat/ss for local port status, nslookup/dig for DNS-specific issues, curl for testing an actual HTTP response.
STORYTELLING EXAMPLE: A real troubleshooting flow: ping the destination first (is it reachable at all?), then traceroute if it fails (where does it break?), then nslookup if it's a website (is DNS resolving correctly?).
QUESTIONS TO ASK: "If ping works but a website still won't load in the browser, what might you check next?" (Expected: DNS resolution or the specific port/HTTP response, e.g. with curl or nslookup.)
COMMON MISCONCEPTIONS: Students sometimes think one single command can diagnose any problem — clarify troubleshooting is usually a process of elimination across several tools.
ANIMATION: Appear each command card in a staggered grid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Have students run these five commands on their own machine, in order, and compare outputs with a neighbor. This ties directly back to the icebreaker question from the start of class.
STORYTELLING EXAMPLE: Point out that this exact 5-step sequence is what a real engineer runs, in roughly this order, the moment someone reports 'the website isn't loading.'
TROUBLESHOOTING TIPS: If ping fails but the browser still works, some networks block ICMP (ping) specifically as a security measure — that alone doesn't mean the network is down.
COMMON MISCONCEPTIONS: Students sometimes expect tracert/traceroute to complete instantly — clarify it can take 10-30 seconds as it probes each hop.
ANIMATION: Appear terminal window (Fade), then reveal each expected-output bullet as students complete that step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the payoff slide — every concept from today (IP addressing, CIDR, routing, gateways) directly maps onto AWS's own networking building blocks. Nothing about AWS networking is actually new; it's the same ideas with AWS-specific names.
STORYTELLING EXAMPLE: A VPC is literally defined using a CIDR block (e.g. 10.0.0.0/16), broken into subnets (e.g. 10.0.1.0/24) — exactly the subnetting math practiced earlier today.
QUESTIONS TO ASK: "Which AWS component plays the same role as your home router's connection to your ISP?" (Expected: the Internet Gateway.)
COMMON MISCONCEPTIONS: Students often assume AWS networking is a completely separate skill set from 'real' networking — reinforce that it's the exact same fundamentals, just software-defined.
ANIMATION: Animate the flowchain left-to-right with Motion Paths, then Wipe in each mapping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students' first hands-on exercise directly inside the AWS Console. Keep it deliberately simple — the goal is to see today's concepts (subnets, gateways, routing) become real, clickable AWS resources, not to master every VPC setting.
STORYTELLING EXAMPLE: Compare it to building a tiny neighborhood from scratch — the VPC is the plot of land, the subnet is one street, the Internet Gateway is the road connecting that street to the highway, and the route table is the road sign telling traffic which way to go.
QUESTIONS TO ASK: "Which step from today's lesson does each AWS resource map to?" (Expected: VPC/subnet = IP addressing &amp; CIDR, Internet Gateway = router, route table = routing table, EC2 = the server we've been pinging all lesson.)
COMMON MISCONCEPTIONS: Students often forget the route table step and then can't understand why their instance has no Internet access despite having an Internet Gateway attached — reinforce that attaching an IGW alone does nothing without a route pointing to it.
INSTRUCTOR TIP: Walk the room during step 4 (route table) specifically — it's the step most commonly skipped or misconfigured.
LAB REFERENCE (console path for each step):
1. VPC Console → Create VPC → CIDR 10.0.0.0/16
2. VPC Console → Subnets → Create subnet → CIDR 10.0.1.0/24
3. VPC Console → Internet Gateways → Create → Attach to VPC
4. VPC Console → Route Tables → Edit routes → Add 0.0.0.0/0 → target: your Internet Gateway
5. EC2 Console → Launch Instance → t2.micro → select your VPC &amp; subnet → auto-assign public IP: enabled
6. SSH: ssh -i mykey.pem ec2-user@&lt;public-ip&gt;   then run:  ping -c 4 google.com
ANIMATION: Wipe in each of the 6 step rows top-to-bottom; Morph the VPC→Subnet→IGW→EC2 chain into place alongside; Fade in the success-criteria card last.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Recap the full arc of the day in order, reinforcing that each topic built on the last — from basic definitions all the way to real AWS architecture.
QUESTIONS TO ASK: "Which single topic today felt the most 'click' moment for you?" Open the floor briefly for a few responses.
COMMON MISCONCEPTIONS: Reassure students that feeling slightly overwhelmed after a 3-hour, concept-dense session is completely normal — repetition in the AWS labs ahead will reinforce all of this.
ANIMATION: Appear each summary point top-to-bottom (Fade, staggered).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Review this as a 'save yourself pain later' recap across everything covered today, before the quiz. Ask if any of these mistakes sound familiar from earlier discussion.
STORYTELLING EXAMPLE: Share a relatable story of a misconfigured Security Group blocking legitimate traffic because someone assumed 'open everything' was the fastest fix — and the security incident that followed.
QUESTIONS TO ASK: "Which of these four mistakes do you think is the easiest to accidentally make as a beginner?" Let students self-reflect briefly.
COMMON MISCONCEPTIONS: Reinforce that all four of these are extremely common even among early-career professionals — not signs of being behind.
ANIMATION: Appear each mistake card in sequence (Fade), then Zoom in on the closing troubleshooting-order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Give students a few minutes individually or in pairs before revealing answers later. Keep tone low-pressure — this checks retention, not grades performance.
COMMON MISCONCEPTIONS: Expect confusion on Q5 if students haven't fully internalized RFC 1918 ranges — revisit that slide briefly if needed.
ANIMATION: Appear each question top-to-bottom (Fade, staggered).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Continue the same quiz flow. Q6 is the single most commonly missed concept from today — give students extra time on it.
COMMON MISCONCEPTIONS: Expect several students to answer Q6 backwards — this is the CIDR-size confusion flagged on the mistakes slide.
ANIMATION: Appear each question top-to-bottom (Fade, staggered).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Final block of the quiz, tying together security and AWS-mapping concepts from later in the session.
COMMON MISCONCEPTIONS: Q13 (VPN) often gets confused with 'anonymity' — reinforce the distinction covered earlier.
ANIMATION: Appear each question top-to-bottom (Fade, staggered).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Reveal answers, pausing on any question the group struggled with as a class. Use this as a final teaching moment, not just a scorecard.
QUESTIONS TO ASK: "Which answer surprised you the most?" — good for gauging where students still feel shaky.
COMMON MISCONCEPTIONS: If most of the class missed the same question, treat that as signal to briefly revisit that concept before moving to homework.
ANIMATION: Appear each answer in a staggered grid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All three tasks reinforce today's material and directly prep for the next AWS VPC hands-on session.
COMMON QUESTIONS: "Do we need AWS access to do the reading?" — No, homework only requires reading the public AWS documentation.
EXTRA EXPLANATION: Encourage students to bring their subnet-splitting answers to the next class to compare and check together.
ANIMATION: Appear each homework card left-to-right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Introduce the appendix as take-home reference material — not new teaching content, but a resource to revisit anytime over the coming weeks.
EXTRA EXPLANATION: Suggest students screenshot or print these pages for quick access during future labs.
ANIMATION: Fade in title, Float In subtitle.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Present this as the single-page glossary summarizing every core term from today.
EXTRA EXPLANATION: Recommend keeping this open in a second tab or printed for the next few sessions until terms feel automatic.
ANIMATION: Appear the full grid at once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This is a pure reference grid — no need to read every entry aloud, just orient students to its layout for future use.
EXTRA EXPLANATION: Mention IANA.org maintains the complete, authoritative port registry beyond this shortlist.
ANIMATION: Appear the grid (Fade), then Zoom on the memorization tip.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Point out the pattern: every step up in CIDR number cuts the address space exactly in half — handy for quick mental math during AWS VPC design.
EXTRA EXPLANATION: /16 and /20 are common AWS VPC/subnet sizes worth calling out specifically since students will see them again soon.
ANIMATION: Wipe in each table row top-to-bottom.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Quick recap grid of the OSI model with its key protocols side by side for fast lookup.
EXTRA EXPLANATION: Encourage students to say the mnemonic aloud once more — repetition is what makes it stick long-term.
ANIMATION: Appear each layer bottom-to-top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Final consolidated reference of the TCP vs. UDP tradeoffs covered earlier in the session.
EXTRA EXPLANATION: Reiterate this is a deliberate design tradeoff, not one protocol being objectively 'better' than the other.
ANIMATION: Wipe in each row top-to-bottom.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out the appendix with the full toolkit of troubleshooting commands in one place.
EXTRA EXPLANATION: Recommend students bookmark this slide specifically — it's the single most-reused reference from today's whole deck.
ANIMATION: Appear the grid in one staggered reveal (Fade).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TO SAY: Close with encouragement — today was dense and conceptual, likely the most theory-heavy day of the bootcamp so far. Remind students that hands-on AWS VPC labs coming up will make these ideas concrete.
STORYTELLING EXAMPLE: Remind students that every senior engineer once found subnetting and OSI layers confusing too — mastery comes from repetition, not a single lecture.
COMMON QUESTIONS: "What if I still don't fully get subnetting?" — Completely normal; point back to the CIDR cheat sheet and reassure them tomorrow's lab will reinforce it hands-on.
ANIMATION: Zoom in on the network icon, then Fade in the closing message.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3.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slideLayout" Target="../slideLayouts/slideLayout1.xml"/><Relationship Id="rId8"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image" Target="../media/image-32-4.png"/><Relationship Id="rId5" Type="http://schemas.openxmlformats.org/officeDocument/2006/relationships/image" Target="../media/image-32-5.png"/><Relationship Id="rId6" Type="http://schemas.openxmlformats.org/officeDocument/2006/relationships/image" Target="../media/image-32-6.png"/><Relationship Id="rId7" Type="http://schemas.openxmlformats.org/officeDocument/2006/relationships/slideLayout" Target="../slideLayouts/slideLayout1.xml"/><Relationship Id="rId8"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slideLayout" Target="../slideLayouts/slideLayout1.xml"/><Relationship Id="rId7"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slideLayout" Target="../slideLayouts/slideLayout1.xml"/><Relationship Id="rId5"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7955280" y="0"/>
            <a:ext cx="4233672" cy="6858000"/>
          </a:xfrm>
          <a:prstGeom prst="rect">
            <a:avLst/>
          </a:prstGeom>
          <a:solidFill>
            <a:srgbClr val="161E2D"/>
          </a:solidFill>
          <a:ln/>
        </p:spPr>
      </p:sp>
      <p:sp>
        <p:nvSpPr>
          <p:cNvPr id="3" name="Shape 1"/>
          <p:cNvSpPr/>
          <p:nvPr/>
        </p:nvSpPr>
        <p:spPr>
          <a:xfrm>
            <a:off x="0" y="0"/>
            <a:ext cx="201168" cy="6858000"/>
          </a:xfrm>
          <a:prstGeom prst="rect">
            <a:avLst/>
          </a:prstGeom>
          <a:solidFill>
            <a:srgbClr val="FF9900"/>
          </a:solidFill>
          <a:ln/>
        </p:spPr>
      </p:sp>
      <p:sp>
        <p:nvSpPr>
          <p:cNvPr id="4" name="Text 2"/>
          <p:cNvSpPr/>
          <p:nvPr/>
        </p:nvSpPr>
        <p:spPr>
          <a:xfrm>
            <a:off x="822960" y="1280160"/>
            <a:ext cx="6400800" cy="365760"/>
          </a:xfrm>
          <a:prstGeom prst="rect">
            <a:avLst/>
          </a:prstGeom>
          <a:noFill/>
          <a:ln/>
        </p:spPr>
        <p:txBody>
          <a:bodyPr wrap="square"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CLOUD ENGINEERING BOOTCAMP  ·  DAY 3</a:t>
            </a:r>
            <a:endParaRPr lang="en-US" sz="1300" dirty="0"/>
          </a:p>
        </p:txBody>
      </p:sp>
      <p:sp>
        <p:nvSpPr>
          <p:cNvPr id="5" name="Text 3"/>
          <p:cNvSpPr/>
          <p:nvPr/>
        </p:nvSpPr>
        <p:spPr>
          <a:xfrm>
            <a:off x="822960" y="1737360"/>
            <a:ext cx="6675120" cy="1188720"/>
          </a:xfrm>
          <a:prstGeom prst="rect">
            <a:avLst/>
          </a:prstGeom>
          <a:noFill/>
          <a:ln/>
        </p:spPr>
        <p:txBody>
          <a:bodyPr wrap="square" rtlCol="0" anchor="ctr"/>
          <a:lstStyle/>
          <a:p>
            <a:pPr indent="0" marL="0">
              <a:buNone/>
            </a:pPr>
            <a:r>
              <a:rPr lang="en-US" sz="4000" b="1" dirty="0">
                <a:solidFill>
                  <a:srgbClr val="FFFFFF"/>
                </a:solidFill>
                <a:latin typeface="Arial" pitchFamily="34" charset="0"/>
                <a:ea typeface="Arial" pitchFamily="34" charset="-122"/>
                <a:cs typeface="Arial" pitchFamily="34" charset="-120"/>
              </a:rPr>
              <a:t>Networking Fundamentals</a:t>
            </a:r>
            <a:endParaRPr lang="en-US" sz="4000" dirty="0"/>
          </a:p>
        </p:txBody>
      </p:sp>
      <p:sp>
        <p:nvSpPr>
          <p:cNvPr id="6" name="Text 4"/>
          <p:cNvSpPr/>
          <p:nvPr/>
        </p:nvSpPr>
        <p:spPr>
          <a:xfrm>
            <a:off x="822960" y="2514600"/>
            <a:ext cx="6675120" cy="548640"/>
          </a:xfrm>
          <a:prstGeom prst="rect">
            <a:avLst/>
          </a:prstGeom>
          <a:noFill/>
          <a:ln/>
        </p:spPr>
        <p:txBody>
          <a:bodyPr wrap="square" rtlCol="0" anchor="ctr"/>
          <a:lstStyle/>
          <a:p>
            <a:pPr indent="0" marL="0">
              <a:buNone/>
            </a:pPr>
            <a:r>
              <a:rPr lang="en-US" sz="2200" dirty="0">
                <a:solidFill>
                  <a:srgbClr val="C7D1D9"/>
                </a:solidFill>
                <a:latin typeface="Arial" pitchFamily="34" charset="0"/>
                <a:ea typeface="Arial" pitchFamily="34" charset="-122"/>
                <a:cs typeface="Arial" pitchFamily="34" charset="-120"/>
              </a:rPr>
              <a:t>for Cloud Engineers</a:t>
            </a:r>
            <a:endParaRPr lang="en-US" sz="2200" dirty="0"/>
          </a:p>
        </p:txBody>
      </p:sp>
      <p:sp>
        <p:nvSpPr>
          <p:cNvPr id="7" name="Text 5"/>
          <p:cNvSpPr/>
          <p:nvPr/>
        </p:nvSpPr>
        <p:spPr>
          <a:xfrm>
            <a:off x="822960" y="3246120"/>
            <a:ext cx="6309360" cy="822960"/>
          </a:xfrm>
          <a:prstGeom prst="rect">
            <a:avLst/>
          </a:prstGeom>
          <a:noFill/>
          <a:ln/>
        </p:spPr>
        <p:txBody>
          <a:bodyPr wrap="square" rtlCol="0" anchor="ctr"/>
          <a:lstStyle/>
          <a:p>
            <a:pPr indent="0" marL="0">
              <a:buNone/>
            </a:pPr>
            <a:r>
              <a:rPr lang="en-US" sz="1350" i="1" dirty="0">
                <a:solidFill>
                  <a:srgbClr val="C7D1D9"/>
                </a:solidFill>
                <a:latin typeface="Calibri" pitchFamily="34" charset="0"/>
                <a:ea typeface="Calibri" pitchFamily="34" charset="-122"/>
                <a:cs typeface="Calibri" pitchFamily="34" charset="-120"/>
              </a:rPr>
              <a:t>From how google.com loads to how AWS VPCs are built — the networking model every cloud engineer relies on.</a:t>
            </a:r>
            <a:endParaRPr lang="en-US" sz="1350" dirty="0"/>
          </a:p>
        </p:txBody>
      </p:sp>
      <p:sp>
        <p:nvSpPr>
          <p:cNvPr id="8" name="Text 6"/>
          <p:cNvSpPr/>
          <p:nvPr/>
        </p:nvSpPr>
        <p:spPr>
          <a:xfrm>
            <a:off x="822960" y="4343400"/>
            <a:ext cx="1828800" cy="274320"/>
          </a:xfrm>
          <a:prstGeom prst="rect">
            <a:avLst/>
          </a:prstGeom>
          <a:noFill/>
          <a:ln/>
        </p:spPr>
        <p:txBody>
          <a:bodyPr wrap="square" rtlCol="0" anchor="ctr"/>
          <a:lstStyle/>
          <a:p>
            <a:pPr indent="0" marL="0">
              <a:buNone/>
            </a:pPr>
            <a:r>
              <a:rPr lang="en-US" sz="1000" b="1" spc="200" kern="0" dirty="0">
                <a:solidFill>
                  <a:srgbClr val="FF9900"/>
                </a:solidFill>
                <a:latin typeface="Calibri" pitchFamily="34" charset="0"/>
                <a:ea typeface="Calibri" pitchFamily="34" charset="-122"/>
                <a:cs typeface="Calibri" pitchFamily="34" charset="-120"/>
              </a:rPr>
              <a:t>DURATION</a:t>
            </a:r>
            <a:endParaRPr lang="en-US" sz="1000" dirty="0"/>
          </a:p>
        </p:txBody>
      </p:sp>
      <p:sp>
        <p:nvSpPr>
          <p:cNvPr id="9" name="Text 7"/>
          <p:cNvSpPr/>
          <p:nvPr/>
        </p:nvSpPr>
        <p:spPr>
          <a:xfrm>
            <a:off x="822960" y="4599432"/>
            <a:ext cx="2743200" cy="36576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3 hours</a:t>
            </a:r>
            <a:endParaRPr lang="en-US" sz="1600" dirty="0"/>
          </a:p>
        </p:txBody>
      </p:sp>
      <p:sp>
        <p:nvSpPr>
          <p:cNvPr id="10" name="Text 8"/>
          <p:cNvSpPr/>
          <p:nvPr/>
        </p:nvSpPr>
        <p:spPr>
          <a:xfrm>
            <a:off x="822960" y="5074920"/>
            <a:ext cx="2743200" cy="274320"/>
          </a:xfrm>
          <a:prstGeom prst="rect">
            <a:avLst/>
          </a:prstGeom>
          <a:noFill/>
          <a:ln/>
        </p:spPr>
        <p:txBody>
          <a:bodyPr wrap="square" rtlCol="0" anchor="ctr"/>
          <a:lstStyle/>
          <a:p>
            <a:pPr indent="0" marL="0">
              <a:buNone/>
            </a:pPr>
            <a:r>
              <a:rPr lang="en-US" sz="1000" b="1" spc="200" kern="0" dirty="0">
                <a:solidFill>
                  <a:srgbClr val="FF9900"/>
                </a:solidFill>
                <a:latin typeface="Calibri" pitchFamily="34" charset="0"/>
                <a:ea typeface="Calibri" pitchFamily="34" charset="-122"/>
                <a:cs typeface="Calibri" pitchFamily="34" charset="-120"/>
              </a:rPr>
              <a:t>PREREQUISITES</a:t>
            </a:r>
            <a:endParaRPr lang="en-US" sz="1000" dirty="0"/>
          </a:p>
        </p:txBody>
      </p:sp>
      <p:sp>
        <p:nvSpPr>
          <p:cNvPr id="11" name="Text 9"/>
          <p:cNvSpPr/>
          <p:nvPr/>
        </p:nvSpPr>
        <p:spPr>
          <a:xfrm>
            <a:off x="822960" y="5330952"/>
            <a:ext cx="5486400" cy="365760"/>
          </a:xfrm>
          <a:prstGeom prst="rect">
            <a:avLst/>
          </a:prstGeom>
          <a:noFill/>
          <a:ln/>
        </p:spPr>
        <p:txBody>
          <a:bodyPr wrap="square" rtlCol="0" anchor="ctr"/>
          <a:lstStyle/>
          <a:p>
            <a:pPr indent="0" marL="0">
              <a:buNone/>
            </a:pPr>
            <a:r>
              <a:rPr lang="en-US" sz="1400" dirty="0">
                <a:solidFill>
                  <a:srgbClr val="FFFFFF"/>
                </a:solidFill>
                <a:latin typeface="Calibri" pitchFamily="34" charset="0"/>
                <a:ea typeface="Calibri" pitchFamily="34" charset="-122"/>
                <a:cs typeface="Calibri" pitchFamily="34" charset="-120"/>
              </a:rPr>
              <a:t>Day 1: Cloud Basics   ·   Day 2: Linux &amp; SSH</a:t>
            </a:r>
            <a:endParaRPr lang="en-US" sz="1400" dirty="0"/>
          </a:p>
        </p:txBody>
      </p:sp>
      <p:sp>
        <p:nvSpPr>
          <p:cNvPr id="12" name="Shape 10"/>
          <p:cNvSpPr/>
          <p:nvPr/>
        </p:nvSpPr>
        <p:spPr>
          <a:xfrm>
            <a:off x="8823960" y="2194560"/>
            <a:ext cx="2468880" cy="2468880"/>
          </a:xfrm>
          <a:prstGeom prst="ellipse">
            <a:avLst/>
          </a:prstGeom>
          <a:solidFill>
            <a:srgbClr val="1E2A38"/>
          </a:solidFill>
          <a:ln/>
        </p:spPr>
      </p:sp>
      <p:pic>
        <p:nvPicPr>
          <p:cNvPr id="13" name="Image 0" descr="/home/claude/ppt3/icon_network_o.png">    </p:cNvPr>
          <p:cNvPicPr>
            <a:picLocks noChangeAspect="1"/>
          </p:cNvPicPr>
          <p:nvPr/>
        </p:nvPicPr>
        <p:blipFill>
          <a:blip r:embed="rId1"/>
          <a:stretch>
            <a:fillRect/>
          </a:stretch>
        </p:blipFill>
        <p:spPr>
          <a:xfrm>
            <a:off x="9416491" y="2787091"/>
            <a:ext cx="1283818" cy="1283818"/>
          </a:xfrm>
          <a:prstGeom prst="rect">
            <a:avLst/>
          </a:prstGeom>
        </p:spPr>
      </p:pic>
      <p:sp>
        <p:nvSpPr>
          <p:cNvPr id="14" name="Shape 11"/>
          <p:cNvSpPr/>
          <p:nvPr/>
        </p:nvSpPr>
        <p:spPr>
          <a:xfrm>
            <a:off x="8366760" y="1737360"/>
            <a:ext cx="3383280" cy="3383280"/>
          </a:xfrm>
          <a:prstGeom prst="ellipse">
            <a:avLst/>
          </a:prstGeom>
          <a:ln w="19050">
            <a:solidFill>
              <a:srgbClr val="FF9900"/>
            </a:solidFill>
            <a:prstDash val="dash"/>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SESSION OVERVIEW</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Learning Objectives</a:t>
            </a:r>
            <a:endParaRPr lang="en-US" sz="2800" dirty="0"/>
          </a:p>
        </p:txBody>
      </p:sp>
      <p:sp>
        <p:nvSpPr>
          <p:cNvPr id="4" name="Text 2"/>
          <p:cNvSpPr/>
          <p:nvPr/>
        </p:nvSpPr>
        <p:spPr>
          <a:xfrm>
            <a:off x="548640" y="1188720"/>
            <a:ext cx="8229600" cy="365760"/>
          </a:xfrm>
          <a:prstGeom prst="rect">
            <a:avLst/>
          </a:prstGeom>
          <a:noFill/>
          <a:ln/>
        </p:spPr>
        <p:txBody>
          <a:bodyPr wrap="square" rtlCol="0" anchor="ctr"/>
          <a:lstStyle/>
          <a:p>
            <a:pPr indent="0" marL="0">
              <a:buNone/>
            </a:pPr>
            <a:r>
              <a:rPr lang="en-US" sz="1350" i="1" dirty="0">
                <a:solidFill>
                  <a:srgbClr val="5A6B75"/>
                </a:solidFill>
                <a:latin typeface="Calibri" pitchFamily="34" charset="0"/>
                <a:ea typeface="Calibri" pitchFamily="34" charset="-122"/>
                <a:cs typeface="Calibri" pitchFamily="34" charset="-120"/>
              </a:rPr>
              <a:t>By the end of today, you will be able to:</a:t>
            </a:r>
            <a:endParaRPr lang="en-US" sz="1350" dirty="0"/>
          </a:p>
        </p:txBody>
      </p:sp>
      <p:sp>
        <p:nvSpPr>
          <p:cNvPr id="5" name="Shape 3"/>
          <p:cNvSpPr/>
          <p:nvPr/>
        </p:nvSpPr>
        <p:spPr>
          <a:xfrm>
            <a:off x="548640" y="1691640"/>
            <a:ext cx="3520440" cy="960120"/>
          </a:xfrm>
          <a:prstGeom prst="roundRect">
            <a:avLst>
              <a:gd name="adj" fmla="val 7619"/>
            </a:avLst>
          </a:prstGeom>
          <a:solidFill>
            <a:srgbClr val="FFFFFF"/>
          </a:solidFill>
          <a:ln w="12700">
            <a:solidFill>
              <a:srgbClr val="D9DCE1"/>
            </a:solidFill>
            <a:prstDash val="solid"/>
          </a:ln>
        </p:spPr>
      </p:sp>
      <p:sp>
        <p:nvSpPr>
          <p:cNvPr id="6" name="Shape 4"/>
          <p:cNvSpPr/>
          <p:nvPr/>
        </p:nvSpPr>
        <p:spPr>
          <a:xfrm>
            <a:off x="713232" y="2043684"/>
            <a:ext cx="256032" cy="256032"/>
          </a:xfrm>
          <a:prstGeom prst="ellipse">
            <a:avLst/>
          </a:prstGeom>
          <a:solidFill>
            <a:srgbClr val="FF9900"/>
          </a:solidFill>
          <a:ln/>
        </p:spPr>
      </p:sp>
      <p:sp>
        <p:nvSpPr>
          <p:cNvPr id="7" name="Text 5"/>
          <p:cNvSpPr/>
          <p:nvPr/>
        </p:nvSpPr>
        <p:spPr>
          <a:xfrm>
            <a:off x="1097280" y="169164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Explain how computer networks work</a:t>
            </a:r>
            <a:endParaRPr lang="en-US" sz="1100" dirty="0"/>
          </a:p>
        </p:txBody>
      </p:sp>
      <p:sp>
        <p:nvSpPr>
          <p:cNvPr id="8" name="Shape 6"/>
          <p:cNvSpPr/>
          <p:nvPr/>
        </p:nvSpPr>
        <p:spPr>
          <a:xfrm>
            <a:off x="4270248" y="1691640"/>
            <a:ext cx="3520440" cy="960120"/>
          </a:xfrm>
          <a:prstGeom prst="roundRect">
            <a:avLst>
              <a:gd name="adj" fmla="val 7619"/>
            </a:avLst>
          </a:prstGeom>
          <a:solidFill>
            <a:srgbClr val="FFFFFF"/>
          </a:solidFill>
          <a:ln w="12700">
            <a:solidFill>
              <a:srgbClr val="D9DCE1"/>
            </a:solidFill>
            <a:prstDash val="solid"/>
          </a:ln>
        </p:spPr>
      </p:sp>
      <p:sp>
        <p:nvSpPr>
          <p:cNvPr id="9" name="Shape 7"/>
          <p:cNvSpPr/>
          <p:nvPr/>
        </p:nvSpPr>
        <p:spPr>
          <a:xfrm>
            <a:off x="4434840" y="2043684"/>
            <a:ext cx="256032" cy="256032"/>
          </a:xfrm>
          <a:prstGeom prst="ellipse">
            <a:avLst/>
          </a:prstGeom>
          <a:solidFill>
            <a:srgbClr val="232F3E"/>
          </a:solidFill>
          <a:ln/>
        </p:spPr>
      </p:sp>
      <p:sp>
        <p:nvSpPr>
          <p:cNvPr id="10" name="Text 8"/>
          <p:cNvSpPr/>
          <p:nvPr/>
        </p:nvSpPr>
        <p:spPr>
          <a:xfrm>
            <a:off x="4818888" y="169164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Understand the OSI &amp; TCP/IP models</a:t>
            </a:r>
            <a:endParaRPr lang="en-US" sz="1100" dirty="0"/>
          </a:p>
        </p:txBody>
      </p:sp>
      <p:sp>
        <p:nvSpPr>
          <p:cNvPr id="11" name="Shape 9"/>
          <p:cNvSpPr/>
          <p:nvPr/>
        </p:nvSpPr>
        <p:spPr>
          <a:xfrm>
            <a:off x="7991856" y="1691640"/>
            <a:ext cx="3520440" cy="960120"/>
          </a:xfrm>
          <a:prstGeom prst="roundRect">
            <a:avLst>
              <a:gd name="adj" fmla="val 7619"/>
            </a:avLst>
          </a:prstGeom>
          <a:solidFill>
            <a:srgbClr val="FFFFFF"/>
          </a:solidFill>
          <a:ln w="12700">
            <a:solidFill>
              <a:srgbClr val="D9DCE1"/>
            </a:solidFill>
            <a:prstDash val="solid"/>
          </a:ln>
        </p:spPr>
      </p:sp>
      <p:sp>
        <p:nvSpPr>
          <p:cNvPr id="12" name="Shape 10"/>
          <p:cNvSpPr/>
          <p:nvPr/>
        </p:nvSpPr>
        <p:spPr>
          <a:xfrm>
            <a:off x="8156448" y="2043684"/>
            <a:ext cx="256032" cy="256032"/>
          </a:xfrm>
          <a:prstGeom prst="ellipse">
            <a:avLst/>
          </a:prstGeom>
          <a:solidFill>
            <a:srgbClr val="FF9900"/>
          </a:solidFill>
          <a:ln/>
        </p:spPr>
      </p:sp>
      <p:sp>
        <p:nvSpPr>
          <p:cNvPr id="13" name="Text 11"/>
          <p:cNvSpPr/>
          <p:nvPr/>
        </p:nvSpPr>
        <p:spPr>
          <a:xfrm>
            <a:off x="8540496" y="169164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Explain IPv4 addressing &amp; subnetting</a:t>
            </a:r>
            <a:endParaRPr lang="en-US" sz="1100" dirty="0"/>
          </a:p>
        </p:txBody>
      </p:sp>
      <p:sp>
        <p:nvSpPr>
          <p:cNvPr id="14" name="Shape 12"/>
          <p:cNvSpPr/>
          <p:nvPr/>
        </p:nvSpPr>
        <p:spPr>
          <a:xfrm>
            <a:off x="548640" y="2788920"/>
            <a:ext cx="3520440" cy="960120"/>
          </a:xfrm>
          <a:prstGeom prst="roundRect">
            <a:avLst>
              <a:gd name="adj" fmla="val 7619"/>
            </a:avLst>
          </a:prstGeom>
          <a:solidFill>
            <a:srgbClr val="FFFFFF"/>
          </a:solidFill>
          <a:ln w="12700">
            <a:solidFill>
              <a:srgbClr val="D9DCE1"/>
            </a:solidFill>
            <a:prstDash val="solid"/>
          </a:ln>
        </p:spPr>
      </p:sp>
      <p:sp>
        <p:nvSpPr>
          <p:cNvPr id="15" name="Shape 13"/>
          <p:cNvSpPr/>
          <p:nvPr/>
        </p:nvSpPr>
        <p:spPr>
          <a:xfrm>
            <a:off x="713232" y="3140964"/>
            <a:ext cx="256032" cy="256032"/>
          </a:xfrm>
          <a:prstGeom prst="ellipse">
            <a:avLst/>
          </a:prstGeom>
          <a:solidFill>
            <a:srgbClr val="232F3E"/>
          </a:solidFill>
          <a:ln/>
        </p:spPr>
      </p:sp>
      <p:sp>
        <p:nvSpPr>
          <p:cNvPr id="16" name="Text 14"/>
          <p:cNvSpPr/>
          <p:nvPr/>
        </p:nvSpPr>
        <p:spPr>
          <a:xfrm>
            <a:off x="1097280" y="278892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Identify Public vs Private IP addresses</a:t>
            </a:r>
            <a:endParaRPr lang="en-US" sz="1100" dirty="0"/>
          </a:p>
        </p:txBody>
      </p:sp>
      <p:sp>
        <p:nvSpPr>
          <p:cNvPr id="17" name="Shape 15"/>
          <p:cNvSpPr/>
          <p:nvPr/>
        </p:nvSpPr>
        <p:spPr>
          <a:xfrm>
            <a:off x="4270248" y="2788920"/>
            <a:ext cx="3520440" cy="960120"/>
          </a:xfrm>
          <a:prstGeom prst="roundRect">
            <a:avLst>
              <a:gd name="adj" fmla="val 7619"/>
            </a:avLst>
          </a:prstGeom>
          <a:solidFill>
            <a:srgbClr val="FFFFFF"/>
          </a:solidFill>
          <a:ln w="12700">
            <a:solidFill>
              <a:srgbClr val="D9DCE1"/>
            </a:solidFill>
            <a:prstDash val="solid"/>
          </a:ln>
        </p:spPr>
      </p:sp>
      <p:sp>
        <p:nvSpPr>
          <p:cNvPr id="18" name="Shape 16"/>
          <p:cNvSpPr/>
          <p:nvPr/>
        </p:nvSpPr>
        <p:spPr>
          <a:xfrm>
            <a:off x="4434840" y="3140964"/>
            <a:ext cx="256032" cy="256032"/>
          </a:xfrm>
          <a:prstGeom prst="ellipse">
            <a:avLst/>
          </a:prstGeom>
          <a:solidFill>
            <a:srgbClr val="FF9900"/>
          </a:solidFill>
          <a:ln/>
        </p:spPr>
      </p:sp>
      <p:sp>
        <p:nvSpPr>
          <p:cNvPr id="19" name="Text 17"/>
          <p:cNvSpPr/>
          <p:nvPr/>
        </p:nvSpPr>
        <p:spPr>
          <a:xfrm>
            <a:off x="4818888" y="278892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Understand CIDR notation</a:t>
            </a:r>
            <a:endParaRPr lang="en-US" sz="1100" dirty="0"/>
          </a:p>
        </p:txBody>
      </p:sp>
      <p:sp>
        <p:nvSpPr>
          <p:cNvPr id="20" name="Shape 18"/>
          <p:cNvSpPr/>
          <p:nvPr/>
        </p:nvSpPr>
        <p:spPr>
          <a:xfrm>
            <a:off x="7991856" y="2788920"/>
            <a:ext cx="3520440" cy="960120"/>
          </a:xfrm>
          <a:prstGeom prst="roundRect">
            <a:avLst>
              <a:gd name="adj" fmla="val 7619"/>
            </a:avLst>
          </a:prstGeom>
          <a:solidFill>
            <a:srgbClr val="FFFFFF"/>
          </a:solidFill>
          <a:ln w="12700">
            <a:solidFill>
              <a:srgbClr val="D9DCE1"/>
            </a:solidFill>
            <a:prstDash val="solid"/>
          </a:ln>
        </p:spPr>
      </p:sp>
      <p:sp>
        <p:nvSpPr>
          <p:cNvPr id="21" name="Shape 19"/>
          <p:cNvSpPr/>
          <p:nvPr/>
        </p:nvSpPr>
        <p:spPr>
          <a:xfrm>
            <a:off x="8156448" y="3140964"/>
            <a:ext cx="256032" cy="256032"/>
          </a:xfrm>
          <a:prstGeom prst="ellipse">
            <a:avLst/>
          </a:prstGeom>
          <a:solidFill>
            <a:srgbClr val="232F3E"/>
          </a:solidFill>
          <a:ln/>
        </p:spPr>
      </p:sp>
      <p:sp>
        <p:nvSpPr>
          <p:cNvPr id="22" name="Text 20"/>
          <p:cNvSpPr/>
          <p:nvPr/>
        </p:nvSpPr>
        <p:spPr>
          <a:xfrm>
            <a:off x="8540496" y="278892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Explain ports and protocols</a:t>
            </a:r>
            <a:endParaRPr lang="en-US" sz="1100" dirty="0"/>
          </a:p>
        </p:txBody>
      </p:sp>
      <p:sp>
        <p:nvSpPr>
          <p:cNvPr id="23" name="Shape 21"/>
          <p:cNvSpPr/>
          <p:nvPr/>
        </p:nvSpPr>
        <p:spPr>
          <a:xfrm>
            <a:off x="548640" y="3886200"/>
            <a:ext cx="3520440" cy="960120"/>
          </a:xfrm>
          <a:prstGeom prst="roundRect">
            <a:avLst>
              <a:gd name="adj" fmla="val 7619"/>
            </a:avLst>
          </a:prstGeom>
          <a:solidFill>
            <a:srgbClr val="FFFFFF"/>
          </a:solidFill>
          <a:ln w="12700">
            <a:solidFill>
              <a:srgbClr val="D9DCE1"/>
            </a:solidFill>
            <a:prstDash val="solid"/>
          </a:ln>
        </p:spPr>
      </p:sp>
      <p:sp>
        <p:nvSpPr>
          <p:cNvPr id="24" name="Shape 22"/>
          <p:cNvSpPr/>
          <p:nvPr/>
        </p:nvSpPr>
        <p:spPr>
          <a:xfrm>
            <a:off x="713232" y="4238244"/>
            <a:ext cx="256032" cy="256032"/>
          </a:xfrm>
          <a:prstGeom prst="ellipse">
            <a:avLst/>
          </a:prstGeom>
          <a:solidFill>
            <a:srgbClr val="FF9900"/>
          </a:solidFill>
          <a:ln/>
        </p:spPr>
      </p:sp>
      <p:sp>
        <p:nvSpPr>
          <p:cNvPr id="25" name="Text 23"/>
          <p:cNvSpPr/>
          <p:nvPr/>
        </p:nvSpPr>
        <p:spPr>
          <a:xfrm>
            <a:off x="1097280" y="388620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Understand DNS and DHCP</a:t>
            </a:r>
            <a:endParaRPr lang="en-US" sz="1100" dirty="0"/>
          </a:p>
        </p:txBody>
      </p:sp>
      <p:sp>
        <p:nvSpPr>
          <p:cNvPr id="26" name="Shape 24"/>
          <p:cNvSpPr/>
          <p:nvPr/>
        </p:nvSpPr>
        <p:spPr>
          <a:xfrm>
            <a:off x="4270248" y="3886200"/>
            <a:ext cx="3520440" cy="960120"/>
          </a:xfrm>
          <a:prstGeom prst="roundRect">
            <a:avLst>
              <a:gd name="adj" fmla="val 7619"/>
            </a:avLst>
          </a:prstGeom>
          <a:solidFill>
            <a:srgbClr val="FFFFFF"/>
          </a:solidFill>
          <a:ln w="12700">
            <a:solidFill>
              <a:srgbClr val="D9DCE1"/>
            </a:solidFill>
            <a:prstDash val="solid"/>
          </a:ln>
        </p:spPr>
      </p:sp>
      <p:sp>
        <p:nvSpPr>
          <p:cNvPr id="27" name="Shape 25"/>
          <p:cNvSpPr/>
          <p:nvPr/>
        </p:nvSpPr>
        <p:spPr>
          <a:xfrm>
            <a:off x="4434840" y="4238244"/>
            <a:ext cx="256032" cy="256032"/>
          </a:xfrm>
          <a:prstGeom prst="ellipse">
            <a:avLst/>
          </a:prstGeom>
          <a:solidFill>
            <a:srgbClr val="232F3E"/>
          </a:solidFill>
          <a:ln/>
        </p:spPr>
      </p:sp>
      <p:sp>
        <p:nvSpPr>
          <p:cNvPr id="28" name="Text 26"/>
          <p:cNvSpPr/>
          <p:nvPr/>
        </p:nvSpPr>
        <p:spPr>
          <a:xfrm>
            <a:off x="4818888" y="388620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Explain routers, switches, NAT &amp; firewalls</a:t>
            </a:r>
            <a:endParaRPr lang="en-US" sz="1100" dirty="0"/>
          </a:p>
        </p:txBody>
      </p:sp>
      <p:sp>
        <p:nvSpPr>
          <p:cNvPr id="29" name="Shape 27"/>
          <p:cNvSpPr/>
          <p:nvPr/>
        </p:nvSpPr>
        <p:spPr>
          <a:xfrm>
            <a:off x="7991856" y="3886200"/>
            <a:ext cx="3520440" cy="960120"/>
          </a:xfrm>
          <a:prstGeom prst="roundRect">
            <a:avLst>
              <a:gd name="adj" fmla="val 7619"/>
            </a:avLst>
          </a:prstGeom>
          <a:solidFill>
            <a:srgbClr val="FFFFFF"/>
          </a:solidFill>
          <a:ln w="12700">
            <a:solidFill>
              <a:srgbClr val="D9DCE1"/>
            </a:solidFill>
            <a:prstDash val="solid"/>
          </a:ln>
        </p:spPr>
      </p:sp>
      <p:sp>
        <p:nvSpPr>
          <p:cNvPr id="30" name="Shape 28"/>
          <p:cNvSpPr/>
          <p:nvPr/>
        </p:nvSpPr>
        <p:spPr>
          <a:xfrm>
            <a:off x="8156448" y="4238244"/>
            <a:ext cx="256032" cy="256032"/>
          </a:xfrm>
          <a:prstGeom prst="ellipse">
            <a:avLst/>
          </a:prstGeom>
          <a:solidFill>
            <a:srgbClr val="FF9900"/>
          </a:solidFill>
          <a:ln/>
        </p:spPr>
      </p:sp>
      <p:sp>
        <p:nvSpPr>
          <p:cNvPr id="31" name="Text 29"/>
          <p:cNvSpPr/>
          <p:nvPr/>
        </p:nvSpPr>
        <p:spPr>
          <a:xfrm>
            <a:off x="8540496" y="388620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Understand VPNs and encrypted tunnels</a:t>
            </a:r>
            <a:endParaRPr lang="en-US" sz="1100" dirty="0"/>
          </a:p>
        </p:txBody>
      </p:sp>
      <p:sp>
        <p:nvSpPr>
          <p:cNvPr id="32" name="Shape 30"/>
          <p:cNvSpPr/>
          <p:nvPr/>
        </p:nvSpPr>
        <p:spPr>
          <a:xfrm>
            <a:off x="548640" y="4983480"/>
            <a:ext cx="3520440" cy="960120"/>
          </a:xfrm>
          <a:prstGeom prst="roundRect">
            <a:avLst>
              <a:gd name="adj" fmla="val 7619"/>
            </a:avLst>
          </a:prstGeom>
          <a:solidFill>
            <a:srgbClr val="FFFFFF"/>
          </a:solidFill>
          <a:ln w="12700">
            <a:solidFill>
              <a:srgbClr val="D9DCE1"/>
            </a:solidFill>
            <a:prstDash val="solid"/>
          </a:ln>
        </p:spPr>
      </p:sp>
      <p:sp>
        <p:nvSpPr>
          <p:cNvPr id="33" name="Shape 31"/>
          <p:cNvSpPr/>
          <p:nvPr/>
        </p:nvSpPr>
        <p:spPr>
          <a:xfrm>
            <a:off x="713232" y="5335524"/>
            <a:ext cx="256032" cy="256032"/>
          </a:xfrm>
          <a:prstGeom prst="ellipse">
            <a:avLst/>
          </a:prstGeom>
          <a:solidFill>
            <a:srgbClr val="232F3E"/>
          </a:solidFill>
          <a:ln/>
        </p:spPr>
      </p:sp>
      <p:sp>
        <p:nvSpPr>
          <p:cNvPr id="34" name="Text 32"/>
          <p:cNvSpPr/>
          <p:nvPr/>
        </p:nvSpPr>
        <p:spPr>
          <a:xfrm>
            <a:off x="1097280" y="498348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Troubleshoot basic network issues</a:t>
            </a:r>
            <a:endParaRPr lang="en-US" sz="1100" dirty="0"/>
          </a:p>
        </p:txBody>
      </p:sp>
      <p:sp>
        <p:nvSpPr>
          <p:cNvPr id="35" name="Shape 33"/>
          <p:cNvSpPr/>
          <p:nvPr/>
        </p:nvSpPr>
        <p:spPr>
          <a:xfrm>
            <a:off x="4270248" y="4983480"/>
            <a:ext cx="3520440" cy="960120"/>
          </a:xfrm>
          <a:prstGeom prst="roundRect">
            <a:avLst>
              <a:gd name="adj" fmla="val 7619"/>
            </a:avLst>
          </a:prstGeom>
          <a:solidFill>
            <a:srgbClr val="FFFFFF"/>
          </a:solidFill>
          <a:ln w="12700">
            <a:solidFill>
              <a:srgbClr val="D9DCE1"/>
            </a:solidFill>
            <a:prstDash val="solid"/>
          </a:ln>
        </p:spPr>
      </p:sp>
      <p:sp>
        <p:nvSpPr>
          <p:cNvPr id="36" name="Shape 34"/>
          <p:cNvSpPr/>
          <p:nvPr/>
        </p:nvSpPr>
        <p:spPr>
          <a:xfrm>
            <a:off x="4434840" y="5335524"/>
            <a:ext cx="256032" cy="256032"/>
          </a:xfrm>
          <a:prstGeom prst="ellipse">
            <a:avLst/>
          </a:prstGeom>
          <a:solidFill>
            <a:srgbClr val="FF9900"/>
          </a:solidFill>
          <a:ln/>
        </p:spPr>
      </p:sp>
      <p:sp>
        <p:nvSpPr>
          <p:cNvPr id="37" name="Text 35"/>
          <p:cNvSpPr/>
          <p:nvPr/>
        </p:nvSpPr>
        <p:spPr>
          <a:xfrm>
            <a:off x="4818888" y="4983480"/>
            <a:ext cx="2834640" cy="960120"/>
          </a:xfrm>
          <a:prstGeom prst="rect">
            <a:avLst/>
          </a:prstGeom>
          <a:noFill/>
          <a:ln/>
        </p:spPr>
        <p:txBody>
          <a:bodyPr wrap="square" rtlCol="0" anchor="ctr"/>
          <a:lstStyle/>
          <a:p>
            <a:pPr indent="0" marL="0">
              <a:buNone/>
            </a:pPr>
            <a:r>
              <a:rPr lang="en-US" sz="1100" dirty="0">
                <a:solidFill>
                  <a:srgbClr val="16191F"/>
                </a:solidFill>
                <a:latin typeface="Calibri" pitchFamily="34" charset="0"/>
                <a:ea typeface="Calibri" pitchFamily="34" charset="-122"/>
                <a:cs typeface="Calibri" pitchFamily="34" charset="-120"/>
              </a:rPr>
              <a:t>Map today's concepts directly to AWS VPC</a:t>
            </a:r>
            <a:endParaRPr lang="en-US" sz="1100" dirty="0"/>
          </a:p>
        </p:txBody>
      </p:sp>
      <p:sp>
        <p:nvSpPr>
          <p:cNvPr id="38" name="Text 36"/>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9" name="Text 37"/>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SESSION OVERVIEW</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Today's Agenda</a:t>
            </a:r>
            <a:endParaRPr lang="en-US" sz="2800" dirty="0"/>
          </a:p>
        </p:txBody>
      </p:sp>
      <p:sp>
        <p:nvSpPr>
          <p:cNvPr id="4" name="Shape 2"/>
          <p:cNvSpPr/>
          <p:nvPr/>
        </p:nvSpPr>
        <p:spPr>
          <a:xfrm>
            <a:off x="548640" y="1463040"/>
            <a:ext cx="11091672" cy="603504"/>
          </a:xfrm>
          <a:prstGeom prst="roundRect">
            <a:avLst>
              <a:gd name="adj" fmla="val 10606"/>
            </a:avLst>
          </a:prstGeom>
          <a:solidFill>
            <a:srgbClr val="FFFFFF"/>
          </a:solidFill>
          <a:ln w="12700">
            <a:solidFill>
              <a:srgbClr val="D9DCE1"/>
            </a:solidFill>
            <a:prstDash val="solid"/>
          </a:ln>
        </p:spPr>
      </p:sp>
      <p:sp>
        <p:nvSpPr>
          <p:cNvPr id="5" name="Shape 3"/>
          <p:cNvSpPr/>
          <p:nvPr/>
        </p:nvSpPr>
        <p:spPr>
          <a:xfrm>
            <a:off x="777240" y="1545336"/>
            <a:ext cx="438912" cy="438912"/>
          </a:xfrm>
          <a:prstGeom prst="ellipse">
            <a:avLst/>
          </a:prstGeom>
          <a:solidFill>
            <a:srgbClr val="FF9900"/>
          </a:solidFill>
          <a:ln/>
        </p:spPr>
      </p:sp>
      <p:sp>
        <p:nvSpPr>
          <p:cNvPr id="6" name="Text 4"/>
          <p:cNvSpPr/>
          <p:nvPr/>
        </p:nvSpPr>
        <p:spPr>
          <a:xfrm>
            <a:off x="777240" y="1545336"/>
            <a:ext cx="438912" cy="43891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7" name="Text 5"/>
          <p:cNvSpPr/>
          <p:nvPr/>
        </p:nvSpPr>
        <p:spPr>
          <a:xfrm>
            <a:off x="1463040" y="1463040"/>
            <a:ext cx="8686800" cy="603504"/>
          </a:xfrm>
          <a:prstGeom prst="rect">
            <a:avLst/>
          </a:prstGeom>
          <a:noFill/>
          <a:ln/>
        </p:spPr>
        <p:txBody>
          <a:bodyPr wrap="square" rtlCol="0" anchor="ctr"/>
          <a:lstStyle/>
          <a:p>
            <a:pPr indent="0" marL="0">
              <a:buNone/>
            </a:pPr>
            <a:r>
              <a:rPr lang="en-US" sz="1500" dirty="0">
                <a:solidFill>
                  <a:srgbClr val="16191F"/>
                </a:solidFill>
                <a:latin typeface="Calibri" pitchFamily="34" charset="0"/>
                <a:ea typeface="Calibri" pitchFamily="34" charset="-122"/>
                <a:cs typeface="Calibri" pitchFamily="34" charset="-120"/>
              </a:rPr>
              <a:t>Networks, Devices &amp; Models (OSI / TCP-IP)</a:t>
            </a:r>
            <a:endParaRPr lang="en-US" sz="1500" dirty="0"/>
          </a:p>
        </p:txBody>
      </p:sp>
      <p:sp>
        <p:nvSpPr>
          <p:cNvPr id="8" name="Shape 6"/>
          <p:cNvSpPr/>
          <p:nvPr/>
        </p:nvSpPr>
        <p:spPr>
          <a:xfrm>
            <a:off x="548640" y="2176272"/>
            <a:ext cx="11091672" cy="603504"/>
          </a:xfrm>
          <a:prstGeom prst="roundRect">
            <a:avLst>
              <a:gd name="adj" fmla="val 10606"/>
            </a:avLst>
          </a:prstGeom>
          <a:solidFill>
            <a:srgbClr val="FFFFFF"/>
          </a:solidFill>
          <a:ln w="12700">
            <a:solidFill>
              <a:srgbClr val="D9DCE1"/>
            </a:solidFill>
            <a:prstDash val="solid"/>
          </a:ln>
        </p:spPr>
      </p:sp>
      <p:sp>
        <p:nvSpPr>
          <p:cNvPr id="9" name="Shape 7"/>
          <p:cNvSpPr/>
          <p:nvPr/>
        </p:nvSpPr>
        <p:spPr>
          <a:xfrm>
            <a:off x="777240" y="2258568"/>
            <a:ext cx="438912" cy="438912"/>
          </a:xfrm>
          <a:prstGeom prst="ellipse">
            <a:avLst/>
          </a:prstGeom>
          <a:solidFill>
            <a:srgbClr val="232F3E"/>
          </a:solidFill>
          <a:ln/>
        </p:spPr>
      </p:sp>
      <p:sp>
        <p:nvSpPr>
          <p:cNvPr id="10" name="Text 8"/>
          <p:cNvSpPr/>
          <p:nvPr/>
        </p:nvSpPr>
        <p:spPr>
          <a:xfrm>
            <a:off x="777240" y="2258568"/>
            <a:ext cx="438912" cy="43891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1" name="Text 9"/>
          <p:cNvSpPr/>
          <p:nvPr/>
        </p:nvSpPr>
        <p:spPr>
          <a:xfrm>
            <a:off x="1463040" y="2176272"/>
            <a:ext cx="8686800" cy="603504"/>
          </a:xfrm>
          <a:prstGeom prst="rect">
            <a:avLst/>
          </a:prstGeom>
          <a:noFill/>
          <a:ln/>
        </p:spPr>
        <p:txBody>
          <a:bodyPr wrap="square" rtlCol="0" anchor="ctr"/>
          <a:lstStyle/>
          <a:p>
            <a:pPr indent="0" marL="0">
              <a:buNone/>
            </a:pPr>
            <a:r>
              <a:rPr lang="en-US" sz="1500" dirty="0">
                <a:solidFill>
                  <a:srgbClr val="16191F"/>
                </a:solidFill>
                <a:latin typeface="Calibri" pitchFamily="34" charset="0"/>
                <a:ea typeface="Calibri" pitchFamily="34" charset="-122"/>
                <a:cs typeface="Calibri" pitchFamily="34" charset="-120"/>
              </a:rPr>
              <a:t>IP Addressing, Subnetting &amp; CIDR</a:t>
            </a:r>
            <a:endParaRPr lang="en-US" sz="1500" dirty="0"/>
          </a:p>
        </p:txBody>
      </p:sp>
      <p:sp>
        <p:nvSpPr>
          <p:cNvPr id="12" name="Shape 10"/>
          <p:cNvSpPr/>
          <p:nvPr/>
        </p:nvSpPr>
        <p:spPr>
          <a:xfrm>
            <a:off x="548640" y="2889504"/>
            <a:ext cx="11091672" cy="603504"/>
          </a:xfrm>
          <a:prstGeom prst="roundRect">
            <a:avLst>
              <a:gd name="adj" fmla="val 10606"/>
            </a:avLst>
          </a:prstGeom>
          <a:solidFill>
            <a:srgbClr val="FFFFFF"/>
          </a:solidFill>
          <a:ln w="12700">
            <a:solidFill>
              <a:srgbClr val="D9DCE1"/>
            </a:solidFill>
            <a:prstDash val="solid"/>
          </a:ln>
        </p:spPr>
      </p:sp>
      <p:sp>
        <p:nvSpPr>
          <p:cNvPr id="13" name="Shape 11"/>
          <p:cNvSpPr/>
          <p:nvPr/>
        </p:nvSpPr>
        <p:spPr>
          <a:xfrm>
            <a:off x="777240" y="2971800"/>
            <a:ext cx="438912" cy="438912"/>
          </a:xfrm>
          <a:prstGeom prst="ellipse">
            <a:avLst/>
          </a:prstGeom>
          <a:solidFill>
            <a:srgbClr val="FF9900"/>
          </a:solidFill>
          <a:ln/>
        </p:spPr>
      </p:sp>
      <p:sp>
        <p:nvSpPr>
          <p:cNvPr id="14" name="Text 12"/>
          <p:cNvSpPr/>
          <p:nvPr/>
        </p:nvSpPr>
        <p:spPr>
          <a:xfrm>
            <a:off x="777240" y="2971800"/>
            <a:ext cx="438912" cy="43891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5" name="Text 13"/>
          <p:cNvSpPr/>
          <p:nvPr/>
        </p:nvSpPr>
        <p:spPr>
          <a:xfrm>
            <a:off x="1463040" y="2889504"/>
            <a:ext cx="8686800" cy="603504"/>
          </a:xfrm>
          <a:prstGeom prst="rect">
            <a:avLst/>
          </a:prstGeom>
          <a:noFill/>
          <a:ln/>
        </p:spPr>
        <p:txBody>
          <a:bodyPr wrap="square" rtlCol="0" anchor="ctr"/>
          <a:lstStyle/>
          <a:p>
            <a:pPr indent="0" marL="0">
              <a:buNone/>
            </a:pPr>
            <a:r>
              <a:rPr lang="en-US" sz="1500" dirty="0">
                <a:solidFill>
                  <a:srgbClr val="16191F"/>
                </a:solidFill>
                <a:latin typeface="Calibri" pitchFamily="34" charset="0"/>
                <a:ea typeface="Calibri" pitchFamily="34" charset="-122"/>
                <a:cs typeface="Calibri" pitchFamily="34" charset="-120"/>
              </a:rPr>
              <a:t>Routing, Switching, Ports &amp; Protocols</a:t>
            </a:r>
            <a:endParaRPr lang="en-US" sz="1500" dirty="0"/>
          </a:p>
        </p:txBody>
      </p:sp>
      <p:sp>
        <p:nvSpPr>
          <p:cNvPr id="16" name="Shape 14"/>
          <p:cNvSpPr/>
          <p:nvPr/>
        </p:nvSpPr>
        <p:spPr>
          <a:xfrm>
            <a:off x="548640" y="3602736"/>
            <a:ext cx="11091672" cy="603504"/>
          </a:xfrm>
          <a:prstGeom prst="roundRect">
            <a:avLst>
              <a:gd name="adj" fmla="val 10606"/>
            </a:avLst>
          </a:prstGeom>
          <a:solidFill>
            <a:srgbClr val="FFFFFF"/>
          </a:solidFill>
          <a:ln w="12700">
            <a:solidFill>
              <a:srgbClr val="D9DCE1"/>
            </a:solidFill>
            <a:prstDash val="solid"/>
          </a:ln>
        </p:spPr>
      </p:sp>
      <p:sp>
        <p:nvSpPr>
          <p:cNvPr id="17" name="Shape 15"/>
          <p:cNvSpPr/>
          <p:nvPr/>
        </p:nvSpPr>
        <p:spPr>
          <a:xfrm>
            <a:off x="777240" y="3685032"/>
            <a:ext cx="438912" cy="438912"/>
          </a:xfrm>
          <a:prstGeom prst="ellipse">
            <a:avLst/>
          </a:prstGeom>
          <a:solidFill>
            <a:srgbClr val="232F3E"/>
          </a:solidFill>
          <a:ln/>
        </p:spPr>
      </p:sp>
      <p:sp>
        <p:nvSpPr>
          <p:cNvPr id="18" name="Text 16"/>
          <p:cNvSpPr/>
          <p:nvPr/>
        </p:nvSpPr>
        <p:spPr>
          <a:xfrm>
            <a:off x="777240" y="3685032"/>
            <a:ext cx="438912" cy="43891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19" name="Text 17"/>
          <p:cNvSpPr/>
          <p:nvPr/>
        </p:nvSpPr>
        <p:spPr>
          <a:xfrm>
            <a:off x="1463040" y="3602736"/>
            <a:ext cx="8686800" cy="603504"/>
          </a:xfrm>
          <a:prstGeom prst="rect">
            <a:avLst/>
          </a:prstGeom>
          <a:noFill/>
          <a:ln/>
        </p:spPr>
        <p:txBody>
          <a:bodyPr wrap="square" rtlCol="0" anchor="ctr"/>
          <a:lstStyle/>
          <a:p>
            <a:pPr indent="0" marL="0">
              <a:buNone/>
            </a:pPr>
            <a:r>
              <a:rPr lang="en-US" sz="1500" dirty="0">
                <a:solidFill>
                  <a:srgbClr val="16191F"/>
                </a:solidFill>
                <a:latin typeface="Calibri" pitchFamily="34" charset="0"/>
                <a:ea typeface="Calibri" pitchFamily="34" charset="-122"/>
                <a:cs typeface="Calibri" pitchFamily="34" charset="-120"/>
              </a:rPr>
              <a:t>DNS, DHCP, NAT, Firewalls &amp; VPNs</a:t>
            </a:r>
            <a:endParaRPr lang="en-US" sz="1500" dirty="0"/>
          </a:p>
        </p:txBody>
      </p:sp>
      <p:sp>
        <p:nvSpPr>
          <p:cNvPr id="20" name="Shape 18"/>
          <p:cNvSpPr/>
          <p:nvPr/>
        </p:nvSpPr>
        <p:spPr>
          <a:xfrm>
            <a:off x="548640" y="4315968"/>
            <a:ext cx="11091672" cy="603504"/>
          </a:xfrm>
          <a:prstGeom prst="roundRect">
            <a:avLst>
              <a:gd name="adj" fmla="val 10606"/>
            </a:avLst>
          </a:prstGeom>
          <a:solidFill>
            <a:srgbClr val="FFFFFF"/>
          </a:solidFill>
          <a:ln w="12700">
            <a:solidFill>
              <a:srgbClr val="D9DCE1"/>
            </a:solidFill>
            <a:prstDash val="solid"/>
          </a:ln>
        </p:spPr>
      </p:sp>
      <p:sp>
        <p:nvSpPr>
          <p:cNvPr id="21" name="Shape 19"/>
          <p:cNvSpPr/>
          <p:nvPr/>
        </p:nvSpPr>
        <p:spPr>
          <a:xfrm>
            <a:off x="777240" y="4398264"/>
            <a:ext cx="438912" cy="438912"/>
          </a:xfrm>
          <a:prstGeom prst="ellipse">
            <a:avLst/>
          </a:prstGeom>
          <a:solidFill>
            <a:srgbClr val="FF9900"/>
          </a:solidFill>
          <a:ln/>
        </p:spPr>
      </p:sp>
      <p:sp>
        <p:nvSpPr>
          <p:cNvPr id="22" name="Text 20"/>
          <p:cNvSpPr/>
          <p:nvPr/>
        </p:nvSpPr>
        <p:spPr>
          <a:xfrm>
            <a:off x="777240" y="4398264"/>
            <a:ext cx="438912" cy="43891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3" name="Text 21"/>
          <p:cNvSpPr/>
          <p:nvPr/>
        </p:nvSpPr>
        <p:spPr>
          <a:xfrm>
            <a:off x="1463040" y="4315968"/>
            <a:ext cx="8686800" cy="603504"/>
          </a:xfrm>
          <a:prstGeom prst="rect">
            <a:avLst/>
          </a:prstGeom>
          <a:noFill/>
          <a:ln/>
        </p:spPr>
        <p:txBody>
          <a:bodyPr wrap="square" rtlCol="0" anchor="ctr"/>
          <a:lstStyle/>
          <a:p>
            <a:pPr indent="0" marL="0">
              <a:buNone/>
            </a:pPr>
            <a:r>
              <a:rPr lang="en-US" sz="1500" dirty="0">
                <a:solidFill>
                  <a:srgbClr val="16191F"/>
                </a:solidFill>
                <a:latin typeface="Calibri" pitchFamily="34" charset="0"/>
                <a:ea typeface="Calibri" pitchFamily="34" charset="-122"/>
                <a:cs typeface="Calibri" pitchFamily="34" charset="-120"/>
              </a:rPr>
              <a:t>Troubleshooting &amp; Hands-On Lab</a:t>
            </a:r>
            <a:endParaRPr lang="en-US" sz="1500" dirty="0"/>
          </a:p>
        </p:txBody>
      </p:sp>
      <p:sp>
        <p:nvSpPr>
          <p:cNvPr id="24" name="Shape 22"/>
          <p:cNvSpPr/>
          <p:nvPr/>
        </p:nvSpPr>
        <p:spPr>
          <a:xfrm>
            <a:off x="548640" y="5029200"/>
            <a:ext cx="11091672" cy="603504"/>
          </a:xfrm>
          <a:prstGeom prst="roundRect">
            <a:avLst>
              <a:gd name="adj" fmla="val 10606"/>
            </a:avLst>
          </a:prstGeom>
          <a:solidFill>
            <a:srgbClr val="FFFFFF"/>
          </a:solidFill>
          <a:ln w="12700">
            <a:solidFill>
              <a:srgbClr val="D9DCE1"/>
            </a:solidFill>
            <a:prstDash val="solid"/>
          </a:ln>
        </p:spPr>
      </p:sp>
      <p:sp>
        <p:nvSpPr>
          <p:cNvPr id="25" name="Shape 23"/>
          <p:cNvSpPr/>
          <p:nvPr/>
        </p:nvSpPr>
        <p:spPr>
          <a:xfrm>
            <a:off x="777240" y="5111496"/>
            <a:ext cx="438912" cy="438912"/>
          </a:xfrm>
          <a:prstGeom prst="ellipse">
            <a:avLst/>
          </a:prstGeom>
          <a:solidFill>
            <a:srgbClr val="232F3E"/>
          </a:solidFill>
          <a:ln/>
        </p:spPr>
      </p:sp>
      <p:sp>
        <p:nvSpPr>
          <p:cNvPr id="26" name="Text 24"/>
          <p:cNvSpPr/>
          <p:nvPr/>
        </p:nvSpPr>
        <p:spPr>
          <a:xfrm>
            <a:off x="777240" y="5111496"/>
            <a:ext cx="438912" cy="438912"/>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27" name="Text 25"/>
          <p:cNvSpPr/>
          <p:nvPr/>
        </p:nvSpPr>
        <p:spPr>
          <a:xfrm>
            <a:off x="1463040" y="5029200"/>
            <a:ext cx="8686800" cy="603504"/>
          </a:xfrm>
          <a:prstGeom prst="rect">
            <a:avLst/>
          </a:prstGeom>
          <a:noFill/>
          <a:ln/>
        </p:spPr>
        <p:txBody>
          <a:bodyPr wrap="square" rtlCol="0" anchor="ctr"/>
          <a:lstStyle/>
          <a:p>
            <a:pPr indent="0" marL="0">
              <a:buNone/>
            </a:pPr>
            <a:r>
              <a:rPr lang="en-US" sz="1500" dirty="0">
                <a:solidFill>
                  <a:srgbClr val="16191F"/>
                </a:solidFill>
                <a:latin typeface="Calibri" pitchFamily="34" charset="0"/>
                <a:ea typeface="Calibri" pitchFamily="34" charset="-122"/>
                <a:cs typeface="Calibri" pitchFamily="34" charset="-120"/>
              </a:rPr>
              <a:t>AWS VPC Mapping &amp; Wrap-Up</a:t>
            </a:r>
            <a:endParaRPr lang="en-US" sz="1500" dirty="0"/>
          </a:p>
        </p:txBody>
      </p:sp>
      <p:sp>
        <p:nvSpPr>
          <p:cNvPr id="28" name="Text 26"/>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9" name="Text 27"/>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Text 1"/>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ICEBREAKER</a:t>
            </a:r>
            <a:endParaRPr lang="en-US" sz="1200" dirty="0"/>
          </a:p>
        </p:txBody>
      </p:sp>
      <p:sp>
        <p:nvSpPr>
          <p:cNvPr id="4" name="Text 2"/>
          <p:cNvSpPr/>
          <p:nvPr/>
        </p:nvSpPr>
        <p:spPr>
          <a:xfrm>
            <a:off x="822960" y="1097280"/>
            <a:ext cx="7315200" cy="731520"/>
          </a:xfrm>
          <a:prstGeom prst="rect">
            <a:avLst/>
          </a:prstGeom>
          <a:noFill/>
          <a:ln/>
        </p:spPr>
        <p:txBody>
          <a:bodyPr wrap="square" rtlCol="0" anchor="ctr"/>
          <a:lstStyle/>
          <a:p>
            <a:pPr indent="0" marL="0">
              <a:buNone/>
            </a:pPr>
            <a:r>
              <a:rPr lang="en-US" sz="3000" b="1" dirty="0">
                <a:solidFill>
                  <a:srgbClr val="FFFFFF"/>
                </a:solidFill>
                <a:latin typeface="Arial" pitchFamily="34" charset="0"/>
                <a:ea typeface="Arial" pitchFamily="34" charset="-122"/>
                <a:cs typeface="Arial" pitchFamily="34" charset="-120"/>
              </a:rPr>
              <a:t>Let's Warm Up</a:t>
            </a:r>
            <a:endParaRPr lang="en-US" sz="3000" dirty="0"/>
          </a:p>
        </p:txBody>
      </p:sp>
      <p:sp>
        <p:nvSpPr>
          <p:cNvPr id="5" name="Shape 3"/>
          <p:cNvSpPr/>
          <p:nvPr/>
        </p:nvSpPr>
        <p:spPr>
          <a:xfrm>
            <a:off x="1188720" y="2286000"/>
            <a:ext cx="9784080" cy="2103120"/>
          </a:xfrm>
          <a:prstGeom prst="roundRect">
            <a:avLst>
              <a:gd name="adj" fmla="val 6087"/>
            </a:avLst>
          </a:prstGeom>
          <a:solidFill>
            <a:srgbClr val="161E2D"/>
          </a:solidFill>
          <a:ln w="19050">
            <a:solidFill>
              <a:srgbClr val="FF9900"/>
            </a:solidFill>
            <a:prstDash val="solid"/>
          </a:ln>
        </p:spPr>
      </p:sp>
      <p:sp>
        <p:nvSpPr>
          <p:cNvPr id="6" name="Shape 4"/>
          <p:cNvSpPr/>
          <p:nvPr/>
        </p:nvSpPr>
        <p:spPr>
          <a:xfrm>
            <a:off x="1943100" y="2766060"/>
            <a:ext cx="1143000" cy="1143000"/>
          </a:xfrm>
          <a:prstGeom prst="ellipse">
            <a:avLst/>
          </a:prstGeom>
          <a:solidFill>
            <a:srgbClr val="2E3B4E"/>
          </a:solidFill>
          <a:ln/>
        </p:spPr>
      </p:sp>
      <p:pic>
        <p:nvPicPr>
          <p:cNvPr id="7" name="Image 0" descr="/home/claude/ppt3/icon_comment_w.png">    </p:cNvPr>
          <p:cNvPicPr>
            <a:picLocks noChangeAspect="1"/>
          </p:cNvPicPr>
          <p:nvPr/>
        </p:nvPicPr>
        <p:blipFill>
          <a:blip r:embed="rId1"/>
          <a:stretch>
            <a:fillRect/>
          </a:stretch>
        </p:blipFill>
        <p:spPr>
          <a:xfrm>
            <a:off x="2217420" y="3040380"/>
            <a:ext cx="594360" cy="594360"/>
          </a:xfrm>
          <a:prstGeom prst="rect">
            <a:avLst/>
          </a:prstGeom>
        </p:spPr>
      </p:pic>
      <p:sp>
        <p:nvSpPr>
          <p:cNvPr id="8" name="Text 5"/>
          <p:cNvSpPr/>
          <p:nvPr/>
        </p:nvSpPr>
        <p:spPr>
          <a:xfrm>
            <a:off x="3383280" y="2743200"/>
            <a:ext cx="7315200" cy="1188720"/>
          </a:xfrm>
          <a:prstGeom prst="rect">
            <a:avLst/>
          </a:prstGeom>
          <a:noFill/>
          <a:ln/>
        </p:spPr>
        <p:txBody>
          <a:bodyPr wrap="square" rtlCol="0" anchor="ctr"/>
          <a:lstStyle/>
          <a:p>
            <a:pPr indent="0" marL="0">
              <a:buNone/>
            </a:pPr>
            <a:r>
              <a:rPr lang="en-US" sz="2100" b="1" i="1" dirty="0">
                <a:solidFill>
                  <a:srgbClr val="FFFFFF"/>
                </a:solidFill>
                <a:latin typeface="Arial" pitchFamily="34" charset="0"/>
                <a:ea typeface="Arial" pitchFamily="34" charset="-122"/>
                <a:cs typeface="Arial" pitchFamily="34" charset="-120"/>
              </a:rPr>
              <a:t>“What actually happens when your computer opens google.com?”</a:t>
            </a:r>
            <a:endParaRPr lang="en-US" sz="2100" dirty="0"/>
          </a:p>
        </p:txBody>
      </p:sp>
      <p:sp>
        <p:nvSpPr>
          <p:cNvPr id="9" name="Text 6"/>
          <p:cNvSpPr/>
          <p:nvPr/>
        </p:nvSpPr>
        <p:spPr>
          <a:xfrm>
            <a:off x="1188720" y="4663440"/>
            <a:ext cx="9784080" cy="457200"/>
          </a:xfrm>
          <a:prstGeom prst="rect">
            <a:avLst/>
          </a:prstGeom>
          <a:noFill/>
          <a:ln/>
        </p:spPr>
        <p:txBody>
          <a:bodyPr wrap="square" rtlCol="0" anchor="ctr"/>
          <a:lstStyle/>
          <a:p>
            <a:pPr algn="ctr" indent="0" marL="0">
              <a:buNone/>
            </a:pPr>
            <a:r>
              <a:rPr lang="en-US" sz="1300" dirty="0">
                <a:solidFill>
                  <a:srgbClr val="C7D1D9"/>
                </a:solidFill>
                <a:latin typeface="Calibri" pitchFamily="34" charset="0"/>
                <a:ea typeface="Calibri" pitchFamily="34" charset="-122"/>
                <a:cs typeface="Calibri" pitchFamily="34" charset="-120"/>
              </a:rPr>
              <a:t>No wrong answers — we'll build the real, complete picture together today.</a:t>
            </a:r>
            <a:endParaRPr lang="en-US" sz="1300" dirty="0"/>
          </a:p>
        </p:txBody>
      </p:sp>
      <p:sp>
        <p:nvSpPr>
          <p:cNvPr id="10" name="Text 7"/>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11" name="Text 8"/>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What Is a Computer Network?</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Understand a network as devices connected to exchange information.</a:t>
            </a:r>
            <a:endParaRPr lang="en-US" sz="1250" dirty="0"/>
          </a:p>
        </p:txBody>
      </p:sp>
      <p:sp>
        <p:nvSpPr>
          <p:cNvPr id="6" name="Shape 4"/>
          <p:cNvSpPr/>
          <p:nvPr/>
        </p:nvSpPr>
        <p:spPr>
          <a:xfrm>
            <a:off x="548640" y="1828800"/>
            <a:ext cx="4480560" cy="3566160"/>
          </a:xfrm>
          <a:prstGeom prst="roundRect">
            <a:avLst>
              <a:gd name="adj" fmla="val 2564"/>
            </a:avLst>
          </a:prstGeom>
          <a:solidFill>
            <a:srgbClr val="FFFFFF"/>
          </a:solidFill>
          <a:ln w="12700">
            <a:solidFill>
              <a:srgbClr val="D9DCE1"/>
            </a:solidFill>
            <a:prstDash val="solid"/>
          </a:ln>
        </p:spPr>
      </p:sp>
      <p:sp>
        <p:nvSpPr>
          <p:cNvPr id="7" name="Text 5"/>
          <p:cNvSpPr/>
          <p:nvPr/>
        </p:nvSpPr>
        <p:spPr>
          <a:xfrm>
            <a:off x="822960" y="2057400"/>
            <a:ext cx="3931920" cy="1005840"/>
          </a:xfrm>
          <a:prstGeom prst="rect">
            <a:avLst/>
          </a:prstGeom>
          <a:noFill/>
          <a:ln/>
        </p:spPr>
        <p:txBody>
          <a:bodyPr wrap="square" rtlCol="0" anchor="t"/>
          <a:lstStyle/>
          <a:p>
            <a:pPr indent="0" marL="0">
              <a:buNone/>
            </a:pPr>
            <a:r>
              <a:rPr lang="en-US" sz="1350" dirty="0">
                <a:solidFill>
                  <a:srgbClr val="16191F"/>
                </a:solidFill>
                <a:latin typeface="Calibri" pitchFamily="34" charset="0"/>
                <a:ea typeface="Calibri" pitchFamily="34" charset="-122"/>
                <a:cs typeface="Calibri" pitchFamily="34" charset="-120"/>
              </a:rPr>
              <a:t>A network is two or more devices connected together so they can exchange information.</a:t>
            </a:r>
            <a:endParaRPr lang="en-US" sz="1350" dirty="0"/>
          </a:p>
        </p:txBody>
      </p:sp>
      <p:sp>
        <p:nvSpPr>
          <p:cNvPr id="8" name="Shape 6"/>
          <p:cNvSpPr/>
          <p:nvPr/>
        </p:nvSpPr>
        <p:spPr>
          <a:xfrm>
            <a:off x="822960" y="3108960"/>
            <a:ext cx="3931920" cy="566928"/>
          </a:xfrm>
          <a:prstGeom prst="roundRect">
            <a:avLst>
              <a:gd name="adj" fmla="val 12903"/>
            </a:avLst>
          </a:prstGeom>
          <a:solidFill>
            <a:srgbClr val="FFFFFF"/>
          </a:solidFill>
          <a:ln w="15875">
            <a:solidFill>
              <a:srgbClr val="FF9900"/>
            </a:solidFill>
            <a:prstDash val="solid"/>
          </a:ln>
        </p:spPr>
      </p:sp>
      <p:sp>
        <p:nvSpPr>
          <p:cNvPr id="9" name="Text 7"/>
          <p:cNvSpPr/>
          <p:nvPr/>
        </p:nvSpPr>
        <p:spPr>
          <a:xfrm>
            <a:off x="1051560" y="3108960"/>
            <a:ext cx="3474720"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Like a road system connecting houses to a city, then to other cities.</a:t>
            </a:r>
            <a:endParaRPr lang="en-US" sz="1100" dirty="0"/>
          </a:p>
        </p:txBody>
      </p:sp>
      <p:sp>
        <p:nvSpPr>
          <p:cNvPr id="10" name="Shape 8"/>
          <p:cNvSpPr/>
          <p:nvPr/>
        </p:nvSpPr>
        <p:spPr>
          <a:xfrm>
            <a:off x="822960" y="3794760"/>
            <a:ext cx="3931920" cy="566928"/>
          </a:xfrm>
          <a:prstGeom prst="roundRect">
            <a:avLst>
              <a:gd name="adj" fmla="val 12903"/>
            </a:avLst>
          </a:prstGeom>
          <a:solidFill>
            <a:srgbClr val="FBEAE5"/>
          </a:solidFill>
          <a:ln w="12700">
            <a:solidFill>
              <a:srgbClr val="E5533D"/>
            </a:solidFill>
            <a:prstDash val="solid"/>
          </a:ln>
        </p:spPr>
      </p:sp>
      <p:sp>
        <p:nvSpPr>
          <p:cNvPr id="11" name="Shape 9"/>
          <p:cNvSpPr/>
          <p:nvPr/>
        </p:nvSpPr>
        <p:spPr>
          <a:xfrm>
            <a:off x="978408" y="3849624"/>
            <a:ext cx="457200" cy="457200"/>
          </a:xfrm>
          <a:prstGeom prst="ellipse">
            <a:avLst/>
          </a:prstGeom>
          <a:solidFill>
            <a:srgbClr val="F6D2C7"/>
          </a:solidFill>
          <a:ln/>
        </p:spPr>
      </p:sp>
      <p:pic>
        <p:nvPicPr>
          <p:cNvPr id="12" name="Image 0" descr="/home/claude/ppt3/icon_bug_o.png">    </p:cNvPr>
          <p:cNvPicPr>
            <a:picLocks noChangeAspect="1"/>
          </p:cNvPicPr>
          <p:nvPr/>
        </p:nvPicPr>
        <p:blipFill>
          <a:blip r:embed="rId1"/>
          <a:stretch>
            <a:fillRect/>
          </a:stretch>
        </p:blipFill>
        <p:spPr>
          <a:xfrm>
            <a:off x="1088136" y="3959352"/>
            <a:ext cx="237744" cy="237744"/>
          </a:xfrm>
          <a:prstGeom prst="rect">
            <a:avLst/>
          </a:prstGeom>
        </p:spPr>
      </p:pic>
      <p:sp>
        <p:nvSpPr>
          <p:cNvPr id="13" name="Text 10"/>
          <p:cNvSpPr/>
          <p:nvPr/>
        </p:nvSpPr>
        <p:spPr>
          <a:xfrm>
            <a:off x="1508760" y="3794760"/>
            <a:ext cx="3017520" cy="56692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COMMON MISTAKE:  </a:t>
            </a:r>
            <a:pPr indent="0" marL="0">
              <a:buNone/>
            </a:pPr>
            <a:r>
              <a:rPr lang="en-US" sz="1100" dirty="0">
                <a:solidFill>
                  <a:srgbClr val="16191F"/>
                </a:solidFill>
                <a:latin typeface="Calibri" pitchFamily="34" charset="0"/>
                <a:ea typeface="Calibri" pitchFamily="34" charset="-122"/>
                <a:cs typeface="Calibri" pitchFamily="34" charset="-120"/>
              </a:rPr>
              <a:t>Thinking WiFi and “the Internet” are the same thing — WiFi is just one way to join a network.</a:t>
            </a:r>
            <a:endParaRPr lang="en-US" sz="1100" dirty="0"/>
          </a:p>
        </p:txBody>
      </p:sp>
      <p:sp>
        <p:nvSpPr>
          <p:cNvPr id="14" name="Shape 11"/>
          <p:cNvSpPr/>
          <p:nvPr/>
        </p:nvSpPr>
        <p:spPr>
          <a:xfrm>
            <a:off x="5486400" y="2651760"/>
            <a:ext cx="1291590" cy="1828800"/>
          </a:xfrm>
          <a:prstGeom prst="roundRect">
            <a:avLst>
              <a:gd name="adj" fmla="val 6372"/>
            </a:avLst>
          </a:prstGeom>
          <a:solidFill>
            <a:srgbClr val="FFFFFF"/>
          </a:solidFill>
          <a:ln w="12700">
            <a:solidFill>
              <a:srgbClr val="D9DCE1"/>
            </a:solidFill>
            <a:prstDash val="solid"/>
          </a:ln>
        </p:spPr>
      </p:sp>
      <p:sp>
        <p:nvSpPr>
          <p:cNvPr id="15" name="Shape 12"/>
          <p:cNvSpPr/>
          <p:nvPr/>
        </p:nvSpPr>
        <p:spPr>
          <a:xfrm>
            <a:off x="5809297" y="3060383"/>
            <a:ext cx="645795" cy="645795"/>
          </a:xfrm>
          <a:prstGeom prst="ellipse">
            <a:avLst/>
          </a:prstGeom>
          <a:solidFill>
            <a:srgbClr val="FFF3DE"/>
          </a:solidFill>
          <a:ln/>
        </p:spPr>
      </p:sp>
      <p:pic>
        <p:nvPicPr>
          <p:cNvPr id="16" name="Image 1" descr="/home/claude/ppt3/icon_laptop_d.png">    </p:cNvPr>
          <p:cNvPicPr>
            <a:picLocks noChangeAspect="1"/>
          </p:cNvPicPr>
          <p:nvPr/>
        </p:nvPicPr>
        <p:blipFill>
          <a:blip r:embed="rId2"/>
          <a:stretch>
            <a:fillRect/>
          </a:stretch>
        </p:blipFill>
        <p:spPr>
          <a:xfrm>
            <a:off x="5964288" y="3215373"/>
            <a:ext cx="335813" cy="335813"/>
          </a:xfrm>
          <a:prstGeom prst="rect">
            <a:avLst/>
          </a:prstGeom>
        </p:spPr>
      </p:pic>
      <p:sp>
        <p:nvSpPr>
          <p:cNvPr id="17" name="Text 13"/>
          <p:cNvSpPr/>
          <p:nvPr/>
        </p:nvSpPr>
        <p:spPr>
          <a:xfrm>
            <a:off x="5559552" y="3895344"/>
            <a:ext cx="1145286" cy="548640"/>
          </a:xfrm>
          <a:prstGeom prst="rect">
            <a:avLst/>
          </a:prstGeom>
          <a:noFill/>
          <a:ln/>
        </p:spPr>
        <p:txBody>
          <a:bodyPr wrap="square" rtlCol="0" anchor="t"/>
          <a:lstStyle/>
          <a:p>
            <a:pPr algn="ctr" indent="0" marL="0">
              <a:buNone/>
            </a:pPr>
            <a:r>
              <a:rPr lang="en-US" sz="1250" b="1" dirty="0">
                <a:solidFill>
                  <a:srgbClr val="232F3E"/>
                </a:solidFill>
                <a:latin typeface="Calibri" pitchFamily="34" charset="0"/>
                <a:ea typeface="Calibri" pitchFamily="34" charset="-122"/>
                <a:cs typeface="Calibri" pitchFamily="34" charset="-120"/>
              </a:rPr>
              <a:t>Laptop</a:t>
            </a:r>
            <a:endParaRPr lang="en-US" sz="1250" dirty="0"/>
          </a:p>
        </p:txBody>
      </p:sp>
      <p:sp>
        <p:nvSpPr>
          <p:cNvPr id="18" name="Text 14"/>
          <p:cNvSpPr/>
          <p:nvPr/>
        </p:nvSpPr>
        <p:spPr>
          <a:xfrm>
            <a:off x="6777990" y="3337560"/>
            <a:ext cx="32004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9" name="Shape 15"/>
          <p:cNvSpPr/>
          <p:nvPr/>
        </p:nvSpPr>
        <p:spPr>
          <a:xfrm>
            <a:off x="7098030" y="2651760"/>
            <a:ext cx="1291590" cy="1828800"/>
          </a:xfrm>
          <a:prstGeom prst="roundRect">
            <a:avLst>
              <a:gd name="adj" fmla="val 6372"/>
            </a:avLst>
          </a:prstGeom>
          <a:solidFill>
            <a:srgbClr val="FFFFFF"/>
          </a:solidFill>
          <a:ln w="12700">
            <a:solidFill>
              <a:srgbClr val="D9DCE1"/>
            </a:solidFill>
            <a:prstDash val="solid"/>
          </a:ln>
        </p:spPr>
      </p:sp>
      <p:sp>
        <p:nvSpPr>
          <p:cNvPr id="20" name="Shape 16"/>
          <p:cNvSpPr/>
          <p:nvPr/>
        </p:nvSpPr>
        <p:spPr>
          <a:xfrm>
            <a:off x="7420928" y="3060383"/>
            <a:ext cx="645795" cy="645795"/>
          </a:xfrm>
          <a:prstGeom prst="ellipse">
            <a:avLst/>
          </a:prstGeom>
          <a:solidFill>
            <a:srgbClr val="FFF3DE"/>
          </a:solidFill>
          <a:ln/>
        </p:spPr>
      </p:sp>
      <p:pic>
        <p:nvPicPr>
          <p:cNvPr id="21" name="Image 2" descr="/home/claude/ppt3/icon_router_d.png">    </p:cNvPr>
          <p:cNvPicPr>
            <a:picLocks noChangeAspect="1"/>
          </p:cNvPicPr>
          <p:nvPr/>
        </p:nvPicPr>
        <p:blipFill>
          <a:blip r:embed="rId3"/>
          <a:stretch>
            <a:fillRect/>
          </a:stretch>
        </p:blipFill>
        <p:spPr>
          <a:xfrm>
            <a:off x="7575918" y="3215373"/>
            <a:ext cx="335813" cy="335813"/>
          </a:xfrm>
          <a:prstGeom prst="rect">
            <a:avLst/>
          </a:prstGeom>
        </p:spPr>
      </p:pic>
      <p:sp>
        <p:nvSpPr>
          <p:cNvPr id="22" name="Text 17"/>
          <p:cNvSpPr/>
          <p:nvPr/>
        </p:nvSpPr>
        <p:spPr>
          <a:xfrm>
            <a:off x="7171182" y="3895344"/>
            <a:ext cx="1145286" cy="548640"/>
          </a:xfrm>
          <a:prstGeom prst="rect">
            <a:avLst/>
          </a:prstGeom>
          <a:noFill/>
          <a:ln/>
        </p:spPr>
        <p:txBody>
          <a:bodyPr wrap="square" rtlCol="0" anchor="t"/>
          <a:lstStyle/>
          <a:p>
            <a:pPr algn="ctr" indent="0" marL="0">
              <a:buNone/>
            </a:pPr>
            <a:r>
              <a:rPr lang="en-US" sz="1250" b="1" dirty="0">
                <a:solidFill>
                  <a:srgbClr val="232F3E"/>
                </a:solidFill>
                <a:latin typeface="Calibri" pitchFamily="34" charset="0"/>
                <a:ea typeface="Calibri" pitchFamily="34" charset="-122"/>
                <a:cs typeface="Calibri" pitchFamily="34" charset="-120"/>
              </a:rPr>
              <a:t>Router</a:t>
            </a:r>
            <a:endParaRPr lang="en-US" sz="1250" dirty="0"/>
          </a:p>
        </p:txBody>
      </p:sp>
      <p:sp>
        <p:nvSpPr>
          <p:cNvPr id="23" name="Text 18"/>
          <p:cNvSpPr/>
          <p:nvPr/>
        </p:nvSpPr>
        <p:spPr>
          <a:xfrm>
            <a:off x="8389620" y="3337560"/>
            <a:ext cx="32004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4" name="Shape 19"/>
          <p:cNvSpPr/>
          <p:nvPr/>
        </p:nvSpPr>
        <p:spPr>
          <a:xfrm>
            <a:off x="8709660" y="2651760"/>
            <a:ext cx="1291590" cy="1828800"/>
          </a:xfrm>
          <a:prstGeom prst="roundRect">
            <a:avLst>
              <a:gd name="adj" fmla="val 6372"/>
            </a:avLst>
          </a:prstGeom>
          <a:solidFill>
            <a:srgbClr val="FFFFFF"/>
          </a:solidFill>
          <a:ln w="12700">
            <a:solidFill>
              <a:srgbClr val="D9DCE1"/>
            </a:solidFill>
            <a:prstDash val="solid"/>
          </a:ln>
        </p:spPr>
      </p:sp>
      <p:sp>
        <p:nvSpPr>
          <p:cNvPr id="25" name="Shape 20"/>
          <p:cNvSpPr/>
          <p:nvPr/>
        </p:nvSpPr>
        <p:spPr>
          <a:xfrm>
            <a:off x="9032558" y="3060383"/>
            <a:ext cx="645795" cy="645795"/>
          </a:xfrm>
          <a:prstGeom prst="ellipse">
            <a:avLst/>
          </a:prstGeom>
          <a:solidFill>
            <a:srgbClr val="FFF3DE"/>
          </a:solidFill>
          <a:ln/>
        </p:spPr>
      </p:sp>
      <p:pic>
        <p:nvPicPr>
          <p:cNvPr id="26" name="Image 3" descr="/home/claude/ppt3/icon_globe_d.png">    </p:cNvPr>
          <p:cNvPicPr>
            <a:picLocks noChangeAspect="1"/>
          </p:cNvPicPr>
          <p:nvPr/>
        </p:nvPicPr>
        <p:blipFill>
          <a:blip r:embed="rId4"/>
          <a:stretch>
            <a:fillRect/>
          </a:stretch>
        </p:blipFill>
        <p:spPr>
          <a:xfrm>
            <a:off x="9187548" y="3215373"/>
            <a:ext cx="335813" cy="335813"/>
          </a:xfrm>
          <a:prstGeom prst="rect">
            <a:avLst/>
          </a:prstGeom>
        </p:spPr>
      </p:pic>
      <p:sp>
        <p:nvSpPr>
          <p:cNvPr id="27" name="Text 21"/>
          <p:cNvSpPr/>
          <p:nvPr/>
        </p:nvSpPr>
        <p:spPr>
          <a:xfrm>
            <a:off x="8782812" y="3895344"/>
            <a:ext cx="1145286" cy="548640"/>
          </a:xfrm>
          <a:prstGeom prst="rect">
            <a:avLst/>
          </a:prstGeom>
          <a:noFill/>
          <a:ln/>
        </p:spPr>
        <p:txBody>
          <a:bodyPr wrap="square" rtlCol="0" anchor="t"/>
          <a:lstStyle/>
          <a:p>
            <a:pPr algn="ctr" indent="0" marL="0">
              <a:buNone/>
            </a:pPr>
            <a:r>
              <a:rPr lang="en-US" sz="1250" b="1" dirty="0">
                <a:solidFill>
                  <a:srgbClr val="232F3E"/>
                </a:solidFill>
                <a:latin typeface="Calibri" pitchFamily="34" charset="0"/>
                <a:ea typeface="Calibri" pitchFamily="34" charset="-122"/>
                <a:cs typeface="Calibri" pitchFamily="34" charset="-120"/>
              </a:rPr>
              <a:t>Internet</a:t>
            </a:r>
            <a:endParaRPr lang="en-US" sz="1250" dirty="0"/>
          </a:p>
        </p:txBody>
      </p:sp>
      <p:sp>
        <p:nvSpPr>
          <p:cNvPr id="28" name="Text 22"/>
          <p:cNvSpPr/>
          <p:nvPr/>
        </p:nvSpPr>
        <p:spPr>
          <a:xfrm>
            <a:off x="10001250" y="3337560"/>
            <a:ext cx="32004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9" name="Shape 23"/>
          <p:cNvSpPr/>
          <p:nvPr/>
        </p:nvSpPr>
        <p:spPr>
          <a:xfrm>
            <a:off x="10321290" y="2651760"/>
            <a:ext cx="1291590" cy="1828800"/>
          </a:xfrm>
          <a:prstGeom prst="roundRect">
            <a:avLst>
              <a:gd name="adj" fmla="val 6372"/>
            </a:avLst>
          </a:prstGeom>
          <a:solidFill>
            <a:srgbClr val="FFFFFF"/>
          </a:solidFill>
          <a:ln w="12700">
            <a:solidFill>
              <a:srgbClr val="D9DCE1"/>
            </a:solidFill>
            <a:prstDash val="solid"/>
          </a:ln>
        </p:spPr>
      </p:sp>
      <p:sp>
        <p:nvSpPr>
          <p:cNvPr id="30" name="Shape 24"/>
          <p:cNvSpPr/>
          <p:nvPr/>
        </p:nvSpPr>
        <p:spPr>
          <a:xfrm>
            <a:off x="10644188" y="3060383"/>
            <a:ext cx="645795" cy="645795"/>
          </a:xfrm>
          <a:prstGeom prst="ellipse">
            <a:avLst/>
          </a:prstGeom>
          <a:solidFill>
            <a:srgbClr val="FFF3DE"/>
          </a:solidFill>
          <a:ln/>
        </p:spPr>
      </p:sp>
      <p:pic>
        <p:nvPicPr>
          <p:cNvPr id="31" name="Image 4" descr="/home/claude/ppt3/icon_server_d.png">    </p:cNvPr>
          <p:cNvPicPr>
            <a:picLocks noChangeAspect="1"/>
          </p:cNvPicPr>
          <p:nvPr/>
        </p:nvPicPr>
        <p:blipFill>
          <a:blip r:embed="rId5"/>
          <a:stretch>
            <a:fillRect/>
          </a:stretch>
        </p:blipFill>
        <p:spPr>
          <a:xfrm>
            <a:off x="10799178" y="3215373"/>
            <a:ext cx="335813" cy="335813"/>
          </a:xfrm>
          <a:prstGeom prst="rect">
            <a:avLst/>
          </a:prstGeom>
        </p:spPr>
      </p:pic>
      <p:sp>
        <p:nvSpPr>
          <p:cNvPr id="32" name="Text 25"/>
          <p:cNvSpPr/>
          <p:nvPr/>
        </p:nvSpPr>
        <p:spPr>
          <a:xfrm>
            <a:off x="10394442" y="3895344"/>
            <a:ext cx="1145286" cy="548640"/>
          </a:xfrm>
          <a:prstGeom prst="rect">
            <a:avLst/>
          </a:prstGeom>
          <a:noFill/>
          <a:ln/>
        </p:spPr>
        <p:txBody>
          <a:bodyPr wrap="square" rtlCol="0" anchor="t"/>
          <a:lstStyle/>
          <a:p>
            <a:pPr algn="ctr" indent="0" marL="0">
              <a:buNone/>
            </a:pPr>
            <a:r>
              <a:rPr lang="en-US" sz="1250" b="1" dirty="0">
                <a:solidFill>
                  <a:srgbClr val="232F3E"/>
                </a:solidFill>
                <a:latin typeface="Calibri" pitchFamily="34" charset="0"/>
                <a:ea typeface="Calibri" pitchFamily="34" charset="-122"/>
                <a:cs typeface="Calibri" pitchFamily="34" charset="-120"/>
              </a:rPr>
              <a:t>Server</a:t>
            </a:r>
            <a:endParaRPr lang="en-US" sz="1250" dirty="0"/>
          </a:p>
        </p:txBody>
      </p:sp>
      <p:sp>
        <p:nvSpPr>
          <p:cNvPr id="33" name="Text 26"/>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4" name="Text 27"/>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Types of Networks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Compare networks by the geographic area they cover.</a:t>
            </a:r>
            <a:endParaRPr lang="en-US" sz="1250" dirty="0"/>
          </a:p>
        </p:txBody>
      </p:sp>
      <p:sp>
        <p:nvSpPr>
          <p:cNvPr id="6" name="Shape 4"/>
          <p:cNvSpPr/>
          <p:nvPr/>
        </p:nvSpPr>
        <p:spPr>
          <a:xfrm>
            <a:off x="548640" y="1783080"/>
            <a:ext cx="11091672" cy="411480"/>
          </a:xfrm>
          <a:prstGeom prst="rect">
            <a:avLst/>
          </a:prstGeom>
          <a:solidFill>
            <a:srgbClr val="232F3E"/>
          </a:solidFill>
          <a:ln/>
        </p:spPr>
      </p:sp>
      <p:sp>
        <p:nvSpPr>
          <p:cNvPr id="7" name="Text 5"/>
          <p:cNvSpPr/>
          <p:nvPr/>
        </p:nvSpPr>
        <p:spPr>
          <a:xfrm>
            <a:off x="777240" y="1783080"/>
            <a:ext cx="2103120" cy="411480"/>
          </a:xfrm>
          <a:prstGeom prst="rect">
            <a:avLst/>
          </a:prstGeom>
          <a:noFill/>
          <a:ln/>
        </p:spPr>
        <p:txBody>
          <a:bodyPr wrap="square" rtlCol="0" anchor="ctr"/>
          <a:lstStyle/>
          <a:p>
            <a:pPr indent="0" marL="0">
              <a:buNone/>
            </a:pPr>
            <a:r>
              <a:rPr lang="en-US" sz="1100" b="1" spc="100" kern="0" dirty="0">
                <a:solidFill>
                  <a:srgbClr val="FF9900"/>
                </a:solidFill>
                <a:latin typeface="Calibri" pitchFamily="34" charset="0"/>
                <a:ea typeface="Calibri" pitchFamily="34" charset="-122"/>
                <a:cs typeface="Calibri" pitchFamily="34" charset="-120"/>
              </a:rPr>
              <a:t>TYPE</a:t>
            </a:r>
            <a:endParaRPr lang="en-US" sz="1100" dirty="0"/>
          </a:p>
        </p:txBody>
      </p:sp>
      <p:sp>
        <p:nvSpPr>
          <p:cNvPr id="8" name="Text 6"/>
          <p:cNvSpPr/>
          <p:nvPr/>
        </p:nvSpPr>
        <p:spPr>
          <a:xfrm>
            <a:off x="2880360" y="1783080"/>
            <a:ext cx="4480560" cy="411480"/>
          </a:xfrm>
          <a:prstGeom prst="rect">
            <a:avLst/>
          </a:prstGeom>
          <a:noFill/>
          <a:ln/>
        </p:spPr>
        <p:txBody>
          <a:bodyPr wrap="square" rtlCol="0" anchor="ctr"/>
          <a:lstStyle/>
          <a:p>
            <a:pPr indent="0" marL="0">
              <a:buNone/>
            </a:pPr>
            <a:r>
              <a:rPr lang="en-US" sz="1100" b="1" spc="100" kern="0" dirty="0">
                <a:solidFill>
                  <a:srgbClr val="FF9900"/>
                </a:solidFill>
                <a:latin typeface="Calibri" pitchFamily="34" charset="0"/>
                <a:ea typeface="Calibri" pitchFamily="34" charset="-122"/>
                <a:cs typeface="Calibri" pitchFamily="34" charset="-120"/>
              </a:rPr>
              <a:t>FULL NAME</a:t>
            </a:r>
            <a:endParaRPr lang="en-US" sz="1100" dirty="0"/>
          </a:p>
        </p:txBody>
      </p:sp>
      <p:sp>
        <p:nvSpPr>
          <p:cNvPr id="9" name="Text 7"/>
          <p:cNvSpPr/>
          <p:nvPr/>
        </p:nvSpPr>
        <p:spPr>
          <a:xfrm>
            <a:off x="7360920" y="1783080"/>
            <a:ext cx="4572000" cy="411480"/>
          </a:xfrm>
          <a:prstGeom prst="rect">
            <a:avLst/>
          </a:prstGeom>
          <a:noFill/>
          <a:ln/>
        </p:spPr>
        <p:txBody>
          <a:bodyPr wrap="square" rtlCol="0" anchor="ctr"/>
          <a:lstStyle/>
          <a:p>
            <a:pPr indent="0" marL="0">
              <a:buNone/>
            </a:pPr>
            <a:r>
              <a:rPr lang="en-US" sz="1100" b="1" spc="100" kern="0" dirty="0">
                <a:solidFill>
                  <a:srgbClr val="FF9900"/>
                </a:solidFill>
                <a:latin typeface="Calibri" pitchFamily="34" charset="0"/>
                <a:ea typeface="Calibri" pitchFamily="34" charset="-122"/>
                <a:cs typeface="Calibri" pitchFamily="34" charset="-120"/>
              </a:rPr>
              <a:t>REAL-WORLD EXAMPLE</a:t>
            </a:r>
            <a:endParaRPr lang="en-US" sz="1100" dirty="0"/>
          </a:p>
        </p:txBody>
      </p:sp>
      <p:sp>
        <p:nvSpPr>
          <p:cNvPr id="10" name="Shape 8"/>
          <p:cNvSpPr/>
          <p:nvPr/>
        </p:nvSpPr>
        <p:spPr>
          <a:xfrm>
            <a:off x="548640" y="2194560"/>
            <a:ext cx="11091672" cy="786384"/>
          </a:xfrm>
          <a:prstGeom prst="rect">
            <a:avLst/>
          </a:prstGeom>
          <a:solidFill>
            <a:srgbClr val="FFFFFF"/>
          </a:solidFill>
          <a:ln w="9525">
            <a:solidFill>
              <a:srgbClr val="D9DCE1"/>
            </a:solidFill>
            <a:prstDash val="solid"/>
          </a:ln>
        </p:spPr>
      </p:sp>
      <p:sp>
        <p:nvSpPr>
          <p:cNvPr id="11" name="Shape 9"/>
          <p:cNvSpPr/>
          <p:nvPr/>
        </p:nvSpPr>
        <p:spPr>
          <a:xfrm>
            <a:off x="982980" y="2336292"/>
            <a:ext cx="502920" cy="502920"/>
          </a:xfrm>
          <a:prstGeom prst="ellipse">
            <a:avLst/>
          </a:prstGeom>
          <a:solidFill>
            <a:srgbClr val="FFF3DE"/>
          </a:solidFill>
          <a:ln/>
        </p:spPr>
      </p:sp>
      <p:pic>
        <p:nvPicPr>
          <p:cNvPr id="12" name="Image 0" descr="/home/claude/ppt3/icon_mobile_d.png">    </p:cNvPr>
          <p:cNvPicPr>
            <a:picLocks noChangeAspect="1"/>
          </p:cNvPicPr>
          <p:nvPr/>
        </p:nvPicPr>
        <p:blipFill>
          <a:blip r:embed="rId1"/>
          <a:stretch>
            <a:fillRect/>
          </a:stretch>
        </p:blipFill>
        <p:spPr>
          <a:xfrm>
            <a:off x="1103681" y="2456993"/>
            <a:ext cx="261518" cy="261518"/>
          </a:xfrm>
          <a:prstGeom prst="rect">
            <a:avLst/>
          </a:prstGeom>
        </p:spPr>
      </p:pic>
      <p:sp>
        <p:nvSpPr>
          <p:cNvPr id="13" name="Text 10"/>
          <p:cNvSpPr/>
          <p:nvPr/>
        </p:nvSpPr>
        <p:spPr>
          <a:xfrm>
            <a:off x="1554480" y="2194560"/>
            <a:ext cx="1097280" cy="786384"/>
          </a:xfrm>
          <a:prstGeom prst="rect">
            <a:avLst/>
          </a:prstGeom>
          <a:noFill/>
          <a:ln/>
        </p:spPr>
        <p:txBody>
          <a:bodyPr wrap="square" rtlCol="0" anchor="ctr"/>
          <a:lstStyle/>
          <a:p>
            <a:pPr indent="0" marL="0">
              <a:buNone/>
            </a:pPr>
            <a:r>
              <a:rPr lang="en-US" sz="1400" b="1" dirty="0">
                <a:solidFill>
                  <a:srgbClr val="232F3E"/>
                </a:solidFill>
                <a:latin typeface="Arial" pitchFamily="34" charset="0"/>
                <a:ea typeface="Arial" pitchFamily="34" charset="-122"/>
                <a:cs typeface="Arial" pitchFamily="34" charset="-120"/>
              </a:rPr>
              <a:t>PAN</a:t>
            </a:r>
            <a:endParaRPr lang="en-US" sz="1400" dirty="0"/>
          </a:p>
        </p:txBody>
      </p:sp>
      <p:sp>
        <p:nvSpPr>
          <p:cNvPr id="14" name="Text 11"/>
          <p:cNvSpPr/>
          <p:nvPr/>
        </p:nvSpPr>
        <p:spPr>
          <a:xfrm>
            <a:off x="2651760" y="2194560"/>
            <a:ext cx="3931920" cy="786384"/>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Personal Area Network</a:t>
            </a:r>
            <a:endParaRPr lang="en-US" sz="1200" dirty="0"/>
          </a:p>
        </p:txBody>
      </p:sp>
      <p:sp>
        <p:nvSpPr>
          <p:cNvPr id="15" name="Text 12"/>
          <p:cNvSpPr/>
          <p:nvPr/>
        </p:nvSpPr>
        <p:spPr>
          <a:xfrm>
            <a:off x="6583680" y="2194560"/>
            <a:ext cx="4572000" cy="786384"/>
          </a:xfrm>
          <a:prstGeom prst="rect">
            <a:avLst/>
          </a:prstGeom>
          <a:noFill/>
          <a:ln/>
        </p:spPr>
        <p:txBody>
          <a:bodyPr wrap="square" rtlCol="0" anchor="ctr"/>
          <a:lstStyle/>
          <a:p>
            <a:pPr indent="0" marL="0">
              <a:buNone/>
            </a:pPr>
            <a:r>
              <a:rPr lang="en-US" sz="1200" i="1" dirty="0">
                <a:solidFill>
                  <a:srgbClr val="5A6B75"/>
                </a:solidFill>
                <a:latin typeface="Calibri" pitchFamily="34" charset="0"/>
                <a:ea typeface="Calibri" pitchFamily="34" charset="-122"/>
                <a:cs typeface="Calibri" pitchFamily="34" charset="-120"/>
              </a:rPr>
              <a:t>Bluetooth earbuds to phone</a:t>
            </a:r>
            <a:endParaRPr lang="en-US" sz="1200" dirty="0"/>
          </a:p>
        </p:txBody>
      </p:sp>
      <p:sp>
        <p:nvSpPr>
          <p:cNvPr id="16" name="Shape 13"/>
          <p:cNvSpPr/>
          <p:nvPr/>
        </p:nvSpPr>
        <p:spPr>
          <a:xfrm>
            <a:off x="548640" y="2980944"/>
            <a:ext cx="11091672" cy="786384"/>
          </a:xfrm>
          <a:prstGeom prst="rect">
            <a:avLst/>
          </a:prstGeom>
          <a:solidFill>
            <a:srgbClr val="FAFAFB"/>
          </a:solidFill>
          <a:ln w="9525">
            <a:solidFill>
              <a:srgbClr val="D9DCE1"/>
            </a:solidFill>
            <a:prstDash val="solid"/>
          </a:ln>
        </p:spPr>
      </p:sp>
      <p:sp>
        <p:nvSpPr>
          <p:cNvPr id="17" name="Shape 14"/>
          <p:cNvSpPr/>
          <p:nvPr/>
        </p:nvSpPr>
        <p:spPr>
          <a:xfrm>
            <a:off x="982980" y="3122676"/>
            <a:ext cx="502920" cy="502920"/>
          </a:xfrm>
          <a:prstGeom prst="ellipse">
            <a:avLst/>
          </a:prstGeom>
          <a:solidFill>
            <a:srgbClr val="FFF3DE"/>
          </a:solidFill>
          <a:ln/>
        </p:spPr>
      </p:sp>
      <p:pic>
        <p:nvPicPr>
          <p:cNvPr id="18" name="Image 1" descr="/home/claude/ppt3/icon_home_d.png">    </p:cNvPr>
          <p:cNvPicPr>
            <a:picLocks noChangeAspect="1"/>
          </p:cNvPicPr>
          <p:nvPr/>
        </p:nvPicPr>
        <p:blipFill>
          <a:blip r:embed="rId2"/>
          <a:stretch>
            <a:fillRect/>
          </a:stretch>
        </p:blipFill>
        <p:spPr>
          <a:xfrm>
            <a:off x="1103681" y="3243377"/>
            <a:ext cx="261518" cy="261518"/>
          </a:xfrm>
          <a:prstGeom prst="rect">
            <a:avLst/>
          </a:prstGeom>
        </p:spPr>
      </p:pic>
      <p:sp>
        <p:nvSpPr>
          <p:cNvPr id="19" name="Text 15"/>
          <p:cNvSpPr/>
          <p:nvPr/>
        </p:nvSpPr>
        <p:spPr>
          <a:xfrm>
            <a:off x="1554480" y="2980944"/>
            <a:ext cx="1097280" cy="786384"/>
          </a:xfrm>
          <a:prstGeom prst="rect">
            <a:avLst/>
          </a:prstGeom>
          <a:noFill/>
          <a:ln/>
        </p:spPr>
        <p:txBody>
          <a:bodyPr wrap="square" rtlCol="0" anchor="ctr"/>
          <a:lstStyle/>
          <a:p>
            <a:pPr indent="0" marL="0">
              <a:buNone/>
            </a:pPr>
            <a:r>
              <a:rPr lang="en-US" sz="1400" b="1" dirty="0">
                <a:solidFill>
                  <a:srgbClr val="232F3E"/>
                </a:solidFill>
                <a:latin typeface="Arial" pitchFamily="34" charset="0"/>
                <a:ea typeface="Arial" pitchFamily="34" charset="-122"/>
                <a:cs typeface="Arial" pitchFamily="34" charset="-120"/>
              </a:rPr>
              <a:t>LAN</a:t>
            </a:r>
            <a:endParaRPr lang="en-US" sz="1400" dirty="0"/>
          </a:p>
        </p:txBody>
      </p:sp>
      <p:sp>
        <p:nvSpPr>
          <p:cNvPr id="20" name="Text 16"/>
          <p:cNvSpPr/>
          <p:nvPr/>
        </p:nvSpPr>
        <p:spPr>
          <a:xfrm>
            <a:off x="2651760" y="2980944"/>
            <a:ext cx="3931920" cy="786384"/>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Local Area Network</a:t>
            </a:r>
            <a:endParaRPr lang="en-US" sz="1200" dirty="0"/>
          </a:p>
        </p:txBody>
      </p:sp>
      <p:sp>
        <p:nvSpPr>
          <p:cNvPr id="21" name="Text 17"/>
          <p:cNvSpPr/>
          <p:nvPr/>
        </p:nvSpPr>
        <p:spPr>
          <a:xfrm>
            <a:off x="6583680" y="2980944"/>
            <a:ext cx="4572000" cy="786384"/>
          </a:xfrm>
          <a:prstGeom prst="rect">
            <a:avLst/>
          </a:prstGeom>
          <a:noFill/>
          <a:ln/>
        </p:spPr>
        <p:txBody>
          <a:bodyPr wrap="square" rtlCol="0" anchor="ctr"/>
          <a:lstStyle/>
          <a:p>
            <a:pPr indent="0" marL="0">
              <a:buNone/>
            </a:pPr>
            <a:r>
              <a:rPr lang="en-US" sz="1200" i="1" dirty="0">
                <a:solidFill>
                  <a:srgbClr val="5A6B75"/>
                </a:solidFill>
                <a:latin typeface="Calibri" pitchFamily="34" charset="0"/>
                <a:ea typeface="Calibri" pitchFamily="34" charset="-122"/>
                <a:cs typeface="Calibri" pitchFamily="34" charset="-120"/>
              </a:rPr>
              <a:t>Devices in one home or office</a:t>
            </a:r>
            <a:endParaRPr lang="en-US" sz="1200" dirty="0"/>
          </a:p>
        </p:txBody>
      </p:sp>
      <p:sp>
        <p:nvSpPr>
          <p:cNvPr id="22" name="Shape 18"/>
          <p:cNvSpPr/>
          <p:nvPr/>
        </p:nvSpPr>
        <p:spPr>
          <a:xfrm>
            <a:off x="548640" y="3767328"/>
            <a:ext cx="11091672" cy="786384"/>
          </a:xfrm>
          <a:prstGeom prst="rect">
            <a:avLst/>
          </a:prstGeom>
          <a:solidFill>
            <a:srgbClr val="FFFFFF"/>
          </a:solidFill>
          <a:ln w="9525">
            <a:solidFill>
              <a:srgbClr val="D9DCE1"/>
            </a:solidFill>
            <a:prstDash val="solid"/>
          </a:ln>
        </p:spPr>
      </p:sp>
      <p:sp>
        <p:nvSpPr>
          <p:cNvPr id="23" name="Shape 19"/>
          <p:cNvSpPr/>
          <p:nvPr/>
        </p:nvSpPr>
        <p:spPr>
          <a:xfrm>
            <a:off x="982980" y="3909060"/>
            <a:ext cx="502920" cy="502920"/>
          </a:xfrm>
          <a:prstGeom prst="ellipse">
            <a:avLst/>
          </a:prstGeom>
          <a:solidFill>
            <a:srgbClr val="FFF3DE"/>
          </a:solidFill>
          <a:ln/>
        </p:spPr>
      </p:sp>
      <p:pic>
        <p:nvPicPr>
          <p:cNvPr id="24" name="Image 2" descr="/home/claude/ppt3/icon_city_d.png">    </p:cNvPr>
          <p:cNvPicPr>
            <a:picLocks noChangeAspect="1"/>
          </p:cNvPicPr>
          <p:nvPr/>
        </p:nvPicPr>
        <p:blipFill>
          <a:blip r:embed="rId3"/>
          <a:stretch>
            <a:fillRect/>
          </a:stretch>
        </p:blipFill>
        <p:spPr>
          <a:xfrm>
            <a:off x="1103681" y="4029761"/>
            <a:ext cx="261518" cy="261518"/>
          </a:xfrm>
          <a:prstGeom prst="rect">
            <a:avLst/>
          </a:prstGeom>
        </p:spPr>
      </p:pic>
      <p:sp>
        <p:nvSpPr>
          <p:cNvPr id="25" name="Text 20"/>
          <p:cNvSpPr/>
          <p:nvPr/>
        </p:nvSpPr>
        <p:spPr>
          <a:xfrm>
            <a:off x="1554480" y="3767328"/>
            <a:ext cx="1097280" cy="786384"/>
          </a:xfrm>
          <a:prstGeom prst="rect">
            <a:avLst/>
          </a:prstGeom>
          <a:noFill/>
          <a:ln/>
        </p:spPr>
        <p:txBody>
          <a:bodyPr wrap="square" rtlCol="0" anchor="ctr"/>
          <a:lstStyle/>
          <a:p>
            <a:pPr indent="0" marL="0">
              <a:buNone/>
            </a:pPr>
            <a:r>
              <a:rPr lang="en-US" sz="1400" b="1" dirty="0">
                <a:solidFill>
                  <a:srgbClr val="232F3E"/>
                </a:solidFill>
                <a:latin typeface="Arial" pitchFamily="34" charset="0"/>
                <a:ea typeface="Arial" pitchFamily="34" charset="-122"/>
                <a:cs typeface="Arial" pitchFamily="34" charset="-120"/>
              </a:rPr>
              <a:t>MAN</a:t>
            </a:r>
            <a:endParaRPr lang="en-US" sz="1400" dirty="0"/>
          </a:p>
        </p:txBody>
      </p:sp>
      <p:sp>
        <p:nvSpPr>
          <p:cNvPr id="26" name="Text 21"/>
          <p:cNvSpPr/>
          <p:nvPr/>
        </p:nvSpPr>
        <p:spPr>
          <a:xfrm>
            <a:off x="2651760" y="3767328"/>
            <a:ext cx="3931920" cy="786384"/>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Metropolitan Area Network</a:t>
            </a:r>
            <a:endParaRPr lang="en-US" sz="1200" dirty="0"/>
          </a:p>
        </p:txBody>
      </p:sp>
      <p:sp>
        <p:nvSpPr>
          <p:cNvPr id="27" name="Text 22"/>
          <p:cNvSpPr/>
          <p:nvPr/>
        </p:nvSpPr>
        <p:spPr>
          <a:xfrm>
            <a:off x="6583680" y="3767328"/>
            <a:ext cx="4572000" cy="786384"/>
          </a:xfrm>
          <a:prstGeom prst="rect">
            <a:avLst/>
          </a:prstGeom>
          <a:noFill/>
          <a:ln/>
        </p:spPr>
        <p:txBody>
          <a:bodyPr wrap="square" rtlCol="0" anchor="ctr"/>
          <a:lstStyle/>
          <a:p>
            <a:pPr indent="0" marL="0">
              <a:buNone/>
            </a:pPr>
            <a:r>
              <a:rPr lang="en-US" sz="1200" i="1" dirty="0">
                <a:solidFill>
                  <a:srgbClr val="5A6B75"/>
                </a:solidFill>
                <a:latin typeface="Calibri" pitchFamily="34" charset="0"/>
                <a:ea typeface="Calibri" pitchFamily="34" charset="-122"/>
                <a:cs typeface="Calibri" pitchFamily="34" charset="-120"/>
              </a:rPr>
              <a:t>A city's public WiFi network</a:t>
            </a:r>
            <a:endParaRPr lang="en-US" sz="1200" dirty="0"/>
          </a:p>
        </p:txBody>
      </p:sp>
      <p:sp>
        <p:nvSpPr>
          <p:cNvPr id="28" name="Shape 23"/>
          <p:cNvSpPr/>
          <p:nvPr/>
        </p:nvSpPr>
        <p:spPr>
          <a:xfrm>
            <a:off x="548640" y="4553712"/>
            <a:ext cx="11091672" cy="786384"/>
          </a:xfrm>
          <a:prstGeom prst="rect">
            <a:avLst/>
          </a:prstGeom>
          <a:solidFill>
            <a:srgbClr val="FAFAFB"/>
          </a:solidFill>
          <a:ln w="9525">
            <a:solidFill>
              <a:srgbClr val="D9DCE1"/>
            </a:solidFill>
            <a:prstDash val="solid"/>
          </a:ln>
        </p:spPr>
      </p:sp>
      <p:sp>
        <p:nvSpPr>
          <p:cNvPr id="29" name="Shape 24"/>
          <p:cNvSpPr/>
          <p:nvPr/>
        </p:nvSpPr>
        <p:spPr>
          <a:xfrm>
            <a:off x="982980" y="4695444"/>
            <a:ext cx="502920" cy="502920"/>
          </a:xfrm>
          <a:prstGeom prst="ellipse">
            <a:avLst/>
          </a:prstGeom>
          <a:solidFill>
            <a:srgbClr val="FFF3DE"/>
          </a:solidFill>
          <a:ln/>
        </p:spPr>
      </p:sp>
      <p:pic>
        <p:nvPicPr>
          <p:cNvPr id="30" name="Image 3" descr="/home/claude/ppt3/icon_building_d.png">    </p:cNvPr>
          <p:cNvPicPr>
            <a:picLocks noChangeAspect="1"/>
          </p:cNvPicPr>
          <p:nvPr/>
        </p:nvPicPr>
        <p:blipFill>
          <a:blip r:embed="rId4"/>
          <a:stretch>
            <a:fillRect/>
          </a:stretch>
        </p:blipFill>
        <p:spPr>
          <a:xfrm>
            <a:off x="1103681" y="4816145"/>
            <a:ext cx="261518" cy="261518"/>
          </a:xfrm>
          <a:prstGeom prst="rect">
            <a:avLst/>
          </a:prstGeom>
        </p:spPr>
      </p:pic>
      <p:sp>
        <p:nvSpPr>
          <p:cNvPr id="31" name="Text 25"/>
          <p:cNvSpPr/>
          <p:nvPr/>
        </p:nvSpPr>
        <p:spPr>
          <a:xfrm>
            <a:off x="1554480" y="4553712"/>
            <a:ext cx="1097280" cy="786384"/>
          </a:xfrm>
          <a:prstGeom prst="rect">
            <a:avLst/>
          </a:prstGeom>
          <a:noFill/>
          <a:ln/>
        </p:spPr>
        <p:txBody>
          <a:bodyPr wrap="square" rtlCol="0" anchor="ctr"/>
          <a:lstStyle/>
          <a:p>
            <a:pPr indent="0" marL="0">
              <a:buNone/>
            </a:pPr>
            <a:r>
              <a:rPr lang="en-US" sz="1400" b="1" dirty="0">
                <a:solidFill>
                  <a:srgbClr val="232F3E"/>
                </a:solidFill>
                <a:latin typeface="Arial" pitchFamily="34" charset="0"/>
                <a:ea typeface="Arial" pitchFamily="34" charset="-122"/>
                <a:cs typeface="Arial" pitchFamily="34" charset="-120"/>
              </a:rPr>
              <a:t>WAN</a:t>
            </a:r>
            <a:endParaRPr lang="en-US" sz="1400" dirty="0"/>
          </a:p>
        </p:txBody>
      </p:sp>
      <p:sp>
        <p:nvSpPr>
          <p:cNvPr id="32" name="Text 26"/>
          <p:cNvSpPr/>
          <p:nvPr/>
        </p:nvSpPr>
        <p:spPr>
          <a:xfrm>
            <a:off x="2651760" y="4553712"/>
            <a:ext cx="3931920" cy="786384"/>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Wide Area Network</a:t>
            </a:r>
            <a:endParaRPr lang="en-US" sz="1200" dirty="0"/>
          </a:p>
        </p:txBody>
      </p:sp>
      <p:sp>
        <p:nvSpPr>
          <p:cNvPr id="33" name="Text 27"/>
          <p:cNvSpPr/>
          <p:nvPr/>
        </p:nvSpPr>
        <p:spPr>
          <a:xfrm>
            <a:off x="6583680" y="4553712"/>
            <a:ext cx="4572000" cy="786384"/>
          </a:xfrm>
          <a:prstGeom prst="rect">
            <a:avLst/>
          </a:prstGeom>
          <a:noFill/>
          <a:ln/>
        </p:spPr>
        <p:txBody>
          <a:bodyPr wrap="square" rtlCol="0" anchor="ctr"/>
          <a:lstStyle/>
          <a:p>
            <a:pPr indent="0" marL="0">
              <a:buNone/>
            </a:pPr>
            <a:r>
              <a:rPr lang="en-US" sz="1200" i="1" dirty="0">
                <a:solidFill>
                  <a:srgbClr val="5A6B75"/>
                </a:solidFill>
                <a:latin typeface="Calibri" pitchFamily="34" charset="0"/>
                <a:ea typeface="Calibri" pitchFamily="34" charset="-122"/>
                <a:cs typeface="Calibri" pitchFamily="34" charset="-120"/>
              </a:rPr>
              <a:t>A company's offices across states</a:t>
            </a:r>
            <a:endParaRPr lang="en-US" sz="1200" dirty="0"/>
          </a:p>
        </p:txBody>
      </p:sp>
      <p:sp>
        <p:nvSpPr>
          <p:cNvPr id="34" name="Shape 28"/>
          <p:cNvSpPr/>
          <p:nvPr/>
        </p:nvSpPr>
        <p:spPr>
          <a:xfrm>
            <a:off x="548640" y="5340096"/>
            <a:ext cx="11091672" cy="786384"/>
          </a:xfrm>
          <a:prstGeom prst="rect">
            <a:avLst/>
          </a:prstGeom>
          <a:solidFill>
            <a:srgbClr val="FFFFFF"/>
          </a:solidFill>
          <a:ln w="9525">
            <a:solidFill>
              <a:srgbClr val="D9DCE1"/>
            </a:solidFill>
            <a:prstDash val="solid"/>
          </a:ln>
        </p:spPr>
      </p:sp>
      <p:sp>
        <p:nvSpPr>
          <p:cNvPr id="35" name="Shape 29"/>
          <p:cNvSpPr/>
          <p:nvPr/>
        </p:nvSpPr>
        <p:spPr>
          <a:xfrm>
            <a:off x="982980" y="5481828"/>
            <a:ext cx="502920" cy="502920"/>
          </a:xfrm>
          <a:prstGeom prst="ellipse">
            <a:avLst/>
          </a:prstGeom>
          <a:solidFill>
            <a:srgbClr val="FFF3DE"/>
          </a:solidFill>
          <a:ln/>
        </p:spPr>
      </p:sp>
      <p:pic>
        <p:nvPicPr>
          <p:cNvPr id="36" name="Image 4" descr="/home/claude/ppt3/icon_globe_d.png">    </p:cNvPr>
          <p:cNvPicPr>
            <a:picLocks noChangeAspect="1"/>
          </p:cNvPicPr>
          <p:nvPr/>
        </p:nvPicPr>
        <p:blipFill>
          <a:blip r:embed="rId5"/>
          <a:stretch>
            <a:fillRect/>
          </a:stretch>
        </p:blipFill>
        <p:spPr>
          <a:xfrm>
            <a:off x="1103681" y="5602529"/>
            <a:ext cx="261518" cy="261518"/>
          </a:xfrm>
          <a:prstGeom prst="rect">
            <a:avLst/>
          </a:prstGeom>
        </p:spPr>
      </p:pic>
      <p:sp>
        <p:nvSpPr>
          <p:cNvPr id="37" name="Text 30"/>
          <p:cNvSpPr/>
          <p:nvPr/>
        </p:nvSpPr>
        <p:spPr>
          <a:xfrm>
            <a:off x="1554480" y="5340096"/>
            <a:ext cx="1097280" cy="786384"/>
          </a:xfrm>
          <a:prstGeom prst="rect">
            <a:avLst/>
          </a:prstGeom>
          <a:noFill/>
          <a:ln/>
        </p:spPr>
        <p:txBody>
          <a:bodyPr wrap="square" rtlCol="0" anchor="ctr"/>
          <a:lstStyle/>
          <a:p>
            <a:pPr indent="0" marL="0">
              <a:buNone/>
            </a:pPr>
            <a:r>
              <a:rPr lang="en-US" sz="1400" b="1" dirty="0">
                <a:solidFill>
                  <a:srgbClr val="232F3E"/>
                </a:solidFill>
                <a:latin typeface="Arial" pitchFamily="34" charset="0"/>
                <a:ea typeface="Arial" pitchFamily="34" charset="-122"/>
                <a:cs typeface="Arial" pitchFamily="34" charset="-120"/>
              </a:rPr>
              <a:t>Internet</a:t>
            </a:r>
            <a:endParaRPr lang="en-US" sz="1400" dirty="0"/>
          </a:p>
        </p:txBody>
      </p:sp>
      <p:sp>
        <p:nvSpPr>
          <p:cNvPr id="38" name="Text 31"/>
          <p:cNvSpPr/>
          <p:nvPr/>
        </p:nvSpPr>
        <p:spPr>
          <a:xfrm>
            <a:off x="2651760" y="5340096"/>
            <a:ext cx="3931920" cy="786384"/>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The network of networks</a:t>
            </a:r>
            <a:endParaRPr lang="en-US" sz="1200" dirty="0"/>
          </a:p>
        </p:txBody>
      </p:sp>
      <p:sp>
        <p:nvSpPr>
          <p:cNvPr id="39" name="Text 32"/>
          <p:cNvSpPr/>
          <p:nvPr/>
        </p:nvSpPr>
        <p:spPr>
          <a:xfrm>
            <a:off x="6583680" y="5340096"/>
            <a:ext cx="4572000" cy="786384"/>
          </a:xfrm>
          <a:prstGeom prst="rect">
            <a:avLst/>
          </a:prstGeom>
          <a:noFill/>
          <a:ln/>
        </p:spPr>
        <p:txBody>
          <a:bodyPr wrap="square" rtlCol="0" anchor="ctr"/>
          <a:lstStyle/>
          <a:p>
            <a:pPr indent="0" marL="0">
              <a:buNone/>
            </a:pPr>
            <a:r>
              <a:rPr lang="en-US" sz="1200" i="1" dirty="0">
                <a:solidFill>
                  <a:srgbClr val="5A6B75"/>
                </a:solidFill>
                <a:latin typeface="Calibri" pitchFamily="34" charset="0"/>
                <a:ea typeface="Calibri" pitchFamily="34" charset="-122"/>
                <a:cs typeface="Calibri" pitchFamily="34" charset="-120"/>
              </a:rPr>
              <a:t>Global — connects every WAN/LAN</a:t>
            </a:r>
            <a:endParaRPr lang="en-US" sz="1200" dirty="0"/>
          </a:p>
        </p:txBody>
      </p:sp>
      <p:sp>
        <p:nvSpPr>
          <p:cNvPr id="40" name="Text 33"/>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41" name="Text 34"/>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BASICS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Network Devices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Recognize the hardware that makes networks physically work.</a:t>
            </a:r>
            <a:endParaRPr lang="en-US" sz="1250" dirty="0"/>
          </a:p>
        </p:txBody>
      </p:sp>
      <p:sp>
        <p:nvSpPr>
          <p:cNvPr id="6" name="Shape 4"/>
          <p:cNvSpPr/>
          <p:nvPr/>
        </p:nvSpPr>
        <p:spPr>
          <a:xfrm>
            <a:off x="548640" y="1920240"/>
            <a:ext cx="2084832" cy="2743200"/>
          </a:xfrm>
          <a:prstGeom prst="roundRect">
            <a:avLst>
              <a:gd name="adj" fmla="val 4386"/>
            </a:avLst>
          </a:prstGeom>
          <a:solidFill>
            <a:srgbClr val="FFFFFF"/>
          </a:solidFill>
          <a:ln w="12700">
            <a:solidFill>
              <a:srgbClr val="D9DCE1"/>
            </a:solidFill>
            <a:prstDash val="solid"/>
          </a:ln>
        </p:spPr>
      </p:sp>
      <p:sp>
        <p:nvSpPr>
          <p:cNvPr id="7" name="Shape 5"/>
          <p:cNvSpPr/>
          <p:nvPr/>
        </p:nvSpPr>
        <p:spPr>
          <a:xfrm>
            <a:off x="1110996" y="2308860"/>
            <a:ext cx="960120" cy="960120"/>
          </a:xfrm>
          <a:prstGeom prst="ellipse">
            <a:avLst/>
          </a:prstGeom>
          <a:solidFill>
            <a:srgbClr val="FFF3DE"/>
          </a:solidFill>
          <a:ln/>
        </p:spPr>
      </p:sp>
      <p:pic>
        <p:nvPicPr>
          <p:cNvPr id="8" name="Image 0" descr="/home/claude/ppt3/icon_router_d.png">    </p:cNvPr>
          <p:cNvPicPr>
            <a:picLocks noChangeAspect="1"/>
          </p:cNvPicPr>
          <p:nvPr/>
        </p:nvPicPr>
        <p:blipFill>
          <a:blip r:embed="rId1"/>
          <a:stretch>
            <a:fillRect/>
          </a:stretch>
        </p:blipFill>
        <p:spPr>
          <a:xfrm>
            <a:off x="1341425" y="2539289"/>
            <a:ext cx="499262" cy="499262"/>
          </a:xfrm>
          <a:prstGeom prst="rect">
            <a:avLst/>
          </a:prstGeom>
        </p:spPr>
      </p:pic>
      <p:sp>
        <p:nvSpPr>
          <p:cNvPr id="9" name="Text 6"/>
          <p:cNvSpPr/>
          <p:nvPr/>
        </p:nvSpPr>
        <p:spPr>
          <a:xfrm>
            <a:off x="640080" y="3429000"/>
            <a:ext cx="1901952"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Router</a:t>
            </a:r>
            <a:endParaRPr lang="en-US" sz="1350" dirty="0"/>
          </a:p>
        </p:txBody>
      </p:sp>
      <p:sp>
        <p:nvSpPr>
          <p:cNvPr id="10" name="Text 7"/>
          <p:cNvSpPr/>
          <p:nvPr/>
        </p:nvSpPr>
        <p:spPr>
          <a:xfrm>
            <a:off x="685800" y="3840480"/>
            <a:ext cx="1810512" cy="777240"/>
          </a:xfrm>
          <a:prstGeom prst="rect">
            <a:avLst/>
          </a:prstGeom>
          <a:noFill/>
          <a:ln/>
        </p:spPr>
        <p:txBody>
          <a:bodyPr wrap="square" rtlCol="0" anchor="t"/>
          <a:lstStyle/>
          <a:p>
            <a:pPr algn="ctr" indent="0" marL="0">
              <a:buNone/>
            </a:pPr>
            <a:r>
              <a:rPr lang="en-US" sz="1050" dirty="0">
                <a:solidFill>
                  <a:srgbClr val="5A6B75"/>
                </a:solidFill>
                <a:latin typeface="Calibri" pitchFamily="34" charset="0"/>
                <a:ea typeface="Calibri" pitchFamily="34" charset="-122"/>
                <a:cs typeface="Calibri" pitchFamily="34" charset="-120"/>
              </a:rPr>
              <a:t>Directs traffic between networks</a:t>
            </a:r>
            <a:endParaRPr lang="en-US" sz="1050" dirty="0"/>
          </a:p>
        </p:txBody>
      </p:sp>
      <p:sp>
        <p:nvSpPr>
          <p:cNvPr id="11" name="Shape 8"/>
          <p:cNvSpPr/>
          <p:nvPr/>
        </p:nvSpPr>
        <p:spPr>
          <a:xfrm>
            <a:off x="2779776" y="1920240"/>
            <a:ext cx="2084832" cy="2743200"/>
          </a:xfrm>
          <a:prstGeom prst="roundRect">
            <a:avLst>
              <a:gd name="adj" fmla="val 4386"/>
            </a:avLst>
          </a:prstGeom>
          <a:solidFill>
            <a:srgbClr val="FFFFFF"/>
          </a:solidFill>
          <a:ln w="12700">
            <a:solidFill>
              <a:srgbClr val="D9DCE1"/>
            </a:solidFill>
            <a:prstDash val="solid"/>
          </a:ln>
        </p:spPr>
      </p:sp>
      <p:sp>
        <p:nvSpPr>
          <p:cNvPr id="12" name="Shape 9"/>
          <p:cNvSpPr/>
          <p:nvPr/>
        </p:nvSpPr>
        <p:spPr>
          <a:xfrm>
            <a:off x="3342132" y="2308860"/>
            <a:ext cx="960120" cy="960120"/>
          </a:xfrm>
          <a:prstGeom prst="ellipse">
            <a:avLst/>
          </a:prstGeom>
          <a:solidFill>
            <a:srgbClr val="FFF3DE"/>
          </a:solidFill>
          <a:ln/>
        </p:spPr>
      </p:sp>
      <p:pic>
        <p:nvPicPr>
          <p:cNvPr id="13" name="Image 1" descr="/home/claude/ppt3/icon_devicehub_d.png">    </p:cNvPr>
          <p:cNvPicPr>
            <a:picLocks noChangeAspect="1"/>
          </p:cNvPicPr>
          <p:nvPr/>
        </p:nvPicPr>
        <p:blipFill>
          <a:blip r:embed="rId2"/>
          <a:stretch>
            <a:fillRect/>
          </a:stretch>
        </p:blipFill>
        <p:spPr>
          <a:xfrm>
            <a:off x="3572561" y="2539289"/>
            <a:ext cx="499262" cy="499262"/>
          </a:xfrm>
          <a:prstGeom prst="rect">
            <a:avLst/>
          </a:prstGeom>
        </p:spPr>
      </p:pic>
      <p:sp>
        <p:nvSpPr>
          <p:cNvPr id="14" name="Text 10"/>
          <p:cNvSpPr/>
          <p:nvPr/>
        </p:nvSpPr>
        <p:spPr>
          <a:xfrm>
            <a:off x="2871216" y="3429000"/>
            <a:ext cx="1901952"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Switch</a:t>
            </a:r>
            <a:endParaRPr lang="en-US" sz="1350" dirty="0"/>
          </a:p>
        </p:txBody>
      </p:sp>
      <p:sp>
        <p:nvSpPr>
          <p:cNvPr id="15" name="Text 11"/>
          <p:cNvSpPr/>
          <p:nvPr/>
        </p:nvSpPr>
        <p:spPr>
          <a:xfrm>
            <a:off x="2916936" y="3840480"/>
            <a:ext cx="1810512" cy="777240"/>
          </a:xfrm>
          <a:prstGeom prst="rect">
            <a:avLst/>
          </a:prstGeom>
          <a:noFill/>
          <a:ln/>
        </p:spPr>
        <p:txBody>
          <a:bodyPr wrap="square" rtlCol="0" anchor="t"/>
          <a:lstStyle/>
          <a:p>
            <a:pPr algn="ctr" indent="0" marL="0">
              <a:buNone/>
            </a:pPr>
            <a:r>
              <a:rPr lang="en-US" sz="1050" dirty="0">
                <a:solidFill>
                  <a:srgbClr val="5A6B75"/>
                </a:solidFill>
                <a:latin typeface="Calibri" pitchFamily="34" charset="0"/>
                <a:ea typeface="Calibri" pitchFamily="34" charset="-122"/>
                <a:cs typeface="Calibri" pitchFamily="34" charset="-120"/>
              </a:rPr>
              <a:t>Connects devices within one LAN</a:t>
            </a:r>
            <a:endParaRPr lang="en-US" sz="1050" dirty="0"/>
          </a:p>
        </p:txBody>
      </p:sp>
      <p:sp>
        <p:nvSpPr>
          <p:cNvPr id="16" name="Shape 12"/>
          <p:cNvSpPr/>
          <p:nvPr/>
        </p:nvSpPr>
        <p:spPr>
          <a:xfrm>
            <a:off x="5010912" y="1920240"/>
            <a:ext cx="2084832" cy="2743200"/>
          </a:xfrm>
          <a:prstGeom prst="roundRect">
            <a:avLst>
              <a:gd name="adj" fmla="val 4386"/>
            </a:avLst>
          </a:prstGeom>
          <a:solidFill>
            <a:srgbClr val="FFFFFF"/>
          </a:solidFill>
          <a:ln w="12700">
            <a:solidFill>
              <a:srgbClr val="D9DCE1"/>
            </a:solidFill>
            <a:prstDash val="solid"/>
          </a:ln>
        </p:spPr>
      </p:sp>
      <p:sp>
        <p:nvSpPr>
          <p:cNvPr id="17" name="Shape 13"/>
          <p:cNvSpPr/>
          <p:nvPr/>
        </p:nvSpPr>
        <p:spPr>
          <a:xfrm>
            <a:off x="5573268" y="2308860"/>
            <a:ext cx="960120" cy="960120"/>
          </a:xfrm>
          <a:prstGeom prst="ellipse">
            <a:avLst/>
          </a:prstGeom>
          <a:solidFill>
            <a:srgbClr val="FFF3DE"/>
          </a:solidFill>
          <a:ln/>
        </p:spPr>
      </p:sp>
      <p:pic>
        <p:nvPicPr>
          <p:cNvPr id="18" name="Image 2" descr="/home/claude/ppt3/icon_shield_d.png">    </p:cNvPr>
          <p:cNvPicPr>
            <a:picLocks noChangeAspect="1"/>
          </p:cNvPicPr>
          <p:nvPr/>
        </p:nvPicPr>
        <p:blipFill>
          <a:blip r:embed="rId3"/>
          <a:stretch>
            <a:fillRect/>
          </a:stretch>
        </p:blipFill>
        <p:spPr>
          <a:xfrm>
            <a:off x="5803697" y="2539289"/>
            <a:ext cx="499262" cy="499262"/>
          </a:xfrm>
          <a:prstGeom prst="rect">
            <a:avLst/>
          </a:prstGeom>
        </p:spPr>
      </p:pic>
      <p:sp>
        <p:nvSpPr>
          <p:cNvPr id="19" name="Text 14"/>
          <p:cNvSpPr/>
          <p:nvPr/>
        </p:nvSpPr>
        <p:spPr>
          <a:xfrm>
            <a:off x="5102352" y="3429000"/>
            <a:ext cx="1901952"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Firewall</a:t>
            </a:r>
            <a:endParaRPr lang="en-US" sz="1350" dirty="0"/>
          </a:p>
        </p:txBody>
      </p:sp>
      <p:sp>
        <p:nvSpPr>
          <p:cNvPr id="20" name="Text 15"/>
          <p:cNvSpPr/>
          <p:nvPr/>
        </p:nvSpPr>
        <p:spPr>
          <a:xfrm>
            <a:off x="5148072" y="3840480"/>
            <a:ext cx="1810512" cy="777240"/>
          </a:xfrm>
          <a:prstGeom prst="rect">
            <a:avLst/>
          </a:prstGeom>
          <a:noFill/>
          <a:ln/>
        </p:spPr>
        <p:txBody>
          <a:bodyPr wrap="square" rtlCol="0" anchor="t"/>
          <a:lstStyle/>
          <a:p>
            <a:pPr algn="ctr" indent="0" marL="0">
              <a:buNone/>
            </a:pPr>
            <a:r>
              <a:rPr lang="en-US" sz="1050" dirty="0">
                <a:solidFill>
                  <a:srgbClr val="5A6B75"/>
                </a:solidFill>
                <a:latin typeface="Calibri" pitchFamily="34" charset="0"/>
                <a:ea typeface="Calibri" pitchFamily="34" charset="-122"/>
                <a:cs typeface="Calibri" pitchFamily="34" charset="-120"/>
              </a:rPr>
              <a:t>Filters traffic for security</a:t>
            </a:r>
            <a:endParaRPr lang="en-US" sz="1050" dirty="0"/>
          </a:p>
        </p:txBody>
      </p:sp>
      <p:sp>
        <p:nvSpPr>
          <p:cNvPr id="21" name="Shape 16"/>
          <p:cNvSpPr/>
          <p:nvPr/>
        </p:nvSpPr>
        <p:spPr>
          <a:xfrm>
            <a:off x="7242048" y="1920240"/>
            <a:ext cx="2084832" cy="2743200"/>
          </a:xfrm>
          <a:prstGeom prst="roundRect">
            <a:avLst>
              <a:gd name="adj" fmla="val 4386"/>
            </a:avLst>
          </a:prstGeom>
          <a:solidFill>
            <a:srgbClr val="FFFFFF"/>
          </a:solidFill>
          <a:ln w="12700">
            <a:solidFill>
              <a:srgbClr val="D9DCE1"/>
            </a:solidFill>
            <a:prstDash val="solid"/>
          </a:ln>
        </p:spPr>
      </p:sp>
      <p:sp>
        <p:nvSpPr>
          <p:cNvPr id="22" name="Shape 17"/>
          <p:cNvSpPr/>
          <p:nvPr/>
        </p:nvSpPr>
        <p:spPr>
          <a:xfrm>
            <a:off x="7804404" y="2308860"/>
            <a:ext cx="960120" cy="960120"/>
          </a:xfrm>
          <a:prstGeom prst="ellipse">
            <a:avLst/>
          </a:prstGeom>
          <a:solidFill>
            <a:srgbClr val="FFF3DE"/>
          </a:solidFill>
          <a:ln/>
        </p:spPr>
      </p:sp>
      <p:pic>
        <p:nvPicPr>
          <p:cNvPr id="23" name="Image 3" descr="/home/claude/ppt3/icon_wifi_d.png">    </p:cNvPr>
          <p:cNvPicPr>
            <a:picLocks noChangeAspect="1"/>
          </p:cNvPicPr>
          <p:nvPr/>
        </p:nvPicPr>
        <p:blipFill>
          <a:blip r:embed="rId4"/>
          <a:stretch>
            <a:fillRect/>
          </a:stretch>
        </p:blipFill>
        <p:spPr>
          <a:xfrm>
            <a:off x="8034833" y="2539289"/>
            <a:ext cx="499262" cy="499262"/>
          </a:xfrm>
          <a:prstGeom prst="rect">
            <a:avLst/>
          </a:prstGeom>
        </p:spPr>
      </p:pic>
      <p:sp>
        <p:nvSpPr>
          <p:cNvPr id="24" name="Text 18"/>
          <p:cNvSpPr/>
          <p:nvPr/>
        </p:nvSpPr>
        <p:spPr>
          <a:xfrm>
            <a:off x="7333488" y="3429000"/>
            <a:ext cx="1901952"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Wireless AP</a:t>
            </a:r>
            <a:endParaRPr lang="en-US" sz="1350" dirty="0"/>
          </a:p>
        </p:txBody>
      </p:sp>
      <p:sp>
        <p:nvSpPr>
          <p:cNvPr id="25" name="Text 19"/>
          <p:cNvSpPr/>
          <p:nvPr/>
        </p:nvSpPr>
        <p:spPr>
          <a:xfrm>
            <a:off x="7379208" y="3840480"/>
            <a:ext cx="1810512" cy="777240"/>
          </a:xfrm>
          <a:prstGeom prst="rect">
            <a:avLst/>
          </a:prstGeom>
          <a:noFill/>
          <a:ln/>
        </p:spPr>
        <p:txBody>
          <a:bodyPr wrap="square" rtlCol="0" anchor="t"/>
          <a:lstStyle/>
          <a:p>
            <a:pPr algn="ctr" indent="0" marL="0">
              <a:buNone/>
            </a:pPr>
            <a:r>
              <a:rPr lang="en-US" sz="1050" dirty="0">
                <a:solidFill>
                  <a:srgbClr val="5A6B75"/>
                </a:solidFill>
                <a:latin typeface="Calibri" pitchFamily="34" charset="0"/>
                <a:ea typeface="Calibri" pitchFamily="34" charset="-122"/>
                <a:cs typeface="Calibri" pitchFamily="34" charset="-120"/>
              </a:rPr>
              <a:t>Broadcasts WiFi to devices</a:t>
            </a:r>
            <a:endParaRPr lang="en-US" sz="1050" dirty="0"/>
          </a:p>
        </p:txBody>
      </p:sp>
      <p:sp>
        <p:nvSpPr>
          <p:cNvPr id="26" name="Shape 20"/>
          <p:cNvSpPr/>
          <p:nvPr/>
        </p:nvSpPr>
        <p:spPr>
          <a:xfrm>
            <a:off x="9473184" y="1920240"/>
            <a:ext cx="2084832" cy="2743200"/>
          </a:xfrm>
          <a:prstGeom prst="roundRect">
            <a:avLst>
              <a:gd name="adj" fmla="val 4386"/>
            </a:avLst>
          </a:prstGeom>
          <a:solidFill>
            <a:srgbClr val="FFFFFF"/>
          </a:solidFill>
          <a:ln w="12700">
            <a:solidFill>
              <a:srgbClr val="D9DCE1"/>
            </a:solidFill>
            <a:prstDash val="solid"/>
          </a:ln>
        </p:spPr>
      </p:sp>
      <p:sp>
        <p:nvSpPr>
          <p:cNvPr id="27" name="Shape 21"/>
          <p:cNvSpPr/>
          <p:nvPr/>
        </p:nvSpPr>
        <p:spPr>
          <a:xfrm>
            <a:off x="10035540" y="2308860"/>
            <a:ext cx="960120" cy="960120"/>
          </a:xfrm>
          <a:prstGeom prst="ellipse">
            <a:avLst/>
          </a:prstGeom>
          <a:solidFill>
            <a:srgbClr val="FFF3DE"/>
          </a:solidFill>
          <a:ln/>
        </p:spPr>
      </p:sp>
      <p:pic>
        <p:nvPicPr>
          <p:cNvPr id="28" name="Image 4" descr="/home/claude/ppt3/icon_cable_d.png">    </p:cNvPr>
          <p:cNvPicPr>
            <a:picLocks noChangeAspect="1"/>
          </p:cNvPicPr>
          <p:nvPr/>
        </p:nvPicPr>
        <p:blipFill>
          <a:blip r:embed="rId5"/>
          <a:stretch>
            <a:fillRect/>
          </a:stretch>
        </p:blipFill>
        <p:spPr>
          <a:xfrm>
            <a:off x="10265969" y="2539289"/>
            <a:ext cx="499262" cy="499262"/>
          </a:xfrm>
          <a:prstGeom prst="rect">
            <a:avLst/>
          </a:prstGeom>
        </p:spPr>
      </p:pic>
      <p:sp>
        <p:nvSpPr>
          <p:cNvPr id="29" name="Text 22"/>
          <p:cNvSpPr/>
          <p:nvPr/>
        </p:nvSpPr>
        <p:spPr>
          <a:xfrm>
            <a:off x="9564624" y="3429000"/>
            <a:ext cx="1901952"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Modem</a:t>
            </a:r>
            <a:endParaRPr lang="en-US" sz="1350" dirty="0"/>
          </a:p>
        </p:txBody>
      </p:sp>
      <p:sp>
        <p:nvSpPr>
          <p:cNvPr id="30" name="Text 23"/>
          <p:cNvSpPr/>
          <p:nvPr/>
        </p:nvSpPr>
        <p:spPr>
          <a:xfrm>
            <a:off x="9610344" y="3840480"/>
            <a:ext cx="1810512" cy="777240"/>
          </a:xfrm>
          <a:prstGeom prst="rect">
            <a:avLst/>
          </a:prstGeom>
          <a:noFill/>
          <a:ln/>
        </p:spPr>
        <p:txBody>
          <a:bodyPr wrap="square" rtlCol="0" anchor="t"/>
          <a:lstStyle/>
          <a:p>
            <a:pPr algn="ctr" indent="0" marL="0">
              <a:buNone/>
            </a:pPr>
            <a:r>
              <a:rPr lang="en-US" sz="1050" dirty="0">
                <a:solidFill>
                  <a:srgbClr val="5A6B75"/>
                </a:solidFill>
                <a:latin typeface="Calibri" pitchFamily="34" charset="0"/>
                <a:ea typeface="Calibri" pitchFamily="34" charset="-122"/>
                <a:cs typeface="Calibri" pitchFamily="34" charset="-120"/>
              </a:rPr>
              <a:t>Connects your LAN to your ISP</a:t>
            </a:r>
            <a:endParaRPr lang="en-US" sz="1050" dirty="0"/>
          </a:p>
        </p:txBody>
      </p:sp>
      <p:sp>
        <p:nvSpPr>
          <p:cNvPr id="31" name="Shape 24"/>
          <p:cNvSpPr/>
          <p:nvPr/>
        </p:nvSpPr>
        <p:spPr>
          <a:xfrm>
            <a:off x="548640" y="4937760"/>
            <a:ext cx="11091672" cy="566928"/>
          </a:xfrm>
          <a:prstGeom prst="roundRect">
            <a:avLst>
              <a:gd name="adj" fmla="val 12903"/>
            </a:avLst>
          </a:prstGeom>
          <a:solidFill>
            <a:srgbClr val="FFFFFF"/>
          </a:solidFill>
          <a:ln w="15875">
            <a:solidFill>
              <a:srgbClr val="FF9900"/>
            </a:solidFill>
            <a:prstDash val="solid"/>
          </a:ln>
        </p:spPr>
      </p:sp>
      <p:sp>
        <p:nvSpPr>
          <p:cNvPr id="32" name="Text 25"/>
          <p:cNvSpPr/>
          <p:nvPr/>
        </p:nvSpPr>
        <p:spPr>
          <a:xfrm>
            <a:off x="777240" y="493776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A modem is your building's mailroom entrance; a router is the front desk directing mail; a switch is the internal hallway connecting offices.</a:t>
            </a:r>
            <a:endParaRPr lang="en-US" sz="1100" dirty="0"/>
          </a:p>
        </p:txBody>
      </p:sp>
      <p:sp>
        <p:nvSpPr>
          <p:cNvPr id="33" name="Text 26"/>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4" name="Text 27"/>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MODELS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The OSI Model — 7 Layers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See the seven conceptual layers every network transmission passes through.</a:t>
            </a:r>
            <a:endParaRPr lang="en-US" sz="1250" dirty="0"/>
          </a:p>
        </p:txBody>
      </p:sp>
      <p:sp>
        <p:nvSpPr>
          <p:cNvPr id="6" name="Shape 4"/>
          <p:cNvSpPr/>
          <p:nvPr/>
        </p:nvSpPr>
        <p:spPr>
          <a:xfrm>
            <a:off x="1463040" y="1783080"/>
            <a:ext cx="9235440" cy="438912"/>
          </a:xfrm>
          <a:prstGeom prst="roundRect">
            <a:avLst>
              <a:gd name="adj" fmla="val 10417"/>
            </a:avLst>
          </a:prstGeom>
          <a:solidFill>
            <a:srgbClr val="FF9900"/>
          </a:solidFill>
          <a:ln/>
        </p:spPr>
      </p:sp>
      <p:sp>
        <p:nvSpPr>
          <p:cNvPr id="7" name="Text 5"/>
          <p:cNvSpPr/>
          <p:nvPr/>
        </p:nvSpPr>
        <p:spPr>
          <a:xfrm>
            <a:off x="1600200" y="1783080"/>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7</a:t>
            </a:r>
            <a:endParaRPr lang="en-US" sz="1600" dirty="0"/>
          </a:p>
        </p:txBody>
      </p:sp>
      <p:sp>
        <p:nvSpPr>
          <p:cNvPr id="8" name="Text 6"/>
          <p:cNvSpPr/>
          <p:nvPr/>
        </p:nvSpPr>
        <p:spPr>
          <a:xfrm>
            <a:off x="2148840" y="1783080"/>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Application</a:t>
            </a:r>
            <a:endParaRPr lang="en-US" sz="1350" dirty="0"/>
          </a:p>
        </p:txBody>
      </p:sp>
      <p:sp>
        <p:nvSpPr>
          <p:cNvPr id="9" name="Text 7"/>
          <p:cNvSpPr/>
          <p:nvPr/>
        </p:nvSpPr>
        <p:spPr>
          <a:xfrm>
            <a:off x="4663440" y="1783080"/>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User-facing apps — browsers, email</a:t>
            </a:r>
            <a:endParaRPr lang="en-US" sz="1100" dirty="0"/>
          </a:p>
        </p:txBody>
      </p:sp>
      <p:sp>
        <p:nvSpPr>
          <p:cNvPr id="10" name="Shape 8"/>
          <p:cNvSpPr/>
          <p:nvPr/>
        </p:nvSpPr>
        <p:spPr>
          <a:xfrm>
            <a:off x="1463040" y="2295144"/>
            <a:ext cx="9235440" cy="438912"/>
          </a:xfrm>
          <a:prstGeom prst="roundRect">
            <a:avLst>
              <a:gd name="adj" fmla="val 10417"/>
            </a:avLst>
          </a:prstGeom>
          <a:solidFill>
            <a:srgbClr val="F2C511"/>
          </a:solidFill>
          <a:ln/>
        </p:spPr>
      </p:sp>
      <p:sp>
        <p:nvSpPr>
          <p:cNvPr id="11" name="Text 9"/>
          <p:cNvSpPr/>
          <p:nvPr/>
        </p:nvSpPr>
        <p:spPr>
          <a:xfrm>
            <a:off x="1600200" y="2295144"/>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6</a:t>
            </a:r>
            <a:endParaRPr lang="en-US" sz="1600" dirty="0"/>
          </a:p>
        </p:txBody>
      </p:sp>
      <p:sp>
        <p:nvSpPr>
          <p:cNvPr id="12" name="Text 10"/>
          <p:cNvSpPr/>
          <p:nvPr/>
        </p:nvSpPr>
        <p:spPr>
          <a:xfrm>
            <a:off x="2148840" y="2295144"/>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Presentation</a:t>
            </a:r>
            <a:endParaRPr lang="en-US" sz="1350" dirty="0"/>
          </a:p>
        </p:txBody>
      </p:sp>
      <p:sp>
        <p:nvSpPr>
          <p:cNvPr id="13" name="Text 11"/>
          <p:cNvSpPr/>
          <p:nvPr/>
        </p:nvSpPr>
        <p:spPr>
          <a:xfrm>
            <a:off x="4663440" y="2295144"/>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Formatting, encryption, compression</a:t>
            </a:r>
            <a:endParaRPr lang="en-US" sz="1100" dirty="0"/>
          </a:p>
        </p:txBody>
      </p:sp>
      <p:sp>
        <p:nvSpPr>
          <p:cNvPr id="14" name="Shape 12"/>
          <p:cNvSpPr/>
          <p:nvPr/>
        </p:nvSpPr>
        <p:spPr>
          <a:xfrm>
            <a:off x="1463040" y="2807208"/>
            <a:ext cx="9235440" cy="438912"/>
          </a:xfrm>
          <a:prstGeom prst="roundRect">
            <a:avLst>
              <a:gd name="adj" fmla="val 10417"/>
            </a:avLst>
          </a:prstGeom>
          <a:solidFill>
            <a:srgbClr val="8CC152"/>
          </a:solidFill>
          <a:ln/>
        </p:spPr>
      </p:sp>
      <p:sp>
        <p:nvSpPr>
          <p:cNvPr id="15" name="Text 13"/>
          <p:cNvSpPr/>
          <p:nvPr/>
        </p:nvSpPr>
        <p:spPr>
          <a:xfrm>
            <a:off x="1600200" y="2807208"/>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5</a:t>
            </a:r>
            <a:endParaRPr lang="en-US" sz="1600" dirty="0"/>
          </a:p>
        </p:txBody>
      </p:sp>
      <p:sp>
        <p:nvSpPr>
          <p:cNvPr id="16" name="Text 14"/>
          <p:cNvSpPr/>
          <p:nvPr/>
        </p:nvSpPr>
        <p:spPr>
          <a:xfrm>
            <a:off x="2148840" y="2807208"/>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Session</a:t>
            </a:r>
            <a:endParaRPr lang="en-US" sz="1350" dirty="0"/>
          </a:p>
        </p:txBody>
      </p:sp>
      <p:sp>
        <p:nvSpPr>
          <p:cNvPr id="17" name="Text 15"/>
          <p:cNvSpPr/>
          <p:nvPr/>
        </p:nvSpPr>
        <p:spPr>
          <a:xfrm>
            <a:off x="4663440" y="2807208"/>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Opens/manages/closes connections</a:t>
            </a:r>
            <a:endParaRPr lang="en-US" sz="1100" dirty="0"/>
          </a:p>
        </p:txBody>
      </p:sp>
      <p:sp>
        <p:nvSpPr>
          <p:cNvPr id="18" name="Shape 16"/>
          <p:cNvSpPr/>
          <p:nvPr/>
        </p:nvSpPr>
        <p:spPr>
          <a:xfrm>
            <a:off x="1463040" y="3319272"/>
            <a:ext cx="9235440" cy="438912"/>
          </a:xfrm>
          <a:prstGeom prst="roundRect">
            <a:avLst>
              <a:gd name="adj" fmla="val 10417"/>
            </a:avLst>
          </a:prstGeom>
          <a:solidFill>
            <a:srgbClr val="37BC9B"/>
          </a:solidFill>
          <a:ln/>
        </p:spPr>
      </p:sp>
      <p:sp>
        <p:nvSpPr>
          <p:cNvPr id="19" name="Text 17"/>
          <p:cNvSpPr/>
          <p:nvPr/>
        </p:nvSpPr>
        <p:spPr>
          <a:xfrm>
            <a:off x="1600200" y="3319272"/>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0" name="Text 18"/>
          <p:cNvSpPr/>
          <p:nvPr/>
        </p:nvSpPr>
        <p:spPr>
          <a:xfrm>
            <a:off x="2148840" y="3319272"/>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Transport</a:t>
            </a:r>
            <a:endParaRPr lang="en-US" sz="1350" dirty="0"/>
          </a:p>
        </p:txBody>
      </p:sp>
      <p:sp>
        <p:nvSpPr>
          <p:cNvPr id="21" name="Text 19"/>
          <p:cNvSpPr/>
          <p:nvPr/>
        </p:nvSpPr>
        <p:spPr>
          <a:xfrm>
            <a:off x="4663440" y="3319272"/>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Reliable delivery — TCP / UDP</a:t>
            </a:r>
            <a:endParaRPr lang="en-US" sz="1100" dirty="0"/>
          </a:p>
        </p:txBody>
      </p:sp>
      <p:sp>
        <p:nvSpPr>
          <p:cNvPr id="22" name="Shape 20"/>
          <p:cNvSpPr/>
          <p:nvPr/>
        </p:nvSpPr>
        <p:spPr>
          <a:xfrm>
            <a:off x="1463040" y="3831336"/>
            <a:ext cx="9235440" cy="438912"/>
          </a:xfrm>
          <a:prstGeom prst="roundRect">
            <a:avLst>
              <a:gd name="adj" fmla="val 10417"/>
            </a:avLst>
          </a:prstGeom>
          <a:solidFill>
            <a:srgbClr val="4FC1E9"/>
          </a:solidFill>
          <a:ln/>
        </p:spPr>
      </p:sp>
      <p:sp>
        <p:nvSpPr>
          <p:cNvPr id="23" name="Text 21"/>
          <p:cNvSpPr/>
          <p:nvPr/>
        </p:nvSpPr>
        <p:spPr>
          <a:xfrm>
            <a:off x="1600200" y="3831336"/>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24" name="Text 22"/>
          <p:cNvSpPr/>
          <p:nvPr/>
        </p:nvSpPr>
        <p:spPr>
          <a:xfrm>
            <a:off x="2148840" y="3831336"/>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Network</a:t>
            </a:r>
            <a:endParaRPr lang="en-US" sz="1350" dirty="0"/>
          </a:p>
        </p:txBody>
      </p:sp>
      <p:sp>
        <p:nvSpPr>
          <p:cNvPr id="25" name="Text 23"/>
          <p:cNvSpPr/>
          <p:nvPr/>
        </p:nvSpPr>
        <p:spPr>
          <a:xfrm>
            <a:off x="4663440" y="3831336"/>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Addressing &amp; routing — IP</a:t>
            </a:r>
            <a:endParaRPr lang="en-US" sz="1100" dirty="0"/>
          </a:p>
        </p:txBody>
      </p:sp>
      <p:sp>
        <p:nvSpPr>
          <p:cNvPr id="26" name="Shape 24"/>
          <p:cNvSpPr/>
          <p:nvPr/>
        </p:nvSpPr>
        <p:spPr>
          <a:xfrm>
            <a:off x="1463040" y="4343400"/>
            <a:ext cx="9235440" cy="438912"/>
          </a:xfrm>
          <a:prstGeom prst="roundRect">
            <a:avLst>
              <a:gd name="adj" fmla="val 10417"/>
            </a:avLst>
          </a:prstGeom>
          <a:solidFill>
            <a:srgbClr val="5D9CEC"/>
          </a:solidFill>
          <a:ln/>
        </p:spPr>
      </p:sp>
      <p:sp>
        <p:nvSpPr>
          <p:cNvPr id="27" name="Text 25"/>
          <p:cNvSpPr/>
          <p:nvPr/>
        </p:nvSpPr>
        <p:spPr>
          <a:xfrm>
            <a:off x="1600200" y="4343400"/>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28" name="Text 26"/>
          <p:cNvSpPr/>
          <p:nvPr/>
        </p:nvSpPr>
        <p:spPr>
          <a:xfrm>
            <a:off x="2148840" y="4343400"/>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Data Link</a:t>
            </a:r>
            <a:endParaRPr lang="en-US" sz="1350" dirty="0"/>
          </a:p>
        </p:txBody>
      </p:sp>
      <p:sp>
        <p:nvSpPr>
          <p:cNvPr id="29" name="Text 27"/>
          <p:cNvSpPr/>
          <p:nvPr/>
        </p:nvSpPr>
        <p:spPr>
          <a:xfrm>
            <a:off x="4663440" y="4343400"/>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Node-to-node delivery — MAC, switches</a:t>
            </a:r>
            <a:endParaRPr lang="en-US" sz="1100" dirty="0"/>
          </a:p>
        </p:txBody>
      </p:sp>
      <p:sp>
        <p:nvSpPr>
          <p:cNvPr id="30" name="Shape 28"/>
          <p:cNvSpPr/>
          <p:nvPr/>
        </p:nvSpPr>
        <p:spPr>
          <a:xfrm>
            <a:off x="1463040" y="4855464"/>
            <a:ext cx="9235440" cy="438912"/>
          </a:xfrm>
          <a:prstGeom prst="roundRect">
            <a:avLst>
              <a:gd name="adj" fmla="val 10417"/>
            </a:avLst>
          </a:prstGeom>
          <a:solidFill>
            <a:srgbClr val="AC92EC"/>
          </a:solidFill>
          <a:ln/>
        </p:spPr>
      </p:sp>
      <p:sp>
        <p:nvSpPr>
          <p:cNvPr id="31" name="Text 29"/>
          <p:cNvSpPr/>
          <p:nvPr/>
        </p:nvSpPr>
        <p:spPr>
          <a:xfrm>
            <a:off x="1600200" y="4855464"/>
            <a:ext cx="457200" cy="438912"/>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32" name="Text 30"/>
          <p:cNvSpPr/>
          <p:nvPr/>
        </p:nvSpPr>
        <p:spPr>
          <a:xfrm>
            <a:off x="2148840" y="4855464"/>
            <a:ext cx="2377440" cy="438912"/>
          </a:xfrm>
          <a:prstGeom prst="rect">
            <a:avLst/>
          </a:prstGeom>
          <a:noFill/>
          <a:ln/>
        </p:spPr>
        <p:txBody>
          <a:bodyPr wrap="square" rtlCol="0" anchor="ctr"/>
          <a:lstStyle/>
          <a:p>
            <a:pPr indent="0" marL="0">
              <a:buNone/>
            </a:pPr>
            <a:r>
              <a:rPr lang="en-US" sz="1350" b="1" dirty="0">
                <a:solidFill>
                  <a:srgbClr val="1A1A1A"/>
                </a:solidFill>
                <a:latin typeface="Arial" pitchFamily="34" charset="0"/>
                <a:ea typeface="Arial" pitchFamily="34" charset="-122"/>
                <a:cs typeface="Arial" pitchFamily="34" charset="-120"/>
              </a:rPr>
              <a:t>Physical</a:t>
            </a:r>
            <a:endParaRPr lang="en-US" sz="1350" dirty="0"/>
          </a:p>
        </p:txBody>
      </p:sp>
      <p:sp>
        <p:nvSpPr>
          <p:cNvPr id="33" name="Text 31"/>
          <p:cNvSpPr/>
          <p:nvPr/>
        </p:nvSpPr>
        <p:spPr>
          <a:xfrm>
            <a:off x="4663440" y="4855464"/>
            <a:ext cx="5897880" cy="438912"/>
          </a:xfrm>
          <a:prstGeom prst="rect">
            <a:avLst/>
          </a:prstGeom>
          <a:noFill/>
          <a:ln/>
        </p:spPr>
        <p:txBody>
          <a:bodyPr wrap="square" rtlCol="0" anchor="ctr"/>
          <a:lstStyle/>
          <a:p>
            <a:pPr indent="0" marL="0">
              <a:buNone/>
            </a:pPr>
            <a:r>
              <a:rPr lang="en-US" sz="1100" dirty="0">
                <a:solidFill>
                  <a:srgbClr val="1A1A1A"/>
                </a:solidFill>
                <a:latin typeface="Calibri" pitchFamily="34" charset="0"/>
                <a:ea typeface="Calibri" pitchFamily="34" charset="-122"/>
                <a:cs typeface="Calibri" pitchFamily="34" charset="-120"/>
              </a:rPr>
              <a:t>Cables, radio waves, electrical signals</a:t>
            </a:r>
            <a:endParaRPr lang="en-US" sz="1100" dirty="0"/>
          </a:p>
        </p:txBody>
      </p:sp>
      <p:sp>
        <p:nvSpPr>
          <p:cNvPr id="34" name="Text 3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5" name="Text 3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MODELS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OSI Layers — Analogies &amp; Protocols</a:t>
            </a:r>
            <a:endParaRPr lang="en-US" sz="2800" dirty="0"/>
          </a:p>
        </p:txBody>
      </p:sp>
      <p:sp>
        <p:nvSpPr>
          <p:cNvPr id="4" name="Shape 2"/>
          <p:cNvSpPr/>
          <p:nvPr/>
        </p:nvSpPr>
        <p:spPr>
          <a:xfrm>
            <a:off x="548640" y="1417320"/>
            <a:ext cx="11091672" cy="411480"/>
          </a:xfrm>
          <a:prstGeom prst="rect">
            <a:avLst/>
          </a:prstGeom>
          <a:solidFill>
            <a:srgbClr val="232F3E"/>
          </a:solidFill>
          <a:ln/>
        </p:spPr>
      </p:sp>
      <p:sp>
        <p:nvSpPr>
          <p:cNvPr id="5" name="Text 3"/>
          <p:cNvSpPr/>
          <p:nvPr/>
        </p:nvSpPr>
        <p:spPr>
          <a:xfrm>
            <a:off x="777240" y="1417320"/>
            <a:ext cx="2560320" cy="411480"/>
          </a:xfrm>
          <a:prstGeom prst="rect">
            <a:avLst/>
          </a:prstGeom>
          <a:noFill/>
          <a:ln/>
        </p:spPr>
        <p:txBody>
          <a:bodyPr wrap="square" rtlCol="0" anchor="ctr"/>
          <a:lstStyle/>
          <a:p>
            <a:pPr indent="0" marL="0">
              <a:buNone/>
            </a:pPr>
            <a:r>
              <a:rPr lang="en-US" sz="1100" b="1" spc="100" kern="0" dirty="0">
                <a:solidFill>
                  <a:srgbClr val="FF9900"/>
                </a:solidFill>
                <a:latin typeface="Calibri" pitchFamily="34" charset="0"/>
                <a:ea typeface="Calibri" pitchFamily="34" charset="-122"/>
                <a:cs typeface="Calibri" pitchFamily="34" charset="-120"/>
              </a:rPr>
              <a:t>LAYER</a:t>
            </a:r>
            <a:endParaRPr lang="en-US" sz="1100" dirty="0"/>
          </a:p>
        </p:txBody>
      </p:sp>
      <p:sp>
        <p:nvSpPr>
          <p:cNvPr id="6" name="Text 4"/>
          <p:cNvSpPr/>
          <p:nvPr/>
        </p:nvSpPr>
        <p:spPr>
          <a:xfrm>
            <a:off x="3383280" y="1417320"/>
            <a:ext cx="4572000" cy="41148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REAL-WORLD ANALOGY</a:t>
            </a:r>
            <a:endParaRPr lang="en-US" sz="1100" dirty="0"/>
          </a:p>
        </p:txBody>
      </p:sp>
      <p:sp>
        <p:nvSpPr>
          <p:cNvPr id="7" name="Text 5"/>
          <p:cNvSpPr/>
          <p:nvPr/>
        </p:nvSpPr>
        <p:spPr>
          <a:xfrm>
            <a:off x="8046720" y="1417320"/>
            <a:ext cx="3566160" cy="411480"/>
          </a:xfrm>
          <a:prstGeom prst="rect">
            <a:avLst/>
          </a:prstGeom>
          <a:noFill/>
          <a:ln/>
        </p:spPr>
        <p:txBody>
          <a:bodyPr wrap="square" rtlCol="0" anchor="ctr"/>
          <a:lstStyle/>
          <a:p>
            <a:pPr indent="0" marL="0">
              <a:buNone/>
            </a:pPr>
            <a:r>
              <a:rPr lang="en-US" sz="1100" b="1" spc="100" kern="0" dirty="0">
                <a:solidFill>
                  <a:srgbClr val="FFFFFF"/>
                </a:solidFill>
                <a:latin typeface="Calibri" pitchFamily="34" charset="0"/>
                <a:ea typeface="Calibri" pitchFamily="34" charset="-122"/>
                <a:cs typeface="Calibri" pitchFamily="34" charset="-120"/>
              </a:rPr>
              <a:t>EXAMPLE PROTOCOLS</a:t>
            </a:r>
            <a:endParaRPr lang="en-US" sz="1100" dirty="0"/>
          </a:p>
        </p:txBody>
      </p:sp>
      <p:sp>
        <p:nvSpPr>
          <p:cNvPr id="8" name="Shape 6"/>
          <p:cNvSpPr/>
          <p:nvPr/>
        </p:nvSpPr>
        <p:spPr>
          <a:xfrm>
            <a:off x="548640" y="1828800"/>
            <a:ext cx="11091672" cy="841248"/>
          </a:xfrm>
          <a:prstGeom prst="rect">
            <a:avLst/>
          </a:prstGeom>
          <a:solidFill>
            <a:srgbClr val="FFFFFF"/>
          </a:solidFill>
          <a:ln w="9525">
            <a:solidFill>
              <a:srgbClr val="D9DCE1"/>
            </a:solidFill>
            <a:prstDash val="solid"/>
          </a:ln>
        </p:spPr>
      </p:sp>
      <p:sp>
        <p:nvSpPr>
          <p:cNvPr id="9" name="Text 7"/>
          <p:cNvSpPr/>
          <p:nvPr/>
        </p:nvSpPr>
        <p:spPr>
          <a:xfrm>
            <a:off x="777240" y="1828800"/>
            <a:ext cx="2560320" cy="841248"/>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7 — Application</a:t>
            </a:r>
            <a:endParaRPr lang="en-US" sz="1300" dirty="0"/>
          </a:p>
        </p:txBody>
      </p:sp>
      <p:sp>
        <p:nvSpPr>
          <p:cNvPr id="10" name="Text 8"/>
          <p:cNvSpPr/>
          <p:nvPr/>
        </p:nvSpPr>
        <p:spPr>
          <a:xfrm>
            <a:off x="3383280" y="1828800"/>
            <a:ext cx="4572000" cy="841248"/>
          </a:xfrm>
          <a:prstGeom prst="rect">
            <a:avLst/>
          </a:prstGeom>
          <a:noFill/>
          <a:ln/>
        </p:spPr>
        <p:txBody>
          <a:bodyPr wrap="square" rtlCol="0" anchor="ctr"/>
          <a:lstStyle/>
          <a:p>
            <a:pPr indent="0" marL="0">
              <a:buNone/>
            </a:pPr>
            <a:r>
              <a:rPr lang="en-US" sz="1200" i="1" dirty="0">
                <a:solidFill>
                  <a:srgbClr val="16191F"/>
                </a:solidFill>
                <a:latin typeface="Calibri" pitchFamily="34" charset="0"/>
                <a:ea typeface="Calibri" pitchFamily="34" charset="-122"/>
                <a:cs typeface="Calibri" pitchFamily="34" charset="-120"/>
              </a:rPr>
              <a:t>Ordering from a restaurant menu</a:t>
            </a:r>
            <a:endParaRPr lang="en-US" sz="1200" dirty="0"/>
          </a:p>
        </p:txBody>
      </p:sp>
      <p:sp>
        <p:nvSpPr>
          <p:cNvPr id="11" name="Text 9"/>
          <p:cNvSpPr/>
          <p:nvPr/>
        </p:nvSpPr>
        <p:spPr>
          <a:xfrm>
            <a:off x="8046720" y="1828800"/>
            <a:ext cx="3566160" cy="841248"/>
          </a:xfrm>
          <a:prstGeom prst="rect">
            <a:avLst/>
          </a:prstGeom>
          <a:noFill/>
          <a:ln/>
        </p:spPr>
        <p:txBody>
          <a:bodyPr wrap="square" rtlCol="0" anchor="ctr"/>
          <a:lstStyle/>
          <a:p>
            <a:pPr indent="0" marL="0">
              <a:buNone/>
            </a:pPr>
            <a:r>
              <a:rPr lang="en-US" sz="1150" dirty="0">
                <a:solidFill>
                  <a:srgbClr val="5A6B75"/>
                </a:solidFill>
                <a:latin typeface="Consolas" pitchFamily="34" charset="0"/>
                <a:ea typeface="Consolas" pitchFamily="34" charset="-122"/>
                <a:cs typeface="Consolas" pitchFamily="34" charset="-120"/>
              </a:rPr>
              <a:t>HTTP, HTTPS, FTP, DNS</a:t>
            </a:r>
            <a:endParaRPr lang="en-US" sz="1150" dirty="0"/>
          </a:p>
        </p:txBody>
      </p:sp>
      <p:sp>
        <p:nvSpPr>
          <p:cNvPr id="12" name="Shape 10"/>
          <p:cNvSpPr/>
          <p:nvPr/>
        </p:nvSpPr>
        <p:spPr>
          <a:xfrm>
            <a:off x="548640" y="2670048"/>
            <a:ext cx="11091672" cy="841248"/>
          </a:xfrm>
          <a:prstGeom prst="rect">
            <a:avLst/>
          </a:prstGeom>
          <a:solidFill>
            <a:srgbClr val="FAFAFB"/>
          </a:solidFill>
          <a:ln w="9525">
            <a:solidFill>
              <a:srgbClr val="D9DCE1"/>
            </a:solidFill>
            <a:prstDash val="solid"/>
          </a:ln>
        </p:spPr>
      </p:sp>
      <p:sp>
        <p:nvSpPr>
          <p:cNvPr id="13" name="Text 11"/>
          <p:cNvSpPr/>
          <p:nvPr/>
        </p:nvSpPr>
        <p:spPr>
          <a:xfrm>
            <a:off x="777240" y="2670048"/>
            <a:ext cx="2560320" cy="841248"/>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4 — Transport</a:t>
            </a:r>
            <a:endParaRPr lang="en-US" sz="1300" dirty="0"/>
          </a:p>
        </p:txBody>
      </p:sp>
      <p:sp>
        <p:nvSpPr>
          <p:cNvPr id="14" name="Text 12"/>
          <p:cNvSpPr/>
          <p:nvPr/>
        </p:nvSpPr>
        <p:spPr>
          <a:xfrm>
            <a:off x="3383280" y="2670048"/>
            <a:ext cx="4572000" cy="841248"/>
          </a:xfrm>
          <a:prstGeom prst="rect">
            <a:avLst/>
          </a:prstGeom>
          <a:noFill/>
          <a:ln/>
        </p:spPr>
        <p:txBody>
          <a:bodyPr wrap="square" rtlCol="0" anchor="ctr"/>
          <a:lstStyle/>
          <a:p>
            <a:pPr indent="0" marL="0">
              <a:buNone/>
            </a:pPr>
            <a:r>
              <a:rPr lang="en-US" sz="1200" i="1" dirty="0">
                <a:solidFill>
                  <a:srgbClr val="16191F"/>
                </a:solidFill>
                <a:latin typeface="Calibri" pitchFamily="34" charset="0"/>
                <a:ea typeface="Calibri" pitchFamily="34" charset="-122"/>
                <a:cs typeface="Calibri" pitchFamily="34" charset="-120"/>
              </a:rPr>
              <a:t>The waiter ensuring your full order arrives</a:t>
            </a:r>
            <a:endParaRPr lang="en-US" sz="1200" dirty="0"/>
          </a:p>
        </p:txBody>
      </p:sp>
      <p:sp>
        <p:nvSpPr>
          <p:cNvPr id="15" name="Text 13"/>
          <p:cNvSpPr/>
          <p:nvPr/>
        </p:nvSpPr>
        <p:spPr>
          <a:xfrm>
            <a:off x="8046720" y="2670048"/>
            <a:ext cx="3566160" cy="841248"/>
          </a:xfrm>
          <a:prstGeom prst="rect">
            <a:avLst/>
          </a:prstGeom>
          <a:noFill/>
          <a:ln/>
        </p:spPr>
        <p:txBody>
          <a:bodyPr wrap="square" rtlCol="0" anchor="ctr"/>
          <a:lstStyle/>
          <a:p>
            <a:pPr indent="0" marL="0">
              <a:buNone/>
            </a:pPr>
            <a:r>
              <a:rPr lang="en-US" sz="1150" dirty="0">
                <a:solidFill>
                  <a:srgbClr val="5A6B75"/>
                </a:solidFill>
                <a:latin typeface="Consolas" pitchFamily="34" charset="0"/>
                <a:ea typeface="Consolas" pitchFamily="34" charset="-122"/>
                <a:cs typeface="Consolas" pitchFamily="34" charset="-120"/>
              </a:rPr>
              <a:t>TCP, UDP</a:t>
            </a:r>
            <a:endParaRPr lang="en-US" sz="1150" dirty="0"/>
          </a:p>
        </p:txBody>
      </p:sp>
      <p:sp>
        <p:nvSpPr>
          <p:cNvPr id="16" name="Shape 14"/>
          <p:cNvSpPr/>
          <p:nvPr/>
        </p:nvSpPr>
        <p:spPr>
          <a:xfrm>
            <a:off x="548640" y="3511296"/>
            <a:ext cx="11091672" cy="841248"/>
          </a:xfrm>
          <a:prstGeom prst="rect">
            <a:avLst/>
          </a:prstGeom>
          <a:solidFill>
            <a:srgbClr val="FFFFFF"/>
          </a:solidFill>
          <a:ln w="9525">
            <a:solidFill>
              <a:srgbClr val="D9DCE1"/>
            </a:solidFill>
            <a:prstDash val="solid"/>
          </a:ln>
        </p:spPr>
      </p:sp>
      <p:sp>
        <p:nvSpPr>
          <p:cNvPr id="17" name="Text 15"/>
          <p:cNvSpPr/>
          <p:nvPr/>
        </p:nvSpPr>
        <p:spPr>
          <a:xfrm>
            <a:off x="777240" y="3511296"/>
            <a:ext cx="2560320" cy="841248"/>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3 — Network</a:t>
            </a:r>
            <a:endParaRPr lang="en-US" sz="1300" dirty="0"/>
          </a:p>
        </p:txBody>
      </p:sp>
      <p:sp>
        <p:nvSpPr>
          <p:cNvPr id="18" name="Text 16"/>
          <p:cNvSpPr/>
          <p:nvPr/>
        </p:nvSpPr>
        <p:spPr>
          <a:xfrm>
            <a:off x="3383280" y="3511296"/>
            <a:ext cx="4572000" cy="841248"/>
          </a:xfrm>
          <a:prstGeom prst="rect">
            <a:avLst/>
          </a:prstGeom>
          <a:noFill/>
          <a:ln/>
        </p:spPr>
        <p:txBody>
          <a:bodyPr wrap="square" rtlCol="0" anchor="ctr"/>
          <a:lstStyle/>
          <a:p>
            <a:pPr indent="0" marL="0">
              <a:buNone/>
            </a:pPr>
            <a:r>
              <a:rPr lang="en-US" sz="1200" i="1" dirty="0">
                <a:solidFill>
                  <a:srgbClr val="16191F"/>
                </a:solidFill>
                <a:latin typeface="Calibri" pitchFamily="34" charset="0"/>
                <a:ea typeface="Calibri" pitchFamily="34" charset="-122"/>
                <a:cs typeface="Calibri" pitchFamily="34" charset="-120"/>
              </a:rPr>
              <a:t>The delivery address on a package</a:t>
            </a:r>
            <a:endParaRPr lang="en-US" sz="1200" dirty="0"/>
          </a:p>
        </p:txBody>
      </p:sp>
      <p:sp>
        <p:nvSpPr>
          <p:cNvPr id="19" name="Text 17"/>
          <p:cNvSpPr/>
          <p:nvPr/>
        </p:nvSpPr>
        <p:spPr>
          <a:xfrm>
            <a:off x="8046720" y="3511296"/>
            <a:ext cx="3566160" cy="841248"/>
          </a:xfrm>
          <a:prstGeom prst="rect">
            <a:avLst/>
          </a:prstGeom>
          <a:noFill/>
          <a:ln/>
        </p:spPr>
        <p:txBody>
          <a:bodyPr wrap="square" rtlCol="0" anchor="ctr"/>
          <a:lstStyle/>
          <a:p>
            <a:pPr indent="0" marL="0">
              <a:buNone/>
            </a:pPr>
            <a:r>
              <a:rPr lang="en-US" sz="1150" dirty="0">
                <a:solidFill>
                  <a:srgbClr val="5A6B75"/>
                </a:solidFill>
                <a:latin typeface="Consolas" pitchFamily="34" charset="0"/>
                <a:ea typeface="Consolas" pitchFamily="34" charset="-122"/>
                <a:cs typeface="Consolas" pitchFamily="34" charset="-120"/>
              </a:rPr>
              <a:t>IP, ICMP</a:t>
            </a:r>
            <a:endParaRPr lang="en-US" sz="1150" dirty="0"/>
          </a:p>
        </p:txBody>
      </p:sp>
      <p:sp>
        <p:nvSpPr>
          <p:cNvPr id="20" name="Shape 18"/>
          <p:cNvSpPr/>
          <p:nvPr/>
        </p:nvSpPr>
        <p:spPr>
          <a:xfrm>
            <a:off x="548640" y="4352544"/>
            <a:ext cx="11091672" cy="841248"/>
          </a:xfrm>
          <a:prstGeom prst="rect">
            <a:avLst/>
          </a:prstGeom>
          <a:solidFill>
            <a:srgbClr val="FAFAFB"/>
          </a:solidFill>
          <a:ln w="9525">
            <a:solidFill>
              <a:srgbClr val="D9DCE1"/>
            </a:solidFill>
            <a:prstDash val="solid"/>
          </a:ln>
        </p:spPr>
      </p:sp>
      <p:sp>
        <p:nvSpPr>
          <p:cNvPr id="21" name="Text 19"/>
          <p:cNvSpPr/>
          <p:nvPr/>
        </p:nvSpPr>
        <p:spPr>
          <a:xfrm>
            <a:off x="777240" y="4352544"/>
            <a:ext cx="2560320" cy="841248"/>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2 — Data Link</a:t>
            </a:r>
            <a:endParaRPr lang="en-US" sz="1300" dirty="0"/>
          </a:p>
        </p:txBody>
      </p:sp>
      <p:sp>
        <p:nvSpPr>
          <p:cNvPr id="22" name="Text 20"/>
          <p:cNvSpPr/>
          <p:nvPr/>
        </p:nvSpPr>
        <p:spPr>
          <a:xfrm>
            <a:off x="3383280" y="4352544"/>
            <a:ext cx="4572000" cy="841248"/>
          </a:xfrm>
          <a:prstGeom prst="rect">
            <a:avLst/>
          </a:prstGeom>
          <a:noFill/>
          <a:ln/>
        </p:spPr>
        <p:txBody>
          <a:bodyPr wrap="square" rtlCol="0" anchor="ctr"/>
          <a:lstStyle/>
          <a:p>
            <a:pPr indent="0" marL="0">
              <a:buNone/>
            </a:pPr>
            <a:r>
              <a:rPr lang="en-US" sz="1200" i="1" dirty="0">
                <a:solidFill>
                  <a:srgbClr val="16191F"/>
                </a:solidFill>
                <a:latin typeface="Calibri" pitchFamily="34" charset="0"/>
                <a:ea typeface="Calibri" pitchFamily="34" charset="-122"/>
                <a:cs typeface="Calibri" pitchFamily="34" charset="-120"/>
              </a:rPr>
              <a:t>The delivery truck's local route</a:t>
            </a:r>
            <a:endParaRPr lang="en-US" sz="1200" dirty="0"/>
          </a:p>
        </p:txBody>
      </p:sp>
      <p:sp>
        <p:nvSpPr>
          <p:cNvPr id="23" name="Text 21"/>
          <p:cNvSpPr/>
          <p:nvPr/>
        </p:nvSpPr>
        <p:spPr>
          <a:xfrm>
            <a:off x="8046720" y="4352544"/>
            <a:ext cx="3566160" cy="841248"/>
          </a:xfrm>
          <a:prstGeom prst="rect">
            <a:avLst/>
          </a:prstGeom>
          <a:noFill/>
          <a:ln/>
        </p:spPr>
        <p:txBody>
          <a:bodyPr wrap="square" rtlCol="0" anchor="ctr"/>
          <a:lstStyle/>
          <a:p>
            <a:pPr indent="0" marL="0">
              <a:buNone/>
            </a:pPr>
            <a:r>
              <a:rPr lang="en-US" sz="1150" dirty="0">
                <a:solidFill>
                  <a:srgbClr val="5A6B75"/>
                </a:solidFill>
                <a:latin typeface="Consolas" pitchFamily="34" charset="0"/>
                <a:ea typeface="Consolas" pitchFamily="34" charset="-122"/>
                <a:cs typeface="Consolas" pitchFamily="34" charset="-120"/>
              </a:rPr>
              <a:t>Ethernet, MAC, ARP</a:t>
            </a:r>
            <a:endParaRPr lang="en-US" sz="1150" dirty="0"/>
          </a:p>
        </p:txBody>
      </p:sp>
      <p:sp>
        <p:nvSpPr>
          <p:cNvPr id="24" name="Shape 22"/>
          <p:cNvSpPr/>
          <p:nvPr/>
        </p:nvSpPr>
        <p:spPr>
          <a:xfrm>
            <a:off x="548640" y="5193792"/>
            <a:ext cx="11091672" cy="841248"/>
          </a:xfrm>
          <a:prstGeom prst="rect">
            <a:avLst/>
          </a:prstGeom>
          <a:solidFill>
            <a:srgbClr val="FFFFFF"/>
          </a:solidFill>
          <a:ln w="9525">
            <a:solidFill>
              <a:srgbClr val="D9DCE1"/>
            </a:solidFill>
            <a:prstDash val="solid"/>
          </a:ln>
        </p:spPr>
      </p:sp>
      <p:sp>
        <p:nvSpPr>
          <p:cNvPr id="25" name="Text 23"/>
          <p:cNvSpPr/>
          <p:nvPr/>
        </p:nvSpPr>
        <p:spPr>
          <a:xfrm>
            <a:off x="777240" y="5193792"/>
            <a:ext cx="2560320" cy="841248"/>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1 — Physical</a:t>
            </a:r>
            <a:endParaRPr lang="en-US" sz="1300" dirty="0"/>
          </a:p>
        </p:txBody>
      </p:sp>
      <p:sp>
        <p:nvSpPr>
          <p:cNvPr id="26" name="Text 24"/>
          <p:cNvSpPr/>
          <p:nvPr/>
        </p:nvSpPr>
        <p:spPr>
          <a:xfrm>
            <a:off x="3383280" y="5193792"/>
            <a:ext cx="4572000" cy="841248"/>
          </a:xfrm>
          <a:prstGeom prst="rect">
            <a:avLst/>
          </a:prstGeom>
          <a:noFill/>
          <a:ln/>
        </p:spPr>
        <p:txBody>
          <a:bodyPr wrap="square" rtlCol="0" anchor="ctr"/>
          <a:lstStyle/>
          <a:p>
            <a:pPr indent="0" marL="0">
              <a:buNone/>
            </a:pPr>
            <a:r>
              <a:rPr lang="en-US" sz="1200" i="1" dirty="0">
                <a:solidFill>
                  <a:srgbClr val="16191F"/>
                </a:solidFill>
                <a:latin typeface="Calibri" pitchFamily="34" charset="0"/>
                <a:ea typeface="Calibri" pitchFamily="34" charset="-122"/>
                <a:cs typeface="Calibri" pitchFamily="34" charset="-120"/>
              </a:rPr>
              <a:t>The literal roads the truck drives on</a:t>
            </a:r>
            <a:endParaRPr lang="en-US" sz="1200" dirty="0"/>
          </a:p>
        </p:txBody>
      </p:sp>
      <p:sp>
        <p:nvSpPr>
          <p:cNvPr id="27" name="Text 25"/>
          <p:cNvSpPr/>
          <p:nvPr/>
        </p:nvSpPr>
        <p:spPr>
          <a:xfrm>
            <a:off x="8046720" y="5193792"/>
            <a:ext cx="3566160" cy="841248"/>
          </a:xfrm>
          <a:prstGeom prst="rect">
            <a:avLst/>
          </a:prstGeom>
          <a:noFill/>
          <a:ln/>
        </p:spPr>
        <p:txBody>
          <a:bodyPr wrap="square" rtlCol="0" anchor="ctr"/>
          <a:lstStyle/>
          <a:p>
            <a:pPr indent="0" marL="0">
              <a:buNone/>
            </a:pPr>
            <a:r>
              <a:rPr lang="en-US" sz="1150" dirty="0">
                <a:solidFill>
                  <a:srgbClr val="5A6B75"/>
                </a:solidFill>
                <a:latin typeface="Consolas" pitchFamily="34" charset="0"/>
                <a:ea typeface="Consolas" pitchFamily="34" charset="-122"/>
                <a:cs typeface="Consolas" pitchFamily="34" charset="-120"/>
              </a:rPr>
              <a:t>Cables, WiFi radio waves</a:t>
            </a:r>
            <a:endParaRPr lang="en-US" sz="1150" dirty="0"/>
          </a:p>
        </p:txBody>
      </p:sp>
      <p:sp>
        <p:nvSpPr>
          <p:cNvPr id="28" name="Shape 26"/>
          <p:cNvSpPr/>
          <p:nvPr/>
        </p:nvSpPr>
        <p:spPr>
          <a:xfrm>
            <a:off x="548640" y="6172200"/>
            <a:ext cx="11091672" cy="566928"/>
          </a:xfrm>
          <a:prstGeom prst="roundRect">
            <a:avLst>
              <a:gd name="adj" fmla="val 12903"/>
            </a:avLst>
          </a:prstGeom>
          <a:solidFill>
            <a:srgbClr val="232F3E"/>
          </a:solidFill>
          <a:ln/>
        </p:spPr>
      </p:sp>
      <p:sp>
        <p:nvSpPr>
          <p:cNvPr id="29" name="Shape 27"/>
          <p:cNvSpPr/>
          <p:nvPr/>
        </p:nvSpPr>
        <p:spPr>
          <a:xfrm>
            <a:off x="704088" y="6227064"/>
            <a:ext cx="457200" cy="457200"/>
          </a:xfrm>
          <a:prstGeom prst="ellipse">
            <a:avLst/>
          </a:prstGeom>
          <a:solidFill>
            <a:srgbClr val="33455B"/>
          </a:solidFill>
          <a:ln/>
        </p:spPr>
      </p:sp>
      <p:pic>
        <p:nvPicPr>
          <p:cNvPr id="30" name="Image 0" descr="/home/claude/ppt3/icon_lightbulb_o.png">    </p:cNvPr>
          <p:cNvPicPr>
            <a:picLocks noChangeAspect="1"/>
          </p:cNvPicPr>
          <p:nvPr/>
        </p:nvPicPr>
        <p:blipFill>
          <a:blip r:embed="rId1"/>
          <a:stretch>
            <a:fillRect/>
          </a:stretch>
        </p:blipFill>
        <p:spPr>
          <a:xfrm>
            <a:off x="813816" y="6336792"/>
            <a:ext cx="237744" cy="237744"/>
          </a:xfrm>
          <a:prstGeom prst="rect">
            <a:avLst/>
          </a:prstGeom>
        </p:spPr>
      </p:pic>
      <p:sp>
        <p:nvSpPr>
          <p:cNvPr id="31" name="Text 28"/>
          <p:cNvSpPr/>
          <p:nvPr/>
        </p:nvSpPr>
        <p:spPr>
          <a:xfrm>
            <a:off x="1234440" y="617220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Beginners typically only need Layers 3, 4, and 7 memorized well — the rest build intuition over time.</a:t>
            </a:r>
            <a:endParaRPr lang="en-US" sz="1100" dirty="0"/>
          </a:p>
        </p:txBody>
      </p:sp>
      <p:sp>
        <p:nvSpPr>
          <p:cNvPr id="32" name="Text 29"/>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3" name="Text 30"/>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MODELS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The TCP/IP Model</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FF9900"/>
                </a:solidFill>
                <a:latin typeface="Calibri" pitchFamily="34" charset="0"/>
                <a:ea typeface="Calibri" pitchFamily="34" charset="-122"/>
                <a:cs typeface="Calibri" pitchFamily="34" charset="-120"/>
              </a:rPr>
              <a:t>OBJECTIVE:  </a:t>
            </a:r>
            <a:pPr indent="0" marL="0">
              <a:buNone/>
            </a:pPr>
            <a:r>
              <a:rPr lang="en-US" sz="1250" dirty="0">
                <a:solidFill>
                  <a:srgbClr val="E9EDF1"/>
                </a:solidFill>
                <a:latin typeface="Calibri" pitchFamily="34" charset="0"/>
                <a:ea typeface="Calibri" pitchFamily="34" charset="-122"/>
                <a:cs typeface="Calibri" pitchFamily="34" charset="-120"/>
              </a:rPr>
              <a:t>See the simplified 4-layer model used in real-world networking.</a:t>
            </a:r>
            <a:endParaRPr lang="en-US" sz="1250" dirty="0"/>
          </a:p>
        </p:txBody>
      </p:sp>
      <p:sp>
        <p:nvSpPr>
          <p:cNvPr id="6" name="Shape 4"/>
          <p:cNvSpPr/>
          <p:nvPr/>
        </p:nvSpPr>
        <p:spPr>
          <a:xfrm>
            <a:off x="914400" y="1965960"/>
            <a:ext cx="5760720" cy="685800"/>
          </a:xfrm>
          <a:prstGeom prst="roundRect">
            <a:avLst>
              <a:gd name="adj" fmla="val 10667"/>
            </a:avLst>
          </a:prstGeom>
          <a:solidFill>
            <a:srgbClr val="161E2D"/>
          </a:solidFill>
          <a:ln w="12700">
            <a:solidFill>
              <a:srgbClr val="FF9900"/>
            </a:solidFill>
            <a:prstDash val="solid"/>
          </a:ln>
        </p:spPr>
      </p:sp>
      <p:sp>
        <p:nvSpPr>
          <p:cNvPr id="7" name="Text 5"/>
          <p:cNvSpPr/>
          <p:nvPr/>
        </p:nvSpPr>
        <p:spPr>
          <a:xfrm>
            <a:off x="1143000" y="2039112"/>
            <a:ext cx="530352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Application</a:t>
            </a:r>
            <a:endParaRPr lang="en-US" sz="1500" dirty="0"/>
          </a:p>
        </p:txBody>
      </p:sp>
      <p:sp>
        <p:nvSpPr>
          <p:cNvPr id="8" name="Text 6"/>
          <p:cNvSpPr/>
          <p:nvPr/>
        </p:nvSpPr>
        <p:spPr>
          <a:xfrm>
            <a:off x="1143000" y="2331720"/>
            <a:ext cx="5303520" cy="274320"/>
          </a:xfrm>
          <a:prstGeom prst="rect">
            <a:avLst/>
          </a:prstGeom>
          <a:noFill/>
          <a:ln/>
        </p:spPr>
        <p:txBody>
          <a:bodyPr wrap="square" rtlCol="0" anchor="ctr"/>
          <a:lstStyle/>
          <a:p>
            <a:pPr indent="0" marL="0">
              <a:buNone/>
            </a:pPr>
            <a:r>
              <a:rPr lang="en-US" sz="1100" dirty="0">
                <a:solidFill>
                  <a:srgbClr val="AEB9C2"/>
                </a:solidFill>
                <a:latin typeface="Calibri" pitchFamily="34" charset="0"/>
                <a:ea typeface="Calibri" pitchFamily="34" charset="-122"/>
                <a:cs typeface="Calibri" pitchFamily="34" charset="-120"/>
              </a:rPr>
              <a:t>HTTP, DNS, SSH — combines OSI 5-7</a:t>
            </a:r>
            <a:endParaRPr lang="en-US" sz="1100" dirty="0"/>
          </a:p>
        </p:txBody>
      </p:sp>
      <p:sp>
        <p:nvSpPr>
          <p:cNvPr id="9" name="Shape 7"/>
          <p:cNvSpPr/>
          <p:nvPr/>
        </p:nvSpPr>
        <p:spPr>
          <a:xfrm>
            <a:off x="914400" y="2779776"/>
            <a:ext cx="5760720" cy="685800"/>
          </a:xfrm>
          <a:prstGeom prst="roundRect">
            <a:avLst>
              <a:gd name="adj" fmla="val 10667"/>
            </a:avLst>
          </a:prstGeom>
          <a:solidFill>
            <a:srgbClr val="161E2D"/>
          </a:solidFill>
          <a:ln w="12700">
            <a:solidFill>
              <a:srgbClr val="FF9900"/>
            </a:solidFill>
            <a:prstDash val="solid"/>
          </a:ln>
        </p:spPr>
      </p:sp>
      <p:sp>
        <p:nvSpPr>
          <p:cNvPr id="10" name="Text 8"/>
          <p:cNvSpPr/>
          <p:nvPr/>
        </p:nvSpPr>
        <p:spPr>
          <a:xfrm>
            <a:off x="1143000" y="2852928"/>
            <a:ext cx="530352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Transport</a:t>
            </a:r>
            <a:endParaRPr lang="en-US" sz="1500" dirty="0"/>
          </a:p>
        </p:txBody>
      </p:sp>
      <p:sp>
        <p:nvSpPr>
          <p:cNvPr id="11" name="Text 9"/>
          <p:cNvSpPr/>
          <p:nvPr/>
        </p:nvSpPr>
        <p:spPr>
          <a:xfrm>
            <a:off x="1143000" y="3145536"/>
            <a:ext cx="5303520" cy="274320"/>
          </a:xfrm>
          <a:prstGeom prst="rect">
            <a:avLst/>
          </a:prstGeom>
          <a:noFill/>
          <a:ln/>
        </p:spPr>
        <p:txBody>
          <a:bodyPr wrap="square" rtlCol="0" anchor="ctr"/>
          <a:lstStyle/>
          <a:p>
            <a:pPr indent="0" marL="0">
              <a:buNone/>
            </a:pPr>
            <a:r>
              <a:rPr lang="en-US" sz="1100" dirty="0">
                <a:solidFill>
                  <a:srgbClr val="AEB9C2"/>
                </a:solidFill>
                <a:latin typeface="Calibri" pitchFamily="34" charset="0"/>
                <a:ea typeface="Calibri" pitchFamily="34" charset="-122"/>
                <a:cs typeface="Calibri" pitchFamily="34" charset="-120"/>
              </a:rPr>
              <a:t>TCP, UDP — same as OSI Layer 4</a:t>
            </a:r>
            <a:endParaRPr lang="en-US" sz="1100" dirty="0"/>
          </a:p>
        </p:txBody>
      </p:sp>
      <p:sp>
        <p:nvSpPr>
          <p:cNvPr id="12" name="Shape 10"/>
          <p:cNvSpPr/>
          <p:nvPr/>
        </p:nvSpPr>
        <p:spPr>
          <a:xfrm>
            <a:off x="914400" y="3593592"/>
            <a:ext cx="5760720" cy="685800"/>
          </a:xfrm>
          <a:prstGeom prst="roundRect">
            <a:avLst>
              <a:gd name="adj" fmla="val 10667"/>
            </a:avLst>
          </a:prstGeom>
          <a:solidFill>
            <a:srgbClr val="161E2D"/>
          </a:solidFill>
          <a:ln w="12700">
            <a:solidFill>
              <a:srgbClr val="FF9900"/>
            </a:solidFill>
            <a:prstDash val="solid"/>
          </a:ln>
        </p:spPr>
      </p:sp>
      <p:sp>
        <p:nvSpPr>
          <p:cNvPr id="13" name="Text 11"/>
          <p:cNvSpPr/>
          <p:nvPr/>
        </p:nvSpPr>
        <p:spPr>
          <a:xfrm>
            <a:off x="1143000" y="3666744"/>
            <a:ext cx="530352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Internet</a:t>
            </a:r>
            <a:endParaRPr lang="en-US" sz="1500" dirty="0"/>
          </a:p>
        </p:txBody>
      </p:sp>
      <p:sp>
        <p:nvSpPr>
          <p:cNvPr id="14" name="Text 12"/>
          <p:cNvSpPr/>
          <p:nvPr/>
        </p:nvSpPr>
        <p:spPr>
          <a:xfrm>
            <a:off x="1143000" y="3959352"/>
            <a:ext cx="5303520" cy="274320"/>
          </a:xfrm>
          <a:prstGeom prst="rect">
            <a:avLst/>
          </a:prstGeom>
          <a:noFill/>
          <a:ln/>
        </p:spPr>
        <p:txBody>
          <a:bodyPr wrap="square" rtlCol="0" anchor="ctr"/>
          <a:lstStyle/>
          <a:p>
            <a:pPr indent="0" marL="0">
              <a:buNone/>
            </a:pPr>
            <a:r>
              <a:rPr lang="en-US" sz="1100" dirty="0">
                <a:solidFill>
                  <a:srgbClr val="AEB9C2"/>
                </a:solidFill>
                <a:latin typeface="Calibri" pitchFamily="34" charset="0"/>
                <a:ea typeface="Calibri" pitchFamily="34" charset="-122"/>
                <a:cs typeface="Calibri" pitchFamily="34" charset="-120"/>
              </a:rPr>
              <a:t>IP — same as OSI Layer 3</a:t>
            </a:r>
            <a:endParaRPr lang="en-US" sz="1100" dirty="0"/>
          </a:p>
        </p:txBody>
      </p:sp>
      <p:sp>
        <p:nvSpPr>
          <p:cNvPr id="15" name="Shape 13"/>
          <p:cNvSpPr/>
          <p:nvPr/>
        </p:nvSpPr>
        <p:spPr>
          <a:xfrm>
            <a:off x="914400" y="4407408"/>
            <a:ext cx="5760720" cy="685800"/>
          </a:xfrm>
          <a:prstGeom prst="roundRect">
            <a:avLst>
              <a:gd name="adj" fmla="val 10667"/>
            </a:avLst>
          </a:prstGeom>
          <a:solidFill>
            <a:srgbClr val="161E2D"/>
          </a:solidFill>
          <a:ln w="12700">
            <a:solidFill>
              <a:srgbClr val="FF9900"/>
            </a:solidFill>
            <a:prstDash val="solid"/>
          </a:ln>
        </p:spPr>
      </p:sp>
      <p:sp>
        <p:nvSpPr>
          <p:cNvPr id="16" name="Text 14"/>
          <p:cNvSpPr/>
          <p:nvPr/>
        </p:nvSpPr>
        <p:spPr>
          <a:xfrm>
            <a:off x="1143000" y="4480560"/>
            <a:ext cx="5303520" cy="32004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Network Access</a:t>
            </a:r>
            <a:endParaRPr lang="en-US" sz="1500" dirty="0"/>
          </a:p>
        </p:txBody>
      </p:sp>
      <p:sp>
        <p:nvSpPr>
          <p:cNvPr id="17" name="Text 15"/>
          <p:cNvSpPr/>
          <p:nvPr/>
        </p:nvSpPr>
        <p:spPr>
          <a:xfrm>
            <a:off x="1143000" y="4773168"/>
            <a:ext cx="5303520" cy="274320"/>
          </a:xfrm>
          <a:prstGeom prst="rect">
            <a:avLst/>
          </a:prstGeom>
          <a:noFill/>
          <a:ln/>
        </p:spPr>
        <p:txBody>
          <a:bodyPr wrap="square" rtlCol="0" anchor="ctr"/>
          <a:lstStyle/>
          <a:p>
            <a:pPr indent="0" marL="0">
              <a:buNone/>
            </a:pPr>
            <a:r>
              <a:rPr lang="en-US" sz="1100" dirty="0">
                <a:solidFill>
                  <a:srgbClr val="AEB9C2"/>
                </a:solidFill>
                <a:latin typeface="Calibri" pitchFamily="34" charset="0"/>
                <a:ea typeface="Calibri" pitchFamily="34" charset="-122"/>
                <a:cs typeface="Calibri" pitchFamily="34" charset="-120"/>
              </a:rPr>
              <a:t>Ethernet, WiFi — combines OSI 1-2</a:t>
            </a:r>
            <a:endParaRPr lang="en-US" sz="1100" dirty="0"/>
          </a:p>
        </p:txBody>
      </p:sp>
      <p:sp>
        <p:nvSpPr>
          <p:cNvPr id="18" name="Text 16"/>
          <p:cNvSpPr/>
          <p:nvPr/>
        </p:nvSpPr>
        <p:spPr>
          <a:xfrm>
            <a:off x="7315200" y="1965960"/>
            <a:ext cx="4114800" cy="320040"/>
          </a:xfrm>
          <a:prstGeom prst="rect">
            <a:avLst/>
          </a:prstGeom>
          <a:noFill/>
          <a:ln/>
        </p:spPr>
        <p:txBody>
          <a:bodyPr wrap="square" rtlCol="0" anchor="ctr"/>
          <a:lstStyle/>
          <a:p>
            <a:pPr indent="0" marL="0">
              <a:buNone/>
            </a:pPr>
            <a:r>
              <a:rPr lang="en-US" sz="1150" b="1" spc="150" kern="0" dirty="0">
                <a:solidFill>
                  <a:srgbClr val="FF9900"/>
                </a:solidFill>
                <a:latin typeface="Calibri" pitchFamily="34" charset="0"/>
                <a:ea typeface="Calibri" pitchFamily="34" charset="-122"/>
                <a:cs typeface="Calibri" pitchFamily="34" charset="-120"/>
              </a:rPr>
              <a:t>VS. OSI</a:t>
            </a:r>
            <a:endParaRPr lang="en-US" sz="1150" dirty="0"/>
          </a:p>
        </p:txBody>
      </p:sp>
      <p:sp>
        <p:nvSpPr>
          <p:cNvPr id="19" name="Text 17"/>
          <p:cNvSpPr/>
          <p:nvPr/>
        </p:nvSpPr>
        <p:spPr>
          <a:xfrm>
            <a:off x="7315200" y="2331720"/>
            <a:ext cx="4206240" cy="1097280"/>
          </a:xfrm>
          <a:prstGeom prst="rect">
            <a:avLst/>
          </a:prstGeom>
          <a:noFill/>
          <a:ln/>
        </p:spPr>
        <p:txBody>
          <a:bodyPr wrap="square" rtlCol="0" anchor="t"/>
          <a:lstStyle/>
          <a:p>
            <a:pPr indent="0" marL="0">
              <a:buNone/>
            </a:pPr>
            <a:r>
              <a:rPr lang="en-US" sz="1250" dirty="0">
                <a:solidFill>
                  <a:srgbClr val="C7D1D9"/>
                </a:solidFill>
                <a:latin typeface="Calibri" pitchFamily="34" charset="0"/>
                <a:ea typeface="Calibri" pitchFamily="34" charset="-122"/>
                <a:cs typeface="Calibri" pitchFamily="34" charset="-120"/>
              </a:rPr>
              <a:t>TCP/IP is the practical model the real Internet runs on; OSI is the teaching reference model. Same ideas, fewer layers.</a:t>
            </a:r>
            <a:endParaRPr lang="en-US" sz="1250" dirty="0"/>
          </a:p>
        </p:txBody>
      </p:sp>
      <p:sp>
        <p:nvSpPr>
          <p:cNvPr id="20" name="Shape 18"/>
          <p:cNvSpPr/>
          <p:nvPr/>
        </p:nvSpPr>
        <p:spPr>
          <a:xfrm>
            <a:off x="7315200" y="4114800"/>
            <a:ext cx="4206240" cy="566928"/>
          </a:xfrm>
          <a:prstGeom prst="roundRect">
            <a:avLst>
              <a:gd name="adj" fmla="val 12903"/>
            </a:avLst>
          </a:prstGeom>
          <a:solidFill>
            <a:srgbClr val="FFFFFF"/>
          </a:solidFill>
          <a:ln w="15875">
            <a:solidFill>
              <a:srgbClr val="FF9900"/>
            </a:solidFill>
            <a:prstDash val="solid"/>
          </a:ln>
        </p:spPr>
      </p:sp>
      <p:sp>
        <p:nvSpPr>
          <p:cNvPr id="21" name="Text 19"/>
          <p:cNvSpPr/>
          <p:nvPr/>
        </p:nvSpPr>
        <p:spPr>
          <a:xfrm>
            <a:off x="7543800" y="4114800"/>
            <a:ext cx="3749040"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OSI is the detailed instruction manual; TCP/IP is the quick-start guide engineers use daily.</a:t>
            </a:r>
            <a:endParaRPr lang="en-US" sz="1100" dirty="0"/>
          </a:p>
        </p:txBody>
      </p:sp>
      <p:sp>
        <p:nvSpPr>
          <p:cNvPr id="22" name="Text 20"/>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23" name="Text 21"/>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NETWORKING MODELS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Encapsulation — Wrapping Your Data</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See how data gets wrapped in layers as it travels down the stack.</a:t>
            </a:r>
            <a:endParaRPr lang="en-US" sz="1250" dirty="0"/>
          </a:p>
        </p:txBody>
      </p:sp>
      <p:sp>
        <p:nvSpPr>
          <p:cNvPr id="6" name="Shape 4"/>
          <p:cNvSpPr/>
          <p:nvPr/>
        </p:nvSpPr>
        <p:spPr>
          <a:xfrm>
            <a:off x="1088136" y="2103120"/>
            <a:ext cx="1965960" cy="2103120"/>
          </a:xfrm>
          <a:prstGeom prst="roundRect">
            <a:avLst>
              <a:gd name="adj" fmla="val 3721"/>
            </a:avLst>
          </a:prstGeom>
          <a:solidFill>
            <a:srgbClr val="FF9900"/>
          </a:solidFill>
          <a:ln/>
        </p:spPr>
      </p:sp>
      <p:sp>
        <p:nvSpPr>
          <p:cNvPr id="7" name="Text 5"/>
          <p:cNvSpPr/>
          <p:nvPr/>
        </p:nvSpPr>
        <p:spPr>
          <a:xfrm>
            <a:off x="1179576" y="2240280"/>
            <a:ext cx="1783080" cy="640080"/>
          </a:xfrm>
          <a:prstGeom prst="rect">
            <a:avLst/>
          </a:prstGeom>
          <a:noFill/>
          <a:ln/>
        </p:spPr>
        <p:txBody>
          <a:bodyPr wrap="square"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Application Data</a:t>
            </a:r>
            <a:endParaRPr lang="en-US" sz="1200" dirty="0"/>
          </a:p>
        </p:txBody>
      </p:sp>
      <p:sp>
        <p:nvSpPr>
          <p:cNvPr id="8" name="Text 6"/>
          <p:cNvSpPr/>
          <p:nvPr/>
        </p:nvSpPr>
        <p:spPr>
          <a:xfrm>
            <a:off x="1179576" y="2788920"/>
            <a:ext cx="1783080" cy="1097280"/>
          </a:xfrm>
          <a:prstGeom prst="rect">
            <a:avLst/>
          </a:prstGeom>
          <a:noFill/>
          <a:ln/>
        </p:spPr>
        <p:txBody>
          <a:bodyPr wrap="square" rtlCol="0" anchor="t"/>
          <a:lstStyle/>
          <a:p>
            <a:pPr algn="ctr" indent="0" marL="0">
              <a:buNone/>
            </a:pPr>
            <a:r>
              <a:rPr lang="en-US" sz="1000" dirty="0">
                <a:solidFill>
                  <a:srgbClr val="1A1A1A"/>
                </a:solidFill>
                <a:latin typeface="Calibri" pitchFamily="34" charset="0"/>
                <a:ea typeface="Calibri" pitchFamily="34" charset="-122"/>
                <a:cs typeface="Calibri" pitchFamily="34" charset="-120"/>
              </a:rPr>
              <a:t>Your actual message</a:t>
            </a:r>
            <a:endParaRPr lang="en-US" sz="1000" dirty="0"/>
          </a:p>
        </p:txBody>
      </p:sp>
      <p:sp>
        <p:nvSpPr>
          <p:cNvPr id="9" name="Text 7"/>
          <p:cNvSpPr/>
          <p:nvPr/>
        </p:nvSpPr>
        <p:spPr>
          <a:xfrm>
            <a:off x="3054096" y="3017520"/>
            <a:ext cx="320040" cy="457200"/>
          </a:xfrm>
          <a:prstGeom prst="rect">
            <a:avLst/>
          </a:prstGeom>
          <a:noFill/>
          <a:ln/>
        </p:spPr>
        <p:txBody>
          <a:bodyPr wrap="square" rtlCol="0" anchor="ctr"/>
          <a:lstStyle/>
          <a:p>
            <a:pPr algn="ctr" indent="0" marL="0">
              <a:buNone/>
            </a:pPr>
            <a:r>
              <a:rPr lang="en-US" sz="1600" b="1" dirty="0">
                <a:solidFill>
                  <a:srgbClr val="232F3E"/>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3099816" y="2212848"/>
            <a:ext cx="1965960" cy="1993392"/>
          </a:xfrm>
          <a:prstGeom prst="roundRect">
            <a:avLst>
              <a:gd name="adj" fmla="val 3721"/>
            </a:avLst>
          </a:prstGeom>
          <a:solidFill>
            <a:srgbClr val="37BC9B"/>
          </a:solidFill>
          <a:ln/>
        </p:spPr>
      </p:sp>
      <p:sp>
        <p:nvSpPr>
          <p:cNvPr id="11" name="Text 9"/>
          <p:cNvSpPr/>
          <p:nvPr/>
        </p:nvSpPr>
        <p:spPr>
          <a:xfrm>
            <a:off x="3191256" y="2350008"/>
            <a:ext cx="1783080" cy="640080"/>
          </a:xfrm>
          <a:prstGeom prst="rect">
            <a:avLst/>
          </a:prstGeom>
          <a:noFill/>
          <a:ln/>
        </p:spPr>
        <p:txBody>
          <a:bodyPr wrap="square"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TCP Segment</a:t>
            </a:r>
            <a:endParaRPr lang="en-US" sz="1200" dirty="0"/>
          </a:p>
        </p:txBody>
      </p:sp>
      <p:sp>
        <p:nvSpPr>
          <p:cNvPr id="12" name="Text 10"/>
          <p:cNvSpPr/>
          <p:nvPr/>
        </p:nvSpPr>
        <p:spPr>
          <a:xfrm>
            <a:off x="3191256" y="2898648"/>
            <a:ext cx="1783080" cy="1097280"/>
          </a:xfrm>
          <a:prstGeom prst="rect">
            <a:avLst/>
          </a:prstGeom>
          <a:noFill/>
          <a:ln/>
        </p:spPr>
        <p:txBody>
          <a:bodyPr wrap="square" rtlCol="0" anchor="t"/>
          <a:lstStyle/>
          <a:p>
            <a:pPr algn="ctr" indent="0" marL="0">
              <a:buNone/>
            </a:pPr>
            <a:r>
              <a:rPr lang="en-US" sz="1000" dirty="0">
                <a:solidFill>
                  <a:srgbClr val="1A1A1A"/>
                </a:solidFill>
                <a:latin typeface="Calibri" pitchFamily="34" charset="0"/>
                <a:ea typeface="Calibri" pitchFamily="34" charset="-122"/>
                <a:cs typeface="Calibri" pitchFamily="34" charset="-120"/>
              </a:rPr>
              <a:t>+ port numbers</a:t>
            </a:r>
            <a:endParaRPr lang="en-US" sz="1000" dirty="0"/>
          </a:p>
        </p:txBody>
      </p:sp>
      <p:sp>
        <p:nvSpPr>
          <p:cNvPr id="13" name="Text 11"/>
          <p:cNvSpPr/>
          <p:nvPr/>
        </p:nvSpPr>
        <p:spPr>
          <a:xfrm>
            <a:off x="5065776" y="3017520"/>
            <a:ext cx="320040" cy="457200"/>
          </a:xfrm>
          <a:prstGeom prst="rect">
            <a:avLst/>
          </a:prstGeom>
          <a:noFill/>
          <a:ln/>
        </p:spPr>
        <p:txBody>
          <a:bodyPr wrap="square" rtlCol="0" anchor="ctr"/>
          <a:lstStyle/>
          <a:p>
            <a:pPr algn="ctr" indent="0" marL="0">
              <a:buNone/>
            </a:pPr>
            <a:r>
              <a:rPr lang="en-US" sz="1600" b="1" dirty="0">
                <a:solidFill>
                  <a:srgbClr val="232F3E"/>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5111496" y="2322576"/>
            <a:ext cx="1965960" cy="1883664"/>
          </a:xfrm>
          <a:prstGeom prst="roundRect">
            <a:avLst>
              <a:gd name="adj" fmla="val 3883"/>
            </a:avLst>
          </a:prstGeom>
          <a:solidFill>
            <a:srgbClr val="4FC1E9"/>
          </a:solidFill>
          <a:ln/>
        </p:spPr>
      </p:sp>
      <p:sp>
        <p:nvSpPr>
          <p:cNvPr id="15" name="Text 13"/>
          <p:cNvSpPr/>
          <p:nvPr/>
        </p:nvSpPr>
        <p:spPr>
          <a:xfrm>
            <a:off x="5202936" y="2459736"/>
            <a:ext cx="1783080" cy="640080"/>
          </a:xfrm>
          <a:prstGeom prst="rect">
            <a:avLst/>
          </a:prstGeom>
          <a:noFill/>
          <a:ln/>
        </p:spPr>
        <p:txBody>
          <a:bodyPr wrap="square"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IP Packet</a:t>
            </a:r>
            <a:endParaRPr lang="en-US" sz="1200" dirty="0"/>
          </a:p>
        </p:txBody>
      </p:sp>
      <p:sp>
        <p:nvSpPr>
          <p:cNvPr id="16" name="Text 14"/>
          <p:cNvSpPr/>
          <p:nvPr/>
        </p:nvSpPr>
        <p:spPr>
          <a:xfrm>
            <a:off x="5202936" y="3008376"/>
            <a:ext cx="1783080" cy="1097280"/>
          </a:xfrm>
          <a:prstGeom prst="rect">
            <a:avLst/>
          </a:prstGeom>
          <a:noFill/>
          <a:ln/>
        </p:spPr>
        <p:txBody>
          <a:bodyPr wrap="square" rtlCol="0" anchor="t"/>
          <a:lstStyle/>
          <a:p>
            <a:pPr algn="ctr" indent="0" marL="0">
              <a:buNone/>
            </a:pPr>
            <a:r>
              <a:rPr lang="en-US" sz="1000" dirty="0">
                <a:solidFill>
                  <a:srgbClr val="1A1A1A"/>
                </a:solidFill>
                <a:latin typeface="Calibri" pitchFamily="34" charset="0"/>
                <a:ea typeface="Calibri" pitchFamily="34" charset="-122"/>
                <a:cs typeface="Calibri" pitchFamily="34" charset="-120"/>
              </a:rPr>
              <a:t>+ source &amp; destination IP</a:t>
            </a:r>
            <a:endParaRPr lang="en-US" sz="1000" dirty="0"/>
          </a:p>
        </p:txBody>
      </p:sp>
      <p:sp>
        <p:nvSpPr>
          <p:cNvPr id="17" name="Text 15"/>
          <p:cNvSpPr/>
          <p:nvPr/>
        </p:nvSpPr>
        <p:spPr>
          <a:xfrm>
            <a:off x="7077456" y="3017520"/>
            <a:ext cx="320040" cy="457200"/>
          </a:xfrm>
          <a:prstGeom prst="rect">
            <a:avLst/>
          </a:prstGeom>
          <a:noFill/>
          <a:ln/>
        </p:spPr>
        <p:txBody>
          <a:bodyPr wrap="square" rtlCol="0" anchor="ctr"/>
          <a:lstStyle/>
          <a:p>
            <a:pPr algn="ctr" indent="0" marL="0">
              <a:buNone/>
            </a:pPr>
            <a:r>
              <a:rPr lang="en-US" sz="1600" b="1" dirty="0">
                <a:solidFill>
                  <a:srgbClr val="232F3E"/>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7123176" y="2432304"/>
            <a:ext cx="1965960" cy="1773936"/>
          </a:xfrm>
          <a:prstGeom prst="roundRect">
            <a:avLst>
              <a:gd name="adj" fmla="val 4124"/>
            </a:avLst>
          </a:prstGeom>
          <a:solidFill>
            <a:srgbClr val="5D9CEC"/>
          </a:solidFill>
          <a:ln/>
        </p:spPr>
      </p:sp>
      <p:sp>
        <p:nvSpPr>
          <p:cNvPr id="19" name="Text 17"/>
          <p:cNvSpPr/>
          <p:nvPr/>
        </p:nvSpPr>
        <p:spPr>
          <a:xfrm>
            <a:off x="7214616" y="2569464"/>
            <a:ext cx="1783080" cy="640080"/>
          </a:xfrm>
          <a:prstGeom prst="rect">
            <a:avLst/>
          </a:prstGeom>
          <a:noFill/>
          <a:ln/>
        </p:spPr>
        <p:txBody>
          <a:bodyPr wrap="square"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Ethernet Frame</a:t>
            </a:r>
            <a:endParaRPr lang="en-US" sz="1200" dirty="0"/>
          </a:p>
        </p:txBody>
      </p:sp>
      <p:sp>
        <p:nvSpPr>
          <p:cNvPr id="20" name="Text 18"/>
          <p:cNvSpPr/>
          <p:nvPr/>
        </p:nvSpPr>
        <p:spPr>
          <a:xfrm>
            <a:off x="7214616" y="3118104"/>
            <a:ext cx="1783080" cy="1097280"/>
          </a:xfrm>
          <a:prstGeom prst="rect">
            <a:avLst/>
          </a:prstGeom>
          <a:noFill/>
          <a:ln/>
        </p:spPr>
        <p:txBody>
          <a:bodyPr wrap="square" rtlCol="0" anchor="t"/>
          <a:lstStyle/>
          <a:p>
            <a:pPr algn="ctr" indent="0" marL="0">
              <a:buNone/>
            </a:pPr>
            <a:r>
              <a:rPr lang="en-US" sz="1000" dirty="0">
                <a:solidFill>
                  <a:srgbClr val="1A1A1A"/>
                </a:solidFill>
                <a:latin typeface="Calibri" pitchFamily="34" charset="0"/>
                <a:ea typeface="Calibri" pitchFamily="34" charset="-122"/>
                <a:cs typeface="Calibri" pitchFamily="34" charset="-120"/>
              </a:rPr>
              <a:t>+ MAC addresses</a:t>
            </a:r>
            <a:endParaRPr lang="en-US" sz="1000" dirty="0"/>
          </a:p>
        </p:txBody>
      </p:sp>
      <p:sp>
        <p:nvSpPr>
          <p:cNvPr id="21" name="Text 19"/>
          <p:cNvSpPr/>
          <p:nvPr/>
        </p:nvSpPr>
        <p:spPr>
          <a:xfrm>
            <a:off x="9089136" y="3017520"/>
            <a:ext cx="320040" cy="457200"/>
          </a:xfrm>
          <a:prstGeom prst="rect">
            <a:avLst/>
          </a:prstGeom>
          <a:noFill/>
          <a:ln/>
        </p:spPr>
        <p:txBody>
          <a:bodyPr wrap="square" rtlCol="0" anchor="ctr"/>
          <a:lstStyle/>
          <a:p>
            <a:pPr algn="ctr" indent="0" marL="0">
              <a:buNone/>
            </a:pPr>
            <a:r>
              <a:rPr lang="en-US" sz="1600" b="1" dirty="0">
                <a:solidFill>
                  <a:srgbClr val="232F3E"/>
                </a:solidFill>
                <a:latin typeface="Calibri" pitchFamily="34" charset="0"/>
                <a:ea typeface="Calibri" pitchFamily="34" charset="-122"/>
                <a:cs typeface="Calibri" pitchFamily="34" charset="-120"/>
              </a:rPr>
              <a:t>→</a:t>
            </a:r>
            <a:endParaRPr lang="en-US" sz="1600" dirty="0"/>
          </a:p>
        </p:txBody>
      </p:sp>
      <p:sp>
        <p:nvSpPr>
          <p:cNvPr id="22" name="Shape 20"/>
          <p:cNvSpPr/>
          <p:nvPr/>
        </p:nvSpPr>
        <p:spPr>
          <a:xfrm>
            <a:off x="9134856" y="2542032"/>
            <a:ext cx="1965960" cy="1664208"/>
          </a:xfrm>
          <a:prstGeom prst="roundRect">
            <a:avLst>
              <a:gd name="adj" fmla="val 4396"/>
            </a:avLst>
          </a:prstGeom>
          <a:solidFill>
            <a:srgbClr val="AC92EC"/>
          </a:solidFill>
          <a:ln/>
        </p:spPr>
      </p:sp>
      <p:sp>
        <p:nvSpPr>
          <p:cNvPr id="23" name="Text 21"/>
          <p:cNvSpPr/>
          <p:nvPr/>
        </p:nvSpPr>
        <p:spPr>
          <a:xfrm>
            <a:off x="9226296" y="2679192"/>
            <a:ext cx="1783080" cy="640080"/>
          </a:xfrm>
          <a:prstGeom prst="rect">
            <a:avLst/>
          </a:prstGeom>
          <a:noFill/>
          <a:ln/>
        </p:spPr>
        <p:txBody>
          <a:bodyPr wrap="square" rtlCol="0" anchor="t"/>
          <a:lstStyle/>
          <a:p>
            <a:pPr algn="ctr" indent="0" marL="0">
              <a:buNone/>
            </a:pPr>
            <a:r>
              <a:rPr lang="en-US" sz="1200" b="1" dirty="0">
                <a:solidFill>
                  <a:srgbClr val="1A1A1A"/>
                </a:solidFill>
                <a:latin typeface="Arial" pitchFamily="34" charset="0"/>
                <a:ea typeface="Arial" pitchFamily="34" charset="-122"/>
                <a:cs typeface="Arial" pitchFamily="34" charset="-120"/>
              </a:rPr>
              <a:t>Bits</a:t>
            </a:r>
            <a:endParaRPr lang="en-US" sz="1200" dirty="0"/>
          </a:p>
        </p:txBody>
      </p:sp>
      <p:sp>
        <p:nvSpPr>
          <p:cNvPr id="24" name="Text 22"/>
          <p:cNvSpPr/>
          <p:nvPr/>
        </p:nvSpPr>
        <p:spPr>
          <a:xfrm>
            <a:off x="9226296" y="3227832"/>
            <a:ext cx="1783080" cy="1097280"/>
          </a:xfrm>
          <a:prstGeom prst="rect">
            <a:avLst/>
          </a:prstGeom>
          <a:noFill/>
          <a:ln/>
        </p:spPr>
        <p:txBody>
          <a:bodyPr wrap="square" rtlCol="0" anchor="t"/>
          <a:lstStyle/>
          <a:p>
            <a:pPr algn="ctr" indent="0" marL="0">
              <a:buNone/>
            </a:pPr>
            <a:r>
              <a:rPr lang="en-US" sz="1000" dirty="0">
                <a:solidFill>
                  <a:srgbClr val="1A1A1A"/>
                </a:solidFill>
                <a:latin typeface="Calibri" pitchFamily="34" charset="0"/>
                <a:ea typeface="Calibri" pitchFamily="34" charset="-122"/>
                <a:cs typeface="Calibri" pitchFamily="34" charset="-120"/>
              </a:rPr>
              <a:t>Sent as electrical / radio signals</a:t>
            </a:r>
            <a:endParaRPr lang="en-US" sz="1000" dirty="0"/>
          </a:p>
        </p:txBody>
      </p:sp>
      <p:sp>
        <p:nvSpPr>
          <p:cNvPr id="25" name="Shape 23"/>
          <p:cNvSpPr/>
          <p:nvPr/>
        </p:nvSpPr>
        <p:spPr>
          <a:xfrm>
            <a:off x="548640" y="4663440"/>
            <a:ext cx="11091672" cy="566928"/>
          </a:xfrm>
          <a:prstGeom prst="roundRect">
            <a:avLst>
              <a:gd name="adj" fmla="val 12903"/>
            </a:avLst>
          </a:prstGeom>
          <a:solidFill>
            <a:srgbClr val="FFFFFF"/>
          </a:solidFill>
          <a:ln w="15875">
            <a:solidFill>
              <a:srgbClr val="FF9900"/>
            </a:solidFill>
            <a:prstDash val="solid"/>
          </a:ln>
        </p:spPr>
      </p:sp>
      <p:sp>
        <p:nvSpPr>
          <p:cNvPr id="26" name="Text 24"/>
          <p:cNvSpPr/>
          <p:nvPr/>
        </p:nvSpPr>
        <p:spPr>
          <a:xfrm>
            <a:off x="777240" y="466344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Like mailing a letter inside an envelope, inside a padded package, inside a shipping box — each layer adds its own label.</a:t>
            </a:r>
            <a:endParaRPr lang="en-US" sz="1100" dirty="0"/>
          </a:p>
        </p:txBody>
      </p:sp>
      <p:sp>
        <p:nvSpPr>
          <p:cNvPr id="27" name="Text 25"/>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8" name="Text 26"/>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IP ADDRESSING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IPv4 Addressing</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Understand the structure of a 32-bit IPv4 address.</a:t>
            </a:r>
            <a:endParaRPr lang="en-US" sz="1250" dirty="0"/>
          </a:p>
        </p:txBody>
      </p:sp>
      <p:sp>
        <p:nvSpPr>
          <p:cNvPr id="6" name="Shape 4"/>
          <p:cNvSpPr/>
          <p:nvPr/>
        </p:nvSpPr>
        <p:spPr>
          <a:xfrm>
            <a:off x="548640" y="1828800"/>
            <a:ext cx="5486400" cy="1371600"/>
          </a:xfrm>
          <a:prstGeom prst="roundRect">
            <a:avLst>
              <a:gd name="adj" fmla="val 6667"/>
            </a:avLst>
          </a:prstGeom>
          <a:solidFill>
            <a:srgbClr val="232F3E"/>
          </a:solidFill>
          <a:ln/>
        </p:spPr>
      </p:sp>
      <p:sp>
        <p:nvSpPr>
          <p:cNvPr id="7" name="Text 5"/>
          <p:cNvSpPr/>
          <p:nvPr/>
        </p:nvSpPr>
        <p:spPr>
          <a:xfrm>
            <a:off x="548640" y="1828800"/>
            <a:ext cx="5486400" cy="822960"/>
          </a:xfrm>
          <a:prstGeom prst="rect">
            <a:avLst/>
          </a:prstGeom>
          <a:noFill/>
          <a:ln/>
        </p:spPr>
        <p:txBody>
          <a:bodyPr wrap="square" rtlCol="0" anchor="ctr"/>
          <a:lstStyle/>
          <a:p>
            <a:pPr algn="ctr" indent="0" marL="0">
              <a:buNone/>
            </a:pPr>
            <a:r>
              <a:rPr lang="en-US" sz="3000" b="1" dirty="0">
                <a:solidFill>
                  <a:srgbClr val="FF9900"/>
                </a:solidFill>
                <a:latin typeface="Consolas" pitchFamily="34" charset="0"/>
                <a:ea typeface="Consolas" pitchFamily="34" charset="-122"/>
                <a:cs typeface="Consolas" pitchFamily="34" charset="-120"/>
              </a:rPr>
              <a:t>192</a:t>
            </a:r>
            <a:pPr algn="ctr" indent="0" marL="0">
              <a:buNone/>
            </a:pPr>
            <a:r>
              <a:rPr lang="en-US" sz="3000" b="1" dirty="0">
                <a:solidFill>
                  <a:srgbClr val="FFFFFF"/>
                </a:solidFill>
                <a:latin typeface="Consolas" pitchFamily="34" charset="0"/>
                <a:ea typeface="Consolas" pitchFamily="34" charset="-122"/>
                <a:cs typeface="Consolas" pitchFamily="34" charset="-120"/>
              </a:rPr>
              <a:t>.</a:t>
            </a:r>
            <a:pPr algn="ctr" indent="0" marL="0">
              <a:buNone/>
            </a:pPr>
            <a:r>
              <a:rPr lang="en-US" sz="3000" b="1" dirty="0">
                <a:solidFill>
                  <a:srgbClr val="FF9900"/>
                </a:solidFill>
                <a:latin typeface="Consolas" pitchFamily="34" charset="0"/>
                <a:ea typeface="Consolas" pitchFamily="34" charset="-122"/>
                <a:cs typeface="Consolas" pitchFamily="34" charset="-120"/>
              </a:rPr>
              <a:t>168</a:t>
            </a:r>
            <a:pPr algn="ctr" indent="0" marL="0">
              <a:buNone/>
            </a:pPr>
            <a:r>
              <a:rPr lang="en-US" sz="3000" b="1" dirty="0">
                <a:solidFill>
                  <a:srgbClr val="FFFFFF"/>
                </a:solidFill>
                <a:latin typeface="Consolas" pitchFamily="34" charset="0"/>
                <a:ea typeface="Consolas" pitchFamily="34" charset="-122"/>
                <a:cs typeface="Consolas" pitchFamily="34" charset="-120"/>
              </a:rPr>
              <a:t>.</a:t>
            </a:r>
            <a:pPr algn="ctr" indent="0" marL="0">
              <a:buNone/>
            </a:pPr>
            <a:r>
              <a:rPr lang="en-US" sz="3000" b="1" dirty="0">
                <a:solidFill>
                  <a:srgbClr val="4FC1E9"/>
                </a:solidFill>
                <a:latin typeface="Consolas" pitchFamily="34" charset="0"/>
                <a:ea typeface="Consolas" pitchFamily="34" charset="-122"/>
                <a:cs typeface="Consolas" pitchFamily="34" charset="-120"/>
              </a:rPr>
              <a:t>1</a:t>
            </a:r>
            <a:pPr algn="ctr" indent="0" marL="0">
              <a:buNone/>
            </a:pPr>
            <a:r>
              <a:rPr lang="en-US" sz="3000" b="1" dirty="0">
                <a:solidFill>
                  <a:srgbClr val="FFFFFF"/>
                </a:solidFill>
                <a:latin typeface="Consolas" pitchFamily="34" charset="0"/>
                <a:ea typeface="Consolas" pitchFamily="34" charset="-122"/>
                <a:cs typeface="Consolas" pitchFamily="34" charset="-120"/>
              </a:rPr>
              <a:t>.</a:t>
            </a:r>
            <a:pPr algn="ctr" indent="0" marL="0">
              <a:buNone/>
            </a:pPr>
            <a:r>
              <a:rPr lang="en-US" sz="3000" b="1" dirty="0">
                <a:solidFill>
                  <a:srgbClr val="4FC1E9"/>
                </a:solidFill>
                <a:latin typeface="Consolas" pitchFamily="34" charset="0"/>
                <a:ea typeface="Consolas" pitchFamily="34" charset="-122"/>
                <a:cs typeface="Consolas" pitchFamily="34" charset="-120"/>
              </a:rPr>
              <a:t>10</a:t>
            </a:r>
            <a:endParaRPr lang="en-US" sz="3000" dirty="0"/>
          </a:p>
        </p:txBody>
      </p:sp>
      <p:sp>
        <p:nvSpPr>
          <p:cNvPr id="8" name="Text 6"/>
          <p:cNvSpPr/>
          <p:nvPr/>
        </p:nvSpPr>
        <p:spPr>
          <a:xfrm>
            <a:off x="548640" y="2606040"/>
            <a:ext cx="5486400" cy="457200"/>
          </a:xfrm>
          <a:prstGeom prst="rect">
            <a:avLst/>
          </a:prstGeom>
          <a:noFill/>
          <a:ln/>
        </p:spPr>
        <p:txBody>
          <a:bodyPr wrap="square" rtlCol="0" anchor="ctr"/>
          <a:lstStyle/>
          <a:p>
            <a:pPr algn="ctr" indent="0" marL="0">
              <a:buNone/>
            </a:pPr>
            <a:r>
              <a:rPr lang="en-US" sz="1200" b="1" dirty="0">
                <a:solidFill>
                  <a:srgbClr val="FF9900"/>
                </a:solidFill>
                <a:latin typeface="Calibri" pitchFamily="34" charset="0"/>
                <a:ea typeface="Calibri" pitchFamily="34" charset="-122"/>
                <a:cs typeface="Calibri" pitchFamily="34" charset="-120"/>
              </a:rPr>
              <a:t>Network portion</a:t>
            </a:r>
            <a:pPr algn="ctr" indent="0" marL="0">
              <a:buNone/>
            </a:pPr>
            <a:r>
              <a:rPr lang="en-US" sz="1200" dirty="0">
                <a:solidFill>
                  <a:srgbClr val="000000"/>
                </a:solidFill>
                <a:latin typeface="Calibri" pitchFamily="34" charset="0"/>
                <a:ea typeface="Calibri" pitchFamily="34" charset="-122"/>
                <a:cs typeface="Calibri" pitchFamily="34" charset="-120"/>
              </a:rPr>
              <a:t>     </a:t>
            </a:r>
            <a:pPr algn="ctr" indent="0" marL="0">
              <a:buNone/>
            </a:pPr>
            <a:r>
              <a:rPr lang="en-US" sz="1200" b="1" dirty="0">
                <a:solidFill>
                  <a:srgbClr val="4FC1E9"/>
                </a:solidFill>
                <a:latin typeface="Calibri" pitchFamily="34" charset="0"/>
                <a:ea typeface="Calibri" pitchFamily="34" charset="-122"/>
                <a:cs typeface="Calibri" pitchFamily="34" charset="-120"/>
              </a:rPr>
              <a:t>Host portion</a:t>
            </a:r>
            <a:endParaRPr lang="en-US" sz="1200" dirty="0"/>
          </a:p>
        </p:txBody>
      </p:sp>
      <p:sp>
        <p:nvSpPr>
          <p:cNvPr id="9" name="Text 7"/>
          <p:cNvSpPr/>
          <p:nvPr/>
        </p:nvSpPr>
        <p:spPr>
          <a:xfrm>
            <a:off x="548640" y="3383280"/>
            <a:ext cx="5486400" cy="914400"/>
          </a:xfrm>
          <a:prstGeom prst="rect">
            <a:avLst/>
          </a:prstGeom>
          <a:noFill/>
          <a:ln/>
        </p:spPr>
        <p:txBody>
          <a:bodyPr wrap="square" rtlCol="0" anchor="t"/>
          <a:lstStyle/>
          <a:p>
            <a:pPr indent="0" marL="0">
              <a:buNone/>
            </a:pPr>
            <a:r>
              <a:rPr lang="en-US" sz="1300" dirty="0">
                <a:solidFill>
                  <a:srgbClr val="16191F"/>
                </a:solidFill>
                <a:latin typeface="Calibri" pitchFamily="34" charset="0"/>
                <a:ea typeface="Calibri" pitchFamily="34" charset="-122"/>
                <a:cs typeface="Calibri" pitchFamily="34" charset="-120"/>
              </a:rPr>
              <a:t>A 32-bit number written as four decimal numbers (0-255), separated by dots — split into a network part and a host part.</a:t>
            </a:r>
            <a:endParaRPr lang="en-US" sz="1300" dirty="0"/>
          </a:p>
        </p:txBody>
      </p:sp>
      <p:sp>
        <p:nvSpPr>
          <p:cNvPr id="10" name="Shape 8"/>
          <p:cNvSpPr/>
          <p:nvPr/>
        </p:nvSpPr>
        <p:spPr>
          <a:xfrm>
            <a:off x="6400800" y="1828800"/>
            <a:ext cx="5212080" cy="3566160"/>
          </a:xfrm>
          <a:prstGeom prst="roundRect">
            <a:avLst>
              <a:gd name="adj" fmla="val 2564"/>
            </a:avLst>
          </a:prstGeom>
          <a:solidFill>
            <a:srgbClr val="FFFFFF"/>
          </a:solidFill>
          <a:ln w="12700">
            <a:solidFill>
              <a:srgbClr val="D9DCE1"/>
            </a:solidFill>
            <a:prstDash val="solid"/>
          </a:ln>
        </p:spPr>
      </p:sp>
      <p:sp>
        <p:nvSpPr>
          <p:cNvPr id="11" name="Text 9"/>
          <p:cNvSpPr/>
          <p:nvPr/>
        </p:nvSpPr>
        <p:spPr>
          <a:xfrm>
            <a:off x="6675120" y="2011680"/>
            <a:ext cx="4572000" cy="32004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EXAMPLES</a:t>
            </a:r>
            <a:endParaRPr lang="en-US" sz="1100" dirty="0"/>
          </a:p>
        </p:txBody>
      </p:sp>
      <p:sp>
        <p:nvSpPr>
          <p:cNvPr id="12" name="Text 10"/>
          <p:cNvSpPr/>
          <p:nvPr/>
        </p:nvSpPr>
        <p:spPr>
          <a:xfrm>
            <a:off x="6675120" y="2423160"/>
            <a:ext cx="4663440" cy="365760"/>
          </a:xfrm>
          <a:prstGeom prst="rect">
            <a:avLst/>
          </a:prstGeom>
          <a:noFill/>
          <a:ln/>
        </p:spPr>
        <p:txBody>
          <a:bodyPr wrap="square" rtlCol="0" anchor="ctr"/>
          <a:lstStyle/>
          <a:p>
            <a:pPr indent="0" marL="0">
              <a:buNone/>
            </a:pPr>
            <a:r>
              <a:rPr lang="en-US" sz="1600" b="1" dirty="0">
                <a:solidFill>
                  <a:srgbClr val="232F3E"/>
                </a:solidFill>
                <a:latin typeface="Consolas" pitchFamily="34" charset="0"/>
                <a:ea typeface="Consolas" pitchFamily="34" charset="-122"/>
                <a:cs typeface="Consolas" pitchFamily="34" charset="-120"/>
              </a:rPr>
              <a:t>192.168.1.10</a:t>
            </a:r>
            <a:endParaRPr lang="en-US" sz="1600" dirty="0"/>
          </a:p>
        </p:txBody>
      </p:sp>
      <p:sp>
        <p:nvSpPr>
          <p:cNvPr id="13" name="Text 11"/>
          <p:cNvSpPr/>
          <p:nvPr/>
        </p:nvSpPr>
        <p:spPr>
          <a:xfrm>
            <a:off x="6675120" y="2788920"/>
            <a:ext cx="4663440" cy="365760"/>
          </a:xfrm>
          <a:prstGeom prst="rect">
            <a:avLst/>
          </a:prstGeom>
          <a:noFill/>
          <a:ln/>
        </p:spPr>
        <p:txBody>
          <a:bodyPr wrap="square" rtlCol="0" anchor="ctr"/>
          <a:lstStyle/>
          <a:p>
            <a:pPr indent="0" marL="0">
              <a:buNone/>
            </a:pPr>
            <a:r>
              <a:rPr lang="en-US" sz="1200" dirty="0">
                <a:solidFill>
                  <a:srgbClr val="5A6B75"/>
                </a:solidFill>
                <a:latin typeface="Calibri" pitchFamily="34" charset="0"/>
                <a:ea typeface="Calibri" pitchFamily="34" charset="-122"/>
                <a:cs typeface="Calibri" pitchFamily="34" charset="-120"/>
              </a:rPr>
              <a:t>A typical home network device</a:t>
            </a:r>
            <a:endParaRPr lang="en-US" sz="1200" dirty="0"/>
          </a:p>
        </p:txBody>
      </p:sp>
      <p:sp>
        <p:nvSpPr>
          <p:cNvPr id="14" name="Text 12"/>
          <p:cNvSpPr/>
          <p:nvPr/>
        </p:nvSpPr>
        <p:spPr>
          <a:xfrm>
            <a:off x="6675120" y="3337560"/>
            <a:ext cx="4663440" cy="365760"/>
          </a:xfrm>
          <a:prstGeom prst="rect">
            <a:avLst/>
          </a:prstGeom>
          <a:noFill/>
          <a:ln/>
        </p:spPr>
        <p:txBody>
          <a:bodyPr wrap="square" rtlCol="0" anchor="ctr"/>
          <a:lstStyle/>
          <a:p>
            <a:pPr indent="0" marL="0">
              <a:buNone/>
            </a:pPr>
            <a:r>
              <a:rPr lang="en-US" sz="1600" b="1" dirty="0">
                <a:solidFill>
                  <a:srgbClr val="232F3E"/>
                </a:solidFill>
                <a:latin typeface="Consolas" pitchFamily="34" charset="0"/>
                <a:ea typeface="Consolas" pitchFamily="34" charset="-122"/>
                <a:cs typeface="Consolas" pitchFamily="34" charset="-120"/>
              </a:rPr>
              <a:t>10.0.0.25</a:t>
            </a:r>
            <a:endParaRPr lang="en-US" sz="1600" dirty="0"/>
          </a:p>
        </p:txBody>
      </p:sp>
      <p:sp>
        <p:nvSpPr>
          <p:cNvPr id="15" name="Text 13"/>
          <p:cNvSpPr/>
          <p:nvPr/>
        </p:nvSpPr>
        <p:spPr>
          <a:xfrm>
            <a:off x="6675120" y="3703320"/>
            <a:ext cx="4663440" cy="365760"/>
          </a:xfrm>
          <a:prstGeom prst="rect">
            <a:avLst/>
          </a:prstGeom>
          <a:noFill/>
          <a:ln/>
        </p:spPr>
        <p:txBody>
          <a:bodyPr wrap="square" rtlCol="0" anchor="ctr"/>
          <a:lstStyle/>
          <a:p>
            <a:pPr indent="0" marL="0">
              <a:buNone/>
            </a:pPr>
            <a:r>
              <a:rPr lang="en-US" sz="1200" dirty="0">
                <a:solidFill>
                  <a:srgbClr val="5A6B75"/>
                </a:solidFill>
                <a:latin typeface="Calibri" pitchFamily="34" charset="0"/>
                <a:ea typeface="Calibri" pitchFamily="34" charset="-122"/>
                <a:cs typeface="Calibri" pitchFamily="34" charset="-120"/>
              </a:rPr>
              <a:t>A private AWS VPC instance</a:t>
            </a:r>
            <a:endParaRPr lang="en-US" sz="1200" dirty="0"/>
          </a:p>
        </p:txBody>
      </p:sp>
      <p:sp>
        <p:nvSpPr>
          <p:cNvPr id="16" name="Text 14"/>
          <p:cNvSpPr/>
          <p:nvPr/>
        </p:nvSpPr>
        <p:spPr>
          <a:xfrm>
            <a:off x="6675120" y="4251960"/>
            <a:ext cx="4663440" cy="365760"/>
          </a:xfrm>
          <a:prstGeom prst="rect">
            <a:avLst/>
          </a:prstGeom>
          <a:noFill/>
          <a:ln/>
        </p:spPr>
        <p:txBody>
          <a:bodyPr wrap="square" rtlCol="0" anchor="ctr"/>
          <a:lstStyle/>
          <a:p>
            <a:pPr indent="0" marL="0">
              <a:buNone/>
            </a:pPr>
            <a:r>
              <a:rPr lang="en-US" sz="1600" b="1" dirty="0">
                <a:solidFill>
                  <a:srgbClr val="232F3E"/>
                </a:solidFill>
                <a:latin typeface="Consolas" pitchFamily="34" charset="0"/>
                <a:ea typeface="Consolas" pitchFamily="34" charset="-122"/>
                <a:cs typeface="Consolas" pitchFamily="34" charset="-120"/>
              </a:rPr>
              <a:t>172.16.5.1</a:t>
            </a:r>
            <a:endParaRPr lang="en-US" sz="1600" dirty="0"/>
          </a:p>
        </p:txBody>
      </p:sp>
      <p:sp>
        <p:nvSpPr>
          <p:cNvPr id="17" name="Text 15"/>
          <p:cNvSpPr/>
          <p:nvPr/>
        </p:nvSpPr>
        <p:spPr>
          <a:xfrm>
            <a:off x="6675120" y="4617720"/>
            <a:ext cx="4663440" cy="365760"/>
          </a:xfrm>
          <a:prstGeom prst="rect">
            <a:avLst/>
          </a:prstGeom>
          <a:noFill/>
          <a:ln/>
        </p:spPr>
        <p:txBody>
          <a:bodyPr wrap="square" rtlCol="0" anchor="ctr"/>
          <a:lstStyle/>
          <a:p>
            <a:pPr indent="0" marL="0">
              <a:buNone/>
            </a:pPr>
            <a:r>
              <a:rPr lang="en-US" sz="1200" dirty="0">
                <a:solidFill>
                  <a:srgbClr val="5A6B75"/>
                </a:solidFill>
                <a:latin typeface="Calibri" pitchFamily="34" charset="0"/>
                <a:ea typeface="Calibri" pitchFamily="34" charset="-122"/>
                <a:cs typeface="Calibri" pitchFamily="34" charset="-120"/>
              </a:rPr>
              <a:t>A corporate private network device</a:t>
            </a:r>
            <a:endParaRPr lang="en-US" sz="1200" dirty="0"/>
          </a:p>
        </p:txBody>
      </p:sp>
      <p:sp>
        <p:nvSpPr>
          <p:cNvPr id="18" name="Text 16"/>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19" name="Text 17"/>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IP ADDRESSING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Public vs. Private IP Addresses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Distinguish addresses reserved for private networks (RFC 1918) from public, Internet-routable ones.</a:t>
            </a:r>
            <a:endParaRPr lang="en-US" sz="1250" dirty="0"/>
          </a:p>
        </p:txBody>
      </p:sp>
      <p:sp>
        <p:nvSpPr>
          <p:cNvPr id="6" name="Shape 4"/>
          <p:cNvSpPr/>
          <p:nvPr/>
        </p:nvSpPr>
        <p:spPr>
          <a:xfrm>
            <a:off x="548640" y="1828800"/>
            <a:ext cx="5394960" cy="3566160"/>
          </a:xfrm>
          <a:prstGeom prst="roundRect">
            <a:avLst>
              <a:gd name="adj" fmla="val 2564"/>
            </a:avLst>
          </a:prstGeom>
          <a:solidFill>
            <a:srgbClr val="FFFFFF"/>
          </a:solidFill>
          <a:ln w="12700">
            <a:solidFill>
              <a:srgbClr val="D9DCE1"/>
            </a:solidFill>
            <a:prstDash val="solid"/>
          </a:ln>
        </p:spPr>
      </p:sp>
      <p:sp>
        <p:nvSpPr>
          <p:cNvPr id="7" name="Text 5"/>
          <p:cNvSpPr/>
          <p:nvPr/>
        </p:nvSpPr>
        <p:spPr>
          <a:xfrm>
            <a:off x="822960" y="2011680"/>
            <a:ext cx="4846320" cy="320040"/>
          </a:xfrm>
          <a:prstGeom prst="rect">
            <a:avLst/>
          </a:prstGeom>
          <a:noFill/>
          <a:ln/>
        </p:spPr>
        <p:txBody>
          <a:bodyPr wrap="square" rtlCol="0" anchor="ctr"/>
          <a:lstStyle/>
          <a:p>
            <a:pPr indent="0" marL="0">
              <a:buNone/>
            </a:pPr>
            <a:r>
              <a:rPr lang="en-US" sz="1200" b="1" spc="100" kern="0" dirty="0">
                <a:solidFill>
                  <a:srgbClr val="1D8102"/>
                </a:solidFill>
                <a:latin typeface="Calibri" pitchFamily="34" charset="0"/>
                <a:ea typeface="Calibri" pitchFamily="34" charset="-122"/>
                <a:cs typeface="Calibri" pitchFamily="34" charset="-120"/>
              </a:rPr>
              <a:t>PRIVATE (RFC 1918)</a:t>
            </a:r>
            <a:endParaRPr lang="en-US" sz="1200" dirty="0"/>
          </a:p>
        </p:txBody>
      </p:sp>
      <p:sp>
        <p:nvSpPr>
          <p:cNvPr id="8" name="Text 6"/>
          <p:cNvSpPr/>
          <p:nvPr/>
        </p:nvSpPr>
        <p:spPr>
          <a:xfrm>
            <a:off x="822960" y="2331720"/>
            <a:ext cx="4846320" cy="457200"/>
          </a:xfrm>
          <a:prstGeom prst="rect">
            <a:avLst/>
          </a:prstGeom>
          <a:noFill/>
          <a:ln/>
        </p:spPr>
        <p:txBody>
          <a:bodyPr wrap="square" rtlCol="0" anchor="t"/>
          <a:lstStyle/>
          <a:p>
            <a:pPr indent="0" marL="0">
              <a:buNone/>
            </a:pPr>
            <a:r>
              <a:rPr lang="en-US" sz="1150" dirty="0">
                <a:solidFill>
                  <a:srgbClr val="5A6B75"/>
                </a:solidFill>
                <a:latin typeface="Calibri" pitchFamily="34" charset="0"/>
                <a:ea typeface="Calibri" pitchFamily="34" charset="-122"/>
                <a:cs typeface="Calibri" pitchFamily="34" charset="-120"/>
              </a:rPr>
              <a:t>Not routable on the public Internet — reused inside millions of private networks.</a:t>
            </a:r>
            <a:endParaRPr lang="en-US" sz="1150" dirty="0"/>
          </a:p>
        </p:txBody>
      </p:sp>
      <p:sp>
        <p:nvSpPr>
          <p:cNvPr id="9" name="Shape 7"/>
          <p:cNvSpPr/>
          <p:nvPr/>
        </p:nvSpPr>
        <p:spPr>
          <a:xfrm>
            <a:off x="822960" y="2880360"/>
            <a:ext cx="4846320" cy="566928"/>
          </a:xfrm>
          <a:prstGeom prst="roundRect">
            <a:avLst>
              <a:gd name="adj" fmla="val 9677"/>
            </a:avLst>
          </a:prstGeom>
          <a:solidFill>
            <a:srgbClr val="F0FAEC"/>
          </a:solidFill>
          <a:ln/>
        </p:spPr>
      </p:sp>
      <p:sp>
        <p:nvSpPr>
          <p:cNvPr id="10" name="Text 8"/>
          <p:cNvSpPr/>
          <p:nvPr/>
        </p:nvSpPr>
        <p:spPr>
          <a:xfrm>
            <a:off x="1005840" y="2880360"/>
            <a:ext cx="2377440" cy="566928"/>
          </a:xfrm>
          <a:prstGeom prst="rect">
            <a:avLst/>
          </a:prstGeom>
          <a:noFill/>
          <a:ln/>
        </p:spPr>
        <p:txBody>
          <a:bodyPr wrap="square" rtlCol="0" anchor="ctr"/>
          <a:lstStyle/>
          <a:p>
            <a:pPr indent="0" marL="0">
              <a:buNone/>
            </a:pPr>
            <a:r>
              <a:rPr lang="en-US" sz="1400" b="1" dirty="0">
                <a:solidFill>
                  <a:srgbClr val="1D8102"/>
                </a:solidFill>
                <a:latin typeface="Consolas" pitchFamily="34" charset="0"/>
                <a:ea typeface="Consolas" pitchFamily="34" charset="-122"/>
                <a:cs typeface="Consolas" pitchFamily="34" charset="-120"/>
              </a:rPr>
              <a:t>10.0.0.0/8</a:t>
            </a:r>
            <a:endParaRPr lang="en-US" sz="1400" dirty="0"/>
          </a:p>
        </p:txBody>
      </p:sp>
      <p:sp>
        <p:nvSpPr>
          <p:cNvPr id="11" name="Text 9"/>
          <p:cNvSpPr/>
          <p:nvPr/>
        </p:nvSpPr>
        <p:spPr>
          <a:xfrm>
            <a:off x="3383280" y="2880360"/>
            <a:ext cx="2194560" cy="566928"/>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16.7 million addresses</a:t>
            </a:r>
            <a:endParaRPr lang="en-US" sz="1050" dirty="0"/>
          </a:p>
        </p:txBody>
      </p:sp>
      <p:sp>
        <p:nvSpPr>
          <p:cNvPr id="12" name="Shape 10"/>
          <p:cNvSpPr/>
          <p:nvPr/>
        </p:nvSpPr>
        <p:spPr>
          <a:xfrm>
            <a:off x="822960" y="3566160"/>
            <a:ext cx="4846320" cy="566928"/>
          </a:xfrm>
          <a:prstGeom prst="roundRect">
            <a:avLst>
              <a:gd name="adj" fmla="val 9677"/>
            </a:avLst>
          </a:prstGeom>
          <a:solidFill>
            <a:srgbClr val="F0FAEC"/>
          </a:solidFill>
          <a:ln/>
        </p:spPr>
      </p:sp>
      <p:sp>
        <p:nvSpPr>
          <p:cNvPr id="13" name="Text 11"/>
          <p:cNvSpPr/>
          <p:nvPr/>
        </p:nvSpPr>
        <p:spPr>
          <a:xfrm>
            <a:off x="1005840" y="3566160"/>
            <a:ext cx="2377440" cy="566928"/>
          </a:xfrm>
          <a:prstGeom prst="rect">
            <a:avLst/>
          </a:prstGeom>
          <a:noFill/>
          <a:ln/>
        </p:spPr>
        <p:txBody>
          <a:bodyPr wrap="square" rtlCol="0" anchor="ctr"/>
          <a:lstStyle/>
          <a:p>
            <a:pPr indent="0" marL="0">
              <a:buNone/>
            </a:pPr>
            <a:r>
              <a:rPr lang="en-US" sz="1400" b="1" dirty="0">
                <a:solidFill>
                  <a:srgbClr val="1D8102"/>
                </a:solidFill>
                <a:latin typeface="Consolas" pitchFamily="34" charset="0"/>
                <a:ea typeface="Consolas" pitchFamily="34" charset="-122"/>
                <a:cs typeface="Consolas" pitchFamily="34" charset="-120"/>
              </a:rPr>
              <a:t>172.16.0.0/12</a:t>
            </a:r>
            <a:endParaRPr lang="en-US" sz="1400" dirty="0"/>
          </a:p>
        </p:txBody>
      </p:sp>
      <p:sp>
        <p:nvSpPr>
          <p:cNvPr id="14" name="Text 12"/>
          <p:cNvSpPr/>
          <p:nvPr/>
        </p:nvSpPr>
        <p:spPr>
          <a:xfrm>
            <a:off x="3383280" y="3566160"/>
            <a:ext cx="2194560" cy="566928"/>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1 million addresses</a:t>
            </a:r>
            <a:endParaRPr lang="en-US" sz="1050" dirty="0"/>
          </a:p>
        </p:txBody>
      </p:sp>
      <p:sp>
        <p:nvSpPr>
          <p:cNvPr id="15" name="Shape 13"/>
          <p:cNvSpPr/>
          <p:nvPr/>
        </p:nvSpPr>
        <p:spPr>
          <a:xfrm>
            <a:off x="822960" y="4251960"/>
            <a:ext cx="4846320" cy="566928"/>
          </a:xfrm>
          <a:prstGeom prst="roundRect">
            <a:avLst>
              <a:gd name="adj" fmla="val 9677"/>
            </a:avLst>
          </a:prstGeom>
          <a:solidFill>
            <a:srgbClr val="F0FAEC"/>
          </a:solidFill>
          <a:ln/>
        </p:spPr>
      </p:sp>
      <p:sp>
        <p:nvSpPr>
          <p:cNvPr id="16" name="Text 14"/>
          <p:cNvSpPr/>
          <p:nvPr/>
        </p:nvSpPr>
        <p:spPr>
          <a:xfrm>
            <a:off x="1005840" y="4251960"/>
            <a:ext cx="2377440" cy="566928"/>
          </a:xfrm>
          <a:prstGeom prst="rect">
            <a:avLst/>
          </a:prstGeom>
          <a:noFill/>
          <a:ln/>
        </p:spPr>
        <p:txBody>
          <a:bodyPr wrap="square" rtlCol="0" anchor="ctr"/>
          <a:lstStyle/>
          <a:p>
            <a:pPr indent="0" marL="0">
              <a:buNone/>
            </a:pPr>
            <a:r>
              <a:rPr lang="en-US" sz="1400" b="1" dirty="0">
                <a:solidFill>
                  <a:srgbClr val="1D8102"/>
                </a:solidFill>
                <a:latin typeface="Consolas" pitchFamily="34" charset="0"/>
                <a:ea typeface="Consolas" pitchFamily="34" charset="-122"/>
                <a:cs typeface="Consolas" pitchFamily="34" charset="-120"/>
              </a:rPr>
              <a:t>192.168.0.0/16</a:t>
            </a:r>
            <a:endParaRPr lang="en-US" sz="1400" dirty="0"/>
          </a:p>
        </p:txBody>
      </p:sp>
      <p:sp>
        <p:nvSpPr>
          <p:cNvPr id="17" name="Text 15"/>
          <p:cNvSpPr/>
          <p:nvPr/>
        </p:nvSpPr>
        <p:spPr>
          <a:xfrm>
            <a:off x="3383280" y="4251960"/>
            <a:ext cx="2194560" cy="566928"/>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65,536 addresses</a:t>
            </a:r>
            <a:endParaRPr lang="en-US" sz="1050" dirty="0"/>
          </a:p>
        </p:txBody>
      </p:sp>
      <p:sp>
        <p:nvSpPr>
          <p:cNvPr id="18" name="Shape 16"/>
          <p:cNvSpPr/>
          <p:nvPr/>
        </p:nvSpPr>
        <p:spPr>
          <a:xfrm>
            <a:off x="6217920" y="1828800"/>
            <a:ext cx="5394960" cy="3566160"/>
          </a:xfrm>
          <a:prstGeom prst="roundRect">
            <a:avLst>
              <a:gd name="adj" fmla="val 2564"/>
            </a:avLst>
          </a:prstGeom>
          <a:solidFill>
            <a:srgbClr val="232F3E"/>
          </a:solidFill>
          <a:ln/>
        </p:spPr>
      </p:sp>
      <p:sp>
        <p:nvSpPr>
          <p:cNvPr id="19" name="Text 17"/>
          <p:cNvSpPr/>
          <p:nvPr/>
        </p:nvSpPr>
        <p:spPr>
          <a:xfrm>
            <a:off x="6492240" y="2011680"/>
            <a:ext cx="4846320" cy="320040"/>
          </a:xfrm>
          <a:prstGeom prst="rect">
            <a:avLst/>
          </a:prstGeom>
          <a:noFill/>
          <a:ln/>
        </p:spPr>
        <p:txBody>
          <a:bodyPr wrap="square" rtlCol="0" anchor="ctr"/>
          <a:lstStyle/>
          <a:p>
            <a:pPr indent="0" marL="0">
              <a:buNone/>
            </a:pPr>
            <a:r>
              <a:rPr lang="en-US" sz="1200" b="1" spc="100" kern="0" dirty="0">
                <a:solidFill>
                  <a:srgbClr val="FF9900"/>
                </a:solidFill>
                <a:latin typeface="Calibri" pitchFamily="34" charset="0"/>
                <a:ea typeface="Calibri" pitchFamily="34" charset="-122"/>
                <a:cs typeface="Calibri" pitchFamily="34" charset="-120"/>
              </a:rPr>
              <a:t>PUBLIC</a:t>
            </a:r>
            <a:endParaRPr lang="en-US" sz="1200" dirty="0"/>
          </a:p>
        </p:txBody>
      </p:sp>
      <p:sp>
        <p:nvSpPr>
          <p:cNvPr id="20" name="Text 18"/>
          <p:cNvSpPr/>
          <p:nvPr/>
        </p:nvSpPr>
        <p:spPr>
          <a:xfrm>
            <a:off x="6492240" y="2331720"/>
            <a:ext cx="4846320" cy="457200"/>
          </a:xfrm>
          <a:prstGeom prst="rect">
            <a:avLst/>
          </a:prstGeom>
          <a:noFill/>
          <a:ln/>
        </p:spPr>
        <p:txBody>
          <a:bodyPr wrap="square" rtlCol="0" anchor="t"/>
          <a:lstStyle/>
          <a:p>
            <a:pPr indent="0" marL="0">
              <a:buNone/>
            </a:pPr>
            <a:r>
              <a:rPr lang="en-US" sz="1150" dirty="0">
                <a:solidFill>
                  <a:srgbClr val="C7D1D9"/>
                </a:solidFill>
                <a:latin typeface="Calibri" pitchFamily="34" charset="0"/>
                <a:ea typeface="Calibri" pitchFamily="34" charset="-122"/>
                <a:cs typeface="Calibri" pitchFamily="34" charset="-120"/>
              </a:rPr>
              <a:t>Globally unique and routable — how servers are reached directly from anywhere on the Internet.</a:t>
            </a:r>
            <a:endParaRPr lang="en-US" sz="1150" dirty="0"/>
          </a:p>
        </p:txBody>
      </p:sp>
      <p:sp>
        <p:nvSpPr>
          <p:cNvPr id="21" name="Shape 19"/>
          <p:cNvSpPr/>
          <p:nvPr/>
        </p:nvSpPr>
        <p:spPr>
          <a:xfrm>
            <a:off x="6492240" y="2880360"/>
            <a:ext cx="4846320" cy="566928"/>
          </a:xfrm>
          <a:prstGeom prst="roundRect">
            <a:avLst>
              <a:gd name="adj" fmla="val 9677"/>
            </a:avLst>
          </a:prstGeom>
          <a:solidFill>
            <a:srgbClr val="161E2D"/>
          </a:solidFill>
          <a:ln/>
        </p:spPr>
      </p:sp>
      <p:sp>
        <p:nvSpPr>
          <p:cNvPr id="22" name="Text 20"/>
          <p:cNvSpPr/>
          <p:nvPr/>
        </p:nvSpPr>
        <p:spPr>
          <a:xfrm>
            <a:off x="6675120" y="2880360"/>
            <a:ext cx="2194560" cy="56692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Google</a:t>
            </a:r>
            <a:endParaRPr lang="en-US" sz="1300" dirty="0"/>
          </a:p>
        </p:txBody>
      </p:sp>
      <p:sp>
        <p:nvSpPr>
          <p:cNvPr id="23" name="Text 21"/>
          <p:cNvSpPr/>
          <p:nvPr/>
        </p:nvSpPr>
        <p:spPr>
          <a:xfrm>
            <a:off x="8778240" y="2880360"/>
            <a:ext cx="2468880" cy="566928"/>
          </a:xfrm>
          <a:prstGeom prst="rect">
            <a:avLst/>
          </a:prstGeom>
          <a:noFill/>
          <a:ln/>
        </p:spPr>
        <p:txBody>
          <a:bodyPr wrap="square" rtlCol="0" anchor="ctr"/>
          <a:lstStyle/>
          <a:p>
            <a:pPr indent="0" marL="0">
              <a:buNone/>
            </a:pPr>
            <a:r>
              <a:rPr lang="en-US" sz="1050" dirty="0">
                <a:solidFill>
                  <a:srgbClr val="AEB9C2"/>
                </a:solidFill>
                <a:latin typeface="Consolas" pitchFamily="34" charset="0"/>
                <a:ea typeface="Consolas" pitchFamily="34" charset="-122"/>
                <a:cs typeface="Consolas" pitchFamily="34" charset="-120"/>
              </a:rPr>
              <a:t>Public DNS: 8.8.8.8</a:t>
            </a:r>
            <a:endParaRPr lang="en-US" sz="1050" dirty="0"/>
          </a:p>
        </p:txBody>
      </p:sp>
      <p:sp>
        <p:nvSpPr>
          <p:cNvPr id="24" name="Shape 22"/>
          <p:cNvSpPr/>
          <p:nvPr/>
        </p:nvSpPr>
        <p:spPr>
          <a:xfrm>
            <a:off x="6492240" y="3566160"/>
            <a:ext cx="4846320" cy="566928"/>
          </a:xfrm>
          <a:prstGeom prst="roundRect">
            <a:avLst>
              <a:gd name="adj" fmla="val 9677"/>
            </a:avLst>
          </a:prstGeom>
          <a:solidFill>
            <a:srgbClr val="161E2D"/>
          </a:solidFill>
          <a:ln/>
        </p:spPr>
      </p:sp>
      <p:sp>
        <p:nvSpPr>
          <p:cNvPr id="25" name="Text 23"/>
          <p:cNvSpPr/>
          <p:nvPr/>
        </p:nvSpPr>
        <p:spPr>
          <a:xfrm>
            <a:off x="6675120" y="3566160"/>
            <a:ext cx="2194560" cy="56692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AWS</a:t>
            </a:r>
            <a:endParaRPr lang="en-US" sz="1300" dirty="0"/>
          </a:p>
        </p:txBody>
      </p:sp>
      <p:sp>
        <p:nvSpPr>
          <p:cNvPr id="26" name="Text 24"/>
          <p:cNvSpPr/>
          <p:nvPr/>
        </p:nvSpPr>
        <p:spPr>
          <a:xfrm>
            <a:off x="8778240" y="3566160"/>
            <a:ext cx="2468880" cy="566928"/>
          </a:xfrm>
          <a:prstGeom prst="rect">
            <a:avLst/>
          </a:prstGeom>
          <a:noFill/>
          <a:ln/>
        </p:spPr>
        <p:txBody>
          <a:bodyPr wrap="square" rtlCol="0" anchor="ctr"/>
          <a:lstStyle/>
          <a:p>
            <a:pPr indent="0" marL="0">
              <a:buNone/>
            </a:pPr>
            <a:r>
              <a:rPr lang="en-US" sz="1050" dirty="0">
                <a:solidFill>
                  <a:srgbClr val="AEB9C2"/>
                </a:solidFill>
                <a:latin typeface="Consolas" pitchFamily="34" charset="0"/>
                <a:ea typeface="Consolas" pitchFamily="34" charset="-122"/>
                <a:cs typeface="Consolas" pitchFamily="34" charset="-120"/>
              </a:rPr>
              <a:t>EC2 public IPs, Elastic IPs</a:t>
            </a:r>
            <a:endParaRPr lang="en-US" sz="1050" dirty="0"/>
          </a:p>
        </p:txBody>
      </p:sp>
      <p:sp>
        <p:nvSpPr>
          <p:cNvPr id="27" name="Shape 25"/>
          <p:cNvSpPr/>
          <p:nvPr/>
        </p:nvSpPr>
        <p:spPr>
          <a:xfrm>
            <a:off x="6492240" y="4251960"/>
            <a:ext cx="4846320" cy="566928"/>
          </a:xfrm>
          <a:prstGeom prst="roundRect">
            <a:avLst>
              <a:gd name="adj" fmla="val 9677"/>
            </a:avLst>
          </a:prstGeom>
          <a:solidFill>
            <a:srgbClr val="161E2D"/>
          </a:solidFill>
          <a:ln/>
        </p:spPr>
      </p:sp>
      <p:sp>
        <p:nvSpPr>
          <p:cNvPr id="28" name="Text 26"/>
          <p:cNvSpPr/>
          <p:nvPr/>
        </p:nvSpPr>
        <p:spPr>
          <a:xfrm>
            <a:off x="6675120" y="4251960"/>
            <a:ext cx="2194560" cy="566928"/>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Cloudflare</a:t>
            </a:r>
            <a:endParaRPr lang="en-US" sz="1300" dirty="0"/>
          </a:p>
        </p:txBody>
      </p:sp>
      <p:sp>
        <p:nvSpPr>
          <p:cNvPr id="29" name="Text 27"/>
          <p:cNvSpPr/>
          <p:nvPr/>
        </p:nvSpPr>
        <p:spPr>
          <a:xfrm>
            <a:off x="8778240" y="4251960"/>
            <a:ext cx="2468880" cy="566928"/>
          </a:xfrm>
          <a:prstGeom prst="rect">
            <a:avLst/>
          </a:prstGeom>
          <a:noFill/>
          <a:ln/>
        </p:spPr>
        <p:txBody>
          <a:bodyPr wrap="square" rtlCol="0" anchor="ctr"/>
          <a:lstStyle/>
          <a:p>
            <a:pPr indent="0" marL="0">
              <a:buNone/>
            </a:pPr>
            <a:r>
              <a:rPr lang="en-US" sz="1050" dirty="0">
                <a:solidFill>
                  <a:srgbClr val="AEB9C2"/>
                </a:solidFill>
                <a:latin typeface="Consolas" pitchFamily="34" charset="0"/>
                <a:ea typeface="Consolas" pitchFamily="34" charset="-122"/>
                <a:cs typeface="Consolas" pitchFamily="34" charset="-120"/>
              </a:rPr>
              <a:t>Public DNS: 1.1.1.1</a:t>
            </a:r>
            <a:endParaRPr lang="en-US" sz="1050" dirty="0"/>
          </a:p>
        </p:txBody>
      </p:sp>
      <p:sp>
        <p:nvSpPr>
          <p:cNvPr id="30" name="Text 28"/>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1" name="Text 29"/>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IP ADDRESSING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Subnetting Basics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Break a large network into smaller, organized sub-networks.</a:t>
            </a:r>
            <a:endParaRPr lang="en-US" sz="1250" dirty="0"/>
          </a:p>
        </p:txBody>
      </p:sp>
      <p:sp>
        <p:nvSpPr>
          <p:cNvPr id="6" name="Shape 4"/>
          <p:cNvSpPr/>
          <p:nvPr/>
        </p:nvSpPr>
        <p:spPr>
          <a:xfrm>
            <a:off x="425196" y="1874520"/>
            <a:ext cx="2697480" cy="2377440"/>
          </a:xfrm>
          <a:prstGeom prst="roundRect">
            <a:avLst>
              <a:gd name="adj" fmla="val 3846"/>
            </a:avLst>
          </a:prstGeom>
          <a:solidFill>
            <a:srgbClr val="FFFFFF"/>
          </a:solidFill>
          <a:ln w="12700">
            <a:solidFill>
              <a:srgbClr val="D9DCE1"/>
            </a:solidFill>
            <a:prstDash val="solid"/>
          </a:ln>
        </p:spPr>
      </p:sp>
      <p:sp>
        <p:nvSpPr>
          <p:cNvPr id="7" name="Shape 5"/>
          <p:cNvSpPr/>
          <p:nvPr/>
        </p:nvSpPr>
        <p:spPr>
          <a:xfrm>
            <a:off x="1362456" y="2148840"/>
            <a:ext cx="822960" cy="822960"/>
          </a:xfrm>
          <a:prstGeom prst="ellipse">
            <a:avLst/>
          </a:prstGeom>
          <a:solidFill>
            <a:srgbClr val="FFF3DE"/>
          </a:solidFill>
          <a:ln/>
        </p:spPr>
      </p:sp>
      <p:pic>
        <p:nvPicPr>
          <p:cNvPr id="8" name="Image 0" descr="/home/claude/ppt3/icon_sitemap_d.png">    </p:cNvPr>
          <p:cNvPicPr>
            <a:picLocks noChangeAspect="1"/>
          </p:cNvPicPr>
          <p:nvPr/>
        </p:nvPicPr>
        <p:blipFill>
          <a:blip r:embed="rId1"/>
          <a:stretch>
            <a:fillRect/>
          </a:stretch>
        </p:blipFill>
        <p:spPr>
          <a:xfrm>
            <a:off x="1559966" y="2346350"/>
            <a:ext cx="427939" cy="427939"/>
          </a:xfrm>
          <a:prstGeom prst="rect">
            <a:avLst/>
          </a:prstGeom>
        </p:spPr>
      </p:pic>
      <p:sp>
        <p:nvSpPr>
          <p:cNvPr id="9" name="Text 6"/>
          <p:cNvSpPr/>
          <p:nvPr/>
        </p:nvSpPr>
        <p:spPr>
          <a:xfrm>
            <a:off x="425196" y="3108960"/>
            <a:ext cx="2697480" cy="365760"/>
          </a:xfrm>
          <a:prstGeom prst="rect">
            <a:avLst/>
          </a:prstGeom>
          <a:noFill/>
          <a:ln/>
        </p:spPr>
        <p:txBody>
          <a:bodyPr wrap="square"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Network</a:t>
            </a:r>
            <a:endParaRPr lang="en-US" sz="1400" dirty="0"/>
          </a:p>
        </p:txBody>
      </p:sp>
      <p:sp>
        <p:nvSpPr>
          <p:cNvPr id="10" name="Text 7"/>
          <p:cNvSpPr/>
          <p:nvPr/>
        </p:nvSpPr>
        <p:spPr>
          <a:xfrm>
            <a:off x="562356" y="3474720"/>
            <a:ext cx="2423160" cy="457200"/>
          </a:xfrm>
          <a:prstGeom prst="rect">
            <a:avLst/>
          </a:prstGeom>
          <a:noFill/>
          <a:ln/>
        </p:spPr>
        <p:txBody>
          <a:bodyPr wrap="square" rtlCol="0" anchor="ctr"/>
          <a:lstStyle/>
          <a:p>
            <a:pPr algn="ctr" indent="0" marL="0">
              <a:buNone/>
            </a:pPr>
            <a:r>
              <a:rPr lang="en-US" sz="1050" dirty="0">
                <a:solidFill>
                  <a:srgbClr val="5A6B75"/>
                </a:solidFill>
                <a:latin typeface="Calibri" pitchFamily="34" charset="0"/>
                <a:ea typeface="Calibri" pitchFamily="34" charset="-122"/>
                <a:cs typeface="Calibri" pitchFamily="34" charset="-120"/>
              </a:rPr>
              <a:t>Identifies the subnet itself</a:t>
            </a:r>
            <a:endParaRPr lang="en-US" sz="1050" dirty="0"/>
          </a:p>
        </p:txBody>
      </p:sp>
      <p:sp>
        <p:nvSpPr>
          <p:cNvPr id="11" name="Text 8"/>
          <p:cNvSpPr/>
          <p:nvPr/>
        </p:nvSpPr>
        <p:spPr>
          <a:xfrm>
            <a:off x="516636" y="3931920"/>
            <a:ext cx="2514600" cy="274320"/>
          </a:xfrm>
          <a:prstGeom prst="rect">
            <a:avLst/>
          </a:prstGeom>
          <a:noFill/>
          <a:ln/>
        </p:spPr>
        <p:txBody>
          <a:bodyPr wrap="square" rtlCol="0" anchor="ctr"/>
          <a:lstStyle/>
          <a:p>
            <a:pPr algn="ctr" indent="0" marL="0">
              <a:buNone/>
            </a:pPr>
            <a:r>
              <a:rPr lang="en-US" sz="1000" b="1" dirty="0">
                <a:solidFill>
                  <a:srgbClr val="FF9900"/>
                </a:solidFill>
                <a:latin typeface="Consolas" pitchFamily="34" charset="0"/>
                <a:ea typeface="Consolas" pitchFamily="34" charset="-122"/>
                <a:cs typeface="Consolas" pitchFamily="34" charset="-120"/>
              </a:rPr>
              <a:t>192.168.1.0</a:t>
            </a:r>
            <a:endParaRPr lang="en-US" sz="1000" dirty="0"/>
          </a:p>
        </p:txBody>
      </p:sp>
      <p:sp>
        <p:nvSpPr>
          <p:cNvPr id="12" name="Shape 9"/>
          <p:cNvSpPr/>
          <p:nvPr/>
        </p:nvSpPr>
        <p:spPr>
          <a:xfrm>
            <a:off x="3305556" y="1874520"/>
            <a:ext cx="2697480" cy="2377440"/>
          </a:xfrm>
          <a:prstGeom prst="roundRect">
            <a:avLst>
              <a:gd name="adj" fmla="val 3846"/>
            </a:avLst>
          </a:prstGeom>
          <a:solidFill>
            <a:srgbClr val="FFFFFF"/>
          </a:solidFill>
          <a:ln w="12700">
            <a:solidFill>
              <a:srgbClr val="D9DCE1"/>
            </a:solidFill>
            <a:prstDash val="solid"/>
          </a:ln>
        </p:spPr>
      </p:sp>
      <p:sp>
        <p:nvSpPr>
          <p:cNvPr id="13" name="Shape 10"/>
          <p:cNvSpPr/>
          <p:nvPr/>
        </p:nvSpPr>
        <p:spPr>
          <a:xfrm>
            <a:off x="4242816" y="2148840"/>
            <a:ext cx="822960" cy="822960"/>
          </a:xfrm>
          <a:prstGeom prst="ellipse">
            <a:avLst/>
          </a:prstGeom>
          <a:solidFill>
            <a:srgbClr val="FFF3DE"/>
          </a:solidFill>
          <a:ln/>
        </p:spPr>
      </p:sp>
      <p:pic>
        <p:nvPicPr>
          <p:cNvPr id="14" name="Image 1" descr="/home/claude/ppt3/icon_users_d.png">    </p:cNvPr>
          <p:cNvPicPr>
            <a:picLocks noChangeAspect="1"/>
          </p:cNvPicPr>
          <p:nvPr/>
        </p:nvPicPr>
        <p:blipFill>
          <a:blip r:embed="rId2"/>
          <a:stretch>
            <a:fillRect/>
          </a:stretch>
        </p:blipFill>
        <p:spPr>
          <a:xfrm>
            <a:off x="4440326" y="2346350"/>
            <a:ext cx="427939" cy="427939"/>
          </a:xfrm>
          <a:prstGeom prst="rect">
            <a:avLst/>
          </a:prstGeom>
        </p:spPr>
      </p:pic>
      <p:sp>
        <p:nvSpPr>
          <p:cNvPr id="15" name="Text 11"/>
          <p:cNvSpPr/>
          <p:nvPr/>
        </p:nvSpPr>
        <p:spPr>
          <a:xfrm>
            <a:off x="3305556" y="3108960"/>
            <a:ext cx="2697480" cy="365760"/>
          </a:xfrm>
          <a:prstGeom prst="rect">
            <a:avLst/>
          </a:prstGeom>
          <a:noFill/>
          <a:ln/>
        </p:spPr>
        <p:txBody>
          <a:bodyPr wrap="square"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Hosts</a:t>
            </a:r>
            <a:endParaRPr lang="en-US" sz="1400" dirty="0"/>
          </a:p>
        </p:txBody>
      </p:sp>
      <p:sp>
        <p:nvSpPr>
          <p:cNvPr id="16" name="Text 12"/>
          <p:cNvSpPr/>
          <p:nvPr/>
        </p:nvSpPr>
        <p:spPr>
          <a:xfrm>
            <a:off x="3442716" y="3474720"/>
            <a:ext cx="2423160" cy="457200"/>
          </a:xfrm>
          <a:prstGeom prst="rect">
            <a:avLst/>
          </a:prstGeom>
          <a:noFill/>
          <a:ln/>
        </p:spPr>
        <p:txBody>
          <a:bodyPr wrap="square" rtlCol="0" anchor="ctr"/>
          <a:lstStyle/>
          <a:p>
            <a:pPr algn="ctr" indent="0" marL="0">
              <a:buNone/>
            </a:pPr>
            <a:r>
              <a:rPr lang="en-US" sz="1050" dirty="0">
                <a:solidFill>
                  <a:srgbClr val="5A6B75"/>
                </a:solidFill>
                <a:latin typeface="Calibri" pitchFamily="34" charset="0"/>
                <a:ea typeface="Calibri" pitchFamily="34" charset="-122"/>
                <a:cs typeface="Calibri" pitchFamily="34" charset="-120"/>
              </a:rPr>
              <a:t>Usable addresses for devices</a:t>
            </a:r>
            <a:endParaRPr lang="en-US" sz="1050" dirty="0"/>
          </a:p>
        </p:txBody>
      </p:sp>
      <p:sp>
        <p:nvSpPr>
          <p:cNvPr id="17" name="Text 13"/>
          <p:cNvSpPr/>
          <p:nvPr/>
        </p:nvSpPr>
        <p:spPr>
          <a:xfrm>
            <a:off x="3396996" y="3931920"/>
            <a:ext cx="2514600" cy="274320"/>
          </a:xfrm>
          <a:prstGeom prst="rect">
            <a:avLst/>
          </a:prstGeom>
          <a:noFill/>
          <a:ln/>
        </p:spPr>
        <p:txBody>
          <a:bodyPr wrap="square" rtlCol="0" anchor="ctr"/>
          <a:lstStyle/>
          <a:p>
            <a:pPr algn="ctr" indent="0" marL="0">
              <a:buNone/>
            </a:pPr>
            <a:r>
              <a:rPr lang="en-US" sz="1000" b="1" dirty="0">
                <a:solidFill>
                  <a:srgbClr val="FF9900"/>
                </a:solidFill>
                <a:latin typeface="Consolas" pitchFamily="34" charset="0"/>
                <a:ea typeface="Consolas" pitchFamily="34" charset="-122"/>
                <a:cs typeface="Consolas" pitchFamily="34" charset="-120"/>
              </a:rPr>
              <a:t>192.168.1.1 – .254</a:t>
            </a:r>
            <a:endParaRPr lang="en-US" sz="1000" dirty="0"/>
          </a:p>
        </p:txBody>
      </p:sp>
      <p:sp>
        <p:nvSpPr>
          <p:cNvPr id="18" name="Shape 14"/>
          <p:cNvSpPr/>
          <p:nvPr/>
        </p:nvSpPr>
        <p:spPr>
          <a:xfrm>
            <a:off x="6185916" y="1874520"/>
            <a:ext cx="2697480" cy="2377440"/>
          </a:xfrm>
          <a:prstGeom prst="roundRect">
            <a:avLst>
              <a:gd name="adj" fmla="val 3846"/>
            </a:avLst>
          </a:prstGeom>
          <a:solidFill>
            <a:srgbClr val="FFFFFF"/>
          </a:solidFill>
          <a:ln w="12700">
            <a:solidFill>
              <a:srgbClr val="D9DCE1"/>
            </a:solidFill>
            <a:prstDash val="solid"/>
          </a:ln>
        </p:spPr>
      </p:sp>
      <p:sp>
        <p:nvSpPr>
          <p:cNvPr id="19" name="Shape 15"/>
          <p:cNvSpPr/>
          <p:nvPr/>
        </p:nvSpPr>
        <p:spPr>
          <a:xfrm>
            <a:off x="7123176" y="2148840"/>
            <a:ext cx="822960" cy="822960"/>
          </a:xfrm>
          <a:prstGeom prst="ellipse">
            <a:avLst/>
          </a:prstGeom>
          <a:solidFill>
            <a:srgbClr val="FFF3DE"/>
          </a:solidFill>
          <a:ln/>
        </p:spPr>
      </p:sp>
      <p:pic>
        <p:nvPicPr>
          <p:cNvPr id="20" name="Image 2" descr="/home/claude/ppt3/icon_tower_d.png">    </p:cNvPr>
          <p:cNvPicPr>
            <a:picLocks noChangeAspect="1"/>
          </p:cNvPicPr>
          <p:nvPr/>
        </p:nvPicPr>
        <p:blipFill>
          <a:blip r:embed="rId3"/>
          <a:stretch>
            <a:fillRect/>
          </a:stretch>
        </p:blipFill>
        <p:spPr>
          <a:xfrm>
            <a:off x="7320686" y="2346350"/>
            <a:ext cx="427939" cy="427939"/>
          </a:xfrm>
          <a:prstGeom prst="rect">
            <a:avLst/>
          </a:prstGeom>
        </p:spPr>
      </p:pic>
      <p:sp>
        <p:nvSpPr>
          <p:cNvPr id="21" name="Text 16"/>
          <p:cNvSpPr/>
          <p:nvPr/>
        </p:nvSpPr>
        <p:spPr>
          <a:xfrm>
            <a:off x="6185916" y="3108960"/>
            <a:ext cx="2697480" cy="365760"/>
          </a:xfrm>
          <a:prstGeom prst="rect">
            <a:avLst/>
          </a:prstGeom>
          <a:noFill/>
          <a:ln/>
        </p:spPr>
        <p:txBody>
          <a:bodyPr wrap="square"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Broadcast</a:t>
            </a:r>
            <a:endParaRPr lang="en-US" sz="1400" dirty="0"/>
          </a:p>
        </p:txBody>
      </p:sp>
      <p:sp>
        <p:nvSpPr>
          <p:cNvPr id="22" name="Text 17"/>
          <p:cNvSpPr/>
          <p:nvPr/>
        </p:nvSpPr>
        <p:spPr>
          <a:xfrm>
            <a:off x="6323076" y="3474720"/>
            <a:ext cx="2423160" cy="457200"/>
          </a:xfrm>
          <a:prstGeom prst="rect">
            <a:avLst/>
          </a:prstGeom>
          <a:noFill/>
          <a:ln/>
        </p:spPr>
        <p:txBody>
          <a:bodyPr wrap="square" rtlCol="0" anchor="ctr"/>
          <a:lstStyle/>
          <a:p>
            <a:pPr algn="ctr" indent="0" marL="0">
              <a:buNone/>
            </a:pPr>
            <a:r>
              <a:rPr lang="en-US" sz="1050" dirty="0">
                <a:solidFill>
                  <a:srgbClr val="5A6B75"/>
                </a:solidFill>
                <a:latin typeface="Calibri" pitchFamily="34" charset="0"/>
                <a:ea typeface="Calibri" pitchFamily="34" charset="-122"/>
                <a:cs typeface="Calibri" pitchFamily="34" charset="-120"/>
              </a:rPr>
              <a:t>Sends to every device at once</a:t>
            </a:r>
            <a:endParaRPr lang="en-US" sz="1050" dirty="0"/>
          </a:p>
        </p:txBody>
      </p:sp>
      <p:sp>
        <p:nvSpPr>
          <p:cNvPr id="23" name="Text 18"/>
          <p:cNvSpPr/>
          <p:nvPr/>
        </p:nvSpPr>
        <p:spPr>
          <a:xfrm>
            <a:off x="6277356" y="3931920"/>
            <a:ext cx="2514600" cy="274320"/>
          </a:xfrm>
          <a:prstGeom prst="rect">
            <a:avLst/>
          </a:prstGeom>
          <a:noFill/>
          <a:ln/>
        </p:spPr>
        <p:txBody>
          <a:bodyPr wrap="square" rtlCol="0" anchor="ctr"/>
          <a:lstStyle/>
          <a:p>
            <a:pPr algn="ctr" indent="0" marL="0">
              <a:buNone/>
            </a:pPr>
            <a:r>
              <a:rPr lang="en-US" sz="1000" b="1" dirty="0">
                <a:solidFill>
                  <a:srgbClr val="FF9900"/>
                </a:solidFill>
                <a:latin typeface="Consolas" pitchFamily="34" charset="0"/>
                <a:ea typeface="Consolas" pitchFamily="34" charset="-122"/>
                <a:cs typeface="Consolas" pitchFamily="34" charset="-120"/>
              </a:rPr>
              <a:t>192.168.1.255</a:t>
            </a:r>
            <a:endParaRPr lang="en-US" sz="1000" dirty="0"/>
          </a:p>
        </p:txBody>
      </p:sp>
      <p:sp>
        <p:nvSpPr>
          <p:cNvPr id="24" name="Shape 19"/>
          <p:cNvSpPr/>
          <p:nvPr/>
        </p:nvSpPr>
        <p:spPr>
          <a:xfrm>
            <a:off x="9066276" y="1874520"/>
            <a:ext cx="2697480" cy="2377440"/>
          </a:xfrm>
          <a:prstGeom prst="roundRect">
            <a:avLst>
              <a:gd name="adj" fmla="val 3846"/>
            </a:avLst>
          </a:prstGeom>
          <a:solidFill>
            <a:srgbClr val="FFFFFF"/>
          </a:solidFill>
          <a:ln w="12700">
            <a:solidFill>
              <a:srgbClr val="D9DCE1"/>
            </a:solidFill>
            <a:prstDash val="solid"/>
          </a:ln>
        </p:spPr>
      </p:sp>
      <p:sp>
        <p:nvSpPr>
          <p:cNvPr id="25" name="Shape 20"/>
          <p:cNvSpPr/>
          <p:nvPr/>
        </p:nvSpPr>
        <p:spPr>
          <a:xfrm>
            <a:off x="10003536" y="2148840"/>
            <a:ext cx="822960" cy="822960"/>
          </a:xfrm>
          <a:prstGeom prst="ellipse">
            <a:avLst/>
          </a:prstGeom>
          <a:solidFill>
            <a:srgbClr val="FFF3DE"/>
          </a:solidFill>
          <a:ln/>
        </p:spPr>
      </p:sp>
      <p:pic>
        <p:nvPicPr>
          <p:cNvPr id="26" name="Image 3" descr="/home/claude/ppt3/icon_router_d.png">    </p:cNvPr>
          <p:cNvPicPr>
            <a:picLocks noChangeAspect="1"/>
          </p:cNvPicPr>
          <p:nvPr/>
        </p:nvPicPr>
        <p:blipFill>
          <a:blip r:embed="rId4"/>
          <a:stretch>
            <a:fillRect/>
          </a:stretch>
        </p:blipFill>
        <p:spPr>
          <a:xfrm>
            <a:off x="10201046" y="2346350"/>
            <a:ext cx="427939" cy="427939"/>
          </a:xfrm>
          <a:prstGeom prst="rect">
            <a:avLst/>
          </a:prstGeom>
        </p:spPr>
      </p:pic>
      <p:sp>
        <p:nvSpPr>
          <p:cNvPr id="27" name="Text 21"/>
          <p:cNvSpPr/>
          <p:nvPr/>
        </p:nvSpPr>
        <p:spPr>
          <a:xfrm>
            <a:off x="9066276" y="3108960"/>
            <a:ext cx="2697480" cy="365760"/>
          </a:xfrm>
          <a:prstGeom prst="rect">
            <a:avLst/>
          </a:prstGeom>
          <a:noFill/>
          <a:ln/>
        </p:spPr>
        <p:txBody>
          <a:bodyPr wrap="square" rtlCol="0" anchor="ctr"/>
          <a:lstStyle/>
          <a:p>
            <a:pPr algn="ctr" indent="0" marL="0">
              <a:buNone/>
            </a:pPr>
            <a:r>
              <a:rPr lang="en-US" sz="1400" b="1" dirty="0">
                <a:solidFill>
                  <a:srgbClr val="232F3E"/>
                </a:solidFill>
                <a:latin typeface="Arial" pitchFamily="34" charset="0"/>
                <a:ea typeface="Arial" pitchFamily="34" charset="-122"/>
                <a:cs typeface="Arial" pitchFamily="34" charset="-120"/>
              </a:rPr>
              <a:t>Gateway</a:t>
            </a:r>
            <a:endParaRPr lang="en-US" sz="1400" dirty="0"/>
          </a:p>
        </p:txBody>
      </p:sp>
      <p:sp>
        <p:nvSpPr>
          <p:cNvPr id="28" name="Text 22"/>
          <p:cNvSpPr/>
          <p:nvPr/>
        </p:nvSpPr>
        <p:spPr>
          <a:xfrm>
            <a:off x="9203436" y="3474720"/>
            <a:ext cx="2423160" cy="457200"/>
          </a:xfrm>
          <a:prstGeom prst="rect">
            <a:avLst/>
          </a:prstGeom>
          <a:noFill/>
          <a:ln/>
        </p:spPr>
        <p:txBody>
          <a:bodyPr wrap="square" rtlCol="0" anchor="ctr"/>
          <a:lstStyle/>
          <a:p>
            <a:pPr algn="ctr" indent="0" marL="0">
              <a:buNone/>
            </a:pPr>
            <a:r>
              <a:rPr lang="en-US" sz="1050" dirty="0">
                <a:solidFill>
                  <a:srgbClr val="5A6B75"/>
                </a:solidFill>
                <a:latin typeface="Calibri" pitchFamily="34" charset="0"/>
                <a:ea typeface="Calibri" pitchFamily="34" charset="-122"/>
                <a:cs typeface="Calibri" pitchFamily="34" charset="-120"/>
              </a:rPr>
              <a:t>The router — the “way out”</a:t>
            </a:r>
            <a:endParaRPr lang="en-US" sz="1050" dirty="0"/>
          </a:p>
        </p:txBody>
      </p:sp>
      <p:sp>
        <p:nvSpPr>
          <p:cNvPr id="29" name="Text 23"/>
          <p:cNvSpPr/>
          <p:nvPr/>
        </p:nvSpPr>
        <p:spPr>
          <a:xfrm>
            <a:off x="9157716" y="3931920"/>
            <a:ext cx="2514600" cy="274320"/>
          </a:xfrm>
          <a:prstGeom prst="rect">
            <a:avLst/>
          </a:prstGeom>
          <a:noFill/>
          <a:ln/>
        </p:spPr>
        <p:txBody>
          <a:bodyPr wrap="square" rtlCol="0" anchor="ctr"/>
          <a:lstStyle/>
          <a:p>
            <a:pPr algn="ctr" indent="0" marL="0">
              <a:buNone/>
            </a:pPr>
            <a:r>
              <a:rPr lang="en-US" sz="1000" b="1" dirty="0">
                <a:solidFill>
                  <a:srgbClr val="FF9900"/>
                </a:solidFill>
                <a:latin typeface="Consolas" pitchFamily="34" charset="0"/>
                <a:ea typeface="Consolas" pitchFamily="34" charset="-122"/>
                <a:cs typeface="Consolas" pitchFamily="34" charset="-120"/>
              </a:rPr>
              <a:t>192.168.1.1</a:t>
            </a:r>
            <a:endParaRPr lang="en-US" sz="1000" dirty="0"/>
          </a:p>
        </p:txBody>
      </p:sp>
      <p:sp>
        <p:nvSpPr>
          <p:cNvPr id="30" name="Shape 24"/>
          <p:cNvSpPr/>
          <p:nvPr/>
        </p:nvSpPr>
        <p:spPr>
          <a:xfrm>
            <a:off x="548640" y="4526280"/>
            <a:ext cx="11091672" cy="566928"/>
          </a:xfrm>
          <a:prstGeom prst="roundRect">
            <a:avLst>
              <a:gd name="adj" fmla="val 12903"/>
            </a:avLst>
          </a:prstGeom>
          <a:solidFill>
            <a:srgbClr val="FFFFFF"/>
          </a:solidFill>
          <a:ln w="15875">
            <a:solidFill>
              <a:srgbClr val="FF9900"/>
            </a:solidFill>
            <a:prstDash val="solid"/>
          </a:ln>
        </p:spPr>
      </p:sp>
      <p:sp>
        <p:nvSpPr>
          <p:cNvPr id="31" name="Text 25"/>
          <p:cNvSpPr/>
          <p:nvPr/>
        </p:nvSpPr>
        <p:spPr>
          <a:xfrm>
            <a:off x="777240" y="452628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Like a neighborhood: the network is the street name, hosts are house numbers, broadcast is an announcement to the whole street, and the gateway is the road out of the neighborhood.</a:t>
            </a:r>
            <a:endParaRPr lang="en-US" sz="1100" dirty="0"/>
          </a:p>
        </p:txBody>
      </p:sp>
      <p:sp>
        <p:nvSpPr>
          <p:cNvPr id="32" name="Shape 26"/>
          <p:cNvSpPr/>
          <p:nvPr/>
        </p:nvSpPr>
        <p:spPr>
          <a:xfrm>
            <a:off x="548640" y="5212080"/>
            <a:ext cx="11091672" cy="566928"/>
          </a:xfrm>
          <a:prstGeom prst="roundRect">
            <a:avLst>
              <a:gd name="adj" fmla="val 12903"/>
            </a:avLst>
          </a:prstGeom>
          <a:solidFill>
            <a:srgbClr val="FBEAE5"/>
          </a:solidFill>
          <a:ln w="12700">
            <a:solidFill>
              <a:srgbClr val="E5533D"/>
            </a:solidFill>
            <a:prstDash val="solid"/>
          </a:ln>
        </p:spPr>
      </p:sp>
      <p:sp>
        <p:nvSpPr>
          <p:cNvPr id="33" name="Shape 27"/>
          <p:cNvSpPr/>
          <p:nvPr/>
        </p:nvSpPr>
        <p:spPr>
          <a:xfrm>
            <a:off x="704088" y="5266944"/>
            <a:ext cx="457200" cy="457200"/>
          </a:xfrm>
          <a:prstGeom prst="ellipse">
            <a:avLst/>
          </a:prstGeom>
          <a:solidFill>
            <a:srgbClr val="F6D2C7"/>
          </a:solidFill>
          <a:ln/>
        </p:spPr>
      </p:sp>
      <p:pic>
        <p:nvPicPr>
          <p:cNvPr id="34" name="Image 4" descr="/home/claude/ppt3/icon_bug_o.png">    </p:cNvPr>
          <p:cNvPicPr>
            <a:picLocks noChangeAspect="1"/>
          </p:cNvPicPr>
          <p:nvPr/>
        </p:nvPicPr>
        <p:blipFill>
          <a:blip r:embed="rId5"/>
          <a:stretch>
            <a:fillRect/>
          </a:stretch>
        </p:blipFill>
        <p:spPr>
          <a:xfrm>
            <a:off x="813816" y="5376672"/>
            <a:ext cx="237744" cy="237744"/>
          </a:xfrm>
          <a:prstGeom prst="rect">
            <a:avLst/>
          </a:prstGeom>
        </p:spPr>
      </p:pic>
      <p:sp>
        <p:nvSpPr>
          <p:cNvPr id="35" name="Text 28"/>
          <p:cNvSpPr/>
          <p:nvPr/>
        </p:nvSpPr>
        <p:spPr>
          <a:xfrm>
            <a:off x="1234440" y="5212080"/>
            <a:ext cx="10177272" cy="56692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COMMON MISTAKE:  </a:t>
            </a:r>
            <a:pPr indent="0" marL="0">
              <a:buNone/>
            </a:pPr>
            <a:r>
              <a:rPr lang="en-US" sz="1100" dirty="0">
                <a:solidFill>
                  <a:srgbClr val="16191F"/>
                </a:solidFill>
                <a:latin typeface="Calibri" pitchFamily="34" charset="0"/>
                <a:ea typeface="Calibri" pitchFamily="34" charset="-122"/>
                <a:cs typeface="Calibri" pitchFamily="34" charset="-120"/>
              </a:rPr>
              <a:t>Assigning a device the network address or broadcast address itself — neither can be used as a host address.</a:t>
            </a:r>
            <a:endParaRPr lang="en-US" sz="1100" dirty="0"/>
          </a:p>
        </p:txBody>
      </p:sp>
      <p:sp>
        <p:nvSpPr>
          <p:cNvPr id="36" name="Text 29"/>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7" name="Text 30"/>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IP ADDRESSING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CIDR Notation</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Read the /24-style shorthand that defines a network's size.</a:t>
            </a:r>
            <a:endParaRPr lang="en-US" sz="1250" dirty="0"/>
          </a:p>
        </p:txBody>
      </p:sp>
      <p:sp>
        <p:nvSpPr>
          <p:cNvPr id="6" name="Shape 4"/>
          <p:cNvSpPr/>
          <p:nvPr/>
        </p:nvSpPr>
        <p:spPr>
          <a:xfrm>
            <a:off x="548640" y="1828800"/>
            <a:ext cx="4937760" cy="1280160"/>
          </a:xfrm>
          <a:prstGeom prst="roundRect">
            <a:avLst>
              <a:gd name="adj" fmla="val 7143"/>
            </a:avLst>
          </a:prstGeom>
          <a:solidFill>
            <a:srgbClr val="232F3E"/>
          </a:solidFill>
          <a:ln/>
        </p:spPr>
      </p:sp>
      <p:sp>
        <p:nvSpPr>
          <p:cNvPr id="7" name="Text 5"/>
          <p:cNvSpPr/>
          <p:nvPr/>
        </p:nvSpPr>
        <p:spPr>
          <a:xfrm>
            <a:off x="548640" y="1828800"/>
            <a:ext cx="4937760" cy="1280160"/>
          </a:xfrm>
          <a:prstGeom prst="rect">
            <a:avLst/>
          </a:prstGeom>
          <a:noFill/>
          <a:ln/>
        </p:spPr>
        <p:txBody>
          <a:bodyPr wrap="square" rtlCol="0" anchor="ctr"/>
          <a:lstStyle/>
          <a:p>
            <a:pPr algn="ctr" indent="0" marL="0">
              <a:buNone/>
            </a:pPr>
            <a:r>
              <a:rPr lang="en-US" sz="3000" b="1" dirty="0">
                <a:solidFill>
                  <a:srgbClr val="FFFFFF"/>
                </a:solidFill>
                <a:latin typeface="Consolas" pitchFamily="34" charset="0"/>
                <a:ea typeface="Consolas" pitchFamily="34" charset="-122"/>
                <a:cs typeface="Consolas" pitchFamily="34" charset="-120"/>
              </a:rPr>
              <a:t>192.168.1.0</a:t>
            </a:r>
            <a:pPr algn="ctr" indent="0" marL="0">
              <a:buNone/>
            </a:pPr>
            <a:r>
              <a:rPr lang="en-US" sz="3000" b="1" dirty="0">
                <a:solidFill>
                  <a:srgbClr val="FF9900"/>
                </a:solidFill>
                <a:latin typeface="Consolas" pitchFamily="34" charset="0"/>
                <a:ea typeface="Consolas" pitchFamily="34" charset="-122"/>
                <a:cs typeface="Consolas" pitchFamily="34" charset="-120"/>
              </a:rPr>
              <a:t>/24</a:t>
            </a:r>
            <a:endParaRPr lang="en-US" sz="3000" dirty="0"/>
          </a:p>
        </p:txBody>
      </p:sp>
      <p:sp>
        <p:nvSpPr>
          <p:cNvPr id="8" name="Text 6"/>
          <p:cNvSpPr/>
          <p:nvPr/>
        </p:nvSpPr>
        <p:spPr>
          <a:xfrm>
            <a:off x="548640" y="3291840"/>
            <a:ext cx="4937760" cy="822960"/>
          </a:xfrm>
          <a:prstGeom prst="rect">
            <a:avLst/>
          </a:prstGeom>
          <a:noFill/>
          <a:ln/>
        </p:spPr>
        <p:txBody>
          <a:bodyPr wrap="square" rtlCol="0" anchor="t"/>
          <a:lstStyle/>
          <a:p>
            <a:pPr indent="0" marL="0">
              <a:buNone/>
            </a:pPr>
            <a:r>
              <a:rPr lang="en-US" sz="1300" dirty="0">
                <a:solidFill>
                  <a:srgbClr val="16191F"/>
                </a:solidFill>
                <a:latin typeface="Calibri" pitchFamily="34" charset="0"/>
                <a:ea typeface="Calibri" pitchFamily="34" charset="-122"/>
                <a:cs typeface="Calibri" pitchFamily="34" charset="-120"/>
              </a:rPr>
              <a:t>The number after / is how many bits are the network portion — the rest are for hosts.</a:t>
            </a:r>
            <a:endParaRPr lang="en-US" sz="1300" dirty="0"/>
          </a:p>
        </p:txBody>
      </p:sp>
      <p:sp>
        <p:nvSpPr>
          <p:cNvPr id="9" name="Shape 7"/>
          <p:cNvSpPr/>
          <p:nvPr/>
        </p:nvSpPr>
        <p:spPr>
          <a:xfrm>
            <a:off x="6035040" y="1828800"/>
            <a:ext cx="5577840" cy="384048"/>
          </a:xfrm>
          <a:prstGeom prst="rect">
            <a:avLst/>
          </a:prstGeom>
          <a:solidFill>
            <a:srgbClr val="161E2D"/>
          </a:solidFill>
          <a:ln/>
        </p:spPr>
      </p:sp>
      <p:sp>
        <p:nvSpPr>
          <p:cNvPr id="10" name="Text 8"/>
          <p:cNvSpPr/>
          <p:nvPr/>
        </p:nvSpPr>
        <p:spPr>
          <a:xfrm>
            <a:off x="6263640" y="1828800"/>
            <a:ext cx="1554480" cy="384048"/>
          </a:xfrm>
          <a:prstGeom prst="rect">
            <a:avLst/>
          </a:prstGeom>
          <a:noFill/>
          <a:ln/>
        </p:spPr>
        <p:txBody>
          <a:bodyPr wrap="square" rtlCol="0" anchor="ctr"/>
          <a:lstStyle/>
          <a:p>
            <a:pPr indent="0" marL="0">
              <a:buNone/>
            </a:pPr>
            <a:r>
              <a:rPr lang="en-US" sz="1050" b="1" dirty="0">
                <a:solidFill>
                  <a:srgbClr val="FF9900"/>
                </a:solidFill>
                <a:latin typeface="Calibri" pitchFamily="34" charset="0"/>
                <a:ea typeface="Calibri" pitchFamily="34" charset="-122"/>
                <a:cs typeface="Calibri" pitchFamily="34" charset="-120"/>
              </a:rPr>
              <a:t>CIDR</a:t>
            </a:r>
            <a:endParaRPr lang="en-US" sz="1050" dirty="0"/>
          </a:p>
        </p:txBody>
      </p:sp>
      <p:sp>
        <p:nvSpPr>
          <p:cNvPr id="11" name="Text 9"/>
          <p:cNvSpPr/>
          <p:nvPr/>
        </p:nvSpPr>
        <p:spPr>
          <a:xfrm>
            <a:off x="7818120" y="1828800"/>
            <a:ext cx="1737360" cy="384048"/>
          </a:xfrm>
          <a:prstGeom prst="rect">
            <a:avLst/>
          </a:prstGeom>
          <a:noFill/>
          <a:ln/>
        </p:spPr>
        <p:txBody>
          <a:bodyPr wrap="square" rtlCol="0" anchor="ctr"/>
          <a:lstStyle/>
          <a:p>
            <a:pPr indent="0" marL="0">
              <a:buNone/>
            </a:pPr>
            <a:r>
              <a:rPr lang="en-US" sz="1050" b="1" dirty="0">
                <a:solidFill>
                  <a:srgbClr val="FF9900"/>
                </a:solidFill>
                <a:latin typeface="Calibri" pitchFamily="34" charset="0"/>
                <a:ea typeface="Calibri" pitchFamily="34" charset="-122"/>
                <a:cs typeface="Calibri" pitchFamily="34" charset="-120"/>
              </a:rPr>
              <a:t>TOTAL IPs</a:t>
            </a:r>
            <a:endParaRPr lang="en-US" sz="1050" dirty="0"/>
          </a:p>
        </p:txBody>
      </p:sp>
      <p:sp>
        <p:nvSpPr>
          <p:cNvPr id="12" name="Text 10"/>
          <p:cNvSpPr/>
          <p:nvPr/>
        </p:nvSpPr>
        <p:spPr>
          <a:xfrm>
            <a:off x="9555480" y="1828800"/>
            <a:ext cx="2194560" cy="384048"/>
          </a:xfrm>
          <a:prstGeom prst="rect">
            <a:avLst/>
          </a:prstGeom>
          <a:noFill/>
          <a:ln/>
        </p:spPr>
        <p:txBody>
          <a:bodyPr wrap="square" rtlCol="0" anchor="ctr"/>
          <a:lstStyle/>
          <a:p>
            <a:pPr indent="0" marL="0">
              <a:buNone/>
            </a:pPr>
            <a:r>
              <a:rPr lang="en-US" sz="1050" b="1" dirty="0">
                <a:solidFill>
                  <a:srgbClr val="FF9900"/>
                </a:solidFill>
                <a:latin typeface="Calibri" pitchFamily="34" charset="0"/>
                <a:ea typeface="Calibri" pitchFamily="34" charset="-122"/>
                <a:cs typeface="Calibri" pitchFamily="34" charset="-120"/>
              </a:rPr>
              <a:t>USABLE HOSTS</a:t>
            </a:r>
            <a:endParaRPr lang="en-US" sz="1050" dirty="0"/>
          </a:p>
        </p:txBody>
      </p:sp>
      <p:sp>
        <p:nvSpPr>
          <p:cNvPr id="13" name="Shape 11"/>
          <p:cNvSpPr/>
          <p:nvPr/>
        </p:nvSpPr>
        <p:spPr>
          <a:xfrm>
            <a:off x="6035040" y="2212848"/>
            <a:ext cx="5577840" cy="566928"/>
          </a:xfrm>
          <a:prstGeom prst="rect">
            <a:avLst/>
          </a:prstGeom>
          <a:solidFill>
            <a:srgbClr val="FFFFFF"/>
          </a:solidFill>
          <a:ln w="9525">
            <a:solidFill>
              <a:srgbClr val="D9DCE1"/>
            </a:solidFill>
            <a:prstDash val="solid"/>
          </a:ln>
        </p:spPr>
      </p:sp>
      <p:sp>
        <p:nvSpPr>
          <p:cNvPr id="14" name="Text 12"/>
          <p:cNvSpPr/>
          <p:nvPr/>
        </p:nvSpPr>
        <p:spPr>
          <a:xfrm>
            <a:off x="6263640" y="2212848"/>
            <a:ext cx="1554480" cy="566928"/>
          </a:xfrm>
          <a:prstGeom prst="rect">
            <a:avLst/>
          </a:prstGeom>
          <a:noFill/>
          <a:ln/>
        </p:spPr>
        <p:txBody>
          <a:bodyPr wrap="square" rtlCol="0" anchor="ctr"/>
          <a:lstStyle/>
          <a:p>
            <a:pPr indent="0" marL="0">
              <a:buNone/>
            </a:pPr>
            <a:r>
              <a:rPr lang="en-US" sz="1400" b="1" dirty="0">
                <a:solidFill>
                  <a:srgbClr val="232F3E"/>
                </a:solidFill>
                <a:latin typeface="Consolas" pitchFamily="34" charset="0"/>
                <a:ea typeface="Consolas" pitchFamily="34" charset="-122"/>
                <a:cs typeface="Consolas" pitchFamily="34" charset="-120"/>
              </a:rPr>
              <a:t>/24</a:t>
            </a:r>
            <a:endParaRPr lang="en-US" sz="1400" dirty="0"/>
          </a:p>
        </p:txBody>
      </p:sp>
      <p:sp>
        <p:nvSpPr>
          <p:cNvPr id="15" name="Text 13"/>
          <p:cNvSpPr/>
          <p:nvPr/>
        </p:nvSpPr>
        <p:spPr>
          <a:xfrm>
            <a:off x="7818120" y="2212848"/>
            <a:ext cx="17373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256</a:t>
            </a:r>
            <a:endParaRPr lang="en-US" sz="1200" dirty="0"/>
          </a:p>
        </p:txBody>
      </p:sp>
      <p:sp>
        <p:nvSpPr>
          <p:cNvPr id="16" name="Text 14"/>
          <p:cNvSpPr/>
          <p:nvPr/>
        </p:nvSpPr>
        <p:spPr>
          <a:xfrm>
            <a:off x="9555480" y="2212848"/>
            <a:ext cx="19659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254</a:t>
            </a:r>
            <a:endParaRPr lang="en-US" sz="1200" dirty="0"/>
          </a:p>
        </p:txBody>
      </p:sp>
      <p:sp>
        <p:nvSpPr>
          <p:cNvPr id="17" name="Shape 15"/>
          <p:cNvSpPr/>
          <p:nvPr/>
        </p:nvSpPr>
        <p:spPr>
          <a:xfrm>
            <a:off x="6035040" y="2779776"/>
            <a:ext cx="5577840" cy="566928"/>
          </a:xfrm>
          <a:prstGeom prst="rect">
            <a:avLst/>
          </a:prstGeom>
          <a:solidFill>
            <a:srgbClr val="FAFAFB"/>
          </a:solidFill>
          <a:ln w="9525">
            <a:solidFill>
              <a:srgbClr val="D9DCE1"/>
            </a:solidFill>
            <a:prstDash val="solid"/>
          </a:ln>
        </p:spPr>
      </p:sp>
      <p:sp>
        <p:nvSpPr>
          <p:cNvPr id="18" name="Text 16"/>
          <p:cNvSpPr/>
          <p:nvPr/>
        </p:nvSpPr>
        <p:spPr>
          <a:xfrm>
            <a:off x="6263640" y="2779776"/>
            <a:ext cx="1554480" cy="566928"/>
          </a:xfrm>
          <a:prstGeom prst="rect">
            <a:avLst/>
          </a:prstGeom>
          <a:noFill/>
          <a:ln/>
        </p:spPr>
        <p:txBody>
          <a:bodyPr wrap="square" rtlCol="0" anchor="ctr"/>
          <a:lstStyle/>
          <a:p>
            <a:pPr indent="0" marL="0">
              <a:buNone/>
            </a:pPr>
            <a:r>
              <a:rPr lang="en-US" sz="1400" b="1" dirty="0">
                <a:solidFill>
                  <a:srgbClr val="232F3E"/>
                </a:solidFill>
                <a:latin typeface="Consolas" pitchFamily="34" charset="0"/>
                <a:ea typeface="Consolas" pitchFamily="34" charset="-122"/>
                <a:cs typeface="Consolas" pitchFamily="34" charset="-120"/>
              </a:rPr>
              <a:t>/25</a:t>
            </a:r>
            <a:endParaRPr lang="en-US" sz="1400" dirty="0"/>
          </a:p>
        </p:txBody>
      </p:sp>
      <p:sp>
        <p:nvSpPr>
          <p:cNvPr id="19" name="Text 17"/>
          <p:cNvSpPr/>
          <p:nvPr/>
        </p:nvSpPr>
        <p:spPr>
          <a:xfrm>
            <a:off x="7818120" y="2779776"/>
            <a:ext cx="17373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128</a:t>
            </a:r>
            <a:endParaRPr lang="en-US" sz="1200" dirty="0"/>
          </a:p>
        </p:txBody>
      </p:sp>
      <p:sp>
        <p:nvSpPr>
          <p:cNvPr id="20" name="Text 18"/>
          <p:cNvSpPr/>
          <p:nvPr/>
        </p:nvSpPr>
        <p:spPr>
          <a:xfrm>
            <a:off x="9555480" y="2779776"/>
            <a:ext cx="19659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126</a:t>
            </a:r>
            <a:endParaRPr lang="en-US" sz="1200" dirty="0"/>
          </a:p>
        </p:txBody>
      </p:sp>
      <p:sp>
        <p:nvSpPr>
          <p:cNvPr id="21" name="Shape 19"/>
          <p:cNvSpPr/>
          <p:nvPr/>
        </p:nvSpPr>
        <p:spPr>
          <a:xfrm>
            <a:off x="6035040" y="3346704"/>
            <a:ext cx="5577840" cy="566928"/>
          </a:xfrm>
          <a:prstGeom prst="rect">
            <a:avLst/>
          </a:prstGeom>
          <a:solidFill>
            <a:srgbClr val="FFFFFF"/>
          </a:solidFill>
          <a:ln w="9525">
            <a:solidFill>
              <a:srgbClr val="D9DCE1"/>
            </a:solidFill>
            <a:prstDash val="solid"/>
          </a:ln>
        </p:spPr>
      </p:sp>
      <p:sp>
        <p:nvSpPr>
          <p:cNvPr id="22" name="Text 20"/>
          <p:cNvSpPr/>
          <p:nvPr/>
        </p:nvSpPr>
        <p:spPr>
          <a:xfrm>
            <a:off x="6263640" y="3346704"/>
            <a:ext cx="1554480" cy="566928"/>
          </a:xfrm>
          <a:prstGeom prst="rect">
            <a:avLst/>
          </a:prstGeom>
          <a:noFill/>
          <a:ln/>
        </p:spPr>
        <p:txBody>
          <a:bodyPr wrap="square" rtlCol="0" anchor="ctr"/>
          <a:lstStyle/>
          <a:p>
            <a:pPr indent="0" marL="0">
              <a:buNone/>
            </a:pPr>
            <a:r>
              <a:rPr lang="en-US" sz="1400" b="1" dirty="0">
                <a:solidFill>
                  <a:srgbClr val="232F3E"/>
                </a:solidFill>
                <a:latin typeface="Consolas" pitchFamily="34" charset="0"/>
                <a:ea typeface="Consolas" pitchFamily="34" charset="-122"/>
                <a:cs typeface="Consolas" pitchFamily="34" charset="-120"/>
              </a:rPr>
              <a:t>/26</a:t>
            </a:r>
            <a:endParaRPr lang="en-US" sz="1400" dirty="0"/>
          </a:p>
        </p:txBody>
      </p:sp>
      <p:sp>
        <p:nvSpPr>
          <p:cNvPr id="23" name="Text 21"/>
          <p:cNvSpPr/>
          <p:nvPr/>
        </p:nvSpPr>
        <p:spPr>
          <a:xfrm>
            <a:off x="7818120" y="3346704"/>
            <a:ext cx="17373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64</a:t>
            </a:r>
            <a:endParaRPr lang="en-US" sz="1200" dirty="0"/>
          </a:p>
        </p:txBody>
      </p:sp>
      <p:sp>
        <p:nvSpPr>
          <p:cNvPr id="24" name="Text 22"/>
          <p:cNvSpPr/>
          <p:nvPr/>
        </p:nvSpPr>
        <p:spPr>
          <a:xfrm>
            <a:off x="9555480" y="3346704"/>
            <a:ext cx="19659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62</a:t>
            </a:r>
            <a:endParaRPr lang="en-US" sz="1200" dirty="0"/>
          </a:p>
        </p:txBody>
      </p:sp>
      <p:sp>
        <p:nvSpPr>
          <p:cNvPr id="25" name="Shape 23"/>
          <p:cNvSpPr/>
          <p:nvPr/>
        </p:nvSpPr>
        <p:spPr>
          <a:xfrm>
            <a:off x="6035040" y="3913632"/>
            <a:ext cx="5577840" cy="566928"/>
          </a:xfrm>
          <a:prstGeom prst="rect">
            <a:avLst/>
          </a:prstGeom>
          <a:solidFill>
            <a:srgbClr val="FAFAFB"/>
          </a:solidFill>
          <a:ln w="9525">
            <a:solidFill>
              <a:srgbClr val="D9DCE1"/>
            </a:solidFill>
            <a:prstDash val="solid"/>
          </a:ln>
        </p:spPr>
      </p:sp>
      <p:sp>
        <p:nvSpPr>
          <p:cNvPr id="26" name="Text 24"/>
          <p:cNvSpPr/>
          <p:nvPr/>
        </p:nvSpPr>
        <p:spPr>
          <a:xfrm>
            <a:off x="6263640" y="3913632"/>
            <a:ext cx="1554480" cy="566928"/>
          </a:xfrm>
          <a:prstGeom prst="rect">
            <a:avLst/>
          </a:prstGeom>
          <a:noFill/>
          <a:ln/>
        </p:spPr>
        <p:txBody>
          <a:bodyPr wrap="square" rtlCol="0" anchor="ctr"/>
          <a:lstStyle/>
          <a:p>
            <a:pPr indent="0" marL="0">
              <a:buNone/>
            </a:pPr>
            <a:r>
              <a:rPr lang="en-US" sz="1400" b="1" dirty="0">
                <a:solidFill>
                  <a:srgbClr val="232F3E"/>
                </a:solidFill>
                <a:latin typeface="Consolas" pitchFamily="34" charset="0"/>
                <a:ea typeface="Consolas" pitchFamily="34" charset="-122"/>
                <a:cs typeface="Consolas" pitchFamily="34" charset="-120"/>
              </a:rPr>
              <a:t>/27</a:t>
            </a:r>
            <a:endParaRPr lang="en-US" sz="1400" dirty="0"/>
          </a:p>
        </p:txBody>
      </p:sp>
      <p:sp>
        <p:nvSpPr>
          <p:cNvPr id="27" name="Text 25"/>
          <p:cNvSpPr/>
          <p:nvPr/>
        </p:nvSpPr>
        <p:spPr>
          <a:xfrm>
            <a:off x="7818120" y="3913632"/>
            <a:ext cx="17373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32</a:t>
            </a:r>
            <a:endParaRPr lang="en-US" sz="1200" dirty="0"/>
          </a:p>
        </p:txBody>
      </p:sp>
      <p:sp>
        <p:nvSpPr>
          <p:cNvPr id="28" name="Text 26"/>
          <p:cNvSpPr/>
          <p:nvPr/>
        </p:nvSpPr>
        <p:spPr>
          <a:xfrm>
            <a:off x="9555480" y="3913632"/>
            <a:ext cx="19659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30</a:t>
            </a:r>
            <a:endParaRPr lang="en-US" sz="1200" dirty="0"/>
          </a:p>
        </p:txBody>
      </p:sp>
      <p:sp>
        <p:nvSpPr>
          <p:cNvPr id="29" name="Shape 27"/>
          <p:cNvSpPr/>
          <p:nvPr/>
        </p:nvSpPr>
        <p:spPr>
          <a:xfrm>
            <a:off x="6035040" y="4480560"/>
            <a:ext cx="5577840" cy="566928"/>
          </a:xfrm>
          <a:prstGeom prst="rect">
            <a:avLst/>
          </a:prstGeom>
          <a:solidFill>
            <a:srgbClr val="FFFFFF"/>
          </a:solidFill>
          <a:ln w="9525">
            <a:solidFill>
              <a:srgbClr val="D9DCE1"/>
            </a:solidFill>
            <a:prstDash val="solid"/>
          </a:ln>
        </p:spPr>
      </p:sp>
      <p:sp>
        <p:nvSpPr>
          <p:cNvPr id="30" name="Text 28"/>
          <p:cNvSpPr/>
          <p:nvPr/>
        </p:nvSpPr>
        <p:spPr>
          <a:xfrm>
            <a:off x="6263640" y="4480560"/>
            <a:ext cx="1554480" cy="566928"/>
          </a:xfrm>
          <a:prstGeom prst="rect">
            <a:avLst/>
          </a:prstGeom>
          <a:noFill/>
          <a:ln/>
        </p:spPr>
        <p:txBody>
          <a:bodyPr wrap="square" rtlCol="0" anchor="ctr"/>
          <a:lstStyle/>
          <a:p>
            <a:pPr indent="0" marL="0">
              <a:buNone/>
            </a:pPr>
            <a:r>
              <a:rPr lang="en-US" sz="1400" b="1" dirty="0">
                <a:solidFill>
                  <a:srgbClr val="232F3E"/>
                </a:solidFill>
                <a:latin typeface="Consolas" pitchFamily="34" charset="0"/>
                <a:ea typeface="Consolas" pitchFamily="34" charset="-122"/>
                <a:cs typeface="Consolas" pitchFamily="34" charset="-120"/>
              </a:rPr>
              <a:t>/28</a:t>
            </a:r>
            <a:endParaRPr lang="en-US" sz="1400" dirty="0"/>
          </a:p>
        </p:txBody>
      </p:sp>
      <p:sp>
        <p:nvSpPr>
          <p:cNvPr id="31" name="Text 29"/>
          <p:cNvSpPr/>
          <p:nvPr/>
        </p:nvSpPr>
        <p:spPr>
          <a:xfrm>
            <a:off x="7818120" y="4480560"/>
            <a:ext cx="17373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16</a:t>
            </a:r>
            <a:endParaRPr lang="en-US" sz="1200" dirty="0"/>
          </a:p>
        </p:txBody>
      </p:sp>
      <p:sp>
        <p:nvSpPr>
          <p:cNvPr id="32" name="Text 30"/>
          <p:cNvSpPr/>
          <p:nvPr/>
        </p:nvSpPr>
        <p:spPr>
          <a:xfrm>
            <a:off x="9555480" y="4480560"/>
            <a:ext cx="1965960" cy="56692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14</a:t>
            </a:r>
            <a:endParaRPr lang="en-US" sz="1200" dirty="0"/>
          </a:p>
        </p:txBody>
      </p:sp>
      <p:sp>
        <p:nvSpPr>
          <p:cNvPr id="33" name="Text 3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4" name="Text 3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IP ADDRESSING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Hands-On: Splitting a /24</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FF9900"/>
                </a:solidFill>
                <a:latin typeface="Calibri" pitchFamily="34" charset="0"/>
                <a:ea typeface="Calibri" pitchFamily="34" charset="-122"/>
                <a:cs typeface="Calibri" pitchFamily="34" charset="-120"/>
              </a:rPr>
              <a:t>OBJECTIVE:  </a:t>
            </a:r>
            <a:pPr indent="0" marL="0">
              <a:buNone/>
            </a:pPr>
            <a:r>
              <a:rPr lang="en-US" sz="1250" dirty="0">
                <a:solidFill>
                  <a:srgbClr val="E9EDF1"/>
                </a:solidFill>
                <a:latin typeface="Calibri" pitchFamily="34" charset="0"/>
                <a:ea typeface="Calibri" pitchFamily="34" charset="-122"/>
                <a:cs typeface="Calibri" pitchFamily="34" charset="-120"/>
              </a:rPr>
              <a:t>Practice dividing 192.168.1.0/24 into smaller, equal subnets.</a:t>
            </a:r>
            <a:endParaRPr lang="en-US" sz="1250" dirty="0"/>
          </a:p>
        </p:txBody>
      </p:sp>
      <p:sp>
        <p:nvSpPr>
          <p:cNvPr id="6" name="Shape 4"/>
          <p:cNvSpPr/>
          <p:nvPr/>
        </p:nvSpPr>
        <p:spPr>
          <a:xfrm>
            <a:off x="763524" y="1920240"/>
            <a:ext cx="3383280" cy="2651760"/>
          </a:xfrm>
          <a:prstGeom prst="roundRect">
            <a:avLst>
              <a:gd name="adj" fmla="val 3448"/>
            </a:avLst>
          </a:prstGeom>
          <a:solidFill>
            <a:srgbClr val="161E2D"/>
          </a:solidFill>
          <a:ln w="12700">
            <a:solidFill>
              <a:srgbClr val="FF9900"/>
            </a:solidFill>
            <a:prstDash val="solid"/>
          </a:ln>
        </p:spPr>
      </p:sp>
      <p:sp>
        <p:nvSpPr>
          <p:cNvPr id="7" name="Text 5"/>
          <p:cNvSpPr/>
          <p:nvPr/>
        </p:nvSpPr>
        <p:spPr>
          <a:xfrm>
            <a:off x="946404" y="2103120"/>
            <a:ext cx="3017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2 Subnets</a:t>
            </a:r>
            <a:endParaRPr lang="en-US" sz="1500" dirty="0"/>
          </a:p>
        </p:txBody>
      </p:sp>
      <p:sp>
        <p:nvSpPr>
          <p:cNvPr id="8" name="Text 6"/>
          <p:cNvSpPr/>
          <p:nvPr/>
        </p:nvSpPr>
        <p:spPr>
          <a:xfrm>
            <a:off x="946404" y="2514600"/>
            <a:ext cx="3017520" cy="640080"/>
          </a:xfrm>
          <a:prstGeom prst="rect">
            <a:avLst/>
          </a:prstGeom>
          <a:noFill/>
          <a:ln/>
        </p:spPr>
        <p:txBody>
          <a:bodyPr wrap="square" rtlCol="0" anchor="ctr"/>
          <a:lstStyle/>
          <a:p>
            <a:pPr indent="0" marL="0">
              <a:buNone/>
            </a:pPr>
            <a:r>
              <a:rPr lang="en-US" sz="2800" b="1" dirty="0">
                <a:solidFill>
                  <a:srgbClr val="FF9900"/>
                </a:solidFill>
                <a:latin typeface="Consolas" pitchFamily="34" charset="0"/>
                <a:ea typeface="Consolas" pitchFamily="34" charset="-122"/>
                <a:cs typeface="Consolas" pitchFamily="34" charset="-120"/>
              </a:rPr>
              <a:t>/25</a:t>
            </a:r>
            <a:endParaRPr lang="en-US" sz="2800" dirty="0"/>
          </a:p>
        </p:txBody>
      </p:sp>
      <p:sp>
        <p:nvSpPr>
          <p:cNvPr id="9" name="Text 7"/>
          <p:cNvSpPr/>
          <p:nvPr/>
        </p:nvSpPr>
        <p:spPr>
          <a:xfrm>
            <a:off x="946404" y="3291840"/>
            <a:ext cx="3017520" cy="640080"/>
          </a:xfrm>
          <a:prstGeom prst="rect">
            <a:avLst/>
          </a:prstGeom>
          <a:noFill/>
          <a:ln/>
        </p:spPr>
        <p:txBody>
          <a:bodyPr wrap="square" rtlCol="0" anchor="t"/>
          <a:lstStyle/>
          <a:p>
            <a:pPr indent="0" marL="0">
              <a:buNone/>
            </a:pPr>
            <a:r>
              <a:rPr lang="en-US" sz="1100" dirty="0">
                <a:solidFill>
                  <a:srgbClr val="AEB9C2"/>
                </a:solidFill>
                <a:latin typeface="Consolas" pitchFamily="34" charset="0"/>
                <a:ea typeface="Consolas" pitchFamily="34" charset="-122"/>
                <a:cs typeface="Consolas" pitchFamily="34" charset="-120"/>
              </a:rPr>
              <a:t>.0/25  and  .128/25</a:t>
            </a:r>
            <a:endParaRPr lang="en-US" sz="1100" dirty="0"/>
          </a:p>
        </p:txBody>
      </p:sp>
      <p:sp>
        <p:nvSpPr>
          <p:cNvPr id="10" name="Text 8"/>
          <p:cNvSpPr/>
          <p:nvPr/>
        </p:nvSpPr>
        <p:spPr>
          <a:xfrm>
            <a:off x="946404" y="4069080"/>
            <a:ext cx="3017520" cy="365760"/>
          </a:xfrm>
          <a:prstGeom prst="rect">
            <a:avLst/>
          </a:prstGeom>
          <a:noFill/>
          <a:ln/>
        </p:spPr>
        <p:txBody>
          <a:bodyPr wrap="square" rtlCol="0" anchor="ctr"/>
          <a:lstStyle/>
          <a:p>
            <a:pPr indent="0" marL="0">
              <a:buNone/>
            </a:pPr>
            <a:r>
              <a:rPr lang="en-US" sz="1200" i="1" dirty="0">
                <a:solidFill>
                  <a:srgbClr val="C7D1D9"/>
                </a:solidFill>
                <a:latin typeface="Calibri" pitchFamily="34" charset="0"/>
                <a:ea typeface="Calibri" pitchFamily="34" charset="-122"/>
                <a:cs typeface="Calibri" pitchFamily="34" charset="-120"/>
              </a:rPr>
              <a:t>126 hosts each</a:t>
            </a:r>
            <a:endParaRPr lang="en-US" sz="1200" dirty="0"/>
          </a:p>
        </p:txBody>
      </p:sp>
      <p:sp>
        <p:nvSpPr>
          <p:cNvPr id="11" name="Shape 9"/>
          <p:cNvSpPr/>
          <p:nvPr/>
        </p:nvSpPr>
        <p:spPr>
          <a:xfrm>
            <a:off x="4402836" y="1920240"/>
            <a:ext cx="3383280" cy="2651760"/>
          </a:xfrm>
          <a:prstGeom prst="roundRect">
            <a:avLst>
              <a:gd name="adj" fmla="val 3448"/>
            </a:avLst>
          </a:prstGeom>
          <a:solidFill>
            <a:srgbClr val="161E2D"/>
          </a:solidFill>
          <a:ln w="12700">
            <a:solidFill>
              <a:srgbClr val="FF9900"/>
            </a:solidFill>
            <a:prstDash val="solid"/>
          </a:ln>
        </p:spPr>
      </p:sp>
      <p:sp>
        <p:nvSpPr>
          <p:cNvPr id="12" name="Text 10"/>
          <p:cNvSpPr/>
          <p:nvPr/>
        </p:nvSpPr>
        <p:spPr>
          <a:xfrm>
            <a:off x="4585716" y="2103120"/>
            <a:ext cx="3017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4 Subnets</a:t>
            </a:r>
            <a:endParaRPr lang="en-US" sz="1500" dirty="0"/>
          </a:p>
        </p:txBody>
      </p:sp>
      <p:sp>
        <p:nvSpPr>
          <p:cNvPr id="13" name="Text 11"/>
          <p:cNvSpPr/>
          <p:nvPr/>
        </p:nvSpPr>
        <p:spPr>
          <a:xfrm>
            <a:off x="4585716" y="2514600"/>
            <a:ext cx="3017520" cy="640080"/>
          </a:xfrm>
          <a:prstGeom prst="rect">
            <a:avLst/>
          </a:prstGeom>
          <a:noFill/>
          <a:ln/>
        </p:spPr>
        <p:txBody>
          <a:bodyPr wrap="square" rtlCol="0" anchor="ctr"/>
          <a:lstStyle/>
          <a:p>
            <a:pPr indent="0" marL="0">
              <a:buNone/>
            </a:pPr>
            <a:r>
              <a:rPr lang="en-US" sz="2800" b="1" dirty="0">
                <a:solidFill>
                  <a:srgbClr val="FF9900"/>
                </a:solidFill>
                <a:latin typeface="Consolas" pitchFamily="34" charset="0"/>
                <a:ea typeface="Consolas" pitchFamily="34" charset="-122"/>
                <a:cs typeface="Consolas" pitchFamily="34" charset="-120"/>
              </a:rPr>
              <a:t>/26</a:t>
            </a:r>
            <a:endParaRPr lang="en-US" sz="2800" dirty="0"/>
          </a:p>
        </p:txBody>
      </p:sp>
      <p:sp>
        <p:nvSpPr>
          <p:cNvPr id="14" name="Text 12"/>
          <p:cNvSpPr/>
          <p:nvPr/>
        </p:nvSpPr>
        <p:spPr>
          <a:xfrm>
            <a:off x="4585716" y="3291840"/>
            <a:ext cx="3017520" cy="640080"/>
          </a:xfrm>
          <a:prstGeom prst="rect">
            <a:avLst/>
          </a:prstGeom>
          <a:noFill/>
          <a:ln/>
        </p:spPr>
        <p:txBody>
          <a:bodyPr wrap="square" rtlCol="0" anchor="t"/>
          <a:lstStyle/>
          <a:p>
            <a:pPr indent="0" marL="0">
              <a:buNone/>
            </a:pPr>
            <a:r>
              <a:rPr lang="en-US" sz="1100" dirty="0">
                <a:solidFill>
                  <a:srgbClr val="AEB9C2"/>
                </a:solidFill>
                <a:latin typeface="Consolas" pitchFamily="34" charset="0"/>
                <a:ea typeface="Consolas" pitchFamily="34" charset="-122"/>
                <a:cs typeface="Consolas" pitchFamily="34" charset="-120"/>
              </a:rPr>
              <a:t>.0 .64 .128 .192 /26</a:t>
            </a:r>
            <a:endParaRPr lang="en-US" sz="1100" dirty="0"/>
          </a:p>
        </p:txBody>
      </p:sp>
      <p:sp>
        <p:nvSpPr>
          <p:cNvPr id="15" name="Text 13"/>
          <p:cNvSpPr/>
          <p:nvPr/>
        </p:nvSpPr>
        <p:spPr>
          <a:xfrm>
            <a:off x="4585716" y="4069080"/>
            <a:ext cx="3017520" cy="365760"/>
          </a:xfrm>
          <a:prstGeom prst="rect">
            <a:avLst/>
          </a:prstGeom>
          <a:noFill/>
          <a:ln/>
        </p:spPr>
        <p:txBody>
          <a:bodyPr wrap="square" rtlCol="0" anchor="ctr"/>
          <a:lstStyle/>
          <a:p>
            <a:pPr indent="0" marL="0">
              <a:buNone/>
            </a:pPr>
            <a:r>
              <a:rPr lang="en-US" sz="1200" i="1" dirty="0">
                <a:solidFill>
                  <a:srgbClr val="C7D1D9"/>
                </a:solidFill>
                <a:latin typeface="Calibri" pitchFamily="34" charset="0"/>
                <a:ea typeface="Calibri" pitchFamily="34" charset="-122"/>
                <a:cs typeface="Calibri" pitchFamily="34" charset="-120"/>
              </a:rPr>
              <a:t>62 hosts each</a:t>
            </a:r>
            <a:endParaRPr lang="en-US" sz="1200" dirty="0"/>
          </a:p>
        </p:txBody>
      </p:sp>
      <p:sp>
        <p:nvSpPr>
          <p:cNvPr id="16" name="Shape 14"/>
          <p:cNvSpPr/>
          <p:nvPr/>
        </p:nvSpPr>
        <p:spPr>
          <a:xfrm>
            <a:off x="8042148" y="1920240"/>
            <a:ext cx="3383280" cy="2651760"/>
          </a:xfrm>
          <a:prstGeom prst="roundRect">
            <a:avLst>
              <a:gd name="adj" fmla="val 3448"/>
            </a:avLst>
          </a:prstGeom>
          <a:solidFill>
            <a:srgbClr val="161E2D"/>
          </a:solidFill>
          <a:ln w="12700">
            <a:solidFill>
              <a:srgbClr val="FF9900"/>
            </a:solidFill>
            <a:prstDash val="solid"/>
          </a:ln>
        </p:spPr>
      </p:sp>
      <p:sp>
        <p:nvSpPr>
          <p:cNvPr id="17" name="Text 15"/>
          <p:cNvSpPr/>
          <p:nvPr/>
        </p:nvSpPr>
        <p:spPr>
          <a:xfrm>
            <a:off x="8225028" y="2103120"/>
            <a:ext cx="3017520" cy="36576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8 Subnets</a:t>
            </a:r>
            <a:endParaRPr lang="en-US" sz="1500" dirty="0"/>
          </a:p>
        </p:txBody>
      </p:sp>
      <p:sp>
        <p:nvSpPr>
          <p:cNvPr id="18" name="Text 16"/>
          <p:cNvSpPr/>
          <p:nvPr/>
        </p:nvSpPr>
        <p:spPr>
          <a:xfrm>
            <a:off x="8225028" y="2514600"/>
            <a:ext cx="3017520" cy="640080"/>
          </a:xfrm>
          <a:prstGeom prst="rect">
            <a:avLst/>
          </a:prstGeom>
          <a:noFill/>
          <a:ln/>
        </p:spPr>
        <p:txBody>
          <a:bodyPr wrap="square" rtlCol="0" anchor="ctr"/>
          <a:lstStyle/>
          <a:p>
            <a:pPr indent="0" marL="0">
              <a:buNone/>
            </a:pPr>
            <a:r>
              <a:rPr lang="en-US" sz="2800" b="1" dirty="0">
                <a:solidFill>
                  <a:srgbClr val="FF9900"/>
                </a:solidFill>
                <a:latin typeface="Consolas" pitchFamily="34" charset="0"/>
                <a:ea typeface="Consolas" pitchFamily="34" charset="-122"/>
                <a:cs typeface="Consolas" pitchFamily="34" charset="-120"/>
              </a:rPr>
              <a:t>/27</a:t>
            </a:r>
            <a:endParaRPr lang="en-US" sz="2800" dirty="0"/>
          </a:p>
        </p:txBody>
      </p:sp>
      <p:sp>
        <p:nvSpPr>
          <p:cNvPr id="19" name="Text 17"/>
          <p:cNvSpPr/>
          <p:nvPr/>
        </p:nvSpPr>
        <p:spPr>
          <a:xfrm>
            <a:off x="8225028" y="3291840"/>
            <a:ext cx="3017520" cy="640080"/>
          </a:xfrm>
          <a:prstGeom prst="rect">
            <a:avLst/>
          </a:prstGeom>
          <a:noFill/>
          <a:ln/>
        </p:spPr>
        <p:txBody>
          <a:bodyPr wrap="square" rtlCol="0" anchor="t"/>
          <a:lstStyle/>
          <a:p>
            <a:pPr indent="0" marL="0">
              <a:buNone/>
            </a:pPr>
            <a:r>
              <a:rPr lang="en-US" sz="1100" dirty="0">
                <a:solidFill>
                  <a:srgbClr val="AEB9C2"/>
                </a:solidFill>
                <a:latin typeface="Consolas" pitchFamily="34" charset="0"/>
                <a:ea typeface="Consolas" pitchFamily="34" charset="-122"/>
                <a:cs typeface="Consolas" pitchFamily="34" charset="-120"/>
              </a:rPr>
              <a:t>.0 .32 .64 ... .224 /27</a:t>
            </a:r>
            <a:endParaRPr lang="en-US" sz="1100" dirty="0"/>
          </a:p>
        </p:txBody>
      </p:sp>
      <p:sp>
        <p:nvSpPr>
          <p:cNvPr id="20" name="Text 18"/>
          <p:cNvSpPr/>
          <p:nvPr/>
        </p:nvSpPr>
        <p:spPr>
          <a:xfrm>
            <a:off x="8225028" y="4069080"/>
            <a:ext cx="3017520" cy="365760"/>
          </a:xfrm>
          <a:prstGeom prst="rect">
            <a:avLst/>
          </a:prstGeom>
          <a:noFill/>
          <a:ln/>
        </p:spPr>
        <p:txBody>
          <a:bodyPr wrap="square" rtlCol="0" anchor="ctr"/>
          <a:lstStyle/>
          <a:p>
            <a:pPr indent="0" marL="0">
              <a:buNone/>
            </a:pPr>
            <a:r>
              <a:rPr lang="en-US" sz="1200" i="1" dirty="0">
                <a:solidFill>
                  <a:srgbClr val="C7D1D9"/>
                </a:solidFill>
                <a:latin typeface="Calibri" pitchFamily="34" charset="0"/>
                <a:ea typeface="Calibri" pitchFamily="34" charset="-122"/>
                <a:cs typeface="Calibri" pitchFamily="34" charset="-120"/>
              </a:rPr>
              <a:t>30 hosts each</a:t>
            </a:r>
            <a:endParaRPr lang="en-US" sz="1200" dirty="0"/>
          </a:p>
        </p:txBody>
      </p:sp>
      <p:sp>
        <p:nvSpPr>
          <p:cNvPr id="21" name="Shape 19"/>
          <p:cNvSpPr/>
          <p:nvPr/>
        </p:nvSpPr>
        <p:spPr>
          <a:xfrm>
            <a:off x="548640" y="4892040"/>
            <a:ext cx="11091672" cy="566928"/>
          </a:xfrm>
          <a:prstGeom prst="roundRect">
            <a:avLst>
              <a:gd name="adj" fmla="val 12903"/>
            </a:avLst>
          </a:prstGeom>
          <a:solidFill>
            <a:srgbClr val="232F3E"/>
          </a:solidFill>
          <a:ln/>
        </p:spPr>
      </p:sp>
      <p:sp>
        <p:nvSpPr>
          <p:cNvPr id="22" name="Shape 20"/>
          <p:cNvSpPr/>
          <p:nvPr/>
        </p:nvSpPr>
        <p:spPr>
          <a:xfrm>
            <a:off x="704088" y="4946904"/>
            <a:ext cx="457200" cy="457200"/>
          </a:xfrm>
          <a:prstGeom prst="ellipse">
            <a:avLst/>
          </a:prstGeom>
          <a:solidFill>
            <a:srgbClr val="33455B"/>
          </a:solidFill>
          <a:ln/>
        </p:spPr>
      </p:sp>
      <p:pic>
        <p:nvPicPr>
          <p:cNvPr id="23" name="Image 0" descr="/home/claude/ppt3/icon_lightbulb_o.png">    </p:cNvPr>
          <p:cNvPicPr>
            <a:picLocks noChangeAspect="1"/>
          </p:cNvPicPr>
          <p:nvPr/>
        </p:nvPicPr>
        <p:blipFill>
          <a:blip r:embed="rId1"/>
          <a:stretch>
            <a:fillRect/>
          </a:stretch>
        </p:blipFill>
        <p:spPr>
          <a:xfrm>
            <a:off x="813816" y="5056632"/>
            <a:ext cx="237744" cy="237744"/>
          </a:xfrm>
          <a:prstGeom prst="rect">
            <a:avLst/>
          </a:prstGeom>
        </p:spPr>
      </p:pic>
      <p:sp>
        <p:nvSpPr>
          <p:cNvPr id="24" name="Text 21"/>
          <p:cNvSpPr/>
          <p:nvPr/>
        </p:nvSpPr>
        <p:spPr>
          <a:xfrm>
            <a:off x="1234440" y="489204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Trick: each time you split in half, add 1 to the CIDR number and halve the host count.</a:t>
            </a:r>
            <a:endParaRPr lang="en-US" sz="1100" dirty="0"/>
          </a:p>
        </p:txBody>
      </p:sp>
      <p:sp>
        <p:nvSpPr>
          <p:cNvPr id="25" name="Text 2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26" name="Text 2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ROUTING &amp; SWITCHING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Routing — Getting Packets There</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Understand how routers decide where to send each packet.</a:t>
            </a:r>
            <a:endParaRPr lang="en-US" sz="1250" dirty="0"/>
          </a:p>
        </p:txBody>
      </p:sp>
      <p:sp>
        <p:nvSpPr>
          <p:cNvPr id="6" name="Shape 4"/>
          <p:cNvSpPr/>
          <p:nvPr/>
        </p:nvSpPr>
        <p:spPr>
          <a:xfrm>
            <a:off x="763524" y="1874520"/>
            <a:ext cx="3383280" cy="2103120"/>
          </a:xfrm>
          <a:prstGeom prst="roundRect">
            <a:avLst>
              <a:gd name="adj" fmla="val 4348"/>
            </a:avLst>
          </a:prstGeom>
          <a:solidFill>
            <a:srgbClr val="FFFFFF"/>
          </a:solidFill>
          <a:ln w="12700">
            <a:solidFill>
              <a:srgbClr val="D9DCE1"/>
            </a:solidFill>
            <a:prstDash val="solid"/>
          </a:ln>
        </p:spPr>
      </p:sp>
      <p:sp>
        <p:nvSpPr>
          <p:cNvPr id="7" name="Shape 5"/>
          <p:cNvSpPr/>
          <p:nvPr/>
        </p:nvSpPr>
        <p:spPr>
          <a:xfrm>
            <a:off x="1997964" y="2148840"/>
            <a:ext cx="914400" cy="914400"/>
          </a:xfrm>
          <a:prstGeom prst="ellipse">
            <a:avLst/>
          </a:prstGeom>
          <a:solidFill>
            <a:srgbClr val="FFF3DE"/>
          </a:solidFill>
          <a:ln/>
        </p:spPr>
      </p:sp>
      <p:pic>
        <p:nvPicPr>
          <p:cNvPr id="8" name="Image 0" descr="/home/claude/ppt3/icon_listol_d.png">    </p:cNvPr>
          <p:cNvPicPr>
            <a:picLocks noChangeAspect="1"/>
          </p:cNvPicPr>
          <p:nvPr/>
        </p:nvPicPr>
        <p:blipFill>
          <a:blip r:embed="rId1"/>
          <a:stretch>
            <a:fillRect/>
          </a:stretch>
        </p:blipFill>
        <p:spPr>
          <a:xfrm>
            <a:off x="2217420" y="2368296"/>
            <a:ext cx="475488" cy="475488"/>
          </a:xfrm>
          <a:prstGeom prst="rect">
            <a:avLst/>
          </a:prstGeom>
        </p:spPr>
      </p:pic>
      <p:sp>
        <p:nvSpPr>
          <p:cNvPr id="9" name="Text 6"/>
          <p:cNvSpPr/>
          <p:nvPr/>
        </p:nvSpPr>
        <p:spPr>
          <a:xfrm>
            <a:off x="763524" y="3200400"/>
            <a:ext cx="3383280" cy="365760"/>
          </a:xfrm>
          <a:prstGeom prst="rect">
            <a:avLst/>
          </a:prstGeom>
          <a:noFill/>
          <a:ln/>
        </p:spPr>
        <p:txBody>
          <a:bodyPr wrap="square" rtlCol="0" anchor="ctr"/>
          <a:lstStyle/>
          <a:p>
            <a:pPr algn="ctr" indent="0" marL="0">
              <a:buNone/>
            </a:pPr>
            <a:r>
              <a:rPr lang="en-US" sz="1450" b="1" dirty="0">
                <a:solidFill>
                  <a:srgbClr val="232F3E"/>
                </a:solidFill>
                <a:latin typeface="Arial" pitchFamily="34" charset="0"/>
                <a:ea typeface="Arial" pitchFamily="34" charset="-122"/>
                <a:cs typeface="Arial" pitchFamily="34" charset="-120"/>
              </a:rPr>
              <a:t>Routing Table</a:t>
            </a:r>
            <a:endParaRPr lang="en-US" sz="1450" dirty="0"/>
          </a:p>
        </p:txBody>
      </p:sp>
      <p:sp>
        <p:nvSpPr>
          <p:cNvPr id="10" name="Text 7"/>
          <p:cNvSpPr/>
          <p:nvPr/>
        </p:nvSpPr>
        <p:spPr>
          <a:xfrm>
            <a:off x="946404" y="3566160"/>
            <a:ext cx="3017520" cy="365760"/>
          </a:xfrm>
          <a:prstGeom prst="rect">
            <a:avLst/>
          </a:prstGeom>
          <a:noFill/>
          <a:ln/>
        </p:spPr>
        <p:txBody>
          <a:bodyPr wrap="square" rtlCol="0" anchor="ctr"/>
          <a:lstStyle/>
          <a:p>
            <a:pPr algn="ctr" indent="0" marL="0">
              <a:buNone/>
            </a:pPr>
            <a:r>
              <a:rPr lang="en-US" sz="1100" dirty="0">
                <a:solidFill>
                  <a:srgbClr val="5A6B75"/>
                </a:solidFill>
                <a:latin typeface="Calibri" pitchFamily="34" charset="0"/>
                <a:ea typeface="Calibri" pitchFamily="34" charset="-122"/>
                <a:cs typeface="Calibri" pitchFamily="34" charset="-120"/>
              </a:rPr>
              <a:t>A router's map of known networks &amp; paths</a:t>
            </a:r>
            <a:endParaRPr lang="en-US" sz="1100" dirty="0"/>
          </a:p>
        </p:txBody>
      </p:sp>
      <p:sp>
        <p:nvSpPr>
          <p:cNvPr id="11" name="Shape 8"/>
          <p:cNvSpPr/>
          <p:nvPr/>
        </p:nvSpPr>
        <p:spPr>
          <a:xfrm>
            <a:off x="4402836" y="1874520"/>
            <a:ext cx="3383280" cy="2103120"/>
          </a:xfrm>
          <a:prstGeom prst="roundRect">
            <a:avLst>
              <a:gd name="adj" fmla="val 4348"/>
            </a:avLst>
          </a:prstGeom>
          <a:solidFill>
            <a:srgbClr val="FFFFFF"/>
          </a:solidFill>
          <a:ln w="12700">
            <a:solidFill>
              <a:srgbClr val="D9DCE1"/>
            </a:solidFill>
            <a:prstDash val="solid"/>
          </a:ln>
        </p:spPr>
      </p:sp>
      <p:sp>
        <p:nvSpPr>
          <p:cNvPr id="12" name="Shape 9"/>
          <p:cNvSpPr/>
          <p:nvPr/>
        </p:nvSpPr>
        <p:spPr>
          <a:xfrm>
            <a:off x="5637276" y="2148840"/>
            <a:ext cx="914400" cy="914400"/>
          </a:xfrm>
          <a:prstGeom prst="ellipse">
            <a:avLst/>
          </a:prstGeom>
          <a:solidFill>
            <a:srgbClr val="FFF3DE"/>
          </a:solidFill>
          <a:ln/>
        </p:spPr>
      </p:sp>
      <p:pic>
        <p:nvPicPr>
          <p:cNvPr id="13" name="Image 1" descr="/home/claude/ppt3/icon_router_d.png">    </p:cNvPr>
          <p:cNvPicPr>
            <a:picLocks noChangeAspect="1"/>
          </p:cNvPicPr>
          <p:nvPr/>
        </p:nvPicPr>
        <p:blipFill>
          <a:blip r:embed="rId2"/>
          <a:stretch>
            <a:fillRect/>
          </a:stretch>
        </p:blipFill>
        <p:spPr>
          <a:xfrm>
            <a:off x="5856732" y="2368296"/>
            <a:ext cx="475488" cy="475488"/>
          </a:xfrm>
          <a:prstGeom prst="rect">
            <a:avLst/>
          </a:prstGeom>
        </p:spPr>
      </p:pic>
      <p:sp>
        <p:nvSpPr>
          <p:cNvPr id="14" name="Text 10"/>
          <p:cNvSpPr/>
          <p:nvPr/>
        </p:nvSpPr>
        <p:spPr>
          <a:xfrm>
            <a:off x="4402836" y="3200400"/>
            <a:ext cx="3383280" cy="365760"/>
          </a:xfrm>
          <a:prstGeom prst="rect">
            <a:avLst/>
          </a:prstGeom>
          <a:noFill/>
          <a:ln/>
        </p:spPr>
        <p:txBody>
          <a:bodyPr wrap="square" rtlCol="0" anchor="ctr"/>
          <a:lstStyle/>
          <a:p>
            <a:pPr algn="ctr" indent="0" marL="0">
              <a:buNone/>
            </a:pPr>
            <a:r>
              <a:rPr lang="en-US" sz="1450" b="1" dirty="0">
                <a:solidFill>
                  <a:srgbClr val="232F3E"/>
                </a:solidFill>
                <a:latin typeface="Arial" pitchFamily="34" charset="0"/>
                <a:ea typeface="Arial" pitchFamily="34" charset="-122"/>
                <a:cs typeface="Arial" pitchFamily="34" charset="-120"/>
              </a:rPr>
              <a:t>Default Gateway</a:t>
            </a:r>
            <a:endParaRPr lang="en-US" sz="1450" dirty="0"/>
          </a:p>
        </p:txBody>
      </p:sp>
      <p:sp>
        <p:nvSpPr>
          <p:cNvPr id="15" name="Text 11"/>
          <p:cNvSpPr/>
          <p:nvPr/>
        </p:nvSpPr>
        <p:spPr>
          <a:xfrm>
            <a:off x="4585716" y="3566160"/>
            <a:ext cx="3017520" cy="365760"/>
          </a:xfrm>
          <a:prstGeom prst="rect">
            <a:avLst/>
          </a:prstGeom>
          <a:noFill/>
          <a:ln/>
        </p:spPr>
        <p:txBody>
          <a:bodyPr wrap="square" rtlCol="0" anchor="ctr"/>
          <a:lstStyle/>
          <a:p>
            <a:pPr algn="ctr" indent="0" marL="0">
              <a:buNone/>
            </a:pPr>
            <a:r>
              <a:rPr lang="en-US" sz="1100" dirty="0">
                <a:solidFill>
                  <a:srgbClr val="5A6B75"/>
                </a:solidFill>
                <a:latin typeface="Calibri" pitchFamily="34" charset="0"/>
                <a:ea typeface="Calibri" pitchFamily="34" charset="-122"/>
                <a:cs typeface="Calibri" pitchFamily="34" charset="-120"/>
              </a:rPr>
              <a:t>Where traffic goes if no specific route matches</a:t>
            </a:r>
            <a:endParaRPr lang="en-US" sz="1100" dirty="0"/>
          </a:p>
        </p:txBody>
      </p:sp>
      <p:sp>
        <p:nvSpPr>
          <p:cNvPr id="16" name="Shape 12"/>
          <p:cNvSpPr/>
          <p:nvPr/>
        </p:nvSpPr>
        <p:spPr>
          <a:xfrm>
            <a:off x="8042148" y="1874520"/>
            <a:ext cx="3383280" cy="2103120"/>
          </a:xfrm>
          <a:prstGeom prst="roundRect">
            <a:avLst>
              <a:gd name="adj" fmla="val 4348"/>
            </a:avLst>
          </a:prstGeom>
          <a:solidFill>
            <a:srgbClr val="FFFFFF"/>
          </a:solidFill>
          <a:ln w="12700">
            <a:solidFill>
              <a:srgbClr val="D9DCE1"/>
            </a:solidFill>
            <a:prstDash val="solid"/>
          </a:ln>
        </p:spPr>
      </p:sp>
      <p:sp>
        <p:nvSpPr>
          <p:cNvPr id="17" name="Shape 13"/>
          <p:cNvSpPr/>
          <p:nvPr/>
        </p:nvSpPr>
        <p:spPr>
          <a:xfrm>
            <a:off x="9276588" y="2148840"/>
            <a:ext cx="914400" cy="914400"/>
          </a:xfrm>
          <a:prstGeom prst="ellipse">
            <a:avLst/>
          </a:prstGeom>
          <a:solidFill>
            <a:srgbClr val="FFF3DE"/>
          </a:solidFill>
          <a:ln/>
        </p:spPr>
      </p:sp>
      <p:pic>
        <p:nvPicPr>
          <p:cNvPr id="18" name="Image 2" descr="/home/claude/ppt3/icon_exchange_d.png">    </p:cNvPr>
          <p:cNvPicPr>
            <a:picLocks noChangeAspect="1"/>
          </p:cNvPicPr>
          <p:nvPr/>
        </p:nvPicPr>
        <p:blipFill>
          <a:blip r:embed="rId3"/>
          <a:stretch>
            <a:fillRect/>
          </a:stretch>
        </p:blipFill>
        <p:spPr>
          <a:xfrm>
            <a:off x="9496044" y="2368296"/>
            <a:ext cx="475488" cy="475488"/>
          </a:xfrm>
          <a:prstGeom prst="rect">
            <a:avLst/>
          </a:prstGeom>
        </p:spPr>
      </p:pic>
      <p:sp>
        <p:nvSpPr>
          <p:cNvPr id="19" name="Text 14"/>
          <p:cNvSpPr/>
          <p:nvPr/>
        </p:nvSpPr>
        <p:spPr>
          <a:xfrm>
            <a:off x="8042148" y="3200400"/>
            <a:ext cx="3383280" cy="365760"/>
          </a:xfrm>
          <a:prstGeom prst="rect">
            <a:avLst/>
          </a:prstGeom>
          <a:noFill/>
          <a:ln/>
        </p:spPr>
        <p:txBody>
          <a:bodyPr wrap="square" rtlCol="0" anchor="ctr"/>
          <a:lstStyle/>
          <a:p>
            <a:pPr algn="ctr" indent="0" marL="0">
              <a:buNone/>
            </a:pPr>
            <a:r>
              <a:rPr lang="en-US" sz="1450" b="1" dirty="0">
                <a:solidFill>
                  <a:srgbClr val="232F3E"/>
                </a:solidFill>
                <a:latin typeface="Arial" pitchFamily="34" charset="0"/>
                <a:ea typeface="Arial" pitchFamily="34" charset="-122"/>
                <a:cs typeface="Arial" pitchFamily="34" charset="-120"/>
              </a:rPr>
              <a:t>Packet Forwarding</a:t>
            </a:r>
            <a:endParaRPr lang="en-US" sz="1450" dirty="0"/>
          </a:p>
        </p:txBody>
      </p:sp>
      <p:sp>
        <p:nvSpPr>
          <p:cNvPr id="20" name="Text 15"/>
          <p:cNvSpPr/>
          <p:nvPr/>
        </p:nvSpPr>
        <p:spPr>
          <a:xfrm>
            <a:off x="8225028" y="3566160"/>
            <a:ext cx="3017520" cy="365760"/>
          </a:xfrm>
          <a:prstGeom prst="rect">
            <a:avLst/>
          </a:prstGeom>
          <a:noFill/>
          <a:ln/>
        </p:spPr>
        <p:txBody>
          <a:bodyPr wrap="square" rtlCol="0" anchor="ctr"/>
          <a:lstStyle/>
          <a:p>
            <a:pPr algn="ctr" indent="0" marL="0">
              <a:buNone/>
            </a:pPr>
            <a:r>
              <a:rPr lang="en-US" sz="1100" dirty="0">
                <a:solidFill>
                  <a:srgbClr val="5A6B75"/>
                </a:solidFill>
                <a:latin typeface="Calibri" pitchFamily="34" charset="0"/>
                <a:ea typeface="Calibri" pitchFamily="34" charset="-122"/>
                <a:cs typeface="Calibri" pitchFamily="34" charset="-120"/>
              </a:rPr>
              <a:t>Moving a packet one hop closer to its destination</a:t>
            </a:r>
            <a:endParaRPr lang="en-US" sz="1100" dirty="0"/>
          </a:p>
        </p:txBody>
      </p:sp>
      <p:sp>
        <p:nvSpPr>
          <p:cNvPr id="21" name="Shape 16"/>
          <p:cNvSpPr/>
          <p:nvPr/>
        </p:nvSpPr>
        <p:spPr>
          <a:xfrm>
            <a:off x="548640" y="4251960"/>
            <a:ext cx="11091672" cy="566928"/>
          </a:xfrm>
          <a:prstGeom prst="roundRect">
            <a:avLst>
              <a:gd name="adj" fmla="val 12903"/>
            </a:avLst>
          </a:prstGeom>
          <a:solidFill>
            <a:srgbClr val="FFFFFF"/>
          </a:solidFill>
          <a:ln w="15875">
            <a:solidFill>
              <a:srgbClr val="FF9900"/>
            </a:solidFill>
            <a:prstDash val="solid"/>
          </a:ln>
        </p:spPr>
      </p:sp>
      <p:sp>
        <p:nvSpPr>
          <p:cNvPr id="22" name="Text 17"/>
          <p:cNvSpPr/>
          <p:nvPr/>
        </p:nvSpPr>
        <p:spPr>
          <a:xfrm>
            <a:off x="777240" y="425196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Like a GPS: the routing table is the map, the default gateway is “when in doubt, head for the highway,” and forwarding is each turn along the way.</a:t>
            </a:r>
            <a:endParaRPr lang="en-US" sz="1100" dirty="0"/>
          </a:p>
        </p:txBody>
      </p:sp>
      <p:sp>
        <p:nvSpPr>
          <p:cNvPr id="23" name="Shape 18"/>
          <p:cNvSpPr/>
          <p:nvPr/>
        </p:nvSpPr>
        <p:spPr>
          <a:xfrm>
            <a:off x="548640" y="4937760"/>
            <a:ext cx="11091672" cy="566928"/>
          </a:xfrm>
          <a:prstGeom prst="roundRect">
            <a:avLst>
              <a:gd name="adj" fmla="val 12903"/>
            </a:avLst>
          </a:prstGeom>
          <a:solidFill>
            <a:srgbClr val="FBEAE5"/>
          </a:solidFill>
          <a:ln w="12700">
            <a:solidFill>
              <a:srgbClr val="E5533D"/>
            </a:solidFill>
            <a:prstDash val="solid"/>
          </a:ln>
        </p:spPr>
      </p:sp>
      <p:sp>
        <p:nvSpPr>
          <p:cNvPr id="24" name="Shape 19"/>
          <p:cNvSpPr/>
          <p:nvPr/>
        </p:nvSpPr>
        <p:spPr>
          <a:xfrm>
            <a:off x="704088" y="4992624"/>
            <a:ext cx="457200" cy="457200"/>
          </a:xfrm>
          <a:prstGeom prst="ellipse">
            <a:avLst/>
          </a:prstGeom>
          <a:solidFill>
            <a:srgbClr val="F6D2C7"/>
          </a:solidFill>
          <a:ln/>
        </p:spPr>
      </p:sp>
      <p:pic>
        <p:nvPicPr>
          <p:cNvPr id="25" name="Image 3" descr="/home/claude/ppt3/icon_bug_o.png">    </p:cNvPr>
          <p:cNvPicPr>
            <a:picLocks noChangeAspect="1"/>
          </p:cNvPicPr>
          <p:nvPr/>
        </p:nvPicPr>
        <p:blipFill>
          <a:blip r:embed="rId4"/>
          <a:stretch>
            <a:fillRect/>
          </a:stretch>
        </p:blipFill>
        <p:spPr>
          <a:xfrm>
            <a:off x="813816" y="5102352"/>
            <a:ext cx="237744" cy="237744"/>
          </a:xfrm>
          <a:prstGeom prst="rect">
            <a:avLst/>
          </a:prstGeom>
        </p:spPr>
      </p:pic>
      <p:sp>
        <p:nvSpPr>
          <p:cNvPr id="26" name="Text 20"/>
          <p:cNvSpPr/>
          <p:nvPr/>
        </p:nvSpPr>
        <p:spPr>
          <a:xfrm>
            <a:off x="1234440" y="4937760"/>
            <a:ext cx="10177272" cy="56692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COMMON MISTAKE:  </a:t>
            </a:r>
            <a:pPr indent="0" marL="0">
              <a:buNone/>
            </a:pPr>
            <a:r>
              <a:rPr lang="en-US" sz="1100" dirty="0">
                <a:solidFill>
                  <a:srgbClr val="16191F"/>
                </a:solidFill>
                <a:latin typeface="Calibri" pitchFamily="34" charset="0"/>
                <a:ea typeface="Calibri" pitchFamily="34" charset="-122"/>
                <a:cs typeface="Calibri" pitchFamily="34" charset="-120"/>
              </a:rPr>
              <a:t>Forgetting that a missing or wrong default gateway is one of the most common causes of “no internet access” errors.</a:t>
            </a:r>
            <a:endParaRPr lang="en-US" sz="1100" dirty="0"/>
          </a:p>
        </p:txBody>
      </p:sp>
      <p:sp>
        <p:nvSpPr>
          <p:cNvPr id="27" name="Text 2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8" name="Text 2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ROUTING &amp; SWITCHING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Switches vs. Routers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Compare the two devices most often confused by beginners.</a:t>
            </a:r>
            <a:endParaRPr lang="en-US" sz="1250" dirty="0"/>
          </a:p>
        </p:txBody>
      </p:sp>
      <p:sp>
        <p:nvSpPr>
          <p:cNvPr id="6" name="Shape 4"/>
          <p:cNvSpPr/>
          <p:nvPr/>
        </p:nvSpPr>
        <p:spPr>
          <a:xfrm>
            <a:off x="548640" y="1828800"/>
            <a:ext cx="11091672" cy="438912"/>
          </a:xfrm>
          <a:prstGeom prst="rect">
            <a:avLst/>
          </a:prstGeom>
          <a:solidFill>
            <a:srgbClr val="232F3E"/>
          </a:solidFill>
          <a:ln/>
        </p:spPr>
      </p:sp>
      <p:sp>
        <p:nvSpPr>
          <p:cNvPr id="7" name="Text 5"/>
          <p:cNvSpPr/>
          <p:nvPr/>
        </p:nvSpPr>
        <p:spPr>
          <a:xfrm>
            <a:off x="777240" y="1828800"/>
            <a:ext cx="2651760" cy="438912"/>
          </a:xfrm>
          <a:prstGeom prst="rect">
            <a:avLst/>
          </a:prstGeom>
          <a:noFill/>
          <a:ln/>
        </p:spPr>
        <p:txBody>
          <a:bodyPr wrap="square" rtlCol="0" anchor="ctr"/>
          <a:lstStyle/>
          <a:p>
            <a:pPr indent="0" marL="0">
              <a:buNone/>
            </a:pPr>
            <a:r>
              <a:rPr lang="en-US" sz="1150" b="1" spc="100" kern="0" dirty="0">
                <a:solidFill>
                  <a:srgbClr val="FF9900"/>
                </a:solidFill>
                <a:latin typeface="Calibri" pitchFamily="34" charset="0"/>
                <a:ea typeface="Calibri" pitchFamily="34" charset="-122"/>
                <a:cs typeface="Calibri" pitchFamily="34" charset="-120"/>
              </a:rPr>
              <a:t>CATEGORY</a:t>
            </a:r>
            <a:endParaRPr lang="en-US" sz="1150" dirty="0"/>
          </a:p>
        </p:txBody>
      </p:sp>
      <p:sp>
        <p:nvSpPr>
          <p:cNvPr id="8" name="Text 6"/>
          <p:cNvSpPr/>
          <p:nvPr/>
        </p:nvSpPr>
        <p:spPr>
          <a:xfrm>
            <a:off x="3566160" y="1828800"/>
            <a:ext cx="3794760" cy="438912"/>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SWITCH</a:t>
            </a:r>
            <a:endParaRPr lang="en-US" sz="1150" dirty="0"/>
          </a:p>
        </p:txBody>
      </p:sp>
      <p:sp>
        <p:nvSpPr>
          <p:cNvPr id="9" name="Text 7"/>
          <p:cNvSpPr/>
          <p:nvPr/>
        </p:nvSpPr>
        <p:spPr>
          <a:xfrm>
            <a:off x="7498080" y="1828800"/>
            <a:ext cx="3931920" cy="438912"/>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ROUTER</a:t>
            </a:r>
            <a:endParaRPr lang="en-US" sz="1150" dirty="0"/>
          </a:p>
        </p:txBody>
      </p:sp>
      <p:sp>
        <p:nvSpPr>
          <p:cNvPr id="10" name="Shape 8"/>
          <p:cNvSpPr/>
          <p:nvPr/>
        </p:nvSpPr>
        <p:spPr>
          <a:xfrm>
            <a:off x="548640" y="2267712"/>
            <a:ext cx="11091672" cy="658368"/>
          </a:xfrm>
          <a:prstGeom prst="rect">
            <a:avLst/>
          </a:prstGeom>
          <a:solidFill>
            <a:srgbClr val="FFFFFF"/>
          </a:solidFill>
          <a:ln w="9525">
            <a:solidFill>
              <a:srgbClr val="D9DCE1"/>
            </a:solidFill>
            <a:prstDash val="solid"/>
          </a:ln>
        </p:spPr>
      </p:sp>
      <p:sp>
        <p:nvSpPr>
          <p:cNvPr id="11" name="Text 9"/>
          <p:cNvSpPr/>
          <p:nvPr/>
        </p:nvSpPr>
        <p:spPr>
          <a:xfrm>
            <a:off x="777240" y="2267712"/>
            <a:ext cx="2651760" cy="658368"/>
          </a:xfrm>
          <a:prstGeom prst="rect">
            <a:avLst/>
          </a:prstGeom>
          <a:noFill/>
          <a:ln/>
        </p:spPr>
        <p:txBody>
          <a:bodyPr wrap="square"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OSI Layer</a:t>
            </a:r>
            <a:endParaRPr lang="en-US" sz="1250" dirty="0"/>
          </a:p>
        </p:txBody>
      </p:sp>
      <p:sp>
        <p:nvSpPr>
          <p:cNvPr id="12" name="Text 10"/>
          <p:cNvSpPr/>
          <p:nvPr/>
        </p:nvSpPr>
        <p:spPr>
          <a:xfrm>
            <a:off x="3566160" y="2267712"/>
            <a:ext cx="379476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Layer 2 (Data Link)</a:t>
            </a:r>
            <a:endParaRPr lang="en-US" sz="1200" dirty="0"/>
          </a:p>
        </p:txBody>
      </p:sp>
      <p:sp>
        <p:nvSpPr>
          <p:cNvPr id="13" name="Text 11"/>
          <p:cNvSpPr/>
          <p:nvPr/>
        </p:nvSpPr>
        <p:spPr>
          <a:xfrm>
            <a:off x="7498080" y="2267712"/>
            <a:ext cx="393192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Layer 3 (Network)</a:t>
            </a:r>
            <a:endParaRPr lang="en-US" sz="1200" dirty="0"/>
          </a:p>
        </p:txBody>
      </p:sp>
      <p:sp>
        <p:nvSpPr>
          <p:cNvPr id="14" name="Shape 12"/>
          <p:cNvSpPr/>
          <p:nvPr/>
        </p:nvSpPr>
        <p:spPr>
          <a:xfrm>
            <a:off x="548640" y="2926080"/>
            <a:ext cx="11091672" cy="658368"/>
          </a:xfrm>
          <a:prstGeom prst="rect">
            <a:avLst/>
          </a:prstGeom>
          <a:solidFill>
            <a:srgbClr val="FAFAFB"/>
          </a:solidFill>
          <a:ln w="9525">
            <a:solidFill>
              <a:srgbClr val="D9DCE1"/>
            </a:solidFill>
            <a:prstDash val="solid"/>
          </a:ln>
        </p:spPr>
      </p:sp>
      <p:sp>
        <p:nvSpPr>
          <p:cNvPr id="15" name="Text 13"/>
          <p:cNvSpPr/>
          <p:nvPr/>
        </p:nvSpPr>
        <p:spPr>
          <a:xfrm>
            <a:off x="777240" y="2926080"/>
            <a:ext cx="2651760" cy="658368"/>
          </a:xfrm>
          <a:prstGeom prst="rect">
            <a:avLst/>
          </a:prstGeom>
          <a:noFill/>
          <a:ln/>
        </p:spPr>
        <p:txBody>
          <a:bodyPr wrap="square"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Purpose</a:t>
            </a:r>
            <a:endParaRPr lang="en-US" sz="1250" dirty="0"/>
          </a:p>
        </p:txBody>
      </p:sp>
      <p:sp>
        <p:nvSpPr>
          <p:cNvPr id="16" name="Text 14"/>
          <p:cNvSpPr/>
          <p:nvPr/>
        </p:nvSpPr>
        <p:spPr>
          <a:xfrm>
            <a:off x="3566160" y="2926080"/>
            <a:ext cx="379476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Connects devices within one LAN</a:t>
            </a:r>
            <a:endParaRPr lang="en-US" sz="1200" dirty="0"/>
          </a:p>
        </p:txBody>
      </p:sp>
      <p:sp>
        <p:nvSpPr>
          <p:cNvPr id="17" name="Text 15"/>
          <p:cNvSpPr/>
          <p:nvPr/>
        </p:nvSpPr>
        <p:spPr>
          <a:xfrm>
            <a:off x="7498080" y="2926080"/>
            <a:ext cx="393192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Connects different networks together</a:t>
            </a:r>
            <a:endParaRPr lang="en-US" sz="1200" dirty="0"/>
          </a:p>
        </p:txBody>
      </p:sp>
      <p:sp>
        <p:nvSpPr>
          <p:cNvPr id="18" name="Shape 16"/>
          <p:cNvSpPr/>
          <p:nvPr/>
        </p:nvSpPr>
        <p:spPr>
          <a:xfrm>
            <a:off x="548640" y="3584448"/>
            <a:ext cx="11091672" cy="658368"/>
          </a:xfrm>
          <a:prstGeom prst="rect">
            <a:avLst/>
          </a:prstGeom>
          <a:solidFill>
            <a:srgbClr val="FFFFFF"/>
          </a:solidFill>
          <a:ln w="9525">
            <a:solidFill>
              <a:srgbClr val="D9DCE1"/>
            </a:solidFill>
            <a:prstDash val="solid"/>
          </a:ln>
        </p:spPr>
      </p:sp>
      <p:sp>
        <p:nvSpPr>
          <p:cNvPr id="19" name="Text 17"/>
          <p:cNvSpPr/>
          <p:nvPr/>
        </p:nvSpPr>
        <p:spPr>
          <a:xfrm>
            <a:off x="777240" y="3584448"/>
            <a:ext cx="2651760" cy="658368"/>
          </a:xfrm>
          <a:prstGeom prst="rect">
            <a:avLst/>
          </a:prstGeom>
          <a:noFill/>
          <a:ln/>
        </p:spPr>
        <p:txBody>
          <a:bodyPr wrap="square"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Uses</a:t>
            </a:r>
            <a:endParaRPr lang="en-US" sz="1250" dirty="0"/>
          </a:p>
        </p:txBody>
      </p:sp>
      <p:sp>
        <p:nvSpPr>
          <p:cNvPr id="20" name="Text 18"/>
          <p:cNvSpPr/>
          <p:nvPr/>
        </p:nvSpPr>
        <p:spPr>
          <a:xfrm>
            <a:off x="3566160" y="3584448"/>
            <a:ext cx="379476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MAC addresses</a:t>
            </a:r>
            <a:endParaRPr lang="en-US" sz="1200" dirty="0"/>
          </a:p>
        </p:txBody>
      </p:sp>
      <p:sp>
        <p:nvSpPr>
          <p:cNvPr id="21" name="Text 19"/>
          <p:cNvSpPr/>
          <p:nvPr/>
        </p:nvSpPr>
        <p:spPr>
          <a:xfrm>
            <a:off x="7498080" y="3584448"/>
            <a:ext cx="393192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IP addresses</a:t>
            </a:r>
            <a:endParaRPr lang="en-US" sz="1200" dirty="0"/>
          </a:p>
        </p:txBody>
      </p:sp>
      <p:sp>
        <p:nvSpPr>
          <p:cNvPr id="22" name="Shape 20"/>
          <p:cNvSpPr/>
          <p:nvPr/>
        </p:nvSpPr>
        <p:spPr>
          <a:xfrm>
            <a:off x="548640" y="4242816"/>
            <a:ext cx="11091672" cy="658368"/>
          </a:xfrm>
          <a:prstGeom prst="rect">
            <a:avLst/>
          </a:prstGeom>
          <a:solidFill>
            <a:srgbClr val="FAFAFB"/>
          </a:solidFill>
          <a:ln w="9525">
            <a:solidFill>
              <a:srgbClr val="D9DCE1"/>
            </a:solidFill>
            <a:prstDash val="solid"/>
          </a:ln>
        </p:spPr>
      </p:sp>
      <p:sp>
        <p:nvSpPr>
          <p:cNvPr id="23" name="Text 21"/>
          <p:cNvSpPr/>
          <p:nvPr/>
        </p:nvSpPr>
        <p:spPr>
          <a:xfrm>
            <a:off x="777240" y="4242816"/>
            <a:ext cx="2651760" cy="658368"/>
          </a:xfrm>
          <a:prstGeom prst="rect">
            <a:avLst/>
          </a:prstGeom>
          <a:noFill/>
          <a:ln/>
        </p:spPr>
        <p:txBody>
          <a:bodyPr wrap="square" rtlCol="0" anchor="ctr"/>
          <a:lstStyle/>
          <a:p>
            <a:pPr indent="0" marL="0">
              <a:buNone/>
            </a:pPr>
            <a:r>
              <a:rPr lang="en-US" sz="1250" b="1" dirty="0">
                <a:solidFill>
                  <a:srgbClr val="232F3E"/>
                </a:solidFill>
                <a:latin typeface="Calibri" pitchFamily="34" charset="0"/>
                <a:ea typeface="Calibri" pitchFamily="34" charset="-122"/>
                <a:cs typeface="Calibri" pitchFamily="34" charset="-120"/>
              </a:rPr>
              <a:t>Example</a:t>
            </a:r>
            <a:endParaRPr lang="en-US" sz="1250" dirty="0"/>
          </a:p>
        </p:txBody>
      </p:sp>
      <p:sp>
        <p:nvSpPr>
          <p:cNvPr id="24" name="Text 22"/>
          <p:cNvSpPr/>
          <p:nvPr/>
        </p:nvSpPr>
        <p:spPr>
          <a:xfrm>
            <a:off x="3566160" y="4242816"/>
            <a:ext cx="379476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Connecting office desks/PCs</a:t>
            </a:r>
            <a:endParaRPr lang="en-US" sz="1200" dirty="0"/>
          </a:p>
        </p:txBody>
      </p:sp>
      <p:sp>
        <p:nvSpPr>
          <p:cNvPr id="25" name="Text 23"/>
          <p:cNvSpPr/>
          <p:nvPr/>
        </p:nvSpPr>
        <p:spPr>
          <a:xfrm>
            <a:off x="7498080" y="4242816"/>
            <a:ext cx="3931920" cy="658368"/>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Connecting your LAN to the Internet</a:t>
            </a:r>
            <a:endParaRPr lang="en-US" sz="1200" dirty="0"/>
          </a:p>
        </p:txBody>
      </p:sp>
      <p:sp>
        <p:nvSpPr>
          <p:cNvPr id="26" name="Shape 24"/>
          <p:cNvSpPr/>
          <p:nvPr/>
        </p:nvSpPr>
        <p:spPr>
          <a:xfrm>
            <a:off x="548640" y="4709160"/>
            <a:ext cx="11091672" cy="566928"/>
          </a:xfrm>
          <a:prstGeom prst="roundRect">
            <a:avLst>
              <a:gd name="adj" fmla="val 12903"/>
            </a:avLst>
          </a:prstGeom>
          <a:solidFill>
            <a:srgbClr val="FFFFFF"/>
          </a:solidFill>
          <a:ln w="15875">
            <a:solidFill>
              <a:srgbClr val="FF9900"/>
            </a:solidFill>
            <a:prstDash val="solid"/>
          </a:ln>
        </p:spPr>
      </p:sp>
      <p:sp>
        <p:nvSpPr>
          <p:cNvPr id="27" name="Text 25"/>
          <p:cNvSpPr/>
          <p:nvPr/>
        </p:nvSpPr>
        <p:spPr>
          <a:xfrm>
            <a:off x="777240" y="470916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A switch is the hallway connecting offices on the same floor; a router is the elevator connecting different floors (networks) entirely.</a:t>
            </a:r>
            <a:endParaRPr lang="en-US" sz="1100" dirty="0"/>
          </a:p>
        </p:txBody>
      </p:sp>
      <p:sp>
        <p:nvSpPr>
          <p:cNvPr id="28" name="Text 26"/>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9" name="Text 27"/>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PORTS &amp; PROTOCOLS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What Is a Port?</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Understand how one IP address can run many different services.</a:t>
            </a:r>
            <a:endParaRPr lang="en-US" sz="1250" dirty="0"/>
          </a:p>
        </p:txBody>
      </p:sp>
      <p:sp>
        <p:nvSpPr>
          <p:cNvPr id="6" name="Shape 4"/>
          <p:cNvSpPr/>
          <p:nvPr/>
        </p:nvSpPr>
        <p:spPr>
          <a:xfrm>
            <a:off x="548640" y="1828800"/>
            <a:ext cx="5394960" cy="3474720"/>
          </a:xfrm>
          <a:prstGeom prst="roundRect">
            <a:avLst>
              <a:gd name="adj" fmla="val 2632"/>
            </a:avLst>
          </a:prstGeom>
          <a:solidFill>
            <a:srgbClr val="FFFFFF"/>
          </a:solidFill>
          <a:ln w="12700">
            <a:solidFill>
              <a:srgbClr val="D9DCE1"/>
            </a:solidFill>
            <a:prstDash val="solid"/>
          </a:ln>
        </p:spPr>
      </p:sp>
      <p:sp>
        <p:nvSpPr>
          <p:cNvPr id="7" name="Text 5"/>
          <p:cNvSpPr/>
          <p:nvPr/>
        </p:nvSpPr>
        <p:spPr>
          <a:xfrm>
            <a:off x="822960" y="2103120"/>
            <a:ext cx="4846320" cy="1005840"/>
          </a:xfrm>
          <a:prstGeom prst="rect">
            <a:avLst/>
          </a:prstGeom>
          <a:noFill/>
          <a:ln/>
        </p:spPr>
        <p:txBody>
          <a:bodyPr wrap="square" rtlCol="0" anchor="t"/>
          <a:lstStyle/>
          <a:p>
            <a:pPr indent="0" marL="0">
              <a:buNone/>
            </a:pPr>
            <a:r>
              <a:rPr lang="en-US" sz="1400" dirty="0">
                <a:solidFill>
                  <a:srgbClr val="16191F"/>
                </a:solidFill>
                <a:latin typeface="Calibri" pitchFamily="34" charset="0"/>
                <a:ea typeface="Calibri" pitchFamily="34" charset="-122"/>
                <a:cs typeface="Calibri" pitchFamily="34" charset="-120"/>
              </a:rPr>
              <a:t>A port is a numbered “door” on a device — it tells traffic exactly which service or application to reach.</a:t>
            </a:r>
            <a:endParaRPr lang="en-US" sz="1400" dirty="0"/>
          </a:p>
        </p:txBody>
      </p:sp>
      <p:sp>
        <p:nvSpPr>
          <p:cNvPr id="8" name="Text 6"/>
          <p:cNvSpPr/>
          <p:nvPr/>
        </p:nvSpPr>
        <p:spPr>
          <a:xfrm>
            <a:off x="822960" y="3200400"/>
            <a:ext cx="4846320" cy="822960"/>
          </a:xfrm>
          <a:prstGeom prst="rect">
            <a:avLst/>
          </a:prstGeom>
          <a:noFill/>
          <a:ln/>
        </p:spPr>
        <p:txBody>
          <a:bodyPr wrap="square" rtlCol="0" anchor="t"/>
          <a:lstStyle/>
          <a:p>
            <a:pPr indent="0" marL="0">
              <a:buNone/>
            </a:pPr>
            <a:r>
              <a:rPr lang="en-US" sz="1300" b="1" dirty="0">
                <a:solidFill>
                  <a:srgbClr val="232F3E"/>
                </a:solidFill>
                <a:latin typeface="Calibri" pitchFamily="34" charset="0"/>
                <a:ea typeface="Calibri" pitchFamily="34" charset="-122"/>
                <a:cs typeface="Calibri" pitchFamily="34" charset="-120"/>
              </a:rPr>
              <a:t>IP address</a:t>
            </a:r>
            <a:pPr indent="0" marL="0">
              <a:buNone/>
            </a:pPr>
            <a:r>
              <a:rPr lang="en-US" sz="1300" dirty="0">
                <a:solidFill>
                  <a:srgbClr val="16191F"/>
                </a:solidFill>
                <a:latin typeface="Calibri" pitchFamily="34" charset="0"/>
                <a:ea typeface="Calibri" pitchFamily="34" charset="-122"/>
                <a:cs typeface="Calibri" pitchFamily="34" charset="-120"/>
              </a:rPr>
              <a:t> = the building
</a:t>
            </a:r>
            <a:pPr indent="0" marL="0">
              <a:buNone/>
            </a:pPr>
            <a:r>
              <a:rPr lang="en-US" sz="1300" b="1" dirty="0">
                <a:solidFill>
                  <a:srgbClr val="FF9900"/>
                </a:solidFill>
                <a:latin typeface="Calibri" pitchFamily="34" charset="0"/>
                <a:ea typeface="Calibri" pitchFamily="34" charset="-122"/>
                <a:cs typeface="Calibri" pitchFamily="34" charset="-120"/>
              </a:rPr>
              <a:t>Port</a:t>
            </a:r>
            <a:pPr indent="0" marL="0">
              <a:buNone/>
            </a:pPr>
            <a:r>
              <a:rPr lang="en-US" sz="1300" dirty="0">
                <a:solidFill>
                  <a:srgbClr val="16191F"/>
                </a:solidFill>
                <a:latin typeface="Calibri" pitchFamily="34" charset="0"/>
                <a:ea typeface="Calibri" pitchFamily="34" charset="-122"/>
                <a:cs typeface="Calibri" pitchFamily="34" charset="-120"/>
              </a:rPr>
              <a:t> = the specific door / suite number</a:t>
            </a:r>
            <a:endParaRPr lang="en-US" sz="1300" dirty="0"/>
          </a:p>
        </p:txBody>
      </p:sp>
      <p:sp>
        <p:nvSpPr>
          <p:cNvPr id="9" name="Shape 7"/>
          <p:cNvSpPr/>
          <p:nvPr/>
        </p:nvSpPr>
        <p:spPr>
          <a:xfrm>
            <a:off x="822960" y="4206240"/>
            <a:ext cx="4846320" cy="566928"/>
          </a:xfrm>
          <a:prstGeom prst="roundRect">
            <a:avLst>
              <a:gd name="adj" fmla="val 12903"/>
            </a:avLst>
          </a:prstGeom>
          <a:solidFill>
            <a:srgbClr val="FBEAE5"/>
          </a:solidFill>
          <a:ln w="12700">
            <a:solidFill>
              <a:srgbClr val="E5533D"/>
            </a:solidFill>
            <a:prstDash val="solid"/>
          </a:ln>
        </p:spPr>
      </p:sp>
      <p:sp>
        <p:nvSpPr>
          <p:cNvPr id="10" name="Shape 8"/>
          <p:cNvSpPr/>
          <p:nvPr/>
        </p:nvSpPr>
        <p:spPr>
          <a:xfrm>
            <a:off x="978408" y="4261104"/>
            <a:ext cx="457200" cy="457200"/>
          </a:xfrm>
          <a:prstGeom prst="ellipse">
            <a:avLst/>
          </a:prstGeom>
          <a:solidFill>
            <a:srgbClr val="F6D2C7"/>
          </a:solidFill>
          <a:ln/>
        </p:spPr>
      </p:sp>
      <p:pic>
        <p:nvPicPr>
          <p:cNvPr id="11" name="Image 0" descr="/home/claude/ppt3/icon_bug_o.png">    </p:cNvPr>
          <p:cNvPicPr>
            <a:picLocks noChangeAspect="1"/>
          </p:cNvPicPr>
          <p:nvPr/>
        </p:nvPicPr>
        <p:blipFill>
          <a:blip r:embed="rId1"/>
          <a:stretch>
            <a:fillRect/>
          </a:stretch>
        </p:blipFill>
        <p:spPr>
          <a:xfrm>
            <a:off x="1088136" y="4370832"/>
            <a:ext cx="237744" cy="237744"/>
          </a:xfrm>
          <a:prstGeom prst="rect">
            <a:avLst/>
          </a:prstGeom>
        </p:spPr>
      </p:pic>
      <p:sp>
        <p:nvSpPr>
          <p:cNvPr id="12" name="Text 9"/>
          <p:cNvSpPr/>
          <p:nvPr/>
        </p:nvSpPr>
        <p:spPr>
          <a:xfrm>
            <a:off x="1508760" y="4206240"/>
            <a:ext cx="3931920" cy="566928"/>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COMMON MISTAKE:  </a:t>
            </a:r>
            <a:pPr indent="0" marL="0">
              <a:buNone/>
            </a:pPr>
            <a:r>
              <a:rPr lang="en-US" sz="1100" dirty="0">
                <a:solidFill>
                  <a:srgbClr val="16191F"/>
                </a:solidFill>
                <a:latin typeface="Calibri" pitchFamily="34" charset="0"/>
                <a:ea typeface="Calibri" pitchFamily="34" charset="-122"/>
                <a:cs typeface="Calibri" pitchFamily="34" charset="-120"/>
              </a:rPr>
              <a:t>Forgetting a firewall can block a port even if the IP address itself is reachable.</a:t>
            </a:r>
            <a:endParaRPr lang="en-US" sz="1100" dirty="0"/>
          </a:p>
        </p:txBody>
      </p:sp>
      <p:sp>
        <p:nvSpPr>
          <p:cNvPr id="13" name="Shape 10"/>
          <p:cNvSpPr/>
          <p:nvPr/>
        </p:nvSpPr>
        <p:spPr>
          <a:xfrm>
            <a:off x="7589520" y="2194560"/>
            <a:ext cx="2743200" cy="2743200"/>
          </a:xfrm>
          <a:prstGeom prst="ellipse">
            <a:avLst/>
          </a:prstGeom>
          <a:solidFill>
            <a:srgbClr val="FFFFFF"/>
          </a:solidFill>
          <a:ln/>
        </p:spPr>
      </p:sp>
      <p:pic>
        <p:nvPicPr>
          <p:cNvPr id="14" name="Image 1" descr="/home/claude/ppt3/icon_plug_o.png">    </p:cNvPr>
          <p:cNvPicPr>
            <a:picLocks noChangeAspect="1"/>
          </p:cNvPicPr>
          <p:nvPr/>
        </p:nvPicPr>
        <p:blipFill>
          <a:blip r:embed="rId2"/>
          <a:stretch>
            <a:fillRect/>
          </a:stretch>
        </p:blipFill>
        <p:spPr>
          <a:xfrm>
            <a:off x="8247888" y="2852928"/>
            <a:ext cx="1426464" cy="1426464"/>
          </a:xfrm>
          <a:prstGeom prst="rect">
            <a:avLst/>
          </a:prstGeom>
        </p:spPr>
      </p:pic>
      <p:sp>
        <p:nvSpPr>
          <p:cNvPr id="15" name="Text 1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16" name="Text 1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PORTS &amp; PROTOCOLS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Common Ports — Part 1</a:t>
            </a:r>
            <a:endParaRPr lang="en-US" sz="2800" dirty="0"/>
          </a:p>
        </p:txBody>
      </p:sp>
      <p:sp>
        <p:nvSpPr>
          <p:cNvPr id="4" name="Shape 2"/>
          <p:cNvSpPr/>
          <p:nvPr/>
        </p:nvSpPr>
        <p:spPr>
          <a:xfrm>
            <a:off x="548640" y="1463040"/>
            <a:ext cx="3520440" cy="621792"/>
          </a:xfrm>
          <a:prstGeom prst="roundRect">
            <a:avLst>
              <a:gd name="adj" fmla="val 8824"/>
            </a:avLst>
          </a:prstGeom>
          <a:solidFill>
            <a:srgbClr val="FFFFFF"/>
          </a:solidFill>
          <a:ln w="12700">
            <a:solidFill>
              <a:srgbClr val="D9DCE1"/>
            </a:solidFill>
            <a:prstDash val="solid"/>
          </a:ln>
        </p:spPr>
      </p:sp>
      <p:sp>
        <p:nvSpPr>
          <p:cNvPr id="5" name="Text 3"/>
          <p:cNvSpPr/>
          <p:nvPr/>
        </p:nvSpPr>
        <p:spPr>
          <a:xfrm>
            <a:off x="658368" y="1463040"/>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20 / 21</a:t>
            </a:r>
            <a:endParaRPr lang="en-US" sz="1300" dirty="0"/>
          </a:p>
        </p:txBody>
      </p:sp>
      <p:sp>
        <p:nvSpPr>
          <p:cNvPr id="6" name="Text 4"/>
          <p:cNvSpPr/>
          <p:nvPr/>
        </p:nvSpPr>
        <p:spPr>
          <a:xfrm>
            <a:off x="1645920" y="1517904"/>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FTP</a:t>
            </a:r>
            <a:endParaRPr lang="en-US" sz="1150" dirty="0"/>
          </a:p>
        </p:txBody>
      </p:sp>
      <p:sp>
        <p:nvSpPr>
          <p:cNvPr id="7" name="Text 5"/>
          <p:cNvSpPr/>
          <p:nvPr/>
        </p:nvSpPr>
        <p:spPr>
          <a:xfrm>
            <a:off x="1645920" y="1783080"/>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File transfer</a:t>
            </a:r>
            <a:endParaRPr lang="en-US" sz="950" dirty="0"/>
          </a:p>
        </p:txBody>
      </p:sp>
      <p:sp>
        <p:nvSpPr>
          <p:cNvPr id="8" name="Shape 6"/>
          <p:cNvSpPr/>
          <p:nvPr/>
        </p:nvSpPr>
        <p:spPr>
          <a:xfrm>
            <a:off x="4270248" y="1463040"/>
            <a:ext cx="3520440" cy="621792"/>
          </a:xfrm>
          <a:prstGeom prst="roundRect">
            <a:avLst>
              <a:gd name="adj" fmla="val 8824"/>
            </a:avLst>
          </a:prstGeom>
          <a:solidFill>
            <a:srgbClr val="FFFFFF"/>
          </a:solidFill>
          <a:ln w="12700">
            <a:solidFill>
              <a:srgbClr val="D9DCE1"/>
            </a:solidFill>
            <a:prstDash val="solid"/>
          </a:ln>
        </p:spPr>
      </p:sp>
      <p:sp>
        <p:nvSpPr>
          <p:cNvPr id="9" name="Text 7"/>
          <p:cNvSpPr/>
          <p:nvPr/>
        </p:nvSpPr>
        <p:spPr>
          <a:xfrm>
            <a:off x="4379976" y="1463040"/>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22</a:t>
            </a:r>
            <a:endParaRPr lang="en-US" sz="1300" dirty="0"/>
          </a:p>
        </p:txBody>
      </p:sp>
      <p:sp>
        <p:nvSpPr>
          <p:cNvPr id="10" name="Text 8"/>
          <p:cNvSpPr/>
          <p:nvPr/>
        </p:nvSpPr>
        <p:spPr>
          <a:xfrm>
            <a:off x="5367528" y="1517904"/>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SSH</a:t>
            </a:r>
            <a:endParaRPr lang="en-US" sz="1150" dirty="0"/>
          </a:p>
        </p:txBody>
      </p:sp>
      <p:sp>
        <p:nvSpPr>
          <p:cNvPr id="11" name="Text 9"/>
          <p:cNvSpPr/>
          <p:nvPr/>
        </p:nvSpPr>
        <p:spPr>
          <a:xfrm>
            <a:off x="5367528" y="1783080"/>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Secure remote login</a:t>
            </a:r>
            <a:endParaRPr lang="en-US" sz="950" dirty="0"/>
          </a:p>
        </p:txBody>
      </p:sp>
      <p:sp>
        <p:nvSpPr>
          <p:cNvPr id="12" name="Shape 10"/>
          <p:cNvSpPr/>
          <p:nvPr/>
        </p:nvSpPr>
        <p:spPr>
          <a:xfrm>
            <a:off x="7991856" y="1463040"/>
            <a:ext cx="3520440" cy="621792"/>
          </a:xfrm>
          <a:prstGeom prst="roundRect">
            <a:avLst>
              <a:gd name="adj" fmla="val 8824"/>
            </a:avLst>
          </a:prstGeom>
          <a:solidFill>
            <a:srgbClr val="FFFFFF"/>
          </a:solidFill>
          <a:ln w="12700">
            <a:solidFill>
              <a:srgbClr val="D9DCE1"/>
            </a:solidFill>
            <a:prstDash val="solid"/>
          </a:ln>
        </p:spPr>
      </p:sp>
      <p:sp>
        <p:nvSpPr>
          <p:cNvPr id="13" name="Text 11"/>
          <p:cNvSpPr/>
          <p:nvPr/>
        </p:nvSpPr>
        <p:spPr>
          <a:xfrm>
            <a:off x="8101584" y="1463040"/>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23</a:t>
            </a:r>
            <a:endParaRPr lang="en-US" sz="1300" dirty="0"/>
          </a:p>
        </p:txBody>
      </p:sp>
      <p:sp>
        <p:nvSpPr>
          <p:cNvPr id="14" name="Text 12"/>
          <p:cNvSpPr/>
          <p:nvPr/>
        </p:nvSpPr>
        <p:spPr>
          <a:xfrm>
            <a:off x="9089136" y="1517904"/>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Telnet</a:t>
            </a:r>
            <a:endParaRPr lang="en-US" sz="1150" dirty="0"/>
          </a:p>
        </p:txBody>
      </p:sp>
      <p:sp>
        <p:nvSpPr>
          <p:cNvPr id="15" name="Text 13"/>
          <p:cNvSpPr/>
          <p:nvPr/>
        </p:nvSpPr>
        <p:spPr>
          <a:xfrm>
            <a:off x="9089136" y="1783080"/>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Unencrypted remote login (legacy)</a:t>
            </a:r>
            <a:endParaRPr lang="en-US" sz="950" dirty="0"/>
          </a:p>
        </p:txBody>
      </p:sp>
      <p:sp>
        <p:nvSpPr>
          <p:cNvPr id="16" name="Shape 14"/>
          <p:cNvSpPr/>
          <p:nvPr/>
        </p:nvSpPr>
        <p:spPr>
          <a:xfrm>
            <a:off x="548640" y="2176272"/>
            <a:ext cx="3520440" cy="621792"/>
          </a:xfrm>
          <a:prstGeom prst="roundRect">
            <a:avLst>
              <a:gd name="adj" fmla="val 8824"/>
            </a:avLst>
          </a:prstGeom>
          <a:solidFill>
            <a:srgbClr val="FFFFFF"/>
          </a:solidFill>
          <a:ln w="12700">
            <a:solidFill>
              <a:srgbClr val="D9DCE1"/>
            </a:solidFill>
            <a:prstDash val="solid"/>
          </a:ln>
        </p:spPr>
      </p:sp>
      <p:sp>
        <p:nvSpPr>
          <p:cNvPr id="17" name="Text 15"/>
          <p:cNvSpPr/>
          <p:nvPr/>
        </p:nvSpPr>
        <p:spPr>
          <a:xfrm>
            <a:off x="658368" y="2176272"/>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25</a:t>
            </a:r>
            <a:endParaRPr lang="en-US" sz="1300" dirty="0"/>
          </a:p>
        </p:txBody>
      </p:sp>
      <p:sp>
        <p:nvSpPr>
          <p:cNvPr id="18" name="Text 16"/>
          <p:cNvSpPr/>
          <p:nvPr/>
        </p:nvSpPr>
        <p:spPr>
          <a:xfrm>
            <a:off x="1645920" y="2231136"/>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SMTP</a:t>
            </a:r>
            <a:endParaRPr lang="en-US" sz="1150" dirty="0"/>
          </a:p>
        </p:txBody>
      </p:sp>
      <p:sp>
        <p:nvSpPr>
          <p:cNvPr id="19" name="Text 17"/>
          <p:cNvSpPr/>
          <p:nvPr/>
        </p:nvSpPr>
        <p:spPr>
          <a:xfrm>
            <a:off x="1645920" y="2496312"/>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Sending email</a:t>
            </a:r>
            <a:endParaRPr lang="en-US" sz="950" dirty="0"/>
          </a:p>
        </p:txBody>
      </p:sp>
      <p:sp>
        <p:nvSpPr>
          <p:cNvPr id="20" name="Shape 18"/>
          <p:cNvSpPr/>
          <p:nvPr/>
        </p:nvSpPr>
        <p:spPr>
          <a:xfrm>
            <a:off x="4270248" y="2176272"/>
            <a:ext cx="3520440" cy="621792"/>
          </a:xfrm>
          <a:prstGeom prst="roundRect">
            <a:avLst>
              <a:gd name="adj" fmla="val 8824"/>
            </a:avLst>
          </a:prstGeom>
          <a:solidFill>
            <a:srgbClr val="FFFFFF"/>
          </a:solidFill>
          <a:ln w="12700">
            <a:solidFill>
              <a:srgbClr val="D9DCE1"/>
            </a:solidFill>
            <a:prstDash val="solid"/>
          </a:ln>
        </p:spPr>
      </p:sp>
      <p:sp>
        <p:nvSpPr>
          <p:cNvPr id="21" name="Text 19"/>
          <p:cNvSpPr/>
          <p:nvPr/>
        </p:nvSpPr>
        <p:spPr>
          <a:xfrm>
            <a:off x="4379976" y="2176272"/>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53</a:t>
            </a:r>
            <a:endParaRPr lang="en-US" sz="1300" dirty="0"/>
          </a:p>
        </p:txBody>
      </p:sp>
      <p:sp>
        <p:nvSpPr>
          <p:cNvPr id="22" name="Text 20"/>
          <p:cNvSpPr/>
          <p:nvPr/>
        </p:nvSpPr>
        <p:spPr>
          <a:xfrm>
            <a:off x="5367528" y="2231136"/>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DNS</a:t>
            </a:r>
            <a:endParaRPr lang="en-US" sz="1150" dirty="0"/>
          </a:p>
        </p:txBody>
      </p:sp>
      <p:sp>
        <p:nvSpPr>
          <p:cNvPr id="23" name="Text 21"/>
          <p:cNvSpPr/>
          <p:nvPr/>
        </p:nvSpPr>
        <p:spPr>
          <a:xfrm>
            <a:off x="5367528" y="2496312"/>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Domain name lookups</a:t>
            </a:r>
            <a:endParaRPr lang="en-US" sz="950" dirty="0"/>
          </a:p>
        </p:txBody>
      </p:sp>
      <p:sp>
        <p:nvSpPr>
          <p:cNvPr id="24" name="Shape 22"/>
          <p:cNvSpPr/>
          <p:nvPr/>
        </p:nvSpPr>
        <p:spPr>
          <a:xfrm>
            <a:off x="7991856" y="2176272"/>
            <a:ext cx="3520440" cy="621792"/>
          </a:xfrm>
          <a:prstGeom prst="roundRect">
            <a:avLst>
              <a:gd name="adj" fmla="val 8824"/>
            </a:avLst>
          </a:prstGeom>
          <a:solidFill>
            <a:srgbClr val="FFFFFF"/>
          </a:solidFill>
          <a:ln w="12700">
            <a:solidFill>
              <a:srgbClr val="D9DCE1"/>
            </a:solidFill>
            <a:prstDash val="solid"/>
          </a:ln>
        </p:spPr>
      </p:sp>
      <p:sp>
        <p:nvSpPr>
          <p:cNvPr id="25" name="Text 23"/>
          <p:cNvSpPr/>
          <p:nvPr/>
        </p:nvSpPr>
        <p:spPr>
          <a:xfrm>
            <a:off x="8101584" y="2176272"/>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67 / 68</a:t>
            </a:r>
            <a:endParaRPr lang="en-US" sz="1300" dirty="0"/>
          </a:p>
        </p:txBody>
      </p:sp>
      <p:sp>
        <p:nvSpPr>
          <p:cNvPr id="26" name="Text 24"/>
          <p:cNvSpPr/>
          <p:nvPr/>
        </p:nvSpPr>
        <p:spPr>
          <a:xfrm>
            <a:off x="9089136" y="2231136"/>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DHCP</a:t>
            </a:r>
            <a:endParaRPr lang="en-US" sz="1150" dirty="0"/>
          </a:p>
        </p:txBody>
      </p:sp>
      <p:sp>
        <p:nvSpPr>
          <p:cNvPr id="27" name="Text 25"/>
          <p:cNvSpPr/>
          <p:nvPr/>
        </p:nvSpPr>
        <p:spPr>
          <a:xfrm>
            <a:off x="9089136" y="2496312"/>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Automatic IP assignment</a:t>
            </a:r>
            <a:endParaRPr lang="en-US" sz="950" dirty="0"/>
          </a:p>
        </p:txBody>
      </p:sp>
      <p:sp>
        <p:nvSpPr>
          <p:cNvPr id="28" name="Shape 26"/>
          <p:cNvSpPr/>
          <p:nvPr/>
        </p:nvSpPr>
        <p:spPr>
          <a:xfrm>
            <a:off x="548640" y="2889504"/>
            <a:ext cx="3520440" cy="621792"/>
          </a:xfrm>
          <a:prstGeom prst="roundRect">
            <a:avLst>
              <a:gd name="adj" fmla="val 8824"/>
            </a:avLst>
          </a:prstGeom>
          <a:solidFill>
            <a:srgbClr val="FFFFFF"/>
          </a:solidFill>
          <a:ln w="12700">
            <a:solidFill>
              <a:srgbClr val="D9DCE1"/>
            </a:solidFill>
            <a:prstDash val="solid"/>
          </a:ln>
        </p:spPr>
      </p:sp>
      <p:sp>
        <p:nvSpPr>
          <p:cNvPr id="29" name="Text 27"/>
          <p:cNvSpPr/>
          <p:nvPr/>
        </p:nvSpPr>
        <p:spPr>
          <a:xfrm>
            <a:off x="658368" y="2889504"/>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80</a:t>
            </a:r>
            <a:endParaRPr lang="en-US" sz="1300" dirty="0"/>
          </a:p>
        </p:txBody>
      </p:sp>
      <p:sp>
        <p:nvSpPr>
          <p:cNvPr id="30" name="Text 28"/>
          <p:cNvSpPr/>
          <p:nvPr/>
        </p:nvSpPr>
        <p:spPr>
          <a:xfrm>
            <a:off x="1645920" y="2944368"/>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HTTP</a:t>
            </a:r>
            <a:endParaRPr lang="en-US" sz="1150" dirty="0"/>
          </a:p>
        </p:txBody>
      </p:sp>
      <p:sp>
        <p:nvSpPr>
          <p:cNvPr id="31" name="Text 29"/>
          <p:cNvSpPr/>
          <p:nvPr/>
        </p:nvSpPr>
        <p:spPr>
          <a:xfrm>
            <a:off x="1645920" y="3209544"/>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Unencrypted web traffic</a:t>
            </a:r>
            <a:endParaRPr lang="en-US" sz="950" dirty="0"/>
          </a:p>
        </p:txBody>
      </p:sp>
      <p:sp>
        <p:nvSpPr>
          <p:cNvPr id="32" name="Shape 30"/>
          <p:cNvSpPr/>
          <p:nvPr/>
        </p:nvSpPr>
        <p:spPr>
          <a:xfrm>
            <a:off x="4270248" y="2889504"/>
            <a:ext cx="3520440" cy="621792"/>
          </a:xfrm>
          <a:prstGeom prst="roundRect">
            <a:avLst>
              <a:gd name="adj" fmla="val 8824"/>
            </a:avLst>
          </a:prstGeom>
          <a:solidFill>
            <a:srgbClr val="FFFFFF"/>
          </a:solidFill>
          <a:ln w="12700">
            <a:solidFill>
              <a:srgbClr val="D9DCE1"/>
            </a:solidFill>
            <a:prstDash val="solid"/>
          </a:ln>
        </p:spPr>
      </p:sp>
      <p:sp>
        <p:nvSpPr>
          <p:cNvPr id="33" name="Text 31"/>
          <p:cNvSpPr/>
          <p:nvPr/>
        </p:nvSpPr>
        <p:spPr>
          <a:xfrm>
            <a:off x="4379976" y="2889504"/>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110</a:t>
            </a:r>
            <a:endParaRPr lang="en-US" sz="1300" dirty="0"/>
          </a:p>
        </p:txBody>
      </p:sp>
      <p:sp>
        <p:nvSpPr>
          <p:cNvPr id="34" name="Text 32"/>
          <p:cNvSpPr/>
          <p:nvPr/>
        </p:nvSpPr>
        <p:spPr>
          <a:xfrm>
            <a:off x="5367528" y="2944368"/>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POP3</a:t>
            </a:r>
            <a:endParaRPr lang="en-US" sz="1150" dirty="0"/>
          </a:p>
        </p:txBody>
      </p:sp>
      <p:sp>
        <p:nvSpPr>
          <p:cNvPr id="35" name="Text 33"/>
          <p:cNvSpPr/>
          <p:nvPr/>
        </p:nvSpPr>
        <p:spPr>
          <a:xfrm>
            <a:off x="5367528" y="3209544"/>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Retrieving email</a:t>
            </a:r>
            <a:endParaRPr lang="en-US" sz="950" dirty="0"/>
          </a:p>
        </p:txBody>
      </p:sp>
      <p:sp>
        <p:nvSpPr>
          <p:cNvPr id="36" name="Shape 34"/>
          <p:cNvSpPr/>
          <p:nvPr/>
        </p:nvSpPr>
        <p:spPr>
          <a:xfrm>
            <a:off x="7991856" y="2889504"/>
            <a:ext cx="3520440" cy="621792"/>
          </a:xfrm>
          <a:prstGeom prst="roundRect">
            <a:avLst>
              <a:gd name="adj" fmla="val 8824"/>
            </a:avLst>
          </a:prstGeom>
          <a:solidFill>
            <a:srgbClr val="FFFFFF"/>
          </a:solidFill>
          <a:ln w="12700">
            <a:solidFill>
              <a:srgbClr val="D9DCE1"/>
            </a:solidFill>
            <a:prstDash val="solid"/>
          </a:ln>
        </p:spPr>
      </p:sp>
      <p:sp>
        <p:nvSpPr>
          <p:cNvPr id="37" name="Text 35"/>
          <p:cNvSpPr/>
          <p:nvPr/>
        </p:nvSpPr>
        <p:spPr>
          <a:xfrm>
            <a:off x="8101584" y="2889504"/>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123</a:t>
            </a:r>
            <a:endParaRPr lang="en-US" sz="1300" dirty="0"/>
          </a:p>
        </p:txBody>
      </p:sp>
      <p:sp>
        <p:nvSpPr>
          <p:cNvPr id="38" name="Text 36"/>
          <p:cNvSpPr/>
          <p:nvPr/>
        </p:nvSpPr>
        <p:spPr>
          <a:xfrm>
            <a:off x="9089136" y="2944368"/>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NTP</a:t>
            </a:r>
            <a:endParaRPr lang="en-US" sz="1150" dirty="0"/>
          </a:p>
        </p:txBody>
      </p:sp>
      <p:sp>
        <p:nvSpPr>
          <p:cNvPr id="39" name="Text 37"/>
          <p:cNvSpPr/>
          <p:nvPr/>
        </p:nvSpPr>
        <p:spPr>
          <a:xfrm>
            <a:off x="9089136" y="3209544"/>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Time synchronization</a:t>
            </a:r>
            <a:endParaRPr lang="en-US" sz="950" dirty="0"/>
          </a:p>
        </p:txBody>
      </p:sp>
      <p:sp>
        <p:nvSpPr>
          <p:cNvPr id="40" name="Shape 38"/>
          <p:cNvSpPr/>
          <p:nvPr/>
        </p:nvSpPr>
        <p:spPr>
          <a:xfrm>
            <a:off x="548640" y="3602736"/>
            <a:ext cx="3520440" cy="621792"/>
          </a:xfrm>
          <a:prstGeom prst="roundRect">
            <a:avLst>
              <a:gd name="adj" fmla="val 8824"/>
            </a:avLst>
          </a:prstGeom>
          <a:solidFill>
            <a:srgbClr val="FFFFFF"/>
          </a:solidFill>
          <a:ln w="12700">
            <a:solidFill>
              <a:srgbClr val="D9DCE1"/>
            </a:solidFill>
            <a:prstDash val="solid"/>
          </a:ln>
        </p:spPr>
      </p:sp>
      <p:sp>
        <p:nvSpPr>
          <p:cNvPr id="41" name="Text 39"/>
          <p:cNvSpPr/>
          <p:nvPr/>
        </p:nvSpPr>
        <p:spPr>
          <a:xfrm>
            <a:off x="658368" y="3602736"/>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143</a:t>
            </a:r>
            <a:endParaRPr lang="en-US" sz="1300" dirty="0"/>
          </a:p>
        </p:txBody>
      </p:sp>
      <p:sp>
        <p:nvSpPr>
          <p:cNvPr id="42" name="Text 40"/>
          <p:cNvSpPr/>
          <p:nvPr/>
        </p:nvSpPr>
        <p:spPr>
          <a:xfrm>
            <a:off x="1645920" y="3657600"/>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IMAP</a:t>
            </a:r>
            <a:endParaRPr lang="en-US" sz="1150" dirty="0"/>
          </a:p>
        </p:txBody>
      </p:sp>
      <p:sp>
        <p:nvSpPr>
          <p:cNvPr id="43" name="Text 41"/>
          <p:cNvSpPr/>
          <p:nvPr/>
        </p:nvSpPr>
        <p:spPr>
          <a:xfrm>
            <a:off x="1645920" y="3922776"/>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Retrieving email (synced)</a:t>
            </a:r>
            <a:endParaRPr lang="en-US" sz="950" dirty="0"/>
          </a:p>
        </p:txBody>
      </p:sp>
      <p:sp>
        <p:nvSpPr>
          <p:cNvPr id="44" name="Shape 42"/>
          <p:cNvSpPr/>
          <p:nvPr/>
        </p:nvSpPr>
        <p:spPr>
          <a:xfrm>
            <a:off x="4270248" y="3602736"/>
            <a:ext cx="3520440" cy="621792"/>
          </a:xfrm>
          <a:prstGeom prst="roundRect">
            <a:avLst>
              <a:gd name="adj" fmla="val 8824"/>
            </a:avLst>
          </a:prstGeom>
          <a:solidFill>
            <a:srgbClr val="FFFFFF"/>
          </a:solidFill>
          <a:ln w="12700">
            <a:solidFill>
              <a:srgbClr val="D9DCE1"/>
            </a:solidFill>
            <a:prstDash val="solid"/>
          </a:ln>
        </p:spPr>
      </p:sp>
      <p:sp>
        <p:nvSpPr>
          <p:cNvPr id="45" name="Text 43"/>
          <p:cNvSpPr/>
          <p:nvPr/>
        </p:nvSpPr>
        <p:spPr>
          <a:xfrm>
            <a:off x="4379976" y="3602736"/>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389</a:t>
            </a:r>
            <a:endParaRPr lang="en-US" sz="1300" dirty="0"/>
          </a:p>
        </p:txBody>
      </p:sp>
      <p:sp>
        <p:nvSpPr>
          <p:cNvPr id="46" name="Text 44"/>
          <p:cNvSpPr/>
          <p:nvPr/>
        </p:nvSpPr>
        <p:spPr>
          <a:xfrm>
            <a:off x="5367528" y="3657600"/>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LDAP</a:t>
            </a:r>
            <a:endParaRPr lang="en-US" sz="1150" dirty="0"/>
          </a:p>
        </p:txBody>
      </p:sp>
      <p:sp>
        <p:nvSpPr>
          <p:cNvPr id="47" name="Text 45"/>
          <p:cNvSpPr/>
          <p:nvPr/>
        </p:nvSpPr>
        <p:spPr>
          <a:xfrm>
            <a:off x="5367528" y="3922776"/>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Directory services</a:t>
            </a:r>
            <a:endParaRPr lang="en-US" sz="950" dirty="0"/>
          </a:p>
        </p:txBody>
      </p:sp>
      <p:sp>
        <p:nvSpPr>
          <p:cNvPr id="48" name="Shape 46"/>
          <p:cNvSpPr/>
          <p:nvPr/>
        </p:nvSpPr>
        <p:spPr>
          <a:xfrm>
            <a:off x="7991856" y="3602736"/>
            <a:ext cx="3520440" cy="621792"/>
          </a:xfrm>
          <a:prstGeom prst="roundRect">
            <a:avLst>
              <a:gd name="adj" fmla="val 8824"/>
            </a:avLst>
          </a:prstGeom>
          <a:solidFill>
            <a:srgbClr val="FFFFFF"/>
          </a:solidFill>
          <a:ln w="12700">
            <a:solidFill>
              <a:srgbClr val="D9DCE1"/>
            </a:solidFill>
            <a:prstDash val="solid"/>
          </a:ln>
        </p:spPr>
      </p:sp>
      <p:sp>
        <p:nvSpPr>
          <p:cNvPr id="49" name="Text 47"/>
          <p:cNvSpPr/>
          <p:nvPr/>
        </p:nvSpPr>
        <p:spPr>
          <a:xfrm>
            <a:off x="8101584" y="3602736"/>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443</a:t>
            </a:r>
            <a:endParaRPr lang="en-US" sz="1300" dirty="0"/>
          </a:p>
        </p:txBody>
      </p:sp>
      <p:sp>
        <p:nvSpPr>
          <p:cNvPr id="50" name="Text 48"/>
          <p:cNvSpPr/>
          <p:nvPr/>
        </p:nvSpPr>
        <p:spPr>
          <a:xfrm>
            <a:off x="9089136" y="3657600"/>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HTTPS</a:t>
            </a:r>
            <a:endParaRPr lang="en-US" sz="1150" dirty="0"/>
          </a:p>
        </p:txBody>
      </p:sp>
      <p:sp>
        <p:nvSpPr>
          <p:cNvPr id="51" name="Text 49"/>
          <p:cNvSpPr/>
          <p:nvPr/>
        </p:nvSpPr>
        <p:spPr>
          <a:xfrm>
            <a:off x="9089136" y="3922776"/>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Encrypted web traffic</a:t>
            </a:r>
            <a:endParaRPr lang="en-US" sz="950" dirty="0"/>
          </a:p>
        </p:txBody>
      </p:sp>
      <p:sp>
        <p:nvSpPr>
          <p:cNvPr id="52" name="Text 50"/>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53" name="Text 51"/>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PORTS &amp; PROTOCOLS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Common Ports — Part 2</a:t>
            </a:r>
            <a:endParaRPr lang="en-US" sz="2800" dirty="0"/>
          </a:p>
        </p:txBody>
      </p:sp>
      <p:sp>
        <p:nvSpPr>
          <p:cNvPr id="4" name="Shape 2"/>
          <p:cNvSpPr/>
          <p:nvPr/>
        </p:nvSpPr>
        <p:spPr>
          <a:xfrm>
            <a:off x="548640" y="1417320"/>
            <a:ext cx="3520440" cy="621792"/>
          </a:xfrm>
          <a:prstGeom prst="roundRect">
            <a:avLst>
              <a:gd name="adj" fmla="val 8824"/>
            </a:avLst>
          </a:prstGeom>
          <a:solidFill>
            <a:srgbClr val="FFFFFF"/>
          </a:solidFill>
          <a:ln w="12700">
            <a:solidFill>
              <a:srgbClr val="D9DCE1"/>
            </a:solidFill>
            <a:prstDash val="solid"/>
          </a:ln>
        </p:spPr>
      </p:sp>
      <p:sp>
        <p:nvSpPr>
          <p:cNvPr id="5" name="Text 3"/>
          <p:cNvSpPr/>
          <p:nvPr/>
        </p:nvSpPr>
        <p:spPr>
          <a:xfrm>
            <a:off x="658368" y="1417320"/>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445</a:t>
            </a:r>
            <a:endParaRPr lang="en-US" sz="1300" dirty="0"/>
          </a:p>
        </p:txBody>
      </p:sp>
      <p:sp>
        <p:nvSpPr>
          <p:cNvPr id="6" name="Text 4"/>
          <p:cNvSpPr/>
          <p:nvPr/>
        </p:nvSpPr>
        <p:spPr>
          <a:xfrm>
            <a:off x="1645920" y="1472184"/>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SMB</a:t>
            </a:r>
            <a:endParaRPr lang="en-US" sz="1150" dirty="0"/>
          </a:p>
        </p:txBody>
      </p:sp>
      <p:sp>
        <p:nvSpPr>
          <p:cNvPr id="7" name="Text 5"/>
          <p:cNvSpPr/>
          <p:nvPr/>
        </p:nvSpPr>
        <p:spPr>
          <a:xfrm>
            <a:off x="1645920" y="1737360"/>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Windows file sharing</a:t>
            </a:r>
            <a:endParaRPr lang="en-US" sz="950" dirty="0"/>
          </a:p>
        </p:txBody>
      </p:sp>
      <p:sp>
        <p:nvSpPr>
          <p:cNvPr id="8" name="Shape 6"/>
          <p:cNvSpPr/>
          <p:nvPr/>
        </p:nvSpPr>
        <p:spPr>
          <a:xfrm>
            <a:off x="4270248" y="1417320"/>
            <a:ext cx="3520440" cy="621792"/>
          </a:xfrm>
          <a:prstGeom prst="roundRect">
            <a:avLst>
              <a:gd name="adj" fmla="val 8824"/>
            </a:avLst>
          </a:prstGeom>
          <a:solidFill>
            <a:srgbClr val="FFFFFF"/>
          </a:solidFill>
          <a:ln w="12700">
            <a:solidFill>
              <a:srgbClr val="D9DCE1"/>
            </a:solidFill>
            <a:prstDash val="solid"/>
          </a:ln>
        </p:spPr>
      </p:sp>
      <p:sp>
        <p:nvSpPr>
          <p:cNvPr id="9" name="Text 7"/>
          <p:cNvSpPr/>
          <p:nvPr/>
        </p:nvSpPr>
        <p:spPr>
          <a:xfrm>
            <a:off x="4379976" y="1417320"/>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3389</a:t>
            </a:r>
            <a:endParaRPr lang="en-US" sz="1300" dirty="0"/>
          </a:p>
        </p:txBody>
      </p:sp>
      <p:sp>
        <p:nvSpPr>
          <p:cNvPr id="10" name="Text 8"/>
          <p:cNvSpPr/>
          <p:nvPr/>
        </p:nvSpPr>
        <p:spPr>
          <a:xfrm>
            <a:off x="5367528" y="1472184"/>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RDP</a:t>
            </a:r>
            <a:endParaRPr lang="en-US" sz="1150" dirty="0"/>
          </a:p>
        </p:txBody>
      </p:sp>
      <p:sp>
        <p:nvSpPr>
          <p:cNvPr id="11" name="Text 9"/>
          <p:cNvSpPr/>
          <p:nvPr/>
        </p:nvSpPr>
        <p:spPr>
          <a:xfrm>
            <a:off x="5367528" y="1737360"/>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Windows remote desktop</a:t>
            </a:r>
            <a:endParaRPr lang="en-US" sz="950" dirty="0"/>
          </a:p>
        </p:txBody>
      </p:sp>
      <p:sp>
        <p:nvSpPr>
          <p:cNvPr id="12" name="Shape 10"/>
          <p:cNvSpPr/>
          <p:nvPr/>
        </p:nvSpPr>
        <p:spPr>
          <a:xfrm>
            <a:off x="7991856" y="1417320"/>
            <a:ext cx="3520440" cy="621792"/>
          </a:xfrm>
          <a:prstGeom prst="roundRect">
            <a:avLst>
              <a:gd name="adj" fmla="val 8824"/>
            </a:avLst>
          </a:prstGeom>
          <a:solidFill>
            <a:srgbClr val="FFFFFF"/>
          </a:solidFill>
          <a:ln w="12700">
            <a:solidFill>
              <a:srgbClr val="D9DCE1"/>
            </a:solidFill>
            <a:prstDash val="solid"/>
          </a:ln>
        </p:spPr>
      </p:sp>
      <p:sp>
        <p:nvSpPr>
          <p:cNvPr id="13" name="Text 11"/>
          <p:cNvSpPr/>
          <p:nvPr/>
        </p:nvSpPr>
        <p:spPr>
          <a:xfrm>
            <a:off x="8101584" y="1417320"/>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3306</a:t>
            </a:r>
            <a:endParaRPr lang="en-US" sz="1300" dirty="0"/>
          </a:p>
        </p:txBody>
      </p:sp>
      <p:sp>
        <p:nvSpPr>
          <p:cNvPr id="14" name="Text 12"/>
          <p:cNvSpPr/>
          <p:nvPr/>
        </p:nvSpPr>
        <p:spPr>
          <a:xfrm>
            <a:off x="9089136" y="1472184"/>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MySQL</a:t>
            </a:r>
            <a:endParaRPr lang="en-US" sz="1150" dirty="0"/>
          </a:p>
        </p:txBody>
      </p:sp>
      <p:sp>
        <p:nvSpPr>
          <p:cNvPr id="15" name="Text 13"/>
          <p:cNvSpPr/>
          <p:nvPr/>
        </p:nvSpPr>
        <p:spPr>
          <a:xfrm>
            <a:off x="9089136" y="1737360"/>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MySQL database</a:t>
            </a:r>
            <a:endParaRPr lang="en-US" sz="950" dirty="0"/>
          </a:p>
        </p:txBody>
      </p:sp>
      <p:sp>
        <p:nvSpPr>
          <p:cNvPr id="16" name="Shape 14"/>
          <p:cNvSpPr/>
          <p:nvPr/>
        </p:nvSpPr>
        <p:spPr>
          <a:xfrm>
            <a:off x="548640" y="2130552"/>
            <a:ext cx="3520440" cy="621792"/>
          </a:xfrm>
          <a:prstGeom prst="roundRect">
            <a:avLst>
              <a:gd name="adj" fmla="val 8824"/>
            </a:avLst>
          </a:prstGeom>
          <a:solidFill>
            <a:srgbClr val="FFFFFF"/>
          </a:solidFill>
          <a:ln w="12700">
            <a:solidFill>
              <a:srgbClr val="D9DCE1"/>
            </a:solidFill>
            <a:prstDash val="solid"/>
          </a:ln>
        </p:spPr>
      </p:sp>
      <p:sp>
        <p:nvSpPr>
          <p:cNvPr id="17" name="Text 15"/>
          <p:cNvSpPr/>
          <p:nvPr/>
        </p:nvSpPr>
        <p:spPr>
          <a:xfrm>
            <a:off x="658368" y="2130552"/>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5432</a:t>
            </a:r>
            <a:endParaRPr lang="en-US" sz="1300" dirty="0"/>
          </a:p>
        </p:txBody>
      </p:sp>
      <p:sp>
        <p:nvSpPr>
          <p:cNvPr id="18" name="Text 16"/>
          <p:cNvSpPr/>
          <p:nvPr/>
        </p:nvSpPr>
        <p:spPr>
          <a:xfrm>
            <a:off x="1645920" y="2185416"/>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PostgreSQL</a:t>
            </a:r>
            <a:endParaRPr lang="en-US" sz="1150" dirty="0"/>
          </a:p>
        </p:txBody>
      </p:sp>
      <p:sp>
        <p:nvSpPr>
          <p:cNvPr id="19" name="Text 17"/>
          <p:cNvSpPr/>
          <p:nvPr/>
        </p:nvSpPr>
        <p:spPr>
          <a:xfrm>
            <a:off x="1645920" y="2450592"/>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PostgreSQL database</a:t>
            </a:r>
            <a:endParaRPr lang="en-US" sz="950" dirty="0"/>
          </a:p>
        </p:txBody>
      </p:sp>
      <p:sp>
        <p:nvSpPr>
          <p:cNvPr id="20" name="Shape 18"/>
          <p:cNvSpPr/>
          <p:nvPr/>
        </p:nvSpPr>
        <p:spPr>
          <a:xfrm>
            <a:off x="4270248" y="2130552"/>
            <a:ext cx="3520440" cy="621792"/>
          </a:xfrm>
          <a:prstGeom prst="roundRect">
            <a:avLst>
              <a:gd name="adj" fmla="val 8824"/>
            </a:avLst>
          </a:prstGeom>
          <a:solidFill>
            <a:srgbClr val="FFFFFF"/>
          </a:solidFill>
          <a:ln w="12700">
            <a:solidFill>
              <a:srgbClr val="D9DCE1"/>
            </a:solidFill>
            <a:prstDash val="solid"/>
          </a:ln>
        </p:spPr>
      </p:sp>
      <p:sp>
        <p:nvSpPr>
          <p:cNvPr id="21" name="Text 19"/>
          <p:cNvSpPr/>
          <p:nvPr/>
        </p:nvSpPr>
        <p:spPr>
          <a:xfrm>
            <a:off x="4379976" y="2130552"/>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6379</a:t>
            </a:r>
            <a:endParaRPr lang="en-US" sz="1300" dirty="0"/>
          </a:p>
        </p:txBody>
      </p:sp>
      <p:sp>
        <p:nvSpPr>
          <p:cNvPr id="22" name="Text 20"/>
          <p:cNvSpPr/>
          <p:nvPr/>
        </p:nvSpPr>
        <p:spPr>
          <a:xfrm>
            <a:off x="5367528" y="2185416"/>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Redis</a:t>
            </a:r>
            <a:endParaRPr lang="en-US" sz="1150" dirty="0"/>
          </a:p>
        </p:txBody>
      </p:sp>
      <p:sp>
        <p:nvSpPr>
          <p:cNvPr id="23" name="Text 21"/>
          <p:cNvSpPr/>
          <p:nvPr/>
        </p:nvSpPr>
        <p:spPr>
          <a:xfrm>
            <a:off x="5367528" y="2450592"/>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Redis cache/database</a:t>
            </a:r>
            <a:endParaRPr lang="en-US" sz="950" dirty="0"/>
          </a:p>
        </p:txBody>
      </p:sp>
      <p:sp>
        <p:nvSpPr>
          <p:cNvPr id="24" name="Shape 22"/>
          <p:cNvSpPr/>
          <p:nvPr/>
        </p:nvSpPr>
        <p:spPr>
          <a:xfrm>
            <a:off x="7991856" y="2130552"/>
            <a:ext cx="3520440" cy="621792"/>
          </a:xfrm>
          <a:prstGeom prst="roundRect">
            <a:avLst>
              <a:gd name="adj" fmla="val 8824"/>
            </a:avLst>
          </a:prstGeom>
          <a:solidFill>
            <a:srgbClr val="FFFFFF"/>
          </a:solidFill>
          <a:ln w="12700">
            <a:solidFill>
              <a:srgbClr val="D9DCE1"/>
            </a:solidFill>
            <a:prstDash val="solid"/>
          </a:ln>
        </p:spPr>
      </p:sp>
      <p:sp>
        <p:nvSpPr>
          <p:cNvPr id="25" name="Text 23"/>
          <p:cNvSpPr/>
          <p:nvPr/>
        </p:nvSpPr>
        <p:spPr>
          <a:xfrm>
            <a:off x="8101584" y="2130552"/>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8080</a:t>
            </a:r>
            <a:endParaRPr lang="en-US" sz="1300" dirty="0"/>
          </a:p>
        </p:txBody>
      </p:sp>
      <p:sp>
        <p:nvSpPr>
          <p:cNvPr id="26" name="Text 24"/>
          <p:cNvSpPr/>
          <p:nvPr/>
        </p:nvSpPr>
        <p:spPr>
          <a:xfrm>
            <a:off x="9089136" y="2185416"/>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HTTP-Alt</a:t>
            </a:r>
            <a:endParaRPr lang="en-US" sz="1150" dirty="0"/>
          </a:p>
        </p:txBody>
      </p:sp>
      <p:sp>
        <p:nvSpPr>
          <p:cNvPr id="27" name="Text 25"/>
          <p:cNvSpPr/>
          <p:nvPr/>
        </p:nvSpPr>
        <p:spPr>
          <a:xfrm>
            <a:off x="9089136" y="2450592"/>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Alternate web port</a:t>
            </a:r>
            <a:endParaRPr lang="en-US" sz="950" dirty="0"/>
          </a:p>
        </p:txBody>
      </p:sp>
      <p:sp>
        <p:nvSpPr>
          <p:cNvPr id="28" name="Shape 26"/>
          <p:cNvSpPr/>
          <p:nvPr/>
        </p:nvSpPr>
        <p:spPr>
          <a:xfrm>
            <a:off x="548640" y="2843784"/>
            <a:ext cx="3520440" cy="621792"/>
          </a:xfrm>
          <a:prstGeom prst="roundRect">
            <a:avLst>
              <a:gd name="adj" fmla="val 8824"/>
            </a:avLst>
          </a:prstGeom>
          <a:solidFill>
            <a:srgbClr val="FFFFFF"/>
          </a:solidFill>
          <a:ln w="12700">
            <a:solidFill>
              <a:srgbClr val="D9DCE1"/>
            </a:solidFill>
            <a:prstDash val="solid"/>
          </a:ln>
        </p:spPr>
      </p:sp>
      <p:sp>
        <p:nvSpPr>
          <p:cNvPr id="29" name="Text 27"/>
          <p:cNvSpPr/>
          <p:nvPr/>
        </p:nvSpPr>
        <p:spPr>
          <a:xfrm>
            <a:off x="658368" y="2843784"/>
            <a:ext cx="960120" cy="621792"/>
          </a:xfrm>
          <a:prstGeom prst="rect">
            <a:avLst/>
          </a:prstGeom>
          <a:noFill/>
          <a:ln/>
        </p:spPr>
        <p:txBody>
          <a:bodyPr wrap="square" rtlCol="0" anchor="ctr"/>
          <a:lstStyle/>
          <a:p>
            <a:pPr indent="0" marL="0">
              <a:buNone/>
            </a:pPr>
            <a:r>
              <a:rPr lang="en-US" sz="1300" b="1" dirty="0">
                <a:solidFill>
                  <a:srgbClr val="FF9900"/>
                </a:solidFill>
                <a:latin typeface="Consolas" pitchFamily="34" charset="0"/>
                <a:ea typeface="Consolas" pitchFamily="34" charset="-122"/>
                <a:cs typeface="Consolas" pitchFamily="34" charset="-120"/>
              </a:rPr>
              <a:t>8443</a:t>
            </a:r>
            <a:endParaRPr lang="en-US" sz="1300" dirty="0"/>
          </a:p>
        </p:txBody>
      </p:sp>
      <p:sp>
        <p:nvSpPr>
          <p:cNvPr id="30" name="Text 28"/>
          <p:cNvSpPr/>
          <p:nvPr/>
        </p:nvSpPr>
        <p:spPr>
          <a:xfrm>
            <a:off x="1645920" y="2898648"/>
            <a:ext cx="2331720" cy="274320"/>
          </a:xfrm>
          <a:prstGeom prst="rect">
            <a:avLst/>
          </a:prstGeom>
          <a:noFill/>
          <a:ln/>
        </p:spPr>
        <p:txBody>
          <a:bodyPr wrap="square" rtlCol="0" anchor="ctr"/>
          <a:lstStyle/>
          <a:p>
            <a:pPr indent="0" marL="0">
              <a:buNone/>
            </a:pPr>
            <a:r>
              <a:rPr lang="en-US" sz="1150" b="1" dirty="0">
                <a:solidFill>
                  <a:srgbClr val="232F3E"/>
                </a:solidFill>
                <a:latin typeface="Arial" pitchFamily="34" charset="0"/>
                <a:ea typeface="Arial" pitchFamily="34" charset="-122"/>
                <a:cs typeface="Arial" pitchFamily="34" charset="-120"/>
              </a:rPr>
              <a:t>HTTPS-Alt</a:t>
            </a:r>
            <a:endParaRPr lang="en-US" sz="1150" dirty="0"/>
          </a:p>
        </p:txBody>
      </p:sp>
      <p:sp>
        <p:nvSpPr>
          <p:cNvPr id="31" name="Text 29"/>
          <p:cNvSpPr/>
          <p:nvPr/>
        </p:nvSpPr>
        <p:spPr>
          <a:xfrm>
            <a:off x="1645920" y="3163824"/>
            <a:ext cx="2331720" cy="27432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Alternate secure web port</a:t>
            </a:r>
            <a:endParaRPr lang="en-US" sz="950" dirty="0"/>
          </a:p>
        </p:txBody>
      </p:sp>
      <p:sp>
        <p:nvSpPr>
          <p:cNvPr id="32" name="Shape 30"/>
          <p:cNvSpPr/>
          <p:nvPr/>
        </p:nvSpPr>
        <p:spPr>
          <a:xfrm>
            <a:off x="548640" y="3794760"/>
            <a:ext cx="11091672" cy="566928"/>
          </a:xfrm>
          <a:prstGeom prst="roundRect">
            <a:avLst>
              <a:gd name="adj" fmla="val 12903"/>
            </a:avLst>
          </a:prstGeom>
          <a:solidFill>
            <a:srgbClr val="232F3E"/>
          </a:solidFill>
          <a:ln/>
        </p:spPr>
      </p:sp>
      <p:sp>
        <p:nvSpPr>
          <p:cNvPr id="33" name="Shape 31"/>
          <p:cNvSpPr/>
          <p:nvPr/>
        </p:nvSpPr>
        <p:spPr>
          <a:xfrm>
            <a:off x="704088" y="3849624"/>
            <a:ext cx="457200" cy="457200"/>
          </a:xfrm>
          <a:prstGeom prst="ellipse">
            <a:avLst/>
          </a:prstGeom>
          <a:solidFill>
            <a:srgbClr val="33455B"/>
          </a:solidFill>
          <a:ln/>
        </p:spPr>
      </p:sp>
      <p:pic>
        <p:nvPicPr>
          <p:cNvPr id="34" name="Image 0" descr="/home/claude/ppt3/icon_lightbulb_o.png">    </p:cNvPr>
          <p:cNvPicPr>
            <a:picLocks noChangeAspect="1"/>
          </p:cNvPicPr>
          <p:nvPr/>
        </p:nvPicPr>
        <p:blipFill>
          <a:blip r:embed="rId1"/>
          <a:stretch>
            <a:fillRect/>
          </a:stretch>
        </p:blipFill>
        <p:spPr>
          <a:xfrm>
            <a:off x="813816" y="3959352"/>
            <a:ext cx="237744" cy="237744"/>
          </a:xfrm>
          <a:prstGeom prst="rect">
            <a:avLst/>
          </a:prstGeom>
        </p:spPr>
      </p:pic>
      <p:sp>
        <p:nvSpPr>
          <p:cNvPr id="35" name="Text 32"/>
          <p:cNvSpPr/>
          <p:nvPr/>
        </p:nvSpPr>
        <p:spPr>
          <a:xfrm>
            <a:off x="1234440" y="379476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Memory trick: ports under 1024 are “well-known” system ports (like SSH 22, HTTP 80) — databases and custom apps usually live above 1024.</a:t>
            </a:r>
            <a:endParaRPr lang="en-US" sz="1100" dirty="0"/>
          </a:p>
        </p:txBody>
      </p:sp>
      <p:sp>
        <p:nvSpPr>
          <p:cNvPr id="36" name="Shape 33"/>
          <p:cNvSpPr/>
          <p:nvPr/>
        </p:nvSpPr>
        <p:spPr>
          <a:xfrm>
            <a:off x="548640" y="4480560"/>
            <a:ext cx="11091672" cy="566928"/>
          </a:xfrm>
          <a:prstGeom prst="roundRect">
            <a:avLst>
              <a:gd name="adj" fmla="val 12903"/>
            </a:avLst>
          </a:prstGeom>
          <a:solidFill>
            <a:srgbClr val="FFFFFF"/>
          </a:solidFill>
          <a:ln w="15875">
            <a:solidFill>
              <a:srgbClr val="FF9900"/>
            </a:solidFill>
            <a:prstDash val="solid"/>
          </a:ln>
        </p:spPr>
      </p:sp>
      <p:sp>
        <p:nvSpPr>
          <p:cNvPr id="37" name="Text 34"/>
          <p:cNvSpPr/>
          <p:nvPr/>
        </p:nvSpPr>
        <p:spPr>
          <a:xfrm>
            <a:off x="777240" y="448056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Notice the pattern: HTTPS (443) mirrors HTTP (80); alternates just add “8” in front — 8080 and 8443.</a:t>
            </a:r>
            <a:endParaRPr lang="en-US" sz="1100" dirty="0"/>
          </a:p>
        </p:txBody>
      </p:sp>
      <p:sp>
        <p:nvSpPr>
          <p:cNvPr id="38" name="Text 35"/>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9" name="Text 36"/>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PORTS &amp; PROTOCOLS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Common Protocols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Recognize the “languages” devices use to communicate.</a:t>
            </a:r>
            <a:endParaRPr lang="en-US" sz="1250" dirty="0"/>
          </a:p>
        </p:txBody>
      </p:sp>
      <p:sp>
        <p:nvSpPr>
          <p:cNvPr id="6" name="Shape 4"/>
          <p:cNvSpPr/>
          <p:nvPr/>
        </p:nvSpPr>
        <p:spPr>
          <a:xfrm>
            <a:off x="548640" y="1828800"/>
            <a:ext cx="2084832" cy="1051560"/>
          </a:xfrm>
          <a:prstGeom prst="roundRect">
            <a:avLst>
              <a:gd name="adj" fmla="val 6957"/>
            </a:avLst>
          </a:prstGeom>
          <a:solidFill>
            <a:srgbClr val="FFFFFF"/>
          </a:solidFill>
          <a:ln w="12700">
            <a:solidFill>
              <a:srgbClr val="D9DCE1"/>
            </a:solidFill>
            <a:prstDash val="solid"/>
          </a:ln>
        </p:spPr>
      </p:sp>
      <p:sp>
        <p:nvSpPr>
          <p:cNvPr id="7" name="Text 5"/>
          <p:cNvSpPr/>
          <p:nvPr/>
        </p:nvSpPr>
        <p:spPr>
          <a:xfrm>
            <a:off x="640080" y="1920240"/>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TCP</a:t>
            </a:r>
            <a:endParaRPr lang="en-US" sz="1500" dirty="0"/>
          </a:p>
        </p:txBody>
      </p:sp>
      <p:sp>
        <p:nvSpPr>
          <p:cNvPr id="8" name="Text 6"/>
          <p:cNvSpPr/>
          <p:nvPr/>
        </p:nvSpPr>
        <p:spPr>
          <a:xfrm>
            <a:off x="658368" y="2304288"/>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Reliable, ordered delivery</a:t>
            </a:r>
            <a:endParaRPr lang="en-US" sz="950" dirty="0"/>
          </a:p>
        </p:txBody>
      </p:sp>
      <p:sp>
        <p:nvSpPr>
          <p:cNvPr id="9" name="Shape 7"/>
          <p:cNvSpPr/>
          <p:nvPr/>
        </p:nvSpPr>
        <p:spPr>
          <a:xfrm>
            <a:off x="2779776" y="1828800"/>
            <a:ext cx="2084832" cy="1051560"/>
          </a:xfrm>
          <a:prstGeom prst="roundRect">
            <a:avLst>
              <a:gd name="adj" fmla="val 6957"/>
            </a:avLst>
          </a:prstGeom>
          <a:solidFill>
            <a:srgbClr val="FFFFFF"/>
          </a:solidFill>
          <a:ln w="12700">
            <a:solidFill>
              <a:srgbClr val="D9DCE1"/>
            </a:solidFill>
            <a:prstDash val="solid"/>
          </a:ln>
        </p:spPr>
      </p:sp>
      <p:sp>
        <p:nvSpPr>
          <p:cNvPr id="10" name="Text 8"/>
          <p:cNvSpPr/>
          <p:nvPr/>
        </p:nvSpPr>
        <p:spPr>
          <a:xfrm>
            <a:off x="2871216" y="1920240"/>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UDP</a:t>
            </a:r>
            <a:endParaRPr lang="en-US" sz="1500" dirty="0"/>
          </a:p>
        </p:txBody>
      </p:sp>
      <p:sp>
        <p:nvSpPr>
          <p:cNvPr id="11" name="Text 9"/>
          <p:cNvSpPr/>
          <p:nvPr/>
        </p:nvSpPr>
        <p:spPr>
          <a:xfrm>
            <a:off x="2889504" y="2304288"/>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Fast, no delivery guarantee</a:t>
            </a:r>
            <a:endParaRPr lang="en-US" sz="950" dirty="0"/>
          </a:p>
        </p:txBody>
      </p:sp>
      <p:sp>
        <p:nvSpPr>
          <p:cNvPr id="12" name="Shape 10"/>
          <p:cNvSpPr/>
          <p:nvPr/>
        </p:nvSpPr>
        <p:spPr>
          <a:xfrm>
            <a:off x="5010912" y="1828800"/>
            <a:ext cx="2084832" cy="1051560"/>
          </a:xfrm>
          <a:prstGeom prst="roundRect">
            <a:avLst>
              <a:gd name="adj" fmla="val 6957"/>
            </a:avLst>
          </a:prstGeom>
          <a:solidFill>
            <a:srgbClr val="FFFFFF"/>
          </a:solidFill>
          <a:ln w="12700">
            <a:solidFill>
              <a:srgbClr val="D9DCE1"/>
            </a:solidFill>
            <a:prstDash val="solid"/>
          </a:ln>
        </p:spPr>
      </p:sp>
      <p:sp>
        <p:nvSpPr>
          <p:cNvPr id="13" name="Text 11"/>
          <p:cNvSpPr/>
          <p:nvPr/>
        </p:nvSpPr>
        <p:spPr>
          <a:xfrm>
            <a:off x="5102352" y="1920240"/>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ICMP</a:t>
            </a:r>
            <a:endParaRPr lang="en-US" sz="1500" dirty="0"/>
          </a:p>
        </p:txBody>
      </p:sp>
      <p:sp>
        <p:nvSpPr>
          <p:cNvPr id="14" name="Text 12"/>
          <p:cNvSpPr/>
          <p:nvPr/>
        </p:nvSpPr>
        <p:spPr>
          <a:xfrm>
            <a:off x="5120640" y="2304288"/>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Network diagnostics (ping)</a:t>
            </a:r>
            <a:endParaRPr lang="en-US" sz="950" dirty="0"/>
          </a:p>
        </p:txBody>
      </p:sp>
      <p:sp>
        <p:nvSpPr>
          <p:cNvPr id="15" name="Shape 13"/>
          <p:cNvSpPr/>
          <p:nvPr/>
        </p:nvSpPr>
        <p:spPr>
          <a:xfrm>
            <a:off x="7242048" y="1828800"/>
            <a:ext cx="2084832" cy="1051560"/>
          </a:xfrm>
          <a:prstGeom prst="roundRect">
            <a:avLst>
              <a:gd name="adj" fmla="val 6957"/>
            </a:avLst>
          </a:prstGeom>
          <a:solidFill>
            <a:srgbClr val="FFFFFF"/>
          </a:solidFill>
          <a:ln w="12700">
            <a:solidFill>
              <a:srgbClr val="D9DCE1"/>
            </a:solidFill>
            <a:prstDash val="solid"/>
          </a:ln>
        </p:spPr>
      </p:sp>
      <p:sp>
        <p:nvSpPr>
          <p:cNvPr id="16" name="Text 14"/>
          <p:cNvSpPr/>
          <p:nvPr/>
        </p:nvSpPr>
        <p:spPr>
          <a:xfrm>
            <a:off x="7333488" y="1920240"/>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ARP</a:t>
            </a:r>
            <a:endParaRPr lang="en-US" sz="1500" dirty="0"/>
          </a:p>
        </p:txBody>
      </p:sp>
      <p:sp>
        <p:nvSpPr>
          <p:cNvPr id="17" name="Text 15"/>
          <p:cNvSpPr/>
          <p:nvPr/>
        </p:nvSpPr>
        <p:spPr>
          <a:xfrm>
            <a:off x="7351776" y="2304288"/>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Finds MAC address for an IP</a:t>
            </a:r>
            <a:endParaRPr lang="en-US" sz="950" dirty="0"/>
          </a:p>
        </p:txBody>
      </p:sp>
      <p:sp>
        <p:nvSpPr>
          <p:cNvPr id="18" name="Shape 16"/>
          <p:cNvSpPr/>
          <p:nvPr/>
        </p:nvSpPr>
        <p:spPr>
          <a:xfrm>
            <a:off x="9473184" y="1828800"/>
            <a:ext cx="2084832" cy="1051560"/>
          </a:xfrm>
          <a:prstGeom prst="roundRect">
            <a:avLst>
              <a:gd name="adj" fmla="val 6957"/>
            </a:avLst>
          </a:prstGeom>
          <a:solidFill>
            <a:srgbClr val="FFFFFF"/>
          </a:solidFill>
          <a:ln w="12700">
            <a:solidFill>
              <a:srgbClr val="D9DCE1"/>
            </a:solidFill>
            <a:prstDash val="solid"/>
          </a:ln>
        </p:spPr>
      </p:sp>
      <p:sp>
        <p:nvSpPr>
          <p:cNvPr id="19" name="Text 17"/>
          <p:cNvSpPr/>
          <p:nvPr/>
        </p:nvSpPr>
        <p:spPr>
          <a:xfrm>
            <a:off x="9564624" y="1920240"/>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HTTP</a:t>
            </a:r>
            <a:endParaRPr lang="en-US" sz="1500" dirty="0"/>
          </a:p>
        </p:txBody>
      </p:sp>
      <p:sp>
        <p:nvSpPr>
          <p:cNvPr id="20" name="Text 18"/>
          <p:cNvSpPr/>
          <p:nvPr/>
        </p:nvSpPr>
        <p:spPr>
          <a:xfrm>
            <a:off x="9582912" y="2304288"/>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Unencrypted web traffic</a:t>
            </a:r>
            <a:endParaRPr lang="en-US" sz="950" dirty="0"/>
          </a:p>
        </p:txBody>
      </p:sp>
      <p:sp>
        <p:nvSpPr>
          <p:cNvPr id="21" name="Shape 19"/>
          <p:cNvSpPr/>
          <p:nvPr/>
        </p:nvSpPr>
        <p:spPr>
          <a:xfrm>
            <a:off x="548640" y="3044952"/>
            <a:ext cx="2084832" cy="1051560"/>
          </a:xfrm>
          <a:prstGeom prst="roundRect">
            <a:avLst>
              <a:gd name="adj" fmla="val 6957"/>
            </a:avLst>
          </a:prstGeom>
          <a:solidFill>
            <a:srgbClr val="FFFFFF"/>
          </a:solidFill>
          <a:ln w="12700">
            <a:solidFill>
              <a:srgbClr val="D9DCE1"/>
            </a:solidFill>
            <a:prstDash val="solid"/>
          </a:ln>
        </p:spPr>
      </p:sp>
      <p:sp>
        <p:nvSpPr>
          <p:cNvPr id="22" name="Text 20"/>
          <p:cNvSpPr/>
          <p:nvPr/>
        </p:nvSpPr>
        <p:spPr>
          <a:xfrm>
            <a:off x="640080" y="3136392"/>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HTTPS</a:t>
            </a:r>
            <a:endParaRPr lang="en-US" sz="1500" dirty="0"/>
          </a:p>
        </p:txBody>
      </p:sp>
      <p:sp>
        <p:nvSpPr>
          <p:cNvPr id="23" name="Text 21"/>
          <p:cNvSpPr/>
          <p:nvPr/>
        </p:nvSpPr>
        <p:spPr>
          <a:xfrm>
            <a:off x="658368" y="3520440"/>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Encrypted web traffic</a:t>
            </a:r>
            <a:endParaRPr lang="en-US" sz="950" dirty="0"/>
          </a:p>
        </p:txBody>
      </p:sp>
      <p:sp>
        <p:nvSpPr>
          <p:cNvPr id="24" name="Shape 22"/>
          <p:cNvSpPr/>
          <p:nvPr/>
        </p:nvSpPr>
        <p:spPr>
          <a:xfrm>
            <a:off x="2779776" y="3044952"/>
            <a:ext cx="2084832" cy="1051560"/>
          </a:xfrm>
          <a:prstGeom prst="roundRect">
            <a:avLst>
              <a:gd name="adj" fmla="val 6957"/>
            </a:avLst>
          </a:prstGeom>
          <a:solidFill>
            <a:srgbClr val="FFFFFF"/>
          </a:solidFill>
          <a:ln w="12700">
            <a:solidFill>
              <a:srgbClr val="D9DCE1"/>
            </a:solidFill>
            <a:prstDash val="solid"/>
          </a:ln>
        </p:spPr>
      </p:sp>
      <p:sp>
        <p:nvSpPr>
          <p:cNvPr id="25" name="Text 23"/>
          <p:cNvSpPr/>
          <p:nvPr/>
        </p:nvSpPr>
        <p:spPr>
          <a:xfrm>
            <a:off x="2871216" y="3136392"/>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FTP</a:t>
            </a:r>
            <a:endParaRPr lang="en-US" sz="1500" dirty="0"/>
          </a:p>
        </p:txBody>
      </p:sp>
      <p:sp>
        <p:nvSpPr>
          <p:cNvPr id="26" name="Text 24"/>
          <p:cNvSpPr/>
          <p:nvPr/>
        </p:nvSpPr>
        <p:spPr>
          <a:xfrm>
            <a:off x="2889504" y="3520440"/>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File transfer</a:t>
            </a:r>
            <a:endParaRPr lang="en-US" sz="950" dirty="0"/>
          </a:p>
        </p:txBody>
      </p:sp>
      <p:sp>
        <p:nvSpPr>
          <p:cNvPr id="27" name="Shape 25"/>
          <p:cNvSpPr/>
          <p:nvPr/>
        </p:nvSpPr>
        <p:spPr>
          <a:xfrm>
            <a:off x="5010912" y="3044952"/>
            <a:ext cx="2084832" cy="1051560"/>
          </a:xfrm>
          <a:prstGeom prst="roundRect">
            <a:avLst>
              <a:gd name="adj" fmla="val 6957"/>
            </a:avLst>
          </a:prstGeom>
          <a:solidFill>
            <a:srgbClr val="FFFFFF"/>
          </a:solidFill>
          <a:ln w="12700">
            <a:solidFill>
              <a:srgbClr val="D9DCE1"/>
            </a:solidFill>
            <a:prstDash val="solid"/>
          </a:ln>
        </p:spPr>
      </p:sp>
      <p:sp>
        <p:nvSpPr>
          <p:cNvPr id="28" name="Text 26"/>
          <p:cNvSpPr/>
          <p:nvPr/>
        </p:nvSpPr>
        <p:spPr>
          <a:xfrm>
            <a:off x="5102352" y="3136392"/>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SSH</a:t>
            </a:r>
            <a:endParaRPr lang="en-US" sz="1500" dirty="0"/>
          </a:p>
        </p:txBody>
      </p:sp>
      <p:sp>
        <p:nvSpPr>
          <p:cNvPr id="29" name="Text 27"/>
          <p:cNvSpPr/>
          <p:nvPr/>
        </p:nvSpPr>
        <p:spPr>
          <a:xfrm>
            <a:off x="5120640" y="3520440"/>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Secure remote access</a:t>
            </a:r>
            <a:endParaRPr lang="en-US" sz="950" dirty="0"/>
          </a:p>
        </p:txBody>
      </p:sp>
      <p:sp>
        <p:nvSpPr>
          <p:cNvPr id="30" name="Shape 28"/>
          <p:cNvSpPr/>
          <p:nvPr/>
        </p:nvSpPr>
        <p:spPr>
          <a:xfrm>
            <a:off x="7242048" y="3044952"/>
            <a:ext cx="2084832" cy="1051560"/>
          </a:xfrm>
          <a:prstGeom prst="roundRect">
            <a:avLst>
              <a:gd name="adj" fmla="val 6957"/>
            </a:avLst>
          </a:prstGeom>
          <a:solidFill>
            <a:srgbClr val="FFFFFF"/>
          </a:solidFill>
          <a:ln w="12700">
            <a:solidFill>
              <a:srgbClr val="D9DCE1"/>
            </a:solidFill>
            <a:prstDash val="solid"/>
          </a:ln>
        </p:spPr>
      </p:sp>
      <p:sp>
        <p:nvSpPr>
          <p:cNvPr id="31" name="Text 29"/>
          <p:cNvSpPr/>
          <p:nvPr/>
        </p:nvSpPr>
        <p:spPr>
          <a:xfrm>
            <a:off x="7333488" y="3136392"/>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SMTP</a:t>
            </a:r>
            <a:endParaRPr lang="en-US" sz="1500" dirty="0"/>
          </a:p>
        </p:txBody>
      </p:sp>
      <p:sp>
        <p:nvSpPr>
          <p:cNvPr id="32" name="Text 30"/>
          <p:cNvSpPr/>
          <p:nvPr/>
        </p:nvSpPr>
        <p:spPr>
          <a:xfrm>
            <a:off x="7351776" y="3520440"/>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Sending email</a:t>
            </a:r>
            <a:endParaRPr lang="en-US" sz="950" dirty="0"/>
          </a:p>
        </p:txBody>
      </p:sp>
      <p:sp>
        <p:nvSpPr>
          <p:cNvPr id="33" name="Shape 31"/>
          <p:cNvSpPr/>
          <p:nvPr/>
        </p:nvSpPr>
        <p:spPr>
          <a:xfrm>
            <a:off x="9473184" y="3044952"/>
            <a:ext cx="2084832" cy="1051560"/>
          </a:xfrm>
          <a:prstGeom prst="roundRect">
            <a:avLst>
              <a:gd name="adj" fmla="val 6957"/>
            </a:avLst>
          </a:prstGeom>
          <a:solidFill>
            <a:srgbClr val="FFFFFF"/>
          </a:solidFill>
          <a:ln w="12700">
            <a:solidFill>
              <a:srgbClr val="D9DCE1"/>
            </a:solidFill>
            <a:prstDash val="solid"/>
          </a:ln>
        </p:spPr>
      </p:sp>
      <p:sp>
        <p:nvSpPr>
          <p:cNvPr id="34" name="Text 32"/>
          <p:cNvSpPr/>
          <p:nvPr/>
        </p:nvSpPr>
        <p:spPr>
          <a:xfrm>
            <a:off x="9564624" y="3136392"/>
            <a:ext cx="1901952"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DNS</a:t>
            </a:r>
            <a:endParaRPr lang="en-US" sz="1500" dirty="0"/>
          </a:p>
        </p:txBody>
      </p:sp>
      <p:sp>
        <p:nvSpPr>
          <p:cNvPr id="35" name="Text 33"/>
          <p:cNvSpPr/>
          <p:nvPr/>
        </p:nvSpPr>
        <p:spPr>
          <a:xfrm>
            <a:off x="9582912" y="3520440"/>
            <a:ext cx="1865376" cy="548640"/>
          </a:xfrm>
          <a:prstGeom prst="rect">
            <a:avLst/>
          </a:prstGeom>
          <a:noFill/>
          <a:ln/>
        </p:spPr>
        <p:txBody>
          <a:bodyPr wrap="square" rtlCol="0" anchor="t"/>
          <a:lstStyle/>
          <a:p>
            <a:pPr algn="ctr" indent="0" marL="0">
              <a:buNone/>
            </a:pPr>
            <a:r>
              <a:rPr lang="en-US" sz="950" dirty="0">
                <a:solidFill>
                  <a:srgbClr val="5A6B75"/>
                </a:solidFill>
                <a:latin typeface="Calibri" pitchFamily="34" charset="0"/>
                <a:ea typeface="Calibri" pitchFamily="34" charset="-122"/>
                <a:cs typeface="Calibri" pitchFamily="34" charset="-120"/>
              </a:rPr>
              <a:t>Domain name lookups</a:t>
            </a:r>
            <a:endParaRPr lang="en-US" sz="950" dirty="0"/>
          </a:p>
        </p:txBody>
      </p:sp>
      <p:sp>
        <p:nvSpPr>
          <p:cNvPr id="36" name="Text 34"/>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7" name="Text 35"/>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PORTS &amp; PROTOCOLS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TCP vs. UDP</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FF9900"/>
                </a:solidFill>
                <a:latin typeface="Calibri" pitchFamily="34" charset="0"/>
                <a:ea typeface="Calibri" pitchFamily="34" charset="-122"/>
                <a:cs typeface="Calibri" pitchFamily="34" charset="-120"/>
              </a:rPr>
              <a:t>OBJECTIVE:  </a:t>
            </a:r>
            <a:pPr indent="0" marL="0">
              <a:buNone/>
            </a:pPr>
            <a:r>
              <a:rPr lang="en-US" sz="1250" dirty="0">
                <a:solidFill>
                  <a:srgbClr val="E9EDF1"/>
                </a:solidFill>
                <a:latin typeface="Calibri" pitchFamily="34" charset="0"/>
                <a:ea typeface="Calibri" pitchFamily="34" charset="-122"/>
                <a:cs typeface="Calibri" pitchFamily="34" charset="-120"/>
              </a:rPr>
              <a:t>Compare the two core transport protocols.</a:t>
            </a:r>
            <a:endParaRPr lang="en-US" sz="1250" dirty="0"/>
          </a:p>
        </p:txBody>
      </p:sp>
      <p:sp>
        <p:nvSpPr>
          <p:cNvPr id="6" name="Shape 4"/>
          <p:cNvSpPr/>
          <p:nvPr/>
        </p:nvSpPr>
        <p:spPr>
          <a:xfrm>
            <a:off x="548640" y="1828800"/>
            <a:ext cx="5349240" cy="3657600"/>
          </a:xfrm>
          <a:prstGeom prst="roundRect">
            <a:avLst>
              <a:gd name="adj" fmla="val 2500"/>
            </a:avLst>
          </a:prstGeom>
          <a:solidFill>
            <a:srgbClr val="161E2D"/>
          </a:solidFill>
          <a:ln w="12700">
            <a:solidFill>
              <a:srgbClr val="FF9900"/>
            </a:solidFill>
            <a:prstDash val="solid"/>
          </a:ln>
        </p:spPr>
      </p:sp>
      <p:sp>
        <p:nvSpPr>
          <p:cNvPr id="7" name="Text 5"/>
          <p:cNvSpPr/>
          <p:nvPr/>
        </p:nvSpPr>
        <p:spPr>
          <a:xfrm>
            <a:off x="822960" y="2011680"/>
            <a:ext cx="4754880" cy="457200"/>
          </a:xfrm>
          <a:prstGeom prst="rect">
            <a:avLst/>
          </a:prstGeom>
          <a:noFill/>
          <a:ln/>
        </p:spPr>
        <p:txBody>
          <a:bodyPr wrap="square" rtlCol="0" anchor="ctr"/>
          <a:lstStyle/>
          <a:p>
            <a:pPr indent="0" marL="0">
              <a:buNone/>
            </a:pPr>
            <a:r>
              <a:rPr lang="en-US" sz="2200" b="1" dirty="0">
                <a:solidFill>
                  <a:srgbClr val="FF9900"/>
                </a:solidFill>
                <a:latin typeface="Arial" pitchFamily="34" charset="0"/>
                <a:ea typeface="Arial" pitchFamily="34" charset="-122"/>
                <a:cs typeface="Arial" pitchFamily="34" charset="-120"/>
              </a:rPr>
              <a:t>TCP</a:t>
            </a:r>
            <a:endParaRPr lang="en-US" sz="2200" dirty="0"/>
          </a:p>
        </p:txBody>
      </p:sp>
      <p:sp>
        <p:nvSpPr>
          <p:cNvPr id="8" name="Shape 6"/>
          <p:cNvSpPr/>
          <p:nvPr/>
        </p:nvSpPr>
        <p:spPr>
          <a:xfrm>
            <a:off x="868680" y="2651760"/>
            <a:ext cx="118872" cy="118872"/>
          </a:xfrm>
          <a:prstGeom prst="ellipse">
            <a:avLst/>
          </a:prstGeom>
          <a:solidFill>
            <a:srgbClr val="FF9900"/>
          </a:solidFill>
          <a:ln/>
        </p:spPr>
      </p:sp>
      <p:sp>
        <p:nvSpPr>
          <p:cNvPr id="9" name="Text 7"/>
          <p:cNvSpPr/>
          <p:nvPr/>
        </p:nvSpPr>
        <p:spPr>
          <a:xfrm>
            <a:off x="1097280" y="251460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Connection-based (handshake first)</a:t>
            </a:r>
            <a:endParaRPr lang="en-US" sz="1250" dirty="0"/>
          </a:p>
        </p:txBody>
      </p:sp>
      <p:sp>
        <p:nvSpPr>
          <p:cNvPr id="10" name="Shape 8"/>
          <p:cNvSpPr/>
          <p:nvPr/>
        </p:nvSpPr>
        <p:spPr>
          <a:xfrm>
            <a:off x="868680" y="3154680"/>
            <a:ext cx="118872" cy="118872"/>
          </a:xfrm>
          <a:prstGeom prst="ellipse">
            <a:avLst/>
          </a:prstGeom>
          <a:solidFill>
            <a:srgbClr val="FF9900"/>
          </a:solidFill>
          <a:ln/>
        </p:spPr>
      </p:sp>
      <p:sp>
        <p:nvSpPr>
          <p:cNvPr id="11" name="Text 9"/>
          <p:cNvSpPr/>
          <p:nvPr/>
        </p:nvSpPr>
        <p:spPr>
          <a:xfrm>
            <a:off x="1097280" y="301752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Guarantees delivery &amp; order</a:t>
            </a:r>
            <a:endParaRPr lang="en-US" sz="1250" dirty="0"/>
          </a:p>
        </p:txBody>
      </p:sp>
      <p:sp>
        <p:nvSpPr>
          <p:cNvPr id="12" name="Shape 10"/>
          <p:cNvSpPr/>
          <p:nvPr/>
        </p:nvSpPr>
        <p:spPr>
          <a:xfrm>
            <a:off x="868680" y="3657600"/>
            <a:ext cx="118872" cy="118872"/>
          </a:xfrm>
          <a:prstGeom prst="ellipse">
            <a:avLst/>
          </a:prstGeom>
          <a:solidFill>
            <a:srgbClr val="FF9900"/>
          </a:solidFill>
          <a:ln/>
        </p:spPr>
      </p:sp>
      <p:sp>
        <p:nvSpPr>
          <p:cNvPr id="13" name="Text 11"/>
          <p:cNvSpPr/>
          <p:nvPr/>
        </p:nvSpPr>
        <p:spPr>
          <a:xfrm>
            <a:off x="1097280" y="352044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Used for: web, email, file transfer</a:t>
            </a:r>
            <a:endParaRPr lang="en-US" sz="1250" dirty="0"/>
          </a:p>
        </p:txBody>
      </p:sp>
      <p:sp>
        <p:nvSpPr>
          <p:cNvPr id="14" name="Shape 12"/>
          <p:cNvSpPr/>
          <p:nvPr/>
        </p:nvSpPr>
        <p:spPr>
          <a:xfrm>
            <a:off x="868680" y="4160520"/>
            <a:ext cx="118872" cy="118872"/>
          </a:xfrm>
          <a:prstGeom prst="ellipse">
            <a:avLst/>
          </a:prstGeom>
          <a:solidFill>
            <a:srgbClr val="FF9900"/>
          </a:solidFill>
          <a:ln/>
        </p:spPr>
      </p:sp>
      <p:sp>
        <p:nvSpPr>
          <p:cNvPr id="15" name="Text 13"/>
          <p:cNvSpPr/>
          <p:nvPr/>
        </p:nvSpPr>
        <p:spPr>
          <a:xfrm>
            <a:off x="1097280" y="402336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Slower due to reliability checks</a:t>
            </a:r>
            <a:endParaRPr lang="en-US" sz="1250" dirty="0"/>
          </a:p>
        </p:txBody>
      </p:sp>
      <p:sp>
        <p:nvSpPr>
          <p:cNvPr id="16" name="Shape 14"/>
          <p:cNvSpPr/>
          <p:nvPr/>
        </p:nvSpPr>
        <p:spPr>
          <a:xfrm>
            <a:off x="6263640" y="1828800"/>
            <a:ext cx="5349240" cy="3657600"/>
          </a:xfrm>
          <a:prstGeom prst="roundRect">
            <a:avLst>
              <a:gd name="adj" fmla="val 2500"/>
            </a:avLst>
          </a:prstGeom>
          <a:solidFill>
            <a:srgbClr val="161E2D"/>
          </a:solidFill>
          <a:ln w="12700">
            <a:solidFill>
              <a:srgbClr val="4FC1E9"/>
            </a:solidFill>
            <a:prstDash val="solid"/>
          </a:ln>
        </p:spPr>
      </p:sp>
      <p:sp>
        <p:nvSpPr>
          <p:cNvPr id="17" name="Text 15"/>
          <p:cNvSpPr/>
          <p:nvPr/>
        </p:nvSpPr>
        <p:spPr>
          <a:xfrm>
            <a:off x="6537960" y="2011680"/>
            <a:ext cx="4754880" cy="457200"/>
          </a:xfrm>
          <a:prstGeom prst="rect">
            <a:avLst/>
          </a:prstGeom>
          <a:noFill/>
          <a:ln/>
        </p:spPr>
        <p:txBody>
          <a:bodyPr wrap="square" rtlCol="0" anchor="ctr"/>
          <a:lstStyle/>
          <a:p>
            <a:pPr indent="0" marL="0">
              <a:buNone/>
            </a:pPr>
            <a:r>
              <a:rPr lang="en-US" sz="2200" b="1" dirty="0">
                <a:solidFill>
                  <a:srgbClr val="4FC1E9"/>
                </a:solidFill>
                <a:latin typeface="Arial" pitchFamily="34" charset="0"/>
                <a:ea typeface="Arial" pitchFamily="34" charset="-122"/>
                <a:cs typeface="Arial" pitchFamily="34" charset="-120"/>
              </a:rPr>
              <a:t>UDP</a:t>
            </a:r>
            <a:endParaRPr lang="en-US" sz="2200" dirty="0"/>
          </a:p>
        </p:txBody>
      </p:sp>
      <p:sp>
        <p:nvSpPr>
          <p:cNvPr id="18" name="Shape 16"/>
          <p:cNvSpPr/>
          <p:nvPr/>
        </p:nvSpPr>
        <p:spPr>
          <a:xfrm>
            <a:off x="6583680" y="2651760"/>
            <a:ext cx="118872" cy="118872"/>
          </a:xfrm>
          <a:prstGeom prst="ellipse">
            <a:avLst/>
          </a:prstGeom>
          <a:solidFill>
            <a:srgbClr val="4FC1E9"/>
          </a:solidFill>
          <a:ln/>
        </p:spPr>
      </p:sp>
      <p:sp>
        <p:nvSpPr>
          <p:cNvPr id="19" name="Text 17"/>
          <p:cNvSpPr/>
          <p:nvPr/>
        </p:nvSpPr>
        <p:spPr>
          <a:xfrm>
            <a:off x="6812280" y="251460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Connectionless (no handshake)</a:t>
            </a:r>
            <a:endParaRPr lang="en-US" sz="1250" dirty="0"/>
          </a:p>
        </p:txBody>
      </p:sp>
      <p:sp>
        <p:nvSpPr>
          <p:cNvPr id="20" name="Shape 18"/>
          <p:cNvSpPr/>
          <p:nvPr/>
        </p:nvSpPr>
        <p:spPr>
          <a:xfrm>
            <a:off x="6583680" y="3154680"/>
            <a:ext cx="118872" cy="118872"/>
          </a:xfrm>
          <a:prstGeom prst="ellipse">
            <a:avLst/>
          </a:prstGeom>
          <a:solidFill>
            <a:srgbClr val="4FC1E9"/>
          </a:solidFill>
          <a:ln/>
        </p:spPr>
      </p:sp>
      <p:sp>
        <p:nvSpPr>
          <p:cNvPr id="21" name="Text 19"/>
          <p:cNvSpPr/>
          <p:nvPr/>
        </p:nvSpPr>
        <p:spPr>
          <a:xfrm>
            <a:off x="6812280" y="301752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No delivery guarantee — “fire and forget”</a:t>
            </a:r>
            <a:endParaRPr lang="en-US" sz="1250" dirty="0"/>
          </a:p>
        </p:txBody>
      </p:sp>
      <p:sp>
        <p:nvSpPr>
          <p:cNvPr id="22" name="Shape 20"/>
          <p:cNvSpPr/>
          <p:nvPr/>
        </p:nvSpPr>
        <p:spPr>
          <a:xfrm>
            <a:off x="6583680" y="3657600"/>
            <a:ext cx="118872" cy="118872"/>
          </a:xfrm>
          <a:prstGeom prst="ellipse">
            <a:avLst/>
          </a:prstGeom>
          <a:solidFill>
            <a:srgbClr val="4FC1E9"/>
          </a:solidFill>
          <a:ln/>
        </p:spPr>
      </p:sp>
      <p:sp>
        <p:nvSpPr>
          <p:cNvPr id="23" name="Text 21"/>
          <p:cNvSpPr/>
          <p:nvPr/>
        </p:nvSpPr>
        <p:spPr>
          <a:xfrm>
            <a:off x="6812280" y="352044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Used for: video calls, gaming, DNS</a:t>
            </a:r>
            <a:endParaRPr lang="en-US" sz="1250" dirty="0"/>
          </a:p>
        </p:txBody>
      </p:sp>
      <p:sp>
        <p:nvSpPr>
          <p:cNvPr id="24" name="Shape 22"/>
          <p:cNvSpPr/>
          <p:nvPr/>
        </p:nvSpPr>
        <p:spPr>
          <a:xfrm>
            <a:off x="6583680" y="4160520"/>
            <a:ext cx="118872" cy="118872"/>
          </a:xfrm>
          <a:prstGeom prst="ellipse">
            <a:avLst/>
          </a:prstGeom>
          <a:solidFill>
            <a:srgbClr val="4FC1E9"/>
          </a:solidFill>
          <a:ln/>
        </p:spPr>
      </p:sp>
      <p:sp>
        <p:nvSpPr>
          <p:cNvPr id="25" name="Text 23"/>
          <p:cNvSpPr/>
          <p:nvPr/>
        </p:nvSpPr>
        <p:spPr>
          <a:xfrm>
            <a:off x="6812280" y="4023360"/>
            <a:ext cx="4572000" cy="411480"/>
          </a:xfrm>
          <a:prstGeom prst="rect">
            <a:avLst/>
          </a:prstGeom>
          <a:noFill/>
          <a:ln/>
        </p:spPr>
        <p:txBody>
          <a:bodyPr wrap="square" rtlCol="0" anchor="ctr"/>
          <a:lstStyle/>
          <a:p>
            <a:pPr indent="0" marL="0">
              <a:buNone/>
            </a:pPr>
            <a:r>
              <a:rPr lang="en-US" sz="1250" dirty="0">
                <a:solidFill>
                  <a:srgbClr val="E9EDF1"/>
                </a:solidFill>
                <a:latin typeface="Calibri" pitchFamily="34" charset="0"/>
                <a:ea typeface="Calibri" pitchFamily="34" charset="-122"/>
                <a:cs typeface="Calibri" pitchFamily="34" charset="-120"/>
              </a:rPr>
              <a:t>Faster due to lower overhead</a:t>
            </a:r>
            <a:endParaRPr lang="en-US" sz="1250" dirty="0"/>
          </a:p>
        </p:txBody>
      </p:sp>
      <p:sp>
        <p:nvSpPr>
          <p:cNvPr id="26" name="Text 24"/>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27" name="Text 25"/>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CORE SERVICES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DNS — The Internet's Phonebook</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Trace the full path of a domain name lookup.</a:t>
            </a:r>
            <a:endParaRPr lang="en-US" sz="1250" dirty="0"/>
          </a:p>
        </p:txBody>
      </p:sp>
      <p:sp>
        <p:nvSpPr>
          <p:cNvPr id="6" name="Shape 4"/>
          <p:cNvSpPr/>
          <p:nvPr/>
        </p:nvSpPr>
        <p:spPr>
          <a:xfrm>
            <a:off x="548640" y="1828800"/>
            <a:ext cx="1734312" cy="1554480"/>
          </a:xfrm>
          <a:prstGeom prst="roundRect">
            <a:avLst>
              <a:gd name="adj" fmla="val 5294"/>
            </a:avLst>
          </a:prstGeom>
          <a:solidFill>
            <a:srgbClr val="FFFFFF"/>
          </a:solidFill>
          <a:ln w="12700">
            <a:solidFill>
              <a:srgbClr val="D9DCE1"/>
            </a:solidFill>
            <a:prstDash val="solid"/>
          </a:ln>
        </p:spPr>
      </p:sp>
      <p:sp>
        <p:nvSpPr>
          <p:cNvPr id="7" name="Shape 5"/>
          <p:cNvSpPr/>
          <p:nvPr/>
        </p:nvSpPr>
        <p:spPr>
          <a:xfrm>
            <a:off x="988314" y="2023110"/>
            <a:ext cx="854964" cy="854964"/>
          </a:xfrm>
          <a:prstGeom prst="ellipse">
            <a:avLst/>
          </a:prstGeom>
          <a:solidFill>
            <a:srgbClr val="FFF3DE"/>
          </a:solidFill>
          <a:ln/>
        </p:spPr>
      </p:sp>
      <p:pic>
        <p:nvPicPr>
          <p:cNvPr id="8" name="Image 0" descr="/home/claude/ppt3/icon_desktop_d.png">    </p:cNvPr>
          <p:cNvPicPr>
            <a:picLocks noChangeAspect="1"/>
          </p:cNvPicPr>
          <p:nvPr/>
        </p:nvPicPr>
        <p:blipFill>
          <a:blip r:embed="rId1"/>
          <a:stretch>
            <a:fillRect/>
          </a:stretch>
        </p:blipFill>
        <p:spPr>
          <a:xfrm>
            <a:off x="1193505" y="2228301"/>
            <a:ext cx="444581" cy="444581"/>
          </a:xfrm>
          <a:prstGeom prst="rect">
            <a:avLst/>
          </a:prstGeom>
        </p:spPr>
      </p:pic>
      <p:sp>
        <p:nvSpPr>
          <p:cNvPr id="9" name="Text 6"/>
          <p:cNvSpPr/>
          <p:nvPr/>
        </p:nvSpPr>
        <p:spPr>
          <a:xfrm>
            <a:off x="621792" y="2885846"/>
            <a:ext cx="1588008" cy="466344"/>
          </a:xfrm>
          <a:prstGeom prst="rect">
            <a:avLst/>
          </a:prstGeom>
          <a:noFill/>
          <a:ln/>
        </p:spPr>
        <p:txBody>
          <a:bodyPr wrap="square"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Browser</a:t>
            </a:r>
            <a:endParaRPr lang="en-US" sz="1050" dirty="0"/>
          </a:p>
        </p:txBody>
      </p:sp>
      <p:sp>
        <p:nvSpPr>
          <p:cNvPr id="10" name="Text 7"/>
          <p:cNvSpPr/>
          <p:nvPr/>
        </p:nvSpPr>
        <p:spPr>
          <a:xfrm>
            <a:off x="2282952" y="237744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420112" y="1828800"/>
            <a:ext cx="1734312" cy="1554480"/>
          </a:xfrm>
          <a:prstGeom prst="roundRect">
            <a:avLst>
              <a:gd name="adj" fmla="val 5294"/>
            </a:avLst>
          </a:prstGeom>
          <a:solidFill>
            <a:srgbClr val="FFFFFF"/>
          </a:solidFill>
          <a:ln w="12700">
            <a:solidFill>
              <a:srgbClr val="D9DCE1"/>
            </a:solidFill>
            <a:prstDash val="solid"/>
          </a:ln>
        </p:spPr>
      </p:sp>
      <p:sp>
        <p:nvSpPr>
          <p:cNvPr id="12" name="Shape 9"/>
          <p:cNvSpPr/>
          <p:nvPr/>
        </p:nvSpPr>
        <p:spPr>
          <a:xfrm>
            <a:off x="2859786" y="2023110"/>
            <a:ext cx="854964" cy="854964"/>
          </a:xfrm>
          <a:prstGeom prst="ellipse">
            <a:avLst/>
          </a:prstGeom>
          <a:solidFill>
            <a:srgbClr val="FFF3DE"/>
          </a:solidFill>
          <a:ln/>
        </p:spPr>
      </p:sp>
      <p:pic>
        <p:nvPicPr>
          <p:cNvPr id="13" name="Image 1" descr="/home/claude/ppt3/icon_dns_d.png">    </p:cNvPr>
          <p:cNvPicPr>
            <a:picLocks noChangeAspect="1"/>
          </p:cNvPicPr>
          <p:nvPr/>
        </p:nvPicPr>
        <p:blipFill>
          <a:blip r:embed="rId2"/>
          <a:stretch>
            <a:fillRect/>
          </a:stretch>
        </p:blipFill>
        <p:spPr>
          <a:xfrm>
            <a:off x="3064977" y="2228301"/>
            <a:ext cx="444581" cy="444581"/>
          </a:xfrm>
          <a:prstGeom prst="rect">
            <a:avLst/>
          </a:prstGeom>
        </p:spPr>
      </p:pic>
      <p:sp>
        <p:nvSpPr>
          <p:cNvPr id="14" name="Text 10"/>
          <p:cNvSpPr/>
          <p:nvPr/>
        </p:nvSpPr>
        <p:spPr>
          <a:xfrm>
            <a:off x="2493264" y="2885846"/>
            <a:ext cx="1588008" cy="466344"/>
          </a:xfrm>
          <a:prstGeom prst="rect">
            <a:avLst/>
          </a:prstGeom>
          <a:noFill/>
          <a:ln/>
        </p:spPr>
        <p:txBody>
          <a:bodyPr wrap="square"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DNS Resolver</a:t>
            </a:r>
            <a:endParaRPr lang="en-US" sz="1050" dirty="0"/>
          </a:p>
        </p:txBody>
      </p:sp>
      <p:sp>
        <p:nvSpPr>
          <p:cNvPr id="15" name="Text 11"/>
          <p:cNvSpPr/>
          <p:nvPr/>
        </p:nvSpPr>
        <p:spPr>
          <a:xfrm>
            <a:off x="4154424" y="237744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4291584" y="1828800"/>
            <a:ext cx="1734312" cy="1554480"/>
          </a:xfrm>
          <a:prstGeom prst="roundRect">
            <a:avLst>
              <a:gd name="adj" fmla="val 5294"/>
            </a:avLst>
          </a:prstGeom>
          <a:solidFill>
            <a:srgbClr val="FFFFFF"/>
          </a:solidFill>
          <a:ln w="12700">
            <a:solidFill>
              <a:srgbClr val="D9DCE1"/>
            </a:solidFill>
            <a:prstDash val="solid"/>
          </a:ln>
        </p:spPr>
      </p:sp>
      <p:sp>
        <p:nvSpPr>
          <p:cNvPr id="17" name="Shape 13"/>
          <p:cNvSpPr/>
          <p:nvPr/>
        </p:nvSpPr>
        <p:spPr>
          <a:xfrm>
            <a:off x="4731258" y="2023110"/>
            <a:ext cx="854964" cy="854964"/>
          </a:xfrm>
          <a:prstGeom prst="ellipse">
            <a:avLst/>
          </a:prstGeom>
          <a:solidFill>
            <a:srgbClr val="FFF3DE"/>
          </a:solidFill>
          <a:ln/>
        </p:spPr>
      </p:sp>
      <p:pic>
        <p:nvPicPr>
          <p:cNvPr id="18" name="Image 2" descr="/home/claude/ppt3/icon_sitemap_d.png">    </p:cNvPr>
          <p:cNvPicPr>
            <a:picLocks noChangeAspect="1"/>
          </p:cNvPicPr>
          <p:nvPr/>
        </p:nvPicPr>
        <p:blipFill>
          <a:blip r:embed="rId3"/>
          <a:stretch>
            <a:fillRect/>
          </a:stretch>
        </p:blipFill>
        <p:spPr>
          <a:xfrm>
            <a:off x="4936449" y="2228301"/>
            <a:ext cx="444581" cy="444581"/>
          </a:xfrm>
          <a:prstGeom prst="rect">
            <a:avLst/>
          </a:prstGeom>
        </p:spPr>
      </p:pic>
      <p:sp>
        <p:nvSpPr>
          <p:cNvPr id="19" name="Text 14"/>
          <p:cNvSpPr/>
          <p:nvPr/>
        </p:nvSpPr>
        <p:spPr>
          <a:xfrm>
            <a:off x="4364736" y="2885846"/>
            <a:ext cx="1588008" cy="466344"/>
          </a:xfrm>
          <a:prstGeom prst="rect">
            <a:avLst/>
          </a:prstGeom>
          <a:noFill/>
          <a:ln/>
        </p:spPr>
        <p:txBody>
          <a:bodyPr wrap="square"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Root Server</a:t>
            </a:r>
            <a:endParaRPr lang="en-US" sz="1050" dirty="0"/>
          </a:p>
        </p:txBody>
      </p:sp>
      <p:sp>
        <p:nvSpPr>
          <p:cNvPr id="20" name="Text 15"/>
          <p:cNvSpPr/>
          <p:nvPr/>
        </p:nvSpPr>
        <p:spPr>
          <a:xfrm>
            <a:off x="6025896" y="237744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1" name="Shape 16"/>
          <p:cNvSpPr/>
          <p:nvPr/>
        </p:nvSpPr>
        <p:spPr>
          <a:xfrm>
            <a:off x="6163056" y="1828800"/>
            <a:ext cx="1734312" cy="1554480"/>
          </a:xfrm>
          <a:prstGeom prst="roundRect">
            <a:avLst>
              <a:gd name="adj" fmla="val 5294"/>
            </a:avLst>
          </a:prstGeom>
          <a:solidFill>
            <a:srgbClr val="FFFFFF"/>
          </a:solidFill>
          <a:ln w="12700">
            <a:solidFill>
              <a:srgbClr val="D9DCE1"/>
            </a:solidFill>
            <a:prstDash val="solid"/>
          </a:ln>
        </p:spPr>
      </p:sp>
      <p:sp>
        <p:nvSpPr>
          <p:cNvPr id="22" name="Shape 17"/>
          <p:cNvSpPr/>
          <p:nvPr/>
        </p:nvSpPr>
        <p:spPr>
          <a:xfrm>
            <a:off x="6602730" y="2023110"/>
            <a:ext cx="854964" cy="854964"/>
          </a:xfrm>
          <a:prstGeom prst="ellipse">
            <a:avLst/>
          </a:prstGeom>
          <a:solidFill>
            <a:srgbClr val="FFF3DE"/>
          </a:solidFill>
          <a:ln/>
        </p:spPr>
      </p:sp>
      <p:pic>
        <p:nvPicPr>
          <p:cNvPr id="23" name="Image 3" descr="/home/claude/ppt3/icon_globe_d.png">    </p:cNvPr>
          <p:cNvPicPr>
            <a:picLocks noChangeAspect="1"/>
          </p:cNvPicPr>
          <p:nvPr/>
        </p:nvPicPr>
        <p:blipFill>
          <a:blip r:embed="rId4"/>
          <a:stretch>
            <a:fillRect/>
          </a:stretch>
        </p:blipFill>
        <p:spPr>
          <a:xfrm>
            <a:off x="6807921" y="2228301"/>
            <a:ext cx="444581" cy="444581"/>
          </a:xfrm>
          <a:prstGeom prst="rect">
            <a:avLst/>
          </a:prstGeom>
        </p:spPr>
      </p:pic>
      <p:sp>
        <p:nvSpPr>
          <p:cNvPr id="24" name="Text 18"/>
          <p:cNvSpPr/>
          <p:nvPr/>
        </p:nvSpPr>
        <p:spPr>
          <a:xfrm>
            <a:off x="6236208" y="2885846"/>
            <a:ext cx="1588008" cy="466344"/>
          </a:xfrm>
          <a:prstGeom prst="rect">
            <a:avLst/>
          </a:prstGeom>
          <a:noFill/>
          <a:ln/>
        </p:spPr>
        <p:txBody>
          <a:bodyPr wrap="square"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TLD Server</a:t>
            </a:r>
            <a:endParaRPr lang="en-US" sz="1050" dirty="0"/>
          </a:p>
        </p:txBody>
      </p:sp>
      <p:sp>
        <p:nvSpPr>
          <p:cNvPr id="25" name="Text 19"/>
          <p:cNvSpPr/>
          <p:nvPr/>
        </p:nvSpPr>
        <p:spPr>
          <a:xfrm>
            <a:off x="7897368" y="237744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6" name="Shape 20"/>
          <p:cNvSpPr/>
          <p:nvPr/>
        </p:nvSpPr>
        <p:spPr>
          <a:xfrm>
            <a:off x="8034528" y="1828800"/>
            <a:ext cx="1734312" cy="1554480"/>
          </a:xfrm>
          <a:prstGeom prst="roundRect">
            <a:avLst>
              <a:gd name="adj" fmla="val 5294"/>
            </a:avLst>
          </a:prstGeom>
          <a:solidFill>
            <a:srgbClr val="FFFFFF"/>
          </a:solidFill>
          <a:ln w="12700">
            <a:solidFill>
              <a:srgbClr val="D9DCE1"/>
            </a:solidFill>
            <a:prstDash val="solid"/>
          </a:ln>
        </p:spPr>
      </p:sp>
      <p:sp>
        <p:nvSpPr>
          <p:cNvPr id="27" name="Shape 21"/>
          <p:cNvSpPr/>
          <p:nvPr/>
        </p:nvSpPr>
        <p:spPr>
          <a:xfrm>
            <a:off x="8474202" y="2023110"/>
            <a:ext cx="854964" cy="854964"/>
          </a:xfrm>
          <a:prstGeom prst="ellipse">
            <a:avLst/>
          </a:prstGeom>
          <a:solidFill>
            <a:srgbClr val="FFF3DE"/>
          </a:solidFill>
          <a:ln/>
        </p:spPr>
      </p:sp>
      <p:pic>
        <p:nvPicPr>
          <p:cNvPr id="28" name="Image 4" descr="/home/claude/ppt3/icon_server_d.png">    </p:cNvPr>
          <p:cNvPicPr>
            <a:picLocks noChangeAspect="1"/>
          </p:cNvPicPr>
          <p:nvPr/>
        </p:nvPicPr>
        <p:blipFill>
          <a:blip r:embed="rId5"/>
          <a:stretch>
            <a:fillRect/>
          </a:stretch>
        </p:blipFill>
        <p:spPr>
          <a:xfrm>
            <a:off x="8679393" y="2228301"/>
            <a:ext cx="444581" cy="444581"/>
          </a:xfrm>
          <a:prstGeom prst="rect">
            <a:avLst/>
          </a:prstGeom>
        </p:spPr>
      </p:pic>
      <p:sp>
        <p:nvSpPr>
          <p:cNvPr id="29" name="Text 22"/>
          <p:cNvSpPr/>
          <p:nvPr/>
        </p:nvSpPr>
        <p:spPr>
          <a:xfrm>
            <a:off x="8107680" y="2885846"/>
            <a:ext cx="1588008" cy="466344"/>
          </a:xfrm>
          <a:prstGeom prst="rect">
            <a:avLst/>
          </a:prstGeom>
          <a:noFill/>
          <a:ln/>
        </p:spPr>
        <p:txBody>
          <a:bodyPr wrap="square"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Authoritative</a:t>
            </a:r>
            <a:endParaRPr lang="en-US" sz="1050" dirty="0"/>
          </a:p>
        </p:txBody>
      </p:sp>
      <p:sp>
        <p:nvSpPr>
          <p:cNvPr id="30" name="Text 23"/>
          <p:cNvSpPr/>
          <p:nvPr/>
        </p:nvSpPr>
        <p:spPr>
          <a:xfrm>
            <a:off x="9768840" y="237744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31" name="Shape 24"/>
          <p:cNvSpPr/>
          <p:nvPr/>
        </p:nvSpPr>
        <p:spPr>
          <a:xfrm>
            <a:off x="9906000" y="1828800"/>
            <a:ext cx="1734312" cy="1554480"/>
          </a:xfrm>
          <a:prstGeom prst="roundRect">
            <a:avLst>
              <a:gd name="adj" fmla="val 5294"/>
            </a:avLst>
          </a:prstGeom>
          <a:solidFill>
            <a:srgbClr val="FFFFFF"/>
          </a:solidFill>
          <a:ln w="12700">
            <a:solidFill>
              <a:srgbClr val="D9DCE1"/>
            </a:solidFill>
            <a:prstDash val="solid"/>
          </a:ln>
        </p:spPr>
      </p:sp>
      <p:sp>
        <p:nvSpPr>
          <p:cNvPr id="32" name="Shape 25"/>
          <p:cNvSpPr/>
          <p:nvPr/>
        </p:nvSpPr>
        <p:spPr>
          <a:xfrm>
            <a:off x="10345674" y="2023110"/>
            <a:ext cx="854964" cy="854964"/>
          </a:xfrm>
          <a:prstGeom prst="ellipse">
            <a:avLst/>
          </a:prstGeom>
          <a:solidFill>
            <a:srgbClr val="FFF3DE"/>
          </a:solidFill>
          <a:ln/>
        </p:spPr>
      </p:sp>
      <p:pic>
        <p:nvPicPr>
          <p:cNvPr id="33" name="Image 5" descr="/home/claude/ppt3/icon_check_d.png">    </p:cNvPr>
          <p:cNvPicPr>
            <a:picLocks noChangeAspect="1"/>
          </p:cNvPicPr>
          <p:nvPr/>
        </p:nvPicPr>
        <p:blipFill>
          <a:blip r:embed="rId6"/>
          <a:stretch>
            <a:fillRect/>
          </a:stretch>
        </p:blipFill>
        <p:spPr>
          <a:xfrm>
            <a:off x="10550865" y="2228301"/>
            <a:ext cx="444581" cy="444581"/>
          </a:xfrm>
          <a:prstGeom prst="rect">
            <a:avLst/>
          </a:prstGeom>
        </p:spPr>
      </p:pic>
      <p:sp>
        <p:nvSpPr>
          <p:cNvPr id="34" name="Text 26"/>
          <p:cNvSpPr/>
          <p:nvPr/>
        </p:nvSpPr>
        <p:spPr>
          <a:xfrm>
            <a:off x="9979152" y="2885846"/>
            <a:ext cx="1588008" cy="466344"/>
          </a:xfrm>
          <a:prstGeom prst="rect">
            <a:avLst/>
          </a:prstGeom>
          <a:noFill/>
          <a:ln/>
        </p:spPr>
        <p:txBody>
          <a:bodyPr wrap="square" rtlCol="0" anchor="t"/>
          <a:lstStyle/>
          <a:p>
            <a:pPr algn="ctr" indent="0" marL="0">
              <a:buNone/>
            </a:pPr>
            <a:r>
              <a:rPr lang="en-US" sz="1050" b="1" dirty="0">
                <a:solidFill>
                  <a:srgbClr val="232F3E"/>
                </a:solidFill>
                <a:latin typeface="Calibri" pitchFamily="34" charset="0"/>
                <a:ea typeface="Calibri" pitchFamily="34" charset="-122"/>
                <a:cs typeface="Calibri" pitchFamily="34" charset="-120"/>
              </a:rPr>
              <a:t>Website</a:t>
            </a:r>
            <a:endParaRPr lang="en-US" sz="1050" dirty="0"/>
          </a:p>
        </p:txBody>
      </p:sp>
      <p:sp>
        <p:nvSpPr>
          <p:cNvPr id="35" name="Text 27"/>
          <p:cNvSpPr/>
          <p:nvPr/>
        </p:nvSpPr>
        <p:spPr>
          <a:xfrm>
            <a:off x="548640" y="3794760"/>
            <a:ext cx="11091672" cy="32004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 Browser asks the DNS Resolver (often your ISP) to look up the domain.</a:t>
            </a:r>
            <a:endParaRPr lang="en-US" sz="1200" dirty="0"/>
          </a:p>
        </p:txBody>
      </p:sp>
      <p:sp>
        <p:nvSpPr>
          <p:cNvPr id="36" name="Text 28"/>
          <p:cNvSpPr/>
          <p:nvPr/>
        </p:nvSpPr>
        <p:spPr>
          <a:xfrm>
            <a:off x="548640" y="4142232"/>
            <a:ext cx="11091672" cy="32004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2. Resolver asks a Root Server: “Who manages .com?”</a:t>
            </a:r>
            <a:endParaRPr lang="en-US" sz="1200" dirty="0"/>
          </a:p>
        </p:txBody>
      </p:sp>
      <p:sp>
        <p:nvSpPr>
          <p:cNvPr id="37" name="Text 29"/>
          <p:cNvSpPr/>
          <p:nvPr/>
        </p:nvSpPr>
        <p:spPr>
          <a:xfrm>
            <a:off x="548640" y="4489704"/>
            <a:ext cx="11091672" cy="32004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3. Root points to the correct TLD Server for .com domains.</a:t>
            </a:r>
            <a:endParaRPr lang="en-US" sz="1200" dirty="0"/>
          </a:p>
        </p:txBody>
      </p:sp>
      <p:sp>
        <p:nvSpPr>
          <p:cNvPr id="38" name="Text 30"/>
          <p:cNvSpPr/>
          <p:nvPr/>
        </p:nvSpPr>
        <p:spPr>
          <a:xfrm>
            <a:off x="548640" y="4837176"/>
            <a:ext cx="11091672" cy="32004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4. TLD points to the domain's Authoritative Server, which holds the real IP.</a:t>
            </a:r>
            <a:endParaRPr lang="en-US" sz="1200" dirty="0"/>
          </a:p>
        </p:txBody>
      </p:sp>
      <p:sp>
        <p:nvSpPr>
          <p:cNvPr id="39" name="Text 31"/>
          <p:cNvSpPr/>
          <p:nvPr/>
        </p:nvSpPr>
        <p:spPr>
          <a:xfrm>
            <a:off x="548640" y="5184648"/>
            <a:ext cx="11091672" cy="32004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5. Browser now connects directly to the website using that IP.</a:t>
            </a:r>
            <a:endParaRPr lang="en-US" sz="1200" dirty="0"/>
          </a:p>
        </p:txBody>
      </p:sp>
      <p:sp>
        <p:nvSpPr>
          <p:cNvPr id="40" name="Text 3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41" name="Text 3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CORE SERVICES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DHCP — Automatic IP Assignment</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See how a device automatically receives an IP address when it joins a network.</a:t>
            </a:r>
            <a:endParaRPr lang="en-US" sz="1250" dirty="0"/>
          </a:p>
        </p:txBody>
      </p:sp>
      <p:sp>
        <p:nvSpPr>
          <p:cNvPr id="6" name="Shape 4"/>
          <p:cNvSpPr/>
          <p:nvPr/>
        </p:nvSpPr>
        <p:spPr>
          <a:xfrm>
            <a:off x="498348" y="1965960"/>
            <a:ext cx="2606040" cy="2377440"/>
          </a:xfrm>
          <a:prstGeom prst="roundRect">
            <a:avLst>
              <a:gd name="adj" fmla="val 3846"/>
            </a:avLst>
          </a:prstGeom>
          <a:solidFill>
            <a:srgbClr val="FFFFFF"/>
          </a:solidFill>
          <a:ln w="12700">
            <a:solidFill>
              <a:srgbClr val="D9DCE1"/>
            </a:solidFill>
            <a:prstDash val="solid"/>
          </a:ln>
        </p:spPr>
      </p:sp>
      <p:sp>
        <p:nvSpPr>
          <p:cNvPr id="7" name="Shape 5"/>
          <p:cNvSpPr/>
          <p:nvPr/>
        </p:nvSpPr>
        <p:spPr>
          <a:xfrm>
            <a:off x="635508" y="2103120"/>
            <a:ext cx="365760" cy="365760"/>
          </a:xfrm>
          <a:prstGeom prst="ellipse">
            <a:avLst/>
          </a:prstGeom>
          <a:solidFill>
            <a:srgbClr val="FF9900"/>
          </a:solidFill>
          <a:ln/>
        </p:spPr>
      </p:sp>
      <p:sp>
        <p:nvSpPr>
          <p:cNvPr id="8" name="Text 6"/>
          <p:cNvSpPr/>
          <p:nvPr/>
        </p:nvSpPr>
        <p:spPr>
          <a:xfrm>
            <a:off x="635508" y="210312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9" name="Shape 7"/>
          <p:cNvSpPr/>
          <p:nvPr/>
        </p:nvSpPr>
        <p:spPr>
          <a:xfrm>
            <a:off x="1412748" y="2583180"/>
            <a:ext cx="777240" cy="777240"/>
          </a:xfrm>
          <a:prstGeom prst="ellipse">
            <a:avLst/>
          </a:prstGeom>
          <a:solidFill>
            <a:srgbClr val="FFF3DE"/>
          </a:solidFill>
          <a:ln/>
        </p:spPr>
      </p:sp>
      <p:pic>
        <p:nvPicPr>
          <p:cNvPr id="10" name="Image 0" descr="/home/claude/ppt3/icon_satellite_d.png">    </p:cNvPr>
          <p:cNvPicPr>
            <a:picLocks noChangeAspect="1"/>
          </p:cNvPicPr>
          <p:nvPr/>
        </p:nvPicPr>
        <p:blipFill>
          <a:blip r:embed="rId1"/>
          <a:stretch>
            <a:fillRect/>
          </a:stretch>
        </p:blipFill>
        <p:spPr>
          <a:xfrm>
            <a:off x="1599286" y="2769718"/>
            <a:ext cx="404165" cy="404165"/>
          </a:xfrm>
          <a:prstGeom prst="rect">
            <a:avLst/>
          </a:prstGeom>
        </p:spPr>
      </p:pic>
      <p:sp>
        <p:nvSpPr>
          <p:cNvPr id="11" name="Text 8"/>
          <p:cNvSpPr/>
          <p:nvPr/>
        </p:nvSpPr>
        <p:spPr>
          <a:xfrm>
            <a:off x="498348" y="3520440"/>
            <a:ext cx="2606040"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Discover</a:t>
            </a:r>
            <a:endParaRPr lang="en-US" sz="1350" dirty="0"/>
          </a:p>
        </p:txBody>
      </p:sp>
      <p:sp>
        <p:nvSpPr>
          <p:cNvPr id="12" name="Text 9"/>
          <p:cNvSpPr/>
          <p:nvPr/>
        </p:nvSpPr>
        <p:spPr>
          <a:xfrm>
            <a:off x="635508" y="3886200"/>
            <a:ext cx="2331720" cy="411480"/>
          </a:xfrm>
          <a:prstGeom prst="rect">
            <a:avLst/>
          </a:prstGeom>
          <a:noFill/>
          <a:ln/>
        </p:spPr>
        <p:txBody>
          <a:bodyPr wrap="square" rtlCol="0" anchor="ctr"/>
          <a:lstStyle/>
          <a:p>
            <a:pPr algn="ctr" indent="0" marL="0">
              <a:buNone/>
            </a:pPr>
            <a:r>
              <a:rPr lang="en-US" sz="1000" dirty="0">
                <a:solidFill>
                  <a:srgbClr val="5A6B75"/>
                </a:solidFill>
                <a:latin typeface="Calibri" pitchFamily="34" charset="0"/>
                <a:ea typeface="Calibri" pitchFamily="34" charset="-122"/>
                <a:cs typeface="Calibri" pitchFamily="34" charset="-120"/>
              </a:rPr>
              <a:t>Device broadcasts: “Any DHCP server out there?”</a:t>
            </a:r>
            <a:endParaRPr lang="en-US" sz="1000" dirty="0"/>
          </a:p>
        </p:txBody>
      </p:sp>
      <p:sp>
        <p:nvSpPr>
          <p:cNvPr id="13" name="Text 10"/>
          <p:cNvSpPr/>
          <p:nvPr/>
        </p:nvSpPr>
        <p:spPr>
          <a:xfrm>
            <a:off x="3104388" y="2880360"/>
            <a:ext cx="256032" cy="457200"/>
          </a:xfrm>
          <a:prstGeom prst="rect">
            <a:avLst/>
          </a:prstGeom>
          <a:noFill/>
          <a:ln/>
        </p:spPr>
        <p:txBody>
          <a:bodyPr wrap="square" rtlCol="0" anchor="ctr"/>
          <a:lstStyle/>
          <a:p>
            <a:pPr algn="ctr" indent="0" marL="0">
              <a:buNone/>
            </a:pPr>
            <a:r>
              <a:rPr lang="en-US" sz="1800" b="1" dirty="0">
                <a:solidFill>
                  <a:srgbClr val="FF9900"/>
                </a:solidFill>
                <a:latin typeface="Calibri" pitchFamily="34" charset="0"/>
                <a:ea typeface="Calibri" pitchFamily="34" charset="-122"/>
                <a:cs typeface="Calibri" pitchFamily="34" charset="-120"/>
              </a:rPr>
              <a:t>→</a:t>
            </a:r>
            <a:endParaRPr lang="en-US" sz="1800" dirty="0"/>
          </a:p>
        </p:txBody>
      </p:sp>
      <p:sp>
        <p:nvSpPr>
          <p:cNvPr id="14" name="Shape 11"/>
          <p:cNvSpPr/>
          <p:nvPr/>
        </p:nvSpPr>
        <p:spPr>
          <a:xfrm>
            <a:off x="3360420" y="1965960"/>
            <a:ext cx="2606040" cy="2377440"/>
          </a:xfrm>
          <a:prstGeom prst="roundRect">
            <a:avLst>
              <a:gd name="adj" fmla="val 3846"/>
            </a:avLst>
          </a:prstGeom>
          <a:solidFill>
            <a:srgbClr val="FFFFFF"/>
          </a:solidFill>
          <a:ln w="12700">
            <a:solidFill>
              <a:srgbClr val="D9DCE1"/>
            </a:solidFill>
            <a:prstDash val="solid"/>
          </a:ln>
        </p:spPr>
      </p:sp>
      <p:sp>
        <p:nvSpPr>
          <p:cNvPr id="15" name="Shape 12"/>
          <p:cNvSpPr/>
          <p:nvPr/>
        </p:nvSpPr>
        <p:spPr>
          <a:xfrm>
            <a:off x="3497580" y="2103120"/>
            <a:ext cx="365760" cy="365760"/>
          </a:xfrm>
          <a:prstGeom prst="ellipse">
            <a:avLst/>
          </a:prstGeom>
          <a:solidFill>
            <a:srgbClr val="FF9900"/>
          </a:solidFill>
          <a:ln/>
        </p:spPr>
      </p:sp>
      <p:sp>
        <p:nvSpPr>
          <p:cNvPr id="16" name="Text 13"/>
          <p:cNvSpPr/>
          <p:nvPr/>
        </p:nvSpPr>
        <p:spPr>
          <a:xfrm>
            <a:off x="3497580" y="210312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7" name="Shape 14"/>
          <p:cNvSpPr/>
          <p:nvPr/>
        </p:nvSpPr>
        <p:spPr>
          <a:xfrm>
            <a:off x="4274820" y="2583180"/>
            <a:ext cx="777240" cy="777240"/>
          </a:xfrm>
          <a:prstGeom prst="ellipse">
            <a:avLst/>
          </a:prstGeom>
          <a:solidFill>
            <a:srgbClr val="FFF3DE"/>
          </a:solidFill>
          <a:ln/>
        </p:spPr>
      </p:sp>
      <p:pic>
        <p:nvPicPr>
          <p:cNvPr id="18" name="Image 1" descr="/home/claude/ppt3/icon_comment_d.png">    </p:cNvPr>
          <p:cNvPicPr>
            <a:picLocks noChangeAspect="1"/>
          </p:cNvPicPr>
          <p:nvPr/>
        </p:nvPicPr>
        <p:blipFill>
          <a:blip r:embed="rId2"/>
          <a:stretch>
            <a:fillRect/>
          </a:stretch>
        </p:blipFill>
        <p:spPr>
          <a:xfrm>
            <a:off x="4461358" y="2769718"/>
            <a:ext cx="404165" cy="404165"/>
          </a:xfrm>
          <a:prstGeom prst="rect">
            <a:avLst/>
          </a:prstGeom>
        </p:spPr>
      </p:pic>
      <p:sp>
        <p:nvSpPr>
          <p:cNvPr id="19" name="Text 15"/>
          <p:cNvSpPr/>
          <p:nvPr/>
        </p:nvSpPr>
        <p:spPr>
          <a:xfrm>
            <a:off x="3360420" y="3520440"/>
            <a:ext cx="2606040"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Offer</a:t>
            </a:r>
            <a:endParaRPr lang="en-US" sz="1350" dirty="0"/>
          </a:p>
        </p:txBody>
      </p:sp>
      <p:sp>
        <p:nvSpPr>
          <p:cNvPr id="20" name="Text 16"/>
          <p:cNvSpPr/>
          <p:nvPr/>
        </p:nvSpPr>
        <p:spPr>
          <a:xfrm>
            <a:off x="3497580" y="3886200"/>
            <a:ext cx="2331720" cy="411480"/>
          </a:xfrm>
          <a:prstGeom prst="rect">
            <a:avLst/>
          </a:prstGeom>
          <a:noFill/>
          <a:ln/>
        </p:spPr>
        <p:txBody>
          <a:bodyPr wrap="square" rtlCol="0" anchor="ctr"/>
          <a:lstStyle/>
          <a:p>
            <a:pPr algn="ctr" indent="0" marL="0">
              <a:buNone/>
            </a:pPr>
            <a:r>
              <a:rPr lang="en-US" sz="1000" dirty="0">
                <a:solidFill>
                  <a:srgbClr val="5A6B75"/>
                </a:solidFill>
                <a:latin typeface="Calibri" pitchFamily="34" charset="0"/>
                <a:ea typeface="Calibri" pitchFamily="34" charset="-122"/>
                <a:cs typeface="Calibri" pitchFamily="34" charset="-120"/>
              </a:rPr>
              <a:t>Server responds: “Here's an available IP.”</a:t>
            </a:r>
            <a:endParaRPr lang="en-US" sz="1000" dirty="0"/>
          </a:p>
        </p:txBody>
      </p:sp>
      <p:sp>
        <p:nvSpPr>
          <p:cNvPr id="21" name="Text 17"/>
          <p:cNvSpPr/>
          <p:nvPr/>
        </p:nvSpPr>
        <p:spPr>
          <a:xfrm>
            <a:off x="5966460" y="2880360"/>
            <a:ext cx="256032" cy="457200"/>
          </a:xfrm>
          <a:prstGeom prst="rect">
            <a:avLst/>
          </a:prstGeom>
          <a:noFill/>
          <a:ln/>
        </p:spPr>
        <p:txBody>
          <a:bodyPr wrap="square" rtlCol="0" anchor="ctr"/>
          <a:lstStyle/>
          <a:p>
            <a:pPr algn="ctr" indent="0" marL="0">
              <a:buNone/>
            </a:pPr>
            <a:r>
              <a:rPr lang="en-US" sz="1800" b="1" dirty="0">
                <a:solidFill>
                  <a:srgbClr val="FF9900"/>
                </a:solidFill>
                <a:latin typeface="Calibri" pitchFamily="34" charset="0"/>
                <a:ea typeface="Calibri" pitchFamily="34" charset="-122"/>
                <a:cs typeface="Calibri" pitchFamily="34" charset="-120"/>
              </a:rPr>
              <a:t>→</a:t>
            </a:r>
            <a:endParaRPr lang="en-US" sz="1800" dirty="0"/>
          </a:p>
        </p:txBody>
      </p:sp>
      <p:sp>
        <p:nvSpPr>
          <p:cNvPr id="22" name="Shape 18"/>
          <p:cNvSpPr/>
          <p:nvPr/>
        </p:nvSpPr>
        <p:spPr>
          <a:xfrm>
            <a:off x="6222492" y="1965960"/>
            <a:ext cx="2606040" cy="2377440"/>
          </a:xfrm>
          <a:prstGeom prst="roundRect">
            <a:avLst>
              <a:gd name="adj" fmla="val 3846"/>
            </a:avLst>
          </a:prstGeom>
          <a:solidFill>
            <a:srgbClr val="FFFFFF"/>
          </a:solidFill>
          <a:ln w="12700">
            <a:solidFill>
              <a:srgbClr val="D9DCE1"/>
            </a:solidFill>
            <a:prstDash val="solid"/>
          </a:ln>
        </p:spPr>
      </p:sp>
      <p:sp>
        <p:nvSpPr>
          <p:cNvPr id="23" name="Shape 19"/>
          <p:cNvSpPr/>
          <p:nvPr/>
        </p:nvSpPr>
        <p:spPr>
          <a:xfrm>
            <a:off x="6359652" y="2103120"/>
            <a:ext cx="365760" cy="365760"/>
          </a:xfrm>
          <a:prstGeom prst="ellipse">
            <a:avLst/>
          </a:prstGeom>
          <a:solidFill>
            <a:srgbClr val="FF9900"/>
          </a:solidFill>
          <a:ln/>
        </p:spPr>
      </p:sp>
      <p:sp>
        <p:nvSpPr>
          <p:cNvPr id="24" name="Text 20"/>
          <p:cNvSpPr/>
          <p:nvPr/>
        </p:nvSpPr>
        <p:spPr>
          <a:xfrm>
            <a:off x="6359652" y="210312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5" name="Shape 21"/>
          <p:cNvSpPr/>
          <p:nvPr/>
        </p:nvSpPr>
        <p:spPr>
          <a:xfrm>
            <a:off x="7136892" y="2583180"/>
            <a:ext cx="777240" cy="777240"/>
          </a:xfrm>
          <a:prstGeom prst="ellipse">
            <a:avLst/>
          </a:prstGeom>
          <a:solidFill>
            <a:srgbClr val="FFF3DE"/>
          </a:solidFill>
          <a:ln/>
        </p:spPr>
      </p:sp>
      <p:pic>
        <p:nvPicPr>
          <p:cNvPr id="26" name="Image 2" descr="/home/claude/ppt3/icon_check_d.png">    </p:cNvPr>
          <p:cNvPicPr>
            <a:picLocks noChangeAspect="1"/>
          </p:cNvPicPr>
          <p:nvPr/>
        </p:nvPicPr>
        <p:blipFill>
          <a:blip r:embed="rId3"/>
          <a:stretch>
            <a:fillRect/>
          </a:stretch>
        </p:blipFill>
        <p:spPr>
          <a:xfrm>
            <a:off x="7323430" y="2769718"/>
            <a:ext cx="404165" cy="404165"/>
          </a:xfrm>
          <a:prstGeom prst="rect">
            <a:avLst/>
          </a:prstGeom>
        </p:spPr>
      </p:pic>
      <p:sp>
        <p:nvSpPr>
          <p:cNvPr id="27" name="Text 22"/>
          <p:cNvSpPr/>
          <p:nvPr/>
        </p:nvSpPr>
        <p:spPr>
          <a:xfrm>
            <a:off x="6222492" y="3520440"/>
            <a:ext cx="2606040"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Request</a:t>
            </a:r>
            <a:endParaRPr lang="en-US" sz="1350" dirty="0"/>
          </a:p>
        </p:txBody>
      </p:sp>
      <p:sp>
        <p:nvSpPr>
          <p:cNvPr id="28" name="Text 23"/>
          <p:cNvSpPr/>
          <p:nvPr/>
        </p:nvSpPr>
        <p:spPr>
          <a:xfrm>
            <a:off x="6359652" y="3886200"/>
            <a:ext cx="2331720" cy="411480"/>
          </a:xfrm>
          <a:prstGeom prst="rect">
            <a:avLst/>
          </a:prstGeom>
          <a:noFill/>
          <a:ln/>
        </p:spPr>
        <p:txBody>
          <a:bodyPr wrap="square" rtlCol="0" anchor="ctr"/>
          <a:lstStyle/>
          <a:p>
            <a:pPr algn="ctr" indent="0" marL="0">
              <a:buNone/>
            </a:pPr>
            <a:r>
              <a:rPr lang="en-US" sz="1000" dirty="0">
                <a:solidFill>
                  <a:srgbClr val="5A6B75"/>
                </a:solidFill>
                <a:latin typeface="Calibri" pitchFamily="34" charset="0"/>
                <a:ea typeface="Calibri" pitchFamily="34" charset="-122"/>
                <a:cs typeface="Calibri" pitchFamily="34" charset="-120"/>
              </a:rPr>
              <a:t>Device replies: “I'll take that one.”</a:t>
            </a:r>
            <a:endParaRPr lang="en-US" sz="1000" dirty="0"/>
          </a:p>
        </p:txBody>
      </p:sp>
      <p:sp>
        <p:nvSpPr>
          <p:cNvPr id="29" name="Text 24"/>
          <p:cNvSpPr/>
          <p:nvPr/>
        </p:nvSpPr>
        <p:spPr>
          <a:xfrm>
            <a:off x="8828532" y="2880360"/>
            <a:ext cx="256032" cy="457200"/>
          </a:xfrm>
          <a:prstGeom prst="rect">
            <a:avLst/>
          </a:prstGeom>
          <a:noFill/>
          <a:ln/>
        </p:spPr>
        <p:txBody>
          <a:bodyPr wrap="square" rtlCol="0" anchor="ctr"/>
          <a:lstStyle/>
          <a:p>
            <a:pPr algn="ctr" indent="0" marL="0">
              <a:buNone/>
            </a:pPr>
            <a:r>
              <a:rPr lang="en-US" sz="1800" b="1" dirty="0">
                <a:solidFill>
                  <a:srgbClr val="FF9900"/>
                </a:solidFill>
                <a:latin typeface="Calibri" pitchFamily="34" charset="0"/>
                <a:ea typeface="Calibri" pitchFamily="34" charset="-122"/>
                <a:cs typeface="Calibri" pitchFamily="34" charset="-120"/>
              </a:rPr>
              <a:t>→</a:t>
            </a:r>
            <a:endParaRPr lang="en-US" sz="1800" dirty="0"/>
          </a:p>
        </p:txBody>
      </p:sp>
      <p:sp>
        <p:nvSpPr>
          <p:cNvPr id="30" name="Shape 25"/>
          <p:cNvSpPr/>
          <p:nvPr/>
        </p:nvSpPr>
        <p:spPr>
          <a:xfrm>
            <a:off x="9084564" y="1965960"/>
            <a:ext cx="2606040" cy="2377440"/>
          </a:xfrm>
          <a:prstGeom prst="roundRect">
            <a:avLst>
              <a:gd name="adj" fmla="val 3846"/>
            </a:avLst>
          </a:prstGeom>
          <a:solidFill>
            <a:srgbClr val="FFFFFF"/>
          </a:solidFill>
          <a:ln w="12700">
            <a:solidFill>
              <a:srgbClr val="D9DCE1"/>
            </a:solidFill>
            <a:prstDash val="solid"/>
          </a:ln>
        </p:spPr>
      </p:sp>
      <p:sp>
        <p:nvSpPr>
          <p:cNvPr id="31" name="Shape 26"/>
          <p:cNvSpPr/>
          <p:nvPr/>
        </p:nvSpPr>
        <p:spPr>
          <a:xfrm>
            <a:off x="9221724" y="2103120"/>
            <a:ext cx="365760" cy="365760"/>
          </a:xfrm>
          <a:prstGeom prst="ellipse">
            <a:avLst/>
          </a:prstGeom>
          <a:solidFill>
            <a:srgbClr val="FF9900"/>
          </a:solidFill>
          <a:ln/>
        </p:spPr>
      </p:sp>
      <p:sp>
        <p:nvSpPr>
          <p:cNvPr id="32" name="Text 27"/>
          <p:cNvSpPr/>
          <p:nvPr/>
        </p:nvSpPr>
        <p:spPr>
          <a:xfrm>
            <a:off x="9221724" y="210312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33" name="Shape 28"/>
          <p:cNvSpPr/>
          <p:nvPr/>
        </p:nvSpPr>
        <p:spPr>
          <a:xfrm>
            <a:off x="9998964" y="2583180"/>
            <a:ext cx="777240" cy="777240"/>
          </a:xfrm>
          <a:prstGeom prst="ellipse">
            <a:avLst/>
          </a:prstGeom>
          <a:solidFill>
            <a:srgbClr val="FFF3DE"/>
          </a:solidFill>
          <a:ln/>
        </p:spPr>
      </p:sp>
      <p:pic>
        <p:nvPicPr>
          <p:cNvPr id="34" name="Image 3" descr="/home/claude/ppt3/icon_check_d.png">    </p:cNvPr>
          <p:cNvPicPr>
            <a:picLocks noChangeAspect="1"/>
          </p:cNvPicPr>
          <p:nvPr/>
        </p:nvPicPr>
        <p:blipFill>
          <a:blip r:embed="rId4"/>
          <a:stretch>
            <a:fillRect/>
          </a:stretch>
        </p:blipFill>
        <p:spPr>
          <a:xfrm>
            <a:off x="10185502" y="2769718"/>
            <a:ext cx="404165" cy="404165"/>
          </a:xfrm>
          <a:prstGeom prst="rect">
            <a:avLst/>
          </a:prstGeom>
        </p:spPr>
      </p:pic>
      <p:sp>
        <p:nvSpPr>
          <p:cNvPr id="35" name="Text 29"/>
          <p:cNvSpPr/>
          <p:nvPr/>
        </p:nvSpPr>
        <p:spPr>
          <a:xfrm>
            <a:off x="9084564" y="3520440"/>
            <a:ext cx="2606040" cy="365760"/>
          </a:xfrm>
          <a:prstGeom prst="rect">
            <a:avLst/>
          </a:prstGeom>
          <a:noFill/>
          <a:ln/>
        </p:spPr>
        <p:txBody>
          <a:bodyPr wrap="square" rtlCol="0" anchor="ctr"/>
          <a:lstStyle/>
          <a:p>
            <a:pPr algn="ctr" indent="0" marL="0">
              <a:buNone/>
            </a:pPr>
            <a:r>
              <a:rPr lang="en-US" sz="1350" b="1" dirty="0">
                <a:solidFill>
                  <a:srgbClr val="232F3E"/>
                </a:solidFill>
                <a:latin typeface="Arial" pitchFamily="34" charset="0"/>
                <a:ea typeface="Arial" pitchFamily="34" charset="-122"/>
                <a:cs typeface="Arial" pitchFamily="34" charset="-120"/>
              </a:rPr>
              <a:t>Acknowledge</a:t>
            </a:r>
            <a:endParaRPr lang="en-US" sz="1350" dirty="0"/>
          </a:p>
        </p:txBody>
      </p:sp>
      <p:sp>
        <p:nvSpPr>
          <p:cNvPr id="36" name="Text 30"/>
          <p:cNvSpPr/>
          <p:nvPr/>
        </p:nvSpPr>
        <p:spPr>
          <a:xfrm>
            <a:off x="9221724" y="3886200"/>
            <a:ext cx="2331720" cy="411480"/>
          </a:xfrm>
          <a:prstGeom prst="rect">
            <a:avLst/>
          </a:prstGeom>
          <a:noFill/>
          <a:ln/>
        </p:spPr>
        <p:txBody>
          <a:bodyPr wrap="square" rtlCol="0" anchor="ctr"/>
          <a:lstStyle/>
          <a:p>
            <a:pPr algn="ctr" indent="0" marL="0">
              <a:buNone/>
            </a:pPr>
            <a:r>
              <a:rPr lang="en-US" sz="1000" dirty="0">
                <a:solidFill>
                  <a:srgbClr val="5A6B75"/>
                </a:solidFill>
                <a:latin typeface="Calibri" pitchFamily="34" charset="0"/>
                <a:ea typeface="Calibri" pitchFamily="34" charset="-122"/>
                <a:cs typeface="Calibri" pitchFamily="34" charset="-120"/>
              </a:rPr>
              <a:t>Server confirms the lease is official.</a:t>
            </a:r>
            <a:endParaRPr lang="en-US" sz="1000" dirty="0"/>
          </a:p>
        </p:txBody>
      </p:sp>
      <p:sp>
        <p:nvSpPr>
          <p:cNvPr id="37" name="Text 31"/>
          <p:cNvSpPr/>
          <p:nvPr/>
        </p:nvSpPr>
        <p:spPr>
          <a:xfrm>
            <a:off x="548640" y="4617720"/>
            <a:ext cx="11091672" cy="365760"/>
          </a:xfrm>
          <a:prstGeom prst="rect">
            <a:avLst/>
          </a:prstGeom>
          <a:noFill/>
          <a:ln/>
        </p:spPr>
        <p:txBody>
          <a:bodyPr wrap="square" rtlCol="0" anchor="ctr"/>
          <a:lstStyle/>
          <a:p>
            <a:pPr algn="ctr" indent="0" marL="0">
              <a:buNone/>
            </a:pPr>
            <a:r>
              <a:rPr lang="en-US" sz="1250" i="1" dirty="0">
                <a:solidFill>
                  <a:srgbClr val="5A6B75"/>
                </a:solidFill>
                <a:latin typeface="Calibri" pitchFamily="34" charset="0"/>
                <a:ea typeface="Calibri" pitchFamily="34" charset="-122"/>
                <a:cs typeface="Calibri" pitchFamily="34" charset="-120"/>
              </a:rPr>
              <a:t>Also known as “DORA” — Discover, Offer, Request, Acknowledge.</a:t>
            </a:r>
            <a:endParaRPr lang="en-US" sz="1250" dirty="0"/>
          </a:p>
        </p:txBody>
      </p:sp>
      <p:sp>
        <p:nvSpPr>
          <p:cNvPr id="38" name="Shape 32"/>
          <p:cNvSpPr/>
          <p:nvPr/>
        </p:nvSpPr>
        <p:spPr>
          <a:xfrm>
            <a:off x="548640" y="5074920"/>
            <a:ext cx="11091672" cy="566928"/>
          </a:xfrm>
          <a:prstGeom prst="roundRect">
            <a:avLst>
              <a:gd name="adj" fmla="val 12903"/>
            </a:avLst>
          </a:prstGeom>
          <a:solidFill>
            <a:srgbClr val="232F3E"/>
          </a:solidFill>
          <a:ln/>
        </p:spPr>
      </p:sp>
      <p:sp>
        <p:nvSpPr>
          <p:cNvPr id="39" name="Shape 33"/>
          <p:cNvSpPr/>
          <p:nvPr/>
        </p:nvSpPr>
        <p:spPr>
          <a:xfrm>
            <a:off x="704088" y="5129784"/>
            <a:ext cx="457200" cy="457200"/>
          </a:xfrm>
          <a:prstGeom prst="ellipse">
            <a:avLst/>
          </a:prstGeom>
          <a:solidFill>
            <a:srgbClr val="33455B"/>
          </a:solidFill>
          <a:ln/>
        </p:spPr>
      </p:sp>
      <p:pic>
        <p:nvPicPr>
          <p:cNvPr id="40" name="Image 4" descr="/home/claude/ppt3/icon_lightbulb_o.png">    </p:cNvPr>
          <p:cNvPicPr>
            <a:picLocks noChangeAspect="1"/>
          </p:cNvPicPr>
          <p:nvPr/>
        </p:nvPicPr>
        <p:blipFill>
          <a:blip r:embed="rId5"/>
          <a:stretch>
            <a:fillRect/>
          </a:stretch>
        </p:blipFill>
        <p:spPr>
          <a:xfrm>
            <a:off x="813816" y="5239512"/>
            <a:ext cx="237744" cy="237744"/>
          </a:xfrm>
          <a:prstGeom prst="rect">
            <a:avLst/>
          </a:prstGeom>
        </p:spPr>
      </p:pic>
      <p:sp>
        <p:nvSpPr>
          <p:cNvPr id="41" name="Text 34"/>
          <p:cNvSpPr/>
          <p:nvPr/>
        </p:nvSpPr>
        <p:spPr>
          <a:xfrm>
            <a:off x="1234440" y="507492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Recommend the mnemonic “Don't Offer Rotten Apples” (Discover, Offer, Request, Acknowledge) to help it stick.</a:t>
            </a:r>
            <a:endParaRPr lang="en-US" sz="1100" dirty="0"/>
          </a:p>
        </p:txBody>
      </p:sp>
      <p:sp>
        <p:nvSpPr>
          <p:cNvPr id="42" name="Text 35"/>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43" name="Text 36"/>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CORE SERVICES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NAT — Network Address Translation</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See how many private devices share one public IP address.</a:t>
            </a:r>
            <a:endParaRPr lang="en-US" sz="1250" dirty="0"/>
          </a:p>
        </p:txBody>
      </p:sp>
      <p:sp>
        <p:nvSpPr>
          <p:cNvPr id="6" name="Shape 4"/>
          <p:cNvSpPr/>
          <p:nvPr/>
        </p:nvSpPr>
        <p:spPr>
          <a:xfrm>
            <a:off x="1280160" y="1874520"/>
            <a:ext cx="2987040" cy="1645920"/>
          </a:xfrm>
          <a:prstGeom prst="roundRect">
            <a:avLst>
              <a:gd name="adj" fmla="val 5000"/>
            </a:avLst>
          </a:prstGeom>
          <a:solidFill>
            <a:srgbClr val="FFFFFF"/>
          </a:solidFill>
          <a:ln w="12700">
            <a:solidFill>
              <a:srgbClr val="D9DCE1"/>
            </a:solidFill>
            <a:prstDash val="solid"/>
          </a:ln>
        </p:spPr>
      </p:sp>
      <p:sp>
        <p:nvSpPr>
          <p:cNvPr id="7" name="Shape 5"/>
          <p:cNvSpPr/>
          <p:nvPr/>
        </p:nvSpPr>
        <p:spPr>
          <a:xfrm>
            <a:off x="2321052" y="2080260"/>
            <a:ext cx="905256" cy="905256"/>
          </a:xfrm>
          <a:prstGeom prst="ellipse">
            <a:avLst/>
          </a:prstGeom>
          <a:solidFill>
            <a:srgbClr val="FFF3DE"/>
          </a:solidFill>
          <a:ln/>
        </p:spPr>
      </p:sp>
      <p:pic>
        <p:nvPicPr>
          <p:cNvPr id="8" name="Image 0" descr="/home/claude/ppt3/icon_home_d.png">    </p:cNvPr>
          <p:cNvPicPr>
            <a:picLocks noChangeAspect="1"/>
          </p:cNvPicPr>
          <p:nvPr/>
        </p:nvPicPr>
        <p:blipFill>
          <a:blip r:embed="rId1"/>
          <a:stretch>
            <a:fillRect/>
          </a:stretch>
        </p:blipFill>
        <p:spPr>
          <a:xfrm>
            <a:off x="2538313" y="2297521"/>
            <a:ext cx="470733" cy="470733"/>
          </a:xfrm>
          <a:prstGeom prst="rect">
            <a:avLst/>
          </a:prstGeom>
        </p:spPr>
      </p:pic>
      <p:sp>
        <p:nvSpPr>
          <p:cNvPr id="9" name="Text 6"/>
          <p:cNvSpPr/>
          <p:nvPr/>
        </p:nvSpPr>
        <p:spPr>
          <a:xfrm>
            <a:off x="1353312" y="2993746"/>
            <a:ext cx="2840736" cy="493776"/>
          </a:xfrm>
          <a:prstGeom prst="rect">
            <a:avLst/>
          </a:prstGeom>
          <a:noFill/>
          <a:ln/>
        </p:spPr>
        <p:txBody>
          <a:bodyPr wrap="square" rtlCol="0" anchor="t"/>
          <a:lstStyle/>
          <a:p>
            <a:pPr algn="ctr" indent="0" marL="0">
              <a:buNone/>
            </a:pPr>
            <a:r>
              <a:rPr lang="en-US" sz="1300" b="1" dirty="0">
                <a:solidFill>
                  <a:srgbClr val="232F3E"/>
                </a:solidFill>
                <a:latin typeface="Calibri" pitchFamily="34" charset="0"/>
                <a:ea typeface="Calibri" pitchFamily="34" charset="-122"/>
                <a:cs typeface="Calibri" pitchFamily="34" charset="-120"/>
              </a:rPr>
              <a:t>Private Network</a:t>
            </a:r>
            <a:endParaRPr lang="en-US" sz="1300" dirty="0"/>
          </a:p>
        </p:txBody>
      </p:sp>
      <p:sp>
        <p:nvSpPr>
          <p:cNvPr id="10" name="Text 7"/>
          <p:cNvSpPr/>
          <p:nvPr/>
        </p:nvSpPr>
        <p:spPr>
          <a:xfrm>
            <a:off x="4267200" y="2468880"/>
            <a:ext cx="32004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4587240" y="1874520"/>
            <a:ext cx="2987040" cy="1645920"/>
          </a:xfrm>
          <a:prstGeom prst="roundRect">
            <a:avLst>
              <a:gd name="adj" fmla="val 5000"/>
            </a:avLst>
          </a:prstGeom>
          <a:solidFill>
            <a:srgbClr val="FFFFFF"/>
          </a:solidFill>
          <a:ln w="12700">
            <a:solidFill>
              <a:srgbClr val="D9DCE1"/>
            </a:solidFill>
            <a:prstDash val="solid"/>
          </a:ln>
        </p:spPr>
      </p:sp>
      <p:sp>
        <p:nvSpPr>
          <p:cNvPr id="12" name="Shape 9"/>
          <p:cNvSpPr/>
          <p:nvPr/>
        </p:nvSpPr>
        <p:spPr>
          <a:xfrm>
            <a:off x="5628132" y="2080260"/>
            <a:ext cx="905256" cy="905256"/>
          </a:xfrm>
          <a:prstGeom prst="ellipse">
            <a:avLst/>
          </a:prstGeom>
          <a:solidFill>
            <a:srgbClr val="FFF3DE"/>
          </a:solidFill>
          <a:ln/>
        </p:spPr>
      </p:sp>
      <p:pic>
        <p:nvPicPr>
          <p:cNvPr id="13" name="Image 1" descr="/home/claude/ppt3/icon_router_d.png">    </p:cNvPr>
          <p:cNvPicPr>
            <a:picLocks noChangeAspect="1"/>
          </p:cNvPicPr>
          <p:nvPr/>
        </p:nvPicPr>
        <p:blipFill>
          <a:blip r:embed="rId2"/>
          <a:stretch>
            <a:fillRect/>
          </a:stretch>
        </p:blipFill>
        <p:spPr>
          <a:xfrm>
            <a:off x="5845393" y="2297521"/>
            <a:ext cx="470733" cy="470733"/>
          </a:xfrm>
          <a:prstGeom prst="rect">
            <a:avLst/>
          </a:prstGeom>
        </p:spPr>
      </p:pic>
      <p:sp>
        <p:nvSpPr>
          <p:cNvPr id="14" name="Text 10"/>
          <p:cNvSpPr/>
          <p:nvPr/>
        </p:nvSpPr>
        <p:spPr>
          <a:xfrm>
            <a:off x="4660392" y="2993746"/>
            <a:ext cx="2840736" cy="493776"/>
          </a:xfrm>
          <a:prstGeom prst="rect">
            <a:avLst/>
          </a:prstGeom>
          <a:noFill/>
          <a:ln/>
        </p:spPr>
        <p:txBody>
          <a:bodyPr wrap="square" rtlCol="0" anchor="t"/>
          <a:lstStyle/>
          <a:p>
            <a:pPr algn="ctr" indent="0" marL="0">
              <a:buNone/>
            </a:pPr>
            <a:r>
              <a:rPr lang="en-US" sz="1300" b="1" dirty="0">
                <a:solidFill>
                  <a:srgbClr val="232F3E"/>
                </a:solidFill>
                <a:latin typeface="Calibri" pitchFamily="34" charset="0"/>
                <a:ea typeface="Calibri" pitchFamily="34" charset="-122"/>
                <a:cs typeface="Calibri" pitchFamily="34" charset="-120"/>
              </a:rPr>
              <a:t>Router (NAT)</a:t>
            </a:r>
            <a:endParaRPr lang="en-US" sz="1300" dirty="0"/>
          </a:p>
        </p:txBody>
      </p:sp>
      <p:sp>
        <p:nvSpPr>
          <p:cNvPr id="15" name="Text 11"/>
          <p:cNvSpPr/>
          <p:nvPr/>
        </p:nvSpPr>
        <p:spPr>
          <a:xfrm>
            <a:off x="7574280" y="2468880"/>
            <a:ext cx="32004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7894320" y="1874520"/>
            <a:ext cx="2987040" cy="1645920"/>
          </a:xfrm>
          <a:prstGeom prst="roundRect">
            <a:avLst>
              <a:gd name="adj" fmla="val 5000"/>
            </a:avLst>
          </a:prstGeom>
          <a:solidFill>
            <a:srgbClr val="FFFFFF"/>
          </a:solidFill>
          <a:ln w="12700">
            <a:solidFill>
              <a:srgbClr val="D9DCE1"/>
            </a:solidFill>
            <a:prstDash val="solid"/>
          </a:ln>
        </p:spPr>
      </p:sp>
      <p:sp>
        <p:nvSpPr>
          <p:cNvPr id="17" name="Shape 13"/>
          <p:cNvSpPr/>
          <p:nvPr/>
        </p:nvSpPr>
        <p:spPr>
          <a:xfrm>
            <a:off x="8935212" y="2080260"/>
            <a:ext cx="905256" cy="905256"/>
          </a:xfrm>
          <a:prstGeom prst="ellipse">
            <a:avLst/>
          </a:prstGeom>
          <a:solidFill>
            <a:srgbClr val="FFF3DE"/>
          </a:solidFill>
          <a:ln/>
        </p:spPr>
      </p:sp>
      <p:pic>
        <p:nvPicPr>
          <p:cNvPr id="18" name="Image 2" descr="/home/claude/ppt3/icon_globe_d.png">    </p:cNvPr>
          <p:cNvPicPr>
            <a:picLocks noChangeAspect="1"/>
          </p:cNvPicPr>
          <p:nvPr/>
        </p:nvPicPr>
        <p:blipFill>
          <a:blip r:embed="rId3"/>
          <a:stretch>
            <a:fillRect/>
          </a:stretch>
        </p:blipFill>
        <p:spPr>
          <a:xfrm>
            <a:off x="9152473" y="2297521"/>
            <a:ext cx="470733" cy="470733"/>
          </a:xfrm>
          <a:prstGeom prst="rect">
            <a:avLst/>
          </a:prstGeom>
        </p:spPr>
      </p:pic>
      <p:sp>
        <p:nvSpPr>
          <p:cNvPr id="19" name="Text 14"/>
          <p:cNvSpPr/>
          <p:nvPr/>
        </p:nvSpPr>
        <p:spPr>
          <a:xfrm>
            <a:off x="7967472" y="2993746"/>
            <a:ext cx="2840736" cy="493776"/>
          </a:xfrm>
          <a:prstGeom prst="rect">
            <a:avLst/>
          </a:prstGeom>
          <a:noFill/>
          <a:ln/>
        </p:spPr>
        <p:txBody>
          <a:bodyPr wrap="square" rtlCol="0" anchor="t"/>
          <a:lstStyle/>
          <a:p>
            <a:pPr algn="ctr" indent="0" marL="0">
              <a:buNone/>
            </a:pPr>
            <a:r>
              <a:rPr lang="en-US" sz="1300" b="1" dirty="0">
                <a:solidFill>
                  <a:srgbClr val="232F3E"/>
                </a:solidFill>
                <a:latin typeface="Calibri" pitchFamily="34" charset="0"/>
                <a:ea typeface="Calibri" pitchFamily="34" charset="-122"/>
                <a:cs typeface="Calibri" pitchFamily="34" charset="-120"/>
              </a:rPr>
              <a:t>Public Internet</a:t>
            </a:r>
            <a:endParaRPr lang="en-US" sz="1300" dirty="0"/>
          </a:p>
        </p:txBody>
      </p:sp>
      <p:sp>
        <p:nvSpPr>
          <p:cNvPr id="20" name="Shape 15"/>
          <p:cNvSpPr/>
          <p:nvPr/>
        </p:nvSpPr>
        <p:spPr>
          <a:xfrm>
            <a:off x="763524" y="3931920"/>
            <a:ext cx="3383280" cy="1325880"/>
          </a:xfrm>
          <a:prstGeom prst="roundRect">
            <a:avLst>
              <a:gd name="adj" fmla="val 5517"/>
            </a:avLst>
          </a:prstGeom>
          <a:solidFill>
            <a:srgbClr val="FFFFFF"/>
          </a:solidFill>
          <a:ln w="12700">
            <a:solidFill>
              <a:srgbClr val="D9DCE1"/>
            </a:solidFill>
            <a:prstDash val="solid"/>
          </a:ln>
        </p:spPr>
      </p:sp>
      <p:sp>
        <p:nvSpPr>
          <p:cNvPr id="21" name="Text 16"/>
          <p:cNvSpPr/>
          <p:nvPr/>
        </p:nvSpPr>
        <p:spPr>
          <a:xfrm>
            <a:off x="946404" y="4041648"/>
            <a:ext cx="3017520" cy="320040"/>
          </a:xfrm>
          <a:prstGeom prst="rect">
            <a:avLst/>
          </a:prstGeom>
          <a:noFill/>
          <a:ln/>
        </p:spPr>
        <p:txBody>
          <a:bodyPr wrap="square" rtlCol="0" anchor="ctr"/>
          <a:lstStyle/>
          <a:p>
            <a:pPr indent="0" marL="0">
              <a:buNone/>
            </a:pPr>
            <a:r>
              <a:rPr lang="en-US" sz="1500" b="1" dirty="0">
                <a:solidFill>
                  <a:srgbClr val="FF9900"/>
                </a:solidFill>
                <a:latin typeface="Consolas" pitchFamily="34" charset="0"/>
                <a:ea typeface="Consolas" pitchFamily="34" charset="-122"/>
                <a:cs typeface="Consolas" pitchFamily="34" charset="-120"/>
              </a:rPr>
              <a:t>PAT</a:t>
            </a:r>
            <a:endParaRPr lang="en-US" sz="1500" dirty="0"/>
          </a:p>
        </p:txBody>
      </p:sp>
      <p:sp>
        <p:nvSpPr>
          <p:cNvPr id="22" name="Text 17"/>
          <p:cNvSpPr/>
          <p:nvPr/>
        </p:nvSpPr>
        <p:spPr>
          <a:xfrm>
            <a:off x="946404" y="4389120"/>
            <a:ext cx="3017520" cy="822960"/>
          </a:xfrm>
          <a:prstGeom prst="rect">
            <a:avLst/>
          </a:prstGeom>
          <a:noFill/>
          <a:ln/>
        </p:spPr>
        <p:txBody>
          <a:bodyPr wrap="square" rtlCol="0" anchor="t"/>
          <a:lstStyle/>
          <a:p>
            <a:pPr indent="0" marL="0">
              <a:buNone/>
            </a:pPr>
            <a:r>
              <a:rPr lang="en-US" sz="1050" dirty="0">
                <a:solidFill>
                  <a:srgbClr val="5A6B75"/>
                </a:solidFill>
                <a:latin typeface="Calibri" pitchFamily="34" charset="0"/>
                <a:ea typeface="Calibri" pitchFamily="34" charset="-122"/>
                <a:cs typeface="Calibri" pitchFamily="34" charset="-120"/>
              </a:rPr>
              <a:t>Port Address Translation — many devices share one public IP, tracked by port</a:t>
            </a:r>
            <a:endParaRPr lang="en-US" sz="1050" dirty="0"/>
          </a:p>
        </p:txBody>
      </p:sp>
      <p:sp>
        <p:nvSpPr>
          <p:cNvPr id="23" name="Shape 18"/>
          <p:cNvSpPr/>
          <p:nvPr/>
        </p:nvSpPr>
        <p:spPr>
          <a:xfrm>
            <a:off x="4402836" y="3931920"/>
            <a:ext cx="3383280" cy="1325880"/>
          </a:xfrm>
          <a:prstGeom prst="roundRect">
            <a:avLst>
              <a:gd name="adj" fmla="val 5517"/>
            </a:avLst>
          </a:prstGeom>
          <a:solidFill>
            <a:srgbClr val="FFFFFF"/>
          </a:solidFill>
          <a:ln w="12700">
            <a:solidFill>
              <a:srgbClr val="D9DCE1"/>
            </a:solidFill>
            <a:prstDash val="solid"/>
          </a:ln>
        </p:spPr>
      </p:sp>
      <p:sp>
        <p:nvSpPr>
          <p:cNvPr id="24" name="Text 19"/>
          <p:cNvSpPr/>
          <p:nvPr/>
        </p:nvSpPr>
        <p:spPr>
          <a:xfrm>
            <a:off x="4585716" y="4041648"/>
            <a:ext cx="3017520" cy="320040"/>
          </a:xfrm>
          <a:prstGeom prst="rect">
            <a:avLst/>
          </a:prstGeom>
          <a:noFill/>
          <a:ln/>
        </p:spPr>
        <p:txBody>
          <a:bodyPr wrap="square" rtlCol="0" anchor="ctr"/>
          <a:lstStyle/>
          <a:p>
            <a:pPr indent="0" marL="0">
              <a:buNone/>
            </a:pPr>
            <a:r>
              <a:rPr lang="en-US" sz="1500" b="1" dirty="0">
                <a:solidFill>
                  <a:srgbClr val="FF9900"/>
                </a:solidFill>
                <a:latin typeface="Consolas" pitchFamily="34" charset="0"/>
                <a:ea typeface="Consolas" pitchFamily="34" charset="-122"/>
                <a:cs typeface="Consolas" pitchFamily="34" charset="-120"/>
              </a:rPr>
              <a:t>SNAT</a:t>
            </a:r>
            <a:endParaRPr lang="en-US" sz="1500" dirty="0"/>
          </a:p>
        </p:txBody>
      </p:sp>
      <p:sp>
        <p:nvSpPr>
          <p:cNvPr id="25" name="Text 20"/>
          <p:cNvSpPr/>
          <p:nvPr/>
        </p:nvSpPr>
        <p:spPr>
          <a:xfrm>
            <a:off x="4585716" y="4389120"/>
            <a:ext cx="3017520" cy="822960"/>
          </a:xfrm>
          <a:prstGeom prst="rect">
            <a:avLst/>
          </a:prstGeom>
          <a:noFill/>
          <a:ln/>
        </p:spPr>
        <p:txBody>
          <a:bodyPr wrap="square" rtlCol="0" anchor="t"/>
          <a:lstStyle/>
          <a:p>
            <a:pPr indent="0" marL="0">
              <a:buNone/>
            </a:pPr>
            <a:r>
              <a:rPr lang="en-US" sz="1050" dirty="0">
                <a:solidFill>
                  <a:srgbClr val="5A6B75"/>
                </a:solidFill>
                <a:latin typeface="Calibri" pitchFamily="34" charset="0"/>
                <a:ea typeface="Calibri" pitchFamily="34" charset="-122"/>
                <a:cs typeface="Calibri" pitchFamily="34" charset="-120"/>
              </a:rPr>
              <a:t>Source NAT — rewrites the sender's private IP to a public one</a:t>
            </a:r>
            <a:endParaRPr lang="en-US" sz="1050" dirty="0"/>
          </a:p>
        </p:txBody>
      </p:sp>
      <p:sp>
        <p:nvSpPr>
          <p:cNvPr id="26" name="Shape 21"/>
          <p:cNvSpPr/>
          <p:nvPr/>
        </p:nvSpPr>
        <p:spPr>
          <a:xfrm>
            <a:off x="8042148" y="3931920"/>
            <a:ext cx="3383280" cy="1325880"/>
          </a:xfrm>
          <a:prstGeom prst="roundRect">
            <a:avLst>
              <a:gd name="adj" fmla="val 5517"/>
            </a:avLst>
          </a:prstGeom>
          <a:solidFill>
            <a:srgbClr val="FFFFFF"/>
          </a:solidFill>
          <a:ln w="12700">
            <a:solidFill>
              <a:srgbClr val="D9DCE1"/>
            </a:solidFill>
            <a:prstDash val="solid"/>
          </a:ln>
        </p:spPr>
      </p:sp>
      <p:sp>
        <p:nvSpPr>
          <p:cNvPr id="27" name="Text 22"/>
          <p:cNvSpPr/>
          <p:nvPr/>
        </p:nvSpPr>
        <p:spPr>
          <a:xfrm>
            <a:off x="8225028" y="4041648"/>
            <a:ext cx="3017520" cy="320040"/>
          </a:xfrm>
          <a:prstGeom prst="rect">
            <a:avLst/>
          </a:prstGeom>
          <a:noFill/>
          <a:ln/>
        </p:spPr>
        <p:txBody>
          <a:bodyPr wrap="square" rtlCol="0" anchor="ctr"/>
          <a:lstStyle/>
          <a:p>
            <a:pPr indent="0" marL="0">
              <a:buNone/>
            </a:pPr>
            <a:r>
              <a:rPr lang="en-US" sz="1500" b="1" dirty="0">
                <a:solidFill>
                  <a:srgbClr val="FF9900"/>
                </a:solidFill>
                <a:latin typeface="Consolas" pitchFamily="34" charset="0"/>
                <a:ea typeface="Consolas" pitchFamily="34" charset="-122"/>
                <a:cs typeface="Consolas" pitchFamily="34" charset="-120"/>
              </a:rPr>
              <a:t>DNAT</a:t>
            </a:r>
            <a:endParaRPr lang="en-US" sz="1500" dirty="0"/>
          </a:p>
        </p:txBody>
      </p:sp>
      <p:sp>
        <p:nvSpPr>
          <p:cNvPr id="28" name="Text 23"/>
          <p:cNvSpPr/>
          <p:nvPr/>
        </p:nvSpPr>
        <p:spPr>
          <a:xfrm>
            <a:off x="8225028" y="4389120"/>
            <a:ext cx="3017520" cy="822960"/>
          </a:xfrm>
          <a:prstGeom prst="rect">
            <a:avLst/>
          </a:prstGeom>
          <a:noFill/>
          <a:ln/>
        </p:spPr>
        <p:txBody>
          <a:bodyPr wrap="square" rtlCol="0" anchor="t"/>
          <a:lstStyle/>
          <a:p>
            <a:pPr indent="0" marL="0">
              <a:buNone/>
            </a:pPr>
            <a:r>
              <a:rPr lang="en-US" sz="1050" dirty="0">
                <a:solidFill>
                  <a:srgbClr val="5A6B75"/>
                </a:solidFill>
                <a:latin typeface="Calibri" pitchFamily="34" charset="0"/>
                <a:ea typeface="Calibri" pitchFamily="34" charset="-122"/>
                <a:cs typeface="Calibri" pitchFamily="34" charset="-120"/>
              </a:rPr>
              <a:t>Destination NAT — forwards public traffic to a private internal server</a:t>
            </a:r>
            <a:endParaRPr lang="en-US" sz="1050" dirty="0"/>
          </a:p>
        </p:txBody>
      </p:sp>
      <p:sp>
        <p:nvSpPr>
          <p:cNvPr id="29" name="Text 24"/>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0" name="Text 25"/>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SECURITY</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Firewalls — Filtering Traffic</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FF9900"/>
                </a:solidFill>
                <a:latin typeface="Calibri" pitchFamily="34" charset="0"/>
                <a:ea typeface="Calibri" pitchFamily="34" charset="-122"/>
                <a:cs typeface="Calibri" pitchFamily="34" charset="-120"/>
              </a:rPr>
              <a:t>OBJECTIVE:  </a:t>
            </a:r>
            <a:pPr indent="0" marL="0">
              <a:buNone/>
            </a:pPr>
            <a:r>
              <a:rPr lang="en-US" sz="1250" dirty="0">
                <a:solidFill>
                  <a:srgbClr val="E9EDF1"/>
                </a:solidFill>
                <a:latin typeface="Calibri" pitchFamily="34" charset="0"/>
                <a:ea typeface="Calibri" pitchFamily="34" charset="-122"/>
                <a:cs typeface="Calibri" pitchFamily="34" charset="-120"/>
              </a:rPr>
              <a:t>Understand how firewalls decide what traffic to allow or block.</a:t>
            </a:r>
            <a:endParaRPr lang="en-US" sz="1250" dirty="0"/>
          </a:p>
        </p:txBody>
      </p:sp>
      <p:sp>
        <p:nvSpPr>
          <p:cNvPr id="6" name="Shape 4"/>
          <p:cNvSpPr/>
          <p:nvPr/>
        </p:nvSpPr>
        <p:spPr>
          <a:xfrm>
            <a:off x="548640" y="1828800"/>
            <a:ext cx="5349240" cy="2286000"/>
          </a:xfrm>
          <a:prstGeom prst="roundRect">
            <a:avLst>
              <a:gd name="adj" fmla="val 4000"/>
            </a:avLst>
          </a:prstGeom>
          <a:solidFill>
            <a:srgbClr val="161E2D"/>
          </a:solidFill>
          <a:ln w="12700">
            <a:solidFill>
              <a:srgbClr val="FF9900"/>
            </a:solidFill>
            <a:prstDash val="solid"/>
          </a:ln>
        </p:spPr>
      </p:sp>
      <p:sp>
        <p:nvSpPr>
          <p:cNvPr id="7" name="Text 5"/>
          <p:cNvSpPr/>
          <p:nvPr/>
        </p:nvSpPr>
        <p:spPr>
          <a:xfrm>
            <a:off x="822960" y="2011680"/>
            <a:ext cx="4754880" cy="365760"/>
          </a:xfrm>
          <a:prstGeom prst="rect">
            <a:avLst/>
          </a:prstGeom>
          <a:noFill/>
          <a:ln/>
        </p:spPr>
        <p:txBody>
          <a:bodyPr wrap="square" rtlCol="0" anchor="ctr"/>
          <a:lstStyle/>
          <a:p>
            <a:pPr indent="0" marL="0">
              <a:buNone/>
            </a:pPr>
            <a:r>
              <a:rPr lang="en-US" sz="1700" b="1" dirty="0">
                <a:solidFill>
                  <a:srgbClr val="FF9900"/>
                </a:solidFill>
                <a:latin typeface="Arial" pitchFamily="34" charset="0"/>
                <a:ea typeface="Arial" pitchFamily="34" charset="-122"/>
                <a:cs typeface="Arial" pitchFamily="34" charset="-120"/>
              </a:rPr>
              <a:t>Stateful</a:t>
            </a:r>
            <a:endParaRPr lang="en-US" sz="1700" dirty="0"/>
          </a:p>
        </p:txBody>
      </p:sp>
      <p:sp>
        <p:nvSpPr>
          <p:cNvPr id="8" name="Text 6"/>
          <p:cNvSpPr/>
          <p:nvPr/>
        </p:nvSpPr>
        <p:spPr>
          <a:xfrm>
            <a:off x="822960" y="2423160"/>
            <a:ext cx="4754880" cy="1463040"/>
          </a:xfrm>
          <a:prstGeom prst="rect">
            <a:avLst/>
          </a:prstGeom>
          <a:noFill/>
          <a:ln/>
        </p:spPr>
        <p:txBody>
          <a:bodyPr wrap="square" rtlCol="0" anchor="t"/>
          <a:lstStyle/>
          <a:p>
            <a:pPr indent="0" marL="0">
              <a:buNone/>
            </a:pPr>
            <a:r>
              <a:rPr lang="en-US" sz="1250" dirty="0">
                <a:solidFill>
                  <a:srgbClr val="E9EDF1"/>
                </a:solidFill>
                <a:latin typeface="Calibri" pitchFamily="34" charset="0"/>
                <a:ea typeface="Calibri" pitchFamily="34" charset="-122"/>
                <a:cs typeface="Calibri" pitchFamily="34" charset="-120"/>
              </a:rPr>
              <a:t>Tracks the full conversation — automatically allows return traffic for a connection it already approved.</a:t>
            </a:r>
            <a:endParaRPr lang="en-US" sz="1250" dirty="0"/>
          </a:p>
        </p:txBody>
      </p:sp>
      <p:sp>
        <p:nvSpPr>
          <p:cNvPr id="9" name="Shape 7"/>
          <p:cNvSpPr/>
          <p:nvPr/>
        </p:nvSpPr>
        <p:spPr>
          <a:xfrm>
            <a:off x="6263640" y="1828800"/>
            <a:ext cx="5349240" cy="2286000"/>
          </a:xfrm>
          <a:prstGeom prst="roundRect">
            <a:avLst>
              <a:gd name="adj" fmla="val 4000"/>
            </a:avLst>
          </a:prstGeom>
          <a:solidFill>
            <a:srgbClr val="161E2D"/>
          </a:solidFill>
          <a:ln w="12700">
            <a:solidFill>
              <a:srgbClr val="4FC1E9"/>
            </a:solidFill>
            <a:prstDash val="solid"/>
          </a:ln>
        </p:spPr>
      </p:sp>
      <p:sp>
        <p:nvSpPr>
          <p:cNvPr id="10" name="Text 8"/>
          <p:cNvSpPr/>
          <p:nvPr/>
        </p:nvSpPr>
        <p:spPr>
          <a:xfrm>
            <a:off x="6537960" y="2011680"/>
            <a:ext cx="4754880" cy="365760"/>
          </a:xfrm>
          <a:prstGeom prst="rect">
            <a:avLst/>
          </a:prstGeom>
          <a:noFill/>
          <a:ln/>
        </p:spPr>
        <p:txBody>
          <a:bodyPr wrap="square" rtlCol="0" anchor="ctr"/>
          <a:lstStyle/>
          <a:p>
            <a:pPr indent="0" marL="0">
              <a:buNone/>
            </a:pPr>
            <a:r>
              <a:rPr lang="en-US" sz="1700" b="1" dirty="0">
                <a:solidFill>
                  <a:srgbClr val="4FC1E9"/>
                </a:solidFill>
                <a:latin typeface="Arial" pitchFamily="34" charset="0"/>
                <a:ea typeface="Arial" pitchFamily="34" charset="-122"/>
                <a:cs typeface="Arial" pitchFamily="34" charset="-120"/>
              </a:rPr>
              <a:t>Stateless</a:t>
            </a:r>
            <a:endParaRPr lang="en-US" sz="1700" dirty="0"/>
          </a:p>
        </p:txBody>
      </p:sp>
      <p:sp>
        <p:nvSpPr>
          <p:cNvPr id="11" name="Text 9"/>
          <p:cNvSpPr/>
          <p:nvPr/>
        </p:nvSpPr>
        <p:spPr>
          <a:xfrm>
            <a:off x="6537960" y="2423160"/>
            <a:ext cx="4754880" cy="1463040"/>
          </a:xfrm>
          <a:prstGeom prst="rect">
            <a:avLst/>
          </a:prstGeom>
          <a:noFill/>
          <a:ln/>
        </p:spPr>
        <p:txBody>
          <a:bodyPr wrap="square" rtlCol="0" anchor="t"/>
          <a:lstStyle/>
          <a:p>
            <a:pPr indent="0" marL="0">
              <a:buNone/>
            </a:pPr>
            <a:r>
              <a:rPr lang="en-US" sz="1250" dirty="0">
                <a:solidFill>
                  <a:srgbClr val="E9EDF1"/>
                </a:solidFill>
                <a:latin typeface="Calibri" pitchFamily="34" charset="0"/>
                <a:ea typeface="Calibri" pitchFamily="34" charset="-122"/>
                <a:cs typeface="Calibri" pitchFamily="34" charset="-120"/>
              </a:rPr>
              <a:t>Evaluates every single packet independently, with no memory of prior traffic — rules must cover both directions.</a:t>
            </a:r>
            <a:endParaRPr lang="en-US" sz="1250" dirty="0"/>
          </a:p>
        </p:txBody>
      </p:sp>
      <p:sp>
        <p:nvSpPr>
          <p:cNvPr id="12" name="Text 10"/>
          <p:cNvSpPr/>
          <p:nvPr/>
        </p:nvSpPr>
        <p:spPr>
          <a:xfrm>
            <a:off x="548640" y="4343400"/>
            <a:ext cx="5486400" cy="320040"/>
          </a:xfrm>
          <a:prstGeom prst="rect">
            <a:avLst/>
          </a:prstGeom>
          <a:noFill/>
          <a:ln/>
        </p:spPr>
        <p:txBody>
          <a:bodyPr wrap="square" rtlCol="0" anchor="ctr"/>
          <a:lstStyle/>
          <a:p>
            <a:pPr indent="0" marL="0">
              <a:buNone/>
            </a:pPr>
            <a:r>
              <a:rPr lang="en-US" sz="1100" b="1" spc="150" kern="0" dirty="0">
                <a:solidFill>
                  <a:srgbClr val="FF9900"/>
                </a:solidFill>
                <a:latin typeface="Calibri" pitchFamily="34" charset="0"/>
                <a:ea typeface="Calibri" pitchFamily="34" charset="-122"/>
                <a:cs typeface="Calibri" pitchFamily="34" charset="-120"/>
              </a:rPr>
              <a:t>REAL-WORLD EXAMPLES</a:t>
            </a:r>
            <a:endParaRPr lang="en-US" sz="1100" dirty="0"/>
          </a:p>
        </p:txBody>
      </p:sp>
      <p:sp>
        <p:nvSpPr>
          <p:cNvPr id="13" name="Shape 11"/>
          <p:cNvSpPr/>
          <p:nvPr/>
        </p:nvSpPr>
        <p:spPr>
          <a:xfrm>
            <a:off x="548640" y="4709160"/>
            <a:ext cx="3566160" cy="777240"/>
          </a:xfrm>
          <a:prstGeom prst="roundRect">
            <a:avLst>
              <a:gd name="adj" fmla="val 9412"/>
            </a:avLst>
          </a:prstGeom>
          <a:solidFill>
            <a:srgbClr val="161E2D"/>
          </a:solidFill>
          <a:ln/>
        </p:spPr>
      </p:sp>
      <p:sp>
        <p:nvSpPr>
          <p:cNvPr id="14" name="Text 12"/>
          <p:cNvSpPr/>
          <p:nvPr/>
        </p:nvSpPr>
        <p:spPr>
          <a:xfrm>
            <a:off x="685800" y="4800600"/>
            <a:ext cx="3291840" cy="3200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Windows Firewall</a:t>
            </a:r>
            <a:endParaRPr lang="en-US" sz="1250" dirty="0"/>
          </a:p>
        </p:txBody>
      </p:sp>
      <p:sp>
        <p:nvSpPr>
          <p:cNvPr id="15" name="Text 13"/>
          <p:cNvSpPr/>
          <p:nvPr/>
        </p:nvSpPr>
        <p:spPr>
          <a:xfrm>
            <a:off x="685800" y="5102352"/>
            <a:ext cx="3291840" cy="320040"/>
          </a:xfrm>
          <a:prstGeom prst="rect">
            <a:avLst/>
          </a:prstGeom>
          <a:noFill/>
          <a:ln/>
        </p:spPr>
        <p:txBody>
          <a:bodyPr wrap="square" rtlCol="0" anchor="ctr"/>
          <a:lstStyle/>
          <a:p>
            <a:pPr indent="0" marL="0">
              <a:buNone/>
            </a:pPr>
            <a:r>
              <a:rPr lang="en-US" sz="1050" dirty="0">
                <a:solidFill>
                  <a:srgbClr val="AEB9C2"/>
                </a:solidFill>
                <a:latin typeface="Calibri" pitchFamily="34" charset="0"/>
                <a:ea typeface="Calibri" pitchFamily="34" charset="-122"/>
                <a:cs typeface="Calibri" pitchFamily="34" charset="-120"/>
              </a:rPr>
              <a:t>Stateful, host-based</a:t>
            </a:r>
            <a:endParaRPr lang="en-US" sz="1050" dirty="0"/>
          </a:p>
        </p:txBody>
      </p:sp>
      <p:sp>
        <p:nvSpPr>
          <p:cNvPr id="16" name="Shape 14"/>
          <p:cNvSpPr/>
          <p:nvPr/>
        </p:nvSpPr>
        <p:spPr>
          <a:xfrm>
            <a:off x="4297680" y="4709160"/>
            <a:ext cx="3566160" cy="777240"/>
          </a:xfrm>
          <a:prstGeom prst="roundRect">
            <a:avLst>
              <a:gd name="adj" fmla="val 9412"/>
            </a:avLst>
          </a:prstGeom>
          <a:solidFill>
            <a:srgbClr val="161E2D"/>
          </a:solidFill>
          <a:ln/>
        </p:spPr>
      </p:sp>
      <p:sp>
        <p:nvSpPr>
          <p:cNvPr id="17" name="Text 15"/>
          <p:cNvSpPr/>
          <p:nvPr/>
        </p:nvSpPr>
        <p:spPr>
          <a:xfrm>
            <a:off x="4434840" y="4800600"/>
            <a:ext cx="3291840" cy="3200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AWS Security Groups</a:t>
            </a:r>
            <a:endParaRPr lang="en-US" sz="1250" dirty="0"/>
          </a:p>
        </p:txBody>
      </p:sp>
      <p:sp>
        <p:nvSpPr>
          <p:cNvPr id="18" name="Text 16"/>
          <p:cNvSpPr/>
          <p:nvPr/>
        </p:nvSpPr>
        <p:spPr>
          <a:xfrm>
            <a:off x="4434840" y="5102352"/>
            <a:ext cx="3291840" cy="320040"/>
          </a:xfrm>
          <a:prstGeom prst="rect">
            <a:avLst/>
          </a:prstGeom>
          <a:noFill/>
          <a:ln/>
        </p:spPr>
        <p:txBody>
          <a:bodyPr wrap="square" rtlCol="0" anchor="ctr"/>
          <a:lstStyle/>
          <a:p>
            <a:pPr indent="0" marL="0">
              <a:buNone/>
            </a:pPr>
            <a:r>
              <a:rPr lang="en-US" sz="1050" dirty="0">
                <a:solidFill>
                  <a:srgbClr val="AEB9C2"/>
                </a:solidFill>
                <a:latin typeface="Calibri" pitchFamily="34" charset="0"/>
                <a:ea typeface="Calibri" pitchFamily="34" charset="-122"/>
                <a:cs typeface="Calibri" pitchFamily="34" charset="-120"/>
              </a:rPr>
              <a:t>Stateful, attached to EC2 instances</a:t>
            </a:r>
            <a:endParaRPr lang="en-US" sz="1050" dirty="0"/>
          </a:p>
        </p:txBody>
      </p:sp>
      <p:sp>
        <p:nvSpPr>
          <p:cNvPr id="19" name="Shape 17"/>
          <p:cNvSpPr/>
          <p:nvPr/>
        </p:nvSpPr>
        <p:spPr>
          <a:xfrm>
            <a:off x="8046720" y="4709160"/>
            <a:ext cx="3566160" cy="777240"/>
          </a:xfrm>
          <a:prstGeom prst="roundRect">
            <a:avLst>
              <a:gd name="adj" fmla="val 9412"/>
            </a:avLst>
          </a:prstGeom>
          <a:solidFill>
            <a:srgbClr val="161E2D"/>
          </a:solidFill>
          <a:ln/>
        </p:spPr>
      </p:sp>
      <p:sp>
        <p:nvSpPr>
          <p:cNvPr id="20" name="Text 18"/>
          <p:cNvSpPr/>
          <p:nvPr/>
        </p:nvSpPr>
        <p:spPr>
          <a:xfrm>
            <a:off x="8183880" y="4800600"/>
            <a:ext cx="3291840" cy="320040"/>
          </a:xfrm>
          <a:prstGeom prst="rect">
            <a:avLst/>
          </a:prstGeom>
          <a:noFill/>
          <a:ln/>
        </p:spPr>
        <p:txBody>
          <a:bodyPr wrap="square" rtlCol="0" anchor="ctr"/>
          <a:lstStyle/>
          <a:p>
            <a:pPr indent="0" marL="0">
              <a:buNone/>
            </a:pPr>
            <a:r>
              <a:rPr lang="en-US" sz="1250" b="1" dirty="0">
                <a:solidFill>
                  <a:srgbClr val="FFFFFF"/>
                </a:solidFill>
                <a:latin typeface="Arial" pitchFamily="34" charset="0"/>
                <a:ea typeface="Arial" pitchFamily="34" charset="-122"/>
                <a:cs typeface="Arial" pitchFamily="34" charset="-120"/>
              </a:rPr>
              <a:t>AWS NACLs</a:t>
            </a:r>
            <a:endParaRPr lang="en-US" sz="1250" dirty="0"/>
          </a:p>
        </p:txBody>
      </p:sp>
      <p:sp>
        <p:nvSpPr>
          <p:cNvPr id="21" name="Text 19"/>
          <p:cNvSpPr/>
          <p:nvPr/>
        </p:nvSpPr>
        <p:spPr>
          <a:xfrm>
            <a:off x="8183880" y="5102352"/>
            <a:ext cx="3291840" cy="320040"/>
          </a:xfrm>
          <a:prstGeom prst="rect">
            <a:avLst/>
          </a:prstGeom>
          <a:noFill/>
          <a:ln/>
        </p:spPr>
        <p:txBody>
          <a:bodyPr wrap="square" rtlCol="0" anchor="ctr"/>
          <a:lstStyle/>
          <a:p>
            <a:pPr indent="0" marL="0">
              <a:buNone/>
            </a:pPr>
            <a:r>
              <a:rPr lang="en-US" sz="1050" dirty="0">
                <a:solidFill>
                  <a:srgbClr val="AEB9C2"/>
                </a:solidFill>
                <a:latin typeface="Calibri" pitchFamily="34" charset="0"/>
                <a:ea typeface="Calibri" pitchFamily="34" charset="-122"/>
                <a:cs typeface="Calibri" pitchFamily="34" charset="-120"/>
              </a:rPr>
              <a:t>Stateless, attached to subnets</a:t>
            </a:r>
            <a:endParaRPr lang="en-US" sz="1050" dirty="0"/>
          </a:p>
        </p:txBody>
      </p:sp>
      <p:sp>
        <p:nvSpPr>
          <p:cNvPr id="22" name="Text 20"/>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23" name="Text 21"/>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SECURITY</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VPN — Encrypted Tunnels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See how a VPN protects traffic as it crosses an untrusted network.</a:t>
            </a:r>
            <a:endParaRPr lang="en-US" sz="1250" dirty="0"/>
          </a:p>
        </p:txBody>
      </p:sp>
      <p:sp>
        <p:nvSpPr>
          <p:cNvPr id="6" name="Shape 4"/>
          <p:cNvSpPr/>
          <p:nvPr/>
        </p:nvSpPr>
        <p:spPr>
          <a:xfrm>
            <a:off x="822960" y="1965960"/>
            <a:ext cx="10515600" cy="2011680"/>
          </a:xfrm>
          <a:prstGeom prst="roundRect">
            <a:avLst>
              <a:gd name="adj" fmla="val 22727"/>
            </a:avLst>
          </a:prstGeom>
          <a:solidFill>
            <a:srgbClr val="232F3E"/>
          </a:solidFill>
          <a:ln/>
        </p:spPr>
      </p:sp>
      <p:sp>
        <p:nvSpPr>
          <p:cNvPr id="7" name="Shape 5"/>
          <p:cNvSpPr/>
          <p:nvPr/>
        </p:nvSpPr>
        <p:spPr>
          <a:xfrm>
            <a:off x="1051560" y="2194560"/>
            <a:ext cx="10058400" cy="1554480"/>
          </a:xfrm>
          <a:prstGeom prst="roundRect">
            <a:avLst>
              <a:gd name="adj" fmla="val 23529"/>
            </a:avLst>
          </a:prstGeom>
          <a:solidFill>
            <a:srgbClr val="161E2D"/>
          </a:solidFill>
          <a:ln w="19050">
            <a:solidFill>
              <a:srgbClr val="FF9900"/>
            </a:solidFill>
            <a:prstDash val="dash"/>
          </a:ln>
        </p:spPr>
      </p:sp>
      <p:sp>
        <p:nvSpPr>
          <p:cNvPr id="8" name="Shape 6"/>
          <p:cNvSpPr/>
          <p:nvPr/>
        </p:nvSpPr>
        <p:spPr>
          <a:xfrm>
            <a:off x="1691640" y="2468880"/>
            <a:ext cx="1005840" cy="1005840"/>
          </a:xfrm>
          <a:prstGeom prst="ellipse">
            <a:avLst/>
          </a:prstGeom>
          <a:solidFill>
            <a:srgbClr val="2E3B4E"/>
          </a:solidFill>
          <a:ln/>
        </p:spPr>
      </p:sp>
      <p:pic>
        <p:nvPicPr>
          <p:cNvPr id="9" name="Image 0" descr="/home/claude/ppt3/icon_laptop_w.png">    </p:cNvPr>
          <p:cNvPicPr>
            <a:picLocks noChangeAspect="1"/>
          </p:cNvPicPr>
          <p:nvPr/>
        </p:nvPicPr>
        <p:blipFill>
          <a:blip r:embed="rId1"/>
          <a:stretch>
            <a:fillRect/>
          </a:stretch>
        </p:blipFill>
        <p:spPr>
          <a:xfrm>
            <a:off x="1933042" y="2710282"/>
            <a:ext cx="523037" cy="523037"/>
          </a:xfrm>
          <a:prstGeom prst="rect">
            <a:avLst/>
          </a:prstGeom>
        </p:spPr>
      </p:pic>
      <p:sp>
        <p:nvSpPr>
          <p:cNvPr id="10" name="Text 7"/>
          <p:cNvSpPr/>
          <p:nvPr/>
        </p:nvSpPr>
        <p:spPr>
          <a:xfrm>
            <a:off x="1554480" y="3611880"/>
            <a:ext cx="1371600" cy="274320"/>
          </a:xfrm>
          <a:prstGeom prst="rect">
            <a:avLst/>
          </a:prstGeom>
          <a:noFill/>
          <a:ln/>
        </p:spPr>
        <p:txBody>
          <a:bodyPr wrap="square" rtlCol="0" anchor="ctr"/>
          <a:lstStyle/>
          <a:p>
            <a:pPr algn="ctr" indent="0" marL="0">
              <a:buNone/>
            </a:pPr>
            <a:r>
              <a:rPr lang="en-US" sz="1000" dirty="0">
                <a:solidFill>
                  <a:srgbClr val="C7D1D9"/>
                </a:solidFill>
                <a:latin typeface="Calibri" pitchFamily="34" charset="0"/>
                <a:ea typeface="Calibri" pitchFamily="34" charset="-122"/>
                <a:cs typeface="Calibri" pitchFamily="34" charset="-120"/>
              </a:rPr>
              <a:t>Your Device</a:t>
            </a:r>
            <a:endParaRPr lang="en-US" sz="1000" dirty="0"/>
          </a:p>
        </p:txBody>
      </p:sp>
      <p:sp>
        <p:nvSpPr>
          <p:cNvPr id="11" name="Shape 8"/>
          <p:cNvSpPr/>
          <p:nvPr/>
        </p:nvSpPr>
        <p:spPr>
          <a:xfrm>
            <a:off x="5623560" y="2514600"/>
            <a:ext cx="914400" cy="914400"/>
          </a:xfrm>
          <a:prstGeom prst="ellipse">
            <a:avLst/>
          </a:prstGeom>
          <a:solidFill>
            <a:srgbClr val="3A2E1A"/>
          </a:solidFill>
          <a:ln/>
        </p:spPr>
      </p:sp>
      <p:pic>
        <p:nvPicPr>
          <p:cNvPr id="12" name="Image 1" descr="/home/claude/ppt3/icon_lock_o.png">    </p:cNvPr>
          <p:cNvPicPr>
            <a:picLocks noChangeAspect="1"/>
          </p:cNvPicPr>
          <p:nvPr/>
        </p:nvPicPr>
        <p:blipFill>
          <a:blip r:embed="rId2"/>
          <a:stretch>
            <a:fillRect/>
          </a:stretch>
        </p:blipFill>
        <p:spPr>
          <a:xfrm>
            <a:off x="5843016" y="2734056"/>
            <a:ext cx="475488" cy="475488"/>
          </a:xfrm>
          <a:prstGeom prst="rect">
            <a:avLst/>
          </a:prstGeom>
        </p:spPr>
      </p:pic>
      <p:sp>
        <p:nvSpPr>
          <p:cNvPr id="13" name="Text 9"/>
          <p:cNvSpPr/>
          <p:nvPr/>
        </p:nvSpPr>
        <p:spPr>
          <a:xfrm>
            <a:off x="5166360" y="3611880"/>
            <a:ext cx="1828800" cy="274320"/>
          </a:xfrm>
          <a:prstGeom prst="rect">
            <a:avLst/>
          </a:prstGeom>
          <a:noFill/>
          <a:ln/>
        </p:spPr>
        <p:txBody>
          <a:bodyPr wrap="square" rtlCol="0" anchor="ctr"/>
          <a:lstStyle/>
          <a:p>
            <a:pPr algn="ctr" indent="0" marL="0">
              <a:buNone/>
            </a:pPr>
            <a:r>
              <a:rPr lang="en-US" sz="1000" dirty="0">
                <a:solidFill>
                  <a:srgbClr val="FF9900"/>
                </a:solidFill>
                <a:latin typeface="Calibri" pitchFamily="34" charset="0"/>
                <a:ea typeface="Calibri" pitchFamily="34" charset="-122"/>
                <a:cs typeface="Calibri" pitchFamily="34" charset="-120"/>
              </a:rPr>
              <a:t>Encrypted Tunnel</a:t>
            </a:r>
            <a:endParaRPr lang="en-US" sz="1000" dirty="0"/>
          </a:p>
        </p:txBody>
      </p:sp>
      <p:sp>
        <p:nvSpPr>
          <p:cNvPr id="14" name="Shape 10"/>
          <p:cNvSpPr/>
          <p:nvPr/>
        </p:nvSpPr>
        <p:spPr>
          <a:xfrm>
            <a:off x="9464040" y="2468880"/>
            <a:ext cx="1005840" cy="1005840"/>
          </a:xfrm>
          <a:prstGeom prst="ellipse">
            <a:avLst/>
          </a:prstGeom>
          <a:solidFill>
            <a:srgbClr val="2E3B4E"/>
          </a:solidFill>
          <a:ln/>
        </p:spPr>
      </p:sp>
      <p:pic>
        <p:nvPicPr>
          <p:cNvPr id="15" name="Image 2" descr="/home/claude/ppt3/icon_server_w.png">    </p:cNvPr>
          <p:cNvPicPr>
            <a:picLocks noChangeAspect="1"/>
          </p:cNvPicPr>
          <p:nvPr/>
        </p:nvPicPr>
        <p:blipFill>
          <a:blip r:embed="rId3"/>
          <a:stretch>
            <a:fillRect/>
          </a:stretch>
        </p:blipFill>
        <p:spPr>
          <a:xfrm>
            <a:off x="9705442" y="2710282"/>
            <a:ext cx="523037" cy="523037"/>
          </a:xfrm>
          <a:prstGeom prst="rect">
            <a:avLst/>
          </a:prstGeom>
        </p:spPr>
      </p:pic>
      <p:sp>
        <p:nvSpPr>
          <p:cNvPr id="16" name="Text 11"/>
          <p:cNvSpPr/>
          <p:nvPr/>
        </p:nvSpPr>
        <p:spPr>
          <a:xfrm>
            <a:off x="9281160" y="3611880"/>
            <a:ext cx="1463040" cy="274320"/>
          </a:xfrm>
          <a:prstGeom prst="rect">
            <a:avLst/>
          </a:prstGeom>
          <a:noFill/>
          <a:ln/>
        </p:spPr>
        <p:txBody>
          <a:bodyPr wrap="square" rtlCol="0" anchor="ctr"/>
          <a:lstStyle/>
          <a:p>
            <a:pPr algn="ctr" indent="0" marL="0">
              <a:buNone/>
            </a:pPr>
            <a:r>
              <a:rPr lang="en-US" sz="1000" dirty="0">
                <a:solidFill>
                  <a:srgbClr val="C7D1D9"/>
                </a:solidFill>
                <a:latin typeface="Calibri" pitchFamily="34" charset="0"/>
                <a:ea typeface="Calibri" pitchFamily="34" charset="-122"/>
                <a:cs typeface="Calibri" pitchFamily="34" charset="-120"/>
              </a:rPr>
              <a:t>Private Network</a:t>
            </a:r>
            <a:endParaRPr lang="en-US" sz="1000" dirty="0"/>
          </a:p>
        </p:txBody>
      </p:sp>
      <p:sp>
        <p:nvSpPr>
          <p:cNvPr id="17" name="Shape 12"/>
          <p:cNvSpPr/>
          <p:nvPr/>
        </p:nvSpPr>
        <p:spPr>
          <a:xfrm>
            <a:off x="548640" y="4343400"/>
            <a:ext cx="11091672" cy="566928"/>
          </a:xfrm>
          <a:prstGeom prst="roundRect">
            <a:avLst>
              <a:gd name="adj" fmla="val 12903"/>
            </a:avLst>
          </a:prstGeom>
          <a:solidFill>
            <a:srgbClr val="FFFFFF"/>
          </a:solidFill>
          <a:ln w="15875">
            <a:solidFill>
              <a:srgbClr val="FF9900"/>
            </a:solidFill>
            <a:prstDash val="solid"/>
          </a:ln>
        </p:spPr>
      </p:sp>
      <p:sp>
        <p:nvSpPr>
          <p:cNvPr id="18" name="Text 13"/>
          <p:cNvSpPr/>
          <p:nvPr/>
        </p:nvSpPr>
        <p:spPr>
          <a:xfrm>
            <a:off x="777240" y="4343400"/>
            <a:ext cx="10634472" cy="566928"/>
          </a:xfrm>
          <a:prstGeom prst="rect">
            <a:avLst/>
          </a:prstGeom>
          <a:noFill/>
          <a:ln/>
        </p:spPr>
        <p:txBody>
          <a:bodyPr wrap="square" rtlCol="0" anchor="ctr"/>
          <a:lstStyle/>
          <a:p>
            <a:pPr indent="0" marL="0">
              <a:buNone/>
            </a:pPr>
            <a:r>
              <a:rPr lang="en-US" sz="1100" b="1" i="1" dirty="0">
                <a:solidFill>
                  <a:srgbClr val="B36B00"/>
                </a:solidFill>
                <a:latin typeface="Calibri" pitchFamily="34" charset="0"/>
                <a:ea typeface="Calibri" pitchFamily="34" charset="-122"/>
                <a:cs typeface="Calibri" pitchFamily="34" charset="-120"/>
              </a:rPr>
              <a:t>REAL-WORLD ANALOGY:  </a:t>
            </a:r>
            <a:pPr indent="0" marL="0">
              <a:buNone/>
            </a:pPr>
            <a:r>
              <a:rPr lang="en-US" sz="1100" i="1" dirty="0">
                <a:solidFill>
                  <a:srgbClr val="16191F"/>
                </a:solidFill>
                <a:latin typeface="Calibri" pitchFamily="34" charset="0"/>
                <a:ea typeface="Calibri" pitchFamily="34" charset="-122"/>
                <a:cs typeface="Calibri" pitchFamily="34" charset="-120"/>
              </a:rPr>
              <a:t>Like an armored, opaque tunnel through a public highway — outside observers see traffic moving, but can't see or touch what's inside.</a:t>
            </a:r>
            <a:endParaRPr lang="en-US" sz="1100" dirty="0"/>
          </a:p>
        </p:txBody>
      </p:sp>
      <p:sp>
        <p:nvSpPr>
          <p:cNvPr id="19" name="Shape 14"/>
          <p:cNvSpPr/>
          <p:nvPr/>
        </p:nvSpPr>
        <p:spPr>
          <a:xfrm>
            <a:off x="548640" y="5029200"/>
            <a:ext cx="11091672" cy="566928"/>
          </a:xfrm>
          <a:prstGeom prst="roundRect">
            <a:avLst>
              <a:gd name="adj" fmla="val 12903"/>
            </a:avLst>
          </a:prstGeom>
          <a:solidFill>
            <a:srgbClr val="232F3E"/>
          </a:solidFill>
          <a:ln/>
        </p:spPr>
      </p:sp>
      <p:sp>
        <p:nvSpPr>
          <p:cNvPr id="20" name="Shape 15"/>
          <p:cNvSpPr/>
          <p:nvPr/>
        </p:nvSpPr>
        <p:spPr>
          <a:xfrm>
            <a:off x="704088" y="5084064"/>
            <a:ext cx="457200" cy="457200"/>
          </a:xfrm>
          <a:prstGeom prst="ellipse">
            <a:avLst/>
          </a:prstGeom>
          <a:solidFill>
            <a:srgbClr val="33455B"/>
          </a:solidFill>
          <a:ln/>
        </p:spPr>
      </p:sp>
      <p:pic>
        <p:nvPicPr>
          <p:cNvPr id="21" name="Image 3" descr="/home/claude/ppt3/icon_lightbulb_o.png">    </p:cNvPr>
          <p:cNvPicPr>
            <a:picLocks noChangeAspect="1"/>
          </p:cNvPicPr>
          <p:nvPr/>
        </p:nvPicPr>
        <p:blipFill>
          <a:blip r:embed="rId4"/>
          <a:stretch>
            <a:fillRect/>
          </a:stretch>
        </p:blipFill>
        <p:spPr>
          <a:xfrm>
            <a:off x="813816" y="5193792"/>
            <a:ext cx="237744" cy="237744"/>
          </a:xfrm>
          <a:prstGeom prst="rect">
            <a:avLst/>
          </a:prstGeom>
        </p:spPr>
      </p:pic>
      <p:sp>
        <p:nvSpPr>
          <p:cNvPr id="22" name="Text 16"/>
          <p:cNvSpPr/>
          <p:nvPr/>
        </p:nvSpPr>
        <p:spPr>
          <a:xfrm>
            <a:off x="1234440" y="502920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AWS Site-to-Site VPN connects an on-premises network securely to a VPC over the public Internet.</a:t>
            </a:r>
            <a:endParaRPr lang="en-US" sz="1100" dirty="0"/>
          </a:p>
        </p:txBody>
      </p:sp>
      <p:sp>
        <p:nvSpPr>
          <p:cNvPr id="23" name="Text 17"/>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4" name="Text 18"/>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TROUBLESHOOTING</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Essential Troubleshooting Commands</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Know which command to reach for when something isn't working.</a:t>
            </a:r>
            <a:endParaRPr lang="en-US" sz="1250" dirty="0"/>
          </a:p>
        </p:txBody>
      </p:sp>
      <p:sp>
        <p:nvSpPr>
          <p:cNvPr id="6" name="Shape 4"/>
          <p:cNvSpPr/>
          <p:nvPr/>
        </p:nvSpPr>
        <p:spPr>
          <a:xfrm>
            <a:off x="548640" y="1783080"/>
            <a:ext cx="3520440" cy="777240"/>
          </a:xfrm>
          <a:prstGeom prst="roundRect">
            <a:avLst>
              <a:gd name="adj" fmla="val 8235"/>
            </a:avLst>
          </a:prstGeom>
          <a:solidFill>
            <a:srgbClr val="FFFFFF"/>
          </a:solidFill>
          <a:ln w="12700">
            <a:solidFill>
              <a:srgbClr val="D9DCE1"/>
            </a:solidFill>
            <a:prstDash val="solid"/>
          </a:ln>
        </p:spPr>
      </p:sp>
      <p:sp>
        <p:nvSpPr>
          <p:cNvPr id="7" name="Text 5"/>
          <p:cNvSpPr/>
          <p:nvPr/>
        </p:nvSpPr>
        <p:spPr>
          <a:xfrm>
            <a:off x="685800" y="18562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ping</a:t>
            </a:r>
            <a:endParaRPr lang="en-US" sz="1250" dirty="0"/>
          </a:p>
        </p:txBody>
      </p:sp>
      <p:sp>
        <p:nvSpPr>
          <p:cNvPr id="8" name="Text 6"/>
          <p:cNvSpPr/>
          <p:nvPr/>
        </p:nvSpPr>
        <p:spPr>
          <a:xfrm>
            <a:off x="685800" y="21671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Tests basic connectivity to a host</a:t>
            </a:r>
            <a:endParaRPr lang="en-US" sz="1000" dirty="0"/>
          </a:p>
        </p:txBody>
      </p:sp>
      <p:sp>
        <p:nvSpPr>
          <p:cNvPr id="9" name="Shape 7"/>
          <p:cNvSpPr/>
          <p:nvPr/>
        </p:nvSpPr>
        <p:spPr>
          <a:xfrm>
            <a:off x="4270248" y="1783080"/>
            <a:ext cx="3520440" cy="777240"/>
          </a:xfrm>
          <a:prstGeom prst="roundRect">
            <a:avLst>
              <a:gd name="adj" fmla="val 8235"/>
            </a:avLst>
          </a:prstGeom>
          <a:solidFill>
            <a:srgbClr val="FFFFFF"/>
          </a:solidFill>
          <a:ln w="12700">
            <a:solidFill>
              <a:srgbClr val="D9DCE1"/>
            </a:solidFill>
            <a:prstDash val="solid"/>
          </a:ln>
        </p:spPr>
      </p:sp>
      <p:sp>
        <p:nvSpPr>
          <p:cNvPr id="10" name="Text 8"/>
          <p:cNvSpPr/>
          <p:nvPr/>
        </p:nvSpPr>
        <p:spPr>
          <a:xfrm>
            <a:off x="4407408" y="18562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traceroute / tracert</a:t>
            </a:r>
            <a:endParaRPr lang="en-US" sz="1250" dirty="0"/>
          </a:p>
        </p:txBody>
      </p:sp>
      <p:sp>
        <p:nvSpPr>
          <p:cNvPr id="11" name="Text 9"/>
          <p:cNvSpPr/>
          <p:nvPr/>
        </p:nvSpPr>
        <p:spPr>
          <a:xfrm>
            <a:off x="4407408" y="21671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Shows the path packets take, hop by hop</a:t>
            </a:r>
            <a:endParaRPr lang="en-US" sz="1000" dirty="0"/>
          </a:p>
        </p:txBody>
      </p:sp>
      <p:sp>
        <p:nvSpPr>
          <p:cNvPr id="12" name="Shape 10"/>
          <p:cNvSpPr/>
          <p:nvPr/>
        </p:nvSpPr>
        <p:spPr>
          <a:xfrm>
            <a:off x="7991856" y="1783080"/>
            <a:ext cx="3520440" cy="777240"/>
          </a:xfrm>
          <a:prstGeom prst="roundRect">
            <a:avLst>
              <a:gd name="adj" fmla="val 8235"/>
            </a:avLst>
          </a:prstGeom>
          <a:solidFill>
            <a:srgbClr val="FFFFFF"/>
          </a:solidFill>
          <a:ln w="12700">
            <a:solidFill>
              <a:srgbClr val="D9DCE1"/>
            </a:solidFill>
            <a:prstDash val="solid"/>
          </a:ln>
        </p:spPr>
      </p:sp>
      <p:sp>
        <p:nvSpPr>
          <p:cNvPr id="13" name="Text 11"/>
          <p:cNvSpPr/>
          <p:nvPr/>
        </p:nvSpPr>
        <p:spPr>
          <a:xfrm>
            <a:off x="8129016" y="18562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ipconfig / ifconfig / ip addr</a:t>
            </a:r>
            <a:endParaRPr lang="en-US" sz="1250" dirty="0"/>
          </a:p>
        </p:txBody>
      </p:sp>
      <p:sp>
        <p:nvSpPr>
          <p:cNvPr id="14" name="Text 12"/>
          <p:cNvSpPr/>
          <p:nvPr/>
        </p:nvSpPr>
        <p:spPr>
          <a:xfrm>
            <a:off x="8129016" y="21671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Shows your device's own IP configuration</a:t>
            </a:r>
            <a:endParaRPr lang="en-US" sz="1000" dirty="0"/>
          </a:p>
        </p:txBody>
      </p:sp>
      <p:sp>
        <p:nvSpPr>
          <p:cNvPr id="15" name="Shape 13"/>
          <p:cNvSpPr/>
          <p:nvPr/>
        </p:nvSpPr>
        <p:spPr>
          <a:xfrm>
            <a:off x="548640" y="2697480"/>
            <a:ext cx="3520440" cy="777240"/>
          </a:xfrm>
          <a:prstGeom prst="roundRect">
            <a:avLst>
              <a:gd name="adj" fmla="val 8235"/>
            </a:avLst>
          </a:prstGeom>
          <a:solidFill>
            <a:srgbClr val="FFFFFF"/>
          </a:solidFill>
          <a:ln w="12700">
            <a:solidFill>
              <a:srgbClr val="D9DCE1"/>
            </a:solidFill>
            <a:prstDash val="solid"/>
          </a:ln>
        </p:spPr>
      </p:sp>
      <p:sp>
        <p:nvSpPr>
          <p:cNvPr id="16" name="Text 14"/>
          <p:cNvSpPr/>
          <p:nvPr/>
        </p:nvSpPr>
        <p:spPr>
          <a:xfrm>
            <a:off x="685800" y="27706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netstat / ss</a:t>
            </a:r>
            <a:endParaRPr lang="en-US" sz="1250" dirty="0"/>
          </a:p>
        </p:txBody>
      </p:sp>
      <p:sp>
        <p:nvSpPr>
          <p:cNvPr id="17" name="Text 15"/>
          <p:cNvSpPr/>
          <p:nvPr/>
        </p:nvSpPr>
        <p:spPr>
          <a:xfrm>
            <a:off x="685800" y="30815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Lists active connections &amp; listening ports</a:t>
            </a:r>
            <a:endParaRPr lang="en-US" sz="1000" dirty="0"/>
          </a:p>
        </p:txBody>
      </p:sp>
      <p:sp>
        <p:nvSpPr>
          <p:cNvPr id="18" name="Shape 16"/>
          <p:cNvSpPr/>
          <p:nvPr/>
        </p:nvSpPr>
        <p:spPr>
          <a:xfrm>
            <a:off x="4270248" y="2697480"/>
            <a:ext cx="3520440" cy="777240"/>
          </a:xfrm>
          <a:prstGeom prst="roundRect">
            <a:avLst>
              <a:gd name="adj" fmla="val 8235"/>
            </a:avLst>
          </a:prstGeom>
          <a:solidFill>
            <a:srgbClr val="FFFFFF"/>
          </a:solidFill>
          <a:ln w="12700">
            <a:solidFill>
              <a:srgbClr val="D9DCE1"/>
            </a:solidFill>
            <a:prstDash val="solid"/>
          </a:ln>
        </p:spPr>
      </p:sp>
      <p:sp>
        <p:nvSpPr>
          <p:cNvPr id="19" name="Text 17"/>
          <p:cNvSpPr/>
          <p:nvPr/>
        </p:nvSpPr>
        <p:spPr>
          <a:xfrm>
            <a:off x="4407408" y="27706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arp</a:t>
            </a:r>
            <a:endParaRPr lang="en-US" sz="1250" dirty="0"/>
          </a:p>
        </p:txBody>
      </p:sp>
      <p:sp>
        <p:nvSpPr>
          <p:cNvPr id="20" name="Text 18"/>
          <p:cNvSpPr/>
          <p:nvPr/>
        </p:nvSpPr>
        <p:spPr>
          <a:xfrm>
            <a:off x="4407408" y="30815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Shows local IP-to-MAC address mappings</a:t>
            </a:r>
            <a:endParaRPr lang="en-US" sz="1000" dirty="0"/>
          </a:p>
        </p:txBody>
      </p:sp>
      <p:sp>
        <p:nvSpPr>
          <p:cNvPr id="21" name="Shape 19"/>
          <p:cNvSpPr/>
          <p:nvPr/>
        </p:nvSpPr>
        <p:spPr>
          <a:xfrm>
            <a:off x="7991856" y="2697480"/>
            <a:ext cx="3520440" cy="777240"/>
          </a:xfrm>
          <a:prstGeom prst="roundRect">
            <a:avLst>
              <a:gd name="adj" fmla="val 8235"/>
            </a:avLst>
          </a:prstGeom>
          <a:solidFill>
            <a:srgbClr val="FFFFFF"/>
          </a:solidFill>
          <a:ln w="12700">
            <a:solidFill>
              <a:srgbClr val="D9DCE1"/>
            </a:solidFill>
            <a:prstDash val="solid"/>
          </a:ln>
        </p:spPr>
      </p:sp>
      <p:sp>
        <p:nvSpPr>
          <p:cNvPr id="22" name="Text 20"/>
          <p:cNvSpPr/>
          <p:nvPr/>
        </p:nvSpPr>
        <p:spPr>
          <a:xfrm>
            <a:off x="8129016" y="27706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route</a:t>
            </a:r>
            <a:endParaRPr lang="en-US" sz="1250" dirty="0"/>
          </a:p>
        </p:txBody>
      </p:sp>
      <p:sp>
        <p:nvSpPr>
          <p:cNvPr id="23" name="Text 21"/>
          <p:cNvSpPr/>
          <p:nvPr/>
        </p:nvSpPr>
        <p:spPr>
          <a:xfrm>
            <a:off x="8129016" y="30815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Displays the local routing table</a:t>
            </a:r>
            <a:endParaRPr lang="en-US" sz="1000" dirty="0"/>
          </a:p>
        </p:txBody>
      </p:sp>
      <p:sp>
        <p:nvSpPr>
          <p:cNvPr id="24" name="Shape 22"/>
          <p:cNvSpPr/>
          <p:nvPr/>
        </p:nvSpPr>
        <p:spPr>
          <a:xfrm>
            <a:off x="548640" y="3611880"/>
            <a:ext cx="3520440" cy="777240"/>
          </a:xfrm>
          <a:prstGeom prst="roundRect">
            <a:avLst>
              <a:gd name="adj" fmla="val 8235"/>
            </a:avLst>
          </a:prstGeom>
          <a:solidFill>
            <a:srgbClr val="FFFFFF"/>
          </a:solidFill>
          <a:ln w="12700">
            <a:solidFill>
              <a:srgbClr val="D9DCE1"/>
            </a:solidFill>
            <a:prstDash val="solid"/>
          </a:ln>
        </p:spPr>
      </p:sp>
      <p:sp>
        <p:nvSpPr>
          <p:cNvPr id="25" name="Text 23"/>
          <p:cNvSpPr/>
          <p:nvPr/>
        </p:nvSpPr>
        <p:spPr>
          <a:xfrm>
            <a:off x="685800" y="36850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nslookup / dig</a:t>
            </a:r>
            <a:endParaRPr lang="en-US" sz="1250" dirty="0"/>
          </a:p>
        </p:txBody>
      </p:sp>
      <p:sp>
        <p:nvSpPr>
          <p:cNvPr id="26" name="Text 24"/>
          <p:cNvSpPr/>
          <p:nvPr/>
        </p:nvSpPr>
        <p:spPr>
          <a:xfrm>
            <a:off x="685800" y="39959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Looks up DNS records for a domain</a:t>
            </a:r>
            <a:endParaRPr lang="en-US" sz="1000" dirty="0"/>
          </a:p>
        </p:txBody>
      </p:sp>
      <p:sp>
        <p:nvSpPr>
          <p:cNvPr id="27" name="Shape 25"/>
          <p:cNvSpPr/>
          <p:nvPr/>
        </p:nvSpPr>
        <p:spPr>
          <a:xfrm>
            <a:off x="4270248" y="3611880"/>
            <a:ext cx="3520440" cy="777240"/>
          </a:xfrm>
          <a:prstGeom prst="roundRect">
            <a:avLst>
              <a:gd name="adj" fmla="val 8235"/>
            </a:avLst>
          </a:prstGeom>
          <a:solidFill>
            <a:srgbClr val="FFFFFF"/>
          </a:solidFill>
          <a:ln w="12700">
            <a:solidFill>
              <a:srgbClr val="D9DCE1"/>
            </a:solidFill>
            <a:prstDash val="solid"/>
          </a:ln>
        </p:spPr>
      </p:sp>
      <p:sp>
        <p:nvSpPr>
          <p:cNvPr id="28" name="Text 26"/>
          <p:cNvSpPr/>
          <p:nvPr/>
        </p:nvSpPr>
        <p:spPr>
          <a:xfrm>
            <a:off x="4407408" y="36850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curl</a:t>
            </a:r>
            <a:endParaRPr lang="en-US" sz="1250" dirty="0"/>
          </a:p>
        </p:txBody>
      </p:sp>
      <p:sp>
        <p:nvSpPr>
          <p:cNvPr id="29" name="Text 27"/>
          <p:cNvSpPr/>
          <p:nvPr/>
        </p:nvSpPr>
        <p:spPr>
          <a:xfrm>
            <a:off x="4407408" y="39959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Makes a direct request to a URL</a:t>
            </a:r>
            <a:endParaRPr lang="en-US" sz="1000" dirty="0"/>
          </a:p>
        </p:txBody>
      </p:sp>
      <p:sp>
        <p:nvSpPr>
          <p:cNvPr id="30" name="Shape 28"/>
          <p:cNvSpPr/>
          <p:nvPr/>
        </p:nvSpPr>
        <p:spPr>
          <a:xfrm>
            <a:off x="7991856" y="3611880"/>
            <a:ext cx="3520440" cy="777240"/>
          </a:xfrm>
          <a:prstGeom prst="roundRect">
            <a:avLst>
              <a:gd name="adj" fmla="val 8235"/>
            </a:avLst>
          </a:prstGeom>
          <a:solidFill>
            <a:srgbClr val="FFFFFF"/>
          </a:solidFill>
          <a:ln w="12700">
            <a:solidFill>
              <a:srgbClr val="D9DCE1"/>
            </a:solidFill>
            <a:prstDash val="solid"/>
          </a:ln>
        </p:spPr>
      </p:sp>
      <p:sp>
        <p:nvSpPr>
          <p:cNvPr id="31" name="Text 29"/>
          <p:cNvSpPr/>
          <p:nvPr/>
        </p:nvSpPr>
        <p:spPr>
          <a:xfrm>
            <a:off x="8129016" y="3685032"/>
            <a:ext cx="3246120" cy="320040"/>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telnet / Test-NetConnection</a:t>
            </a:r>
            <a:endParaRPr lang="en-US" sz="1250" dirty="0"/>
          </a:p>
        </p:txBody>
      </p:sp>
      <p:sp>
        <p:nvSpPr>
          <p:cNvPr id="32" name="Text 30"/>
          <p:cNvSpPr/>
          <p:nvPr/>
        </p:nvSpPr>
        <p:spPr>
          <a:xfrm>
            <a:off x="8129016" y="3995928"/>
            <a:ext cx="3246120" cy="365760"/>
          </a:xfrm>
          <a:prstGeom prst="rect">
            <a:avLst/>
          </a:prstGeom>
          <a:noFill/>
          <a:ln/>
        </p:spPr>
        <p:txBody>
          <a:bodyPr wrap="square" rtlCol="0" anchor="t"/>
          <a:lstStyle/>
          <a:p>
            <a:pPr indent="0" marL="0">
              <a:buNone/>
            </a:pPr>
            <a:r>
              <a:rPr lang="en-US" sz="1000" dirty="0">
                <a:solidFill>
                  <a:srgbClr val="5A6B75"/>
                </a:solidFill>
                <a:latin typeface="Calibri" pitchFamily="34" charset="0"/>
                <a:ea typeface="Calibri" pitchFamily="34" charset="-122"/>
                <a:cs typeface="Calibri" pitchFamily="34" charset="-120"/>
              </a:rPr>
              <a:t>Tests if a specific port is reachable</a:t>
            </a:r>
            <a:endParaRPr lang="en-US" sz="1000" dirty="0"/>
          </a:p>
        </p:txBody>
      </p:sp>
      <p:sp>
        <p:nvSpPr>
          <p:cNvPr id="33" name="Text 3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4" name="Text 3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HANDS-ON LAB</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Practical Lab — Diagnose Your Network</a:t>
            </a:r>
            <a:endParaRPr lang="en-US" sz="2800" dirty="0"/>
          </a:p>
        </p:txBody>
      </p:sp>
      <p:sp>
        <p:nvSpPr>
          <p:cNvPr id="4" name="Shape 2"/>
          <p:cNvSpPr/>
          <p:nvPr/>
        </p:nvSpPr>
        <p:spPr>
          <a:xfrm>
            <a:off x="548640" y="1207008"/>
            <a:ext cx="11091672" cy="457200"/>
          </a:xfrm>
          <a:prstGeom prst="roundRect">
            <a:avLst>
              <a:gd name="adj" fmla="val 12000"/>
            </a:avLst>
          </a:prstGeom>
          <a:solidFill>
            <a:srgbClr val="2E3B4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FF9900"/>
                </a:solidFill>
                <a:latin typeface="Calibri" pitchFamily="34" charset="0"/>
                <a:ea typeface="Calibri" pitchFamily="34" charset="-122"/>
                <a:cs typeface="Calibri" pitchFamily="34" charset="-120"/>
              </a:rPr>
              <a:t>OBJECTIVE:  </a:t>
            </a:r>
            <a:pPr indent="0" marL="0">
              <a:buNone/>
            </a:pPr>
            <a:r>
              <a:rPr lang="en-US" sz="1250" dirty="0">
                <a:solidFill>
                  <a:srgbClr val="E9EDF1"/>
                </a:solidFill>
                <a:latin typeface="Calibri" pitchFamily="34" charset="0"/>
                <a:ea typeface="Calibri" pitchFamily="34" charset="-122"/>
                <a:cs typeface="Calibri" pitchFamily="34" charset="-120"/>
              </a:rPr>
              <a:t>Run real commands to inspect and test your own network connection.</a:t>
            </a:r>
            <a:endParaRPr lang="en-US" sz="1250" dirty="0"/>
          </a:p>
        </p:txBody>
      </p:sp>
      <p:sp>
        <p:nvSpPr>
          <p:cNvPr id="6" name="Shape 4"/>
          <p:cNvSpPr/>
          <p:nvPr/>
        </p:nvSpPr>
        <p:spPr>
          <a:xfrm>
            <a:off x="548640" y="1874520"/>
            <a:ext cx="5760720" cy="3383280"/>
          </a:xfrm>
          <a:prstGeom prst="roundRect">
            <a:avLst>
              <a:gd name="adj" fmla="val 2432"/>
            </a:avLst>
          </a:prstGeom>
          <a:solidFill>
            <a:srgbClr val="0F1620"/>
          </a:solidFill>
          <a:ln w="12700">
            <a:solidFill>
              <a:srgbClr val="000000"/>
            </a:solidFill>
            <a:prstDash val="solid"/>
          </a:ln>
          <a:effectLst>
            <a:outerShdw sx="100000" sy="100000" kx="0" ky="0" algn="bl" rotWithShape="0" blurRad="127000" dist="50800" dir="5400000">
              <a:srgbClr val="0A0E14">
                <a:alpha val="35000"/>
              </a:srgbClr>
            </a:outerShdw>
          </a:effectLst>
        </p:spPr>
      </p:sp>
      <p:sp>
        <p:nvSpPr>
          <p:cNvPr id="7" name="Shape 5"/>
          <p:cNvSpPr/>
          <p:nvPr/>
        </p:nvSpPr>
        <p:spPr>
          <a:xfrm>
            <a:off x="548640" y="1874520"/>
            <a:ext cx="5760720" cy="320040"/>
          </a:xfrm>
          <a:prstGeom prst="roundRect">
            <a:avLst>
              <a:gd name="adj" fmla="val 25714"/>
            </a:avLst>
          </a:prstGeom>
          <a:solidFill>
            <a:srgbClr val="1B2430"/>
          </a:solidFill>
          <a:ln/>
        </p:spPr>
      </p:sp>
      <p:sp>
        <p:nvSpPr>
          <p:cNvPr id="8" name="Shape 6"/>
          <p:cNvSpPr/>
          <p:nvPr/>
        </p:nvSpPr>
        <p:spPr>
          <a:xfrm>
            <a:off x="548640" y="2029968"/>
            <a:ext cx="5760720" cy="164592"/>
          </a:xfrm>
          <a:prstGeom prst="rect">
            <a:avLst/>
          </a:prstGeom>
          <a:solidFill>
            <a:srgbClr val="1B2430"/>
          </a:solidFill>
          <a:ln/>
        </p:spPr>
      </p:sp>
      <p:sp>
        <p:nvSpPr>
          <p:cNvPr id="9" name="Shape 7"/>
          <p:cNvSpPr/>
          <p:nvPr/>
        </p:nvSpPr>
        <p:spPr>
          <a:xfrm>
            <a:off x="713232" y="1979676"/>
            <a:ext cx="118872" cy="118872"/>
          </a:xfrm>
          <a:prstGeom prst="ellipse">
            <a:avLst/>
          </a:prstGeom>
          <a:solidFill>
            <a:srgbClr val="E5533D"/>
          </a:solidFill>
          <a:ln/>
        </p:spPr>
      </p:sp>
      <p:sp>
        <p:nvSpPr>
          <p:cNvPr id="10" name="Shape 8"/>
          <p:cNvSpPr/>
          <p:nvPr/>
        </p:nvSpPr>
        <p:spPr>
          <a:xfrm>
            <a:off x="932688" y="1979676"/>
            <a:ext cx="118872" cy="118872"/>
          </a:xfrm>
          <a:prstGeom prst="ellipse">
            <a:avLst/>
          </a:prstGeom>
          <a:solidFill>
            <a:srgbClr val="F2C511"/>
          </a:solidFill>
          <a:ln/>
        </p:spPr>
      </p:sp>
      <p:sp>
        <p:nvSpPr>
          <p:cNvPr id="11" name="Shape 9"/>
          <p:cNvSpPr/>
          <p:nvPr/>
        </p:nvSpPr>
        <p:spPr>
          <a:xfrm>
            <a:off x="1152144" y="1979676"/>
            <a:ext cx="118872" cy="118872"/>
          </a:xfrm>
          <a:prstGeom prst="ellipse">
            <a:avLst/>
          </a:prstGeom>
          <a:solidFill>
            <a:srgbClr val="2AC940"/>
          </a:solidFill>
          <a:ln/>
        </p:spPr>
      </p:sp>
      <p:sp>
        <p:nvSpPr>
          <p:cNvPr id="12" name="Text 10"/>
          <p:cNvSpPr/>
          <p:nvPr/>
        </p:nvSpPr>
        <p:spPr>
          <a:xfrm>
            <a:off x="1371600" y="1874520"/>
            <a:ext cx="4754880" cy="320040"/>
          </a:xfrm>
          <a:prstGeom prst="rect">
            <a:avLst/>
          </a:prstGeom>
          <a:noFill/>
          <a:ln/>
        </p:spPr>
        <p:txBody>
          <a:bodyPr wrap="square" rtlCol="0" anchor="ctr"/>
          <a:lstStyle/>
          <a:p>
            <a:pPr indent="0" marL="0">
              <a:buNone/>
            </a:pPr>
            <a:r>
              <a:rPr lang="en-US" sz="1000" dirty="0">
                <a:solidFill>
                  <a:srgbClr val="8A97A3"/>
                </a:solidFill>
                <a:latin typeface="Consolas" pitchFamily="34" charset="0"/>
                <a:ea typeface="Consolas" pitchFamily="34" charset="-122"/>
                <a:cs typeface="Consolas" pitchFamily="34" charset="-120"/>
              </a:rPr>
              <a:t>PowerShell / Terminal</a:t>
            </a:r>
            <a:endParaRPr lang="en-US" sz="1000" dirty="0"/>
          </a:p>
        </p:txBody>
      </p:sp>
      <p:sp>
        <p:nvSpPr>
          <p:cNvPr id="13" name="Text 11"/>
          <p:cNvSpPr/>
          <p:nvPr/>
        </p:nvSpPr>
        <p:spPr>
          <a:xfrm>
            <a:off x="822960" y="2331720"/>
            <a:ext cx="5212080" cy="292608"/>
          </a:xfrm>
          <a:prstGeom prst="rect">
            <a:avLst/>
          </a:prstGeom>
          <a:noFill/>
          <a:ln/>
        </p:spPr>
        <p:txBody>
          <a:bodyPr wrap="square" rtlCol="0" anchor="t"/>
          <a:lstStyle/>
          <a:p>
            <a:pPr indent="0" marL="0">
              <a:buNone/>
            </a:pPr>
            <a:r>
              <a:rPr lang="en-US" sz="1200" b="1" dirty="0">
                <a:solidFill>
                  <a:srgbClr val="2AC940"/>
                </a:solidFill>
                <a:latin typeface="Consolas" pitchFamily="34" charset="0"/>
                <a:ea typeface="Consolas" pitchFamily="34" charset="-122"/>
                <a:cs typeface="Consolas"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ipconfig</a:t>
            </a:r>
            <a:endParaRPr lang="en-US" sz="1200" dirty="0"/>
          </a:p>
        </p:txBody>
      </p:sp>
      <p:sp>
        <p:nvSpPr>
          <p:cNvPr id="14" name="Text 12"/>
          <p:cNvSpPr/>
          <p:nvPr/>
        </p:nvSpPr>
        <p:spPr>
          <a:xfrm>
            <a:off x="822960" y="2624328"/>
            <a:ext cx="5212080" cy="292608"/>
          </a:xfrm>
          <a:prstGeom prst="rect">
            <a:avLst/>
          </a:prstGeom>
          <a:noFill/>
          <a:ln/>
        </p:spPr>
        <p:txBody>
          <a:bodyPr wrap="square" rtlCol="0" anchor="t"/>
          <a:lstStyle/>
          <a:p>
            <a:pPr indent="0" marL="0">
              <a:buNone/>
            </a:pPr>
            <a:r>
              <a:rPr lang="en-US" sz="1200" dirty="0">
                <a:solidFill>
                  <a:srgbClr val="6B7785"/>
                </a:solidFill>
                <a:latin typeface="Consolas" pitchFamily="34" charset="0"/>
                <a:ea typeface="Consolas" pitchFamily="34" charset="-122"/>
                <a:cs typeface="Consolas" pitchFamily="34" charset="-120"/>
              </a:rPr>
              <a:t>  (view your IP, gateway &amp; DNS server)</a:t>
            </a:r>
            <a:endParaRPr lang="en-US" sz="1200" dirty="0"/>
          </a:p>
        </p:txBody>
      </p:sp>
      <p:sp>
        <p:nvSpPr>
          <p:cNvPr id="15" name="Text 13"/>
          <p:cNvSpPr/>
          <p:nvPr/>
        </p:nvSpPr>
        <p:spPr>
          <a:xfrm>
            <a:off x="822960" y="2916936"/>
            <a:ext cx="5212080" cy="292608"/>
          </a:xfrm>
          <a:prstGeom prst="rect">
            <a:avLst/>
          </a:prstGeom>
          <a:noFill/>
          <a:ln/>
        </p:spPr>
        <p:txBody>
          <a:bodyPr wrap="square" rtlCol="0" anchor="t"/>
          <a:lstStyle/>
          <a:p>
            <a:pPr indent="0" marL="0">
              <a:buNone/>
            </a:pPr>
            <a:r>
              <a:rPr lang="en-US" sz="1200" b="1" dirty="0">
                <a:solidFill>
                  <a:srgbClr val="2AC940"/>
                </a:solidFill>
                <a:latin typeface="Consolas" pitchFamily="34" charset="0"/>
                <a:ea typeface="Consolas" pitchFamily="34" charset="-122"/>
                <a:cs typeface="Consolas"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ping google.com</a:t>
            </a:r>
            <a:endParaRPr lang="en-US" sz="1200" dirty="0"/>
          </a:p>
        </p:txBody>
      </p:sp>
      <p:sp>
        <p:nvSpPr>
          <p:cNvPr id="16" name="Text 14"/>
          <p:cNvSpPr/>
          <p:nvPr/>
        </p:nvSpPr>
        <p:spPr>
          <a:xfrm>
            <a:off x="822960" y="3209544"/>
            <a:ext cx="5212080" cy="292608"/>
          </a:xfrm>
          <a:prstGeom prst="rect">
            <a:avLst/>
          </a:prstGeom>
          <a:noFill/>
          <a:ln/>
        </p:spPr>
        <p:txBody>
          <a:bodyPr wrap="square" rtlCol="0" anchor="t"/>
          <a:lstStyle/>
          <a:p>
            <a:pPr indent="0" marL="0">
              <a:buNone/>
            </a:pPr>
            <a:r>
              <a:rPr lang="en-US" sz="1200" dirty="0">
                <a:solidFill>
                  <a:srgbClr val="6B7785"/>
                </a:solidFill>
                <a:latin typeface="Consolas" pitchFamily="34" charset="0"/>
                <a:ea typeface="Consolas" pitchFamily="34" charset="-122"/>
                <a:cs typeface="Consolas" pitchFamily="34" charset="-120"/>
              </a:rPr>
              <a:t>  (test basic connectivity)</a:t>
            </a:r>
            <a:endParaRPr lang="en-US" sz="1200" dirty="0"/>
          </a:p>
        </p:txBody>
      </p:sp>
      <p:sp>
        <p:nvSpPr>
          <p:cNvPr id="17" name="Text 15"/>
          <p:cNvSpPr/>
          <p:nvPr/>
        </p:nvSpPr>
        <p:spPr>
          <a:xfrm>
            <a:off x="822960" y="3502152"/>
            <a:ext cx="5212080" cy="292608"/>
          </a:xfrm>
          <a:prstGeom prst="rect">
            <a:avLst/>
          </a:prstGeom>
          <a:noFill/>
          <a:ln/>
        </p:spPr>
        <p:txBody>
          <a:bodyPr wrap="square" rtlCol="0" anchor="t"/>
          <a:lstStyle/>
          <a:p>
            <a:pPr indent="0" marL="0">
              <a:buNone/>
            </a:pPr>
            <a:r>
              <a:rPr lang="en-US" sz="1200" b="1" dirty="0">
                <a:solidFill>
                  <a:srgbClr val="2AC940"/>
                </a:solidFill>
                <a:latin typeface="Consolas" pitchFamily="34" charset="0"/>
                <a:ea typeface="Consolas" pitchFamily="34" charset="-122"/>
                <a:cs typeface="Consolas"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tracert google.com</a:t>
            </a:r>
            <a:endParaRPr lang="en-US" sz="1200" dirty="0"/>
          </a:p>
        </p:txBody>
      </p:sp>
      <p:sp>
        <p:nvSpPr>
          <p:cNvPr id="18" name="Text 16"/>
          <p:cNvSpPr/>
          <p:nvPr/>
        </p:nvSpPr>
        <p:spPr>
          <a:xfrm>
            <a:off x="822960" y="3794760"/>
            <a:ext cx="5212080" cy="292608"/>
          </a:xfrm>
          <a:prstGeom prst="rect">
            <a:avLst/>
          </a:prstGeom>
          <a:noFill/>
          <a:ln/>
        </p:spPr>
        <p:txBody>
          <a:bodyPr wrap="square" rtlCol="0" anchor="t"/>
          <a:lstStyle/>
          <a:p>
            <a:pPr indent="0" marL="0">
              <a:buNone/>
            </a:pPr>
            <a:r>
              <a:rPr lang="en-US" sz="1200" dirty="0">
                <a:solidFill>
                  <a:srgbClr val="6B7785"/>
                </a:solidFill>
                <a:latin typeface="Consolas" pitchFamily="34" charset="0"/>
                <a:ea typeface="Consolas" pitchFamily="34" charset="-122"/>
                <a:cs typeface="Consolas" pitchFamily="34" charset="-120"/>
              </a:rPr>
              <a:t>  (see every hop along the way)</a:t>
            </a:r>
            <a:endParaRPr lang="en-US" sz="1200" dirty="0"/>
          </a:p>
        </p:txBody>
      </p:sp>
      <p:sp>
        <p:nvSpPr>
          <p:cNvPr id="19" name="Text 17"/>
          <p:cNvSpPr/>
          <p:nvPr/>
        </p:nvSpPr>
        <p:spPr>
          <a:xfrm>
            <a:off x="822960" y="4087368"/>
            <a:ext cx="5212080" cy="292608"/>
          </a:xfrm>
          <a:prstGeom prst="rect">
            <a:avLst/>
          </a:prstGeom>
          <a:noFill/>
          <a:ln/>
        </p:spPr>
        <p:txBody>
          <a:bodyPr wrap="square" rtlCol="0" anchor="t"/>
          <a:lstStyle/>
          <a:p>
            <a:pPr indent="0" marL="0">
              <a:buNone/>
            </a:pPr>
            <a:r>
              <a:rPr lang="en-US" sz="1200" b="1" dirty="0">
                <a:solidFill>
                  <a:srgbClr val="2AC940"/>
                </a:solidFill>
                <a:latin typeface="Consolas" pitchFamily="34" charset="0"/>
                <a:ea typeface="Consolas" pitchFamily="34" charset="-122"/>
                <a:cs typeface="Consolas"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nslookup google.com</a:t>
            </a:r>
            <a:endParaRPr lang="en-US" sz="1200" dirty="0"/>
          </a:p>
        </p:txBody>
      </p:sp>
      <p:sp>
        <p:nvSpPr>
          <p:cNvPr id="20" name="Text 18"/>
          <p:cNvSpPr/>
          <p:nvPr/>
        </p:nvSpPr>
        <p:spPr>
          <a:xfrm>
            <a:off x="822960" y="4379976"/>
            <a:ext cx="5212080" cy="292608"/>
          </a:xfrm>
          <a:prstGeom prst="rect">
            <a:avLst/>
          </a:prstGeom>
          <a:noFill/>
          <a:ln/>
        </p:spPr>
        <p:txBody>
          <a:bodyPr wrap="square" rtlCol="0" anchor="t"/>
          <a:lstStyle/>
          <a:p>
            <a:pPr indent="0" marL="0">
              <a:buNone/>
            </a:pPr>
            <a:r>
              <a:rPr lang="en-US" sz="1200" dirty="0">
                <a:solidFill>
                  <a:srgbClr val="6B7785"/>
                </a:solidFill>
                <a:latin typeface="Consolas" pitchFamily="34" charset="0"/>
                <a:ea typeface="Consolas" pitchFamily="34" charset="-122"/>
                <a:cs typeface="Consolas" pitchFamily="34" charset="-120"/>
              </a:rPr>
              <a:t>  (confirm DNS resolution)</a:t>
            </a:r>
            <a:endParaRPr lang="en-US" sz="1200" dirty="0"/>
          </a:p>
        </p:txBody>
      </p:sp>
      <p:sp>
        <p:nvSpPr>
          <p:cNvPr id="21" name="Text 19"/>
          <p:cNvSpPr/>
          <p:nvPr/>
        </p:nvSpPr>
        <p:spPr>
          <a:xfrm>
            <a:off x="822960" y="4672584"/>
            <a:ext cx="5212080" cy="292608"/>
          </a:xfrm>
          <a:prstGeom prst="rect">
            <a:avLst/>
          </a:prstGeom>
          <a:noFill/>
          <a:ln/>
        </p:spPr>
        <p:txBody>
          <a:bodyPr wrap="square" rtlCol="0" anchor="t"/>
          <a:lstStyle/>
          <a:p>
            <a:pPr indent="0" marL="0">
              <a:buNone/>
            </a:pPr>
            <a:r>
              <a:rPr lang="en-US" sz="1200" b="1" dirty="0">
                <a:solidFill>
                  <a:srgbClr val="2AC940"/>
                </a:solidFill>
                <a:latin typeface="Consolas" pitchFamily="34" charset="0"/>
                <a:ea typeface="Consolas" pitchFamily="34" charset="-122"/>
                <a:cs typeface="Consolas" pitchFamily="34" charset="-120"/>
              </a:rPr>
              <a:t>$ </a:t>
            </a:r>
            <a:pPr indent="0" marL="0">
              <a:buNone/>
            </a:pPr>
            <a:r>
              <a:rPr lang="en-US" sz="1200" dirty="0">
                <a:solidFill>
                  <a:srgbClr val="FFFFFF"/>
                </a:solidFill>
                <a:latin typeface="Consolas" pitchFamily="34" charset="0"/>
                <a:ea typeface="Consolas" pitchFamily="34" charset="-122"/>
                <a:cs typeface="Consolas" pitchFamily="34" charset="-120"/>
              </a:rPr>
              <a:t>curl google.com</a:t>
            </a:r>
            <a:endParaRPr lang="en-US" sz="1200" dirty="0"/>
          </a:p>
        </p:txBody>
      </p:sp>
      <p:sp>
        <p:nvSpPr>
          <p:cNvPr id="22" name="Text 20"/>
          <p:cNvSpPr/>
          <p:nvPr/>
        </p:nvSpPr>
        <p:spPr>
          <a:xfrm>
            <a:off x="822960" y="4965192"/>
            <a:ext cx="5212080" cy="292608"/>
          </a:xfrm>
          <a:prstGeom prst="rect">
            <a:avLst/>
          </a:prstGeom>
          <a:noFill/>
          <a:ln/>
        </p:spPr>
        <p:txBody>
          <a:bodyPr wrap="square" rtlCol="0" anchor="t"/>
          <a:lstStyle/>
          <a:p>
            <a:pPr indent="0" marL="0">
              <a:buNone/>
            </a:pPr>
            <a:r>
              <a:rPr lang="en-US" sz="1200" dirty="0">
                <a:solidFill>
                  <a:srgbClr val="6B7785"/>
                </a:solidFill>
                <a:latin typeface="Consolas" pitchFamily="34" charset="0"/>
                <a:ea typeface="Consolas" pitchFamily="34" charset="-122"/>
                <a:cs typeface="Consolas" pitchFamily="34" charset="-120"/>
              </a:rPr>
              <a:t>  (request the actual webpage)</a:t>
            </a:r>
            <a:endParaRPr lang="en-US" sz="1200" dirty="0"/>
          </a:p>
        </p:txBody>
      </p:sp>
      <p:sp>
        <p:nvSpPr>
          <p:cNvPr id="23" name="Text 21"/>
          <p:cNvSpPr/>
          <p:nvPr/>
        </p:nvSpPr>
        <p:spPr>
          <a:xfrm>
            <a:off x="6629400" y="1874520"/>
            <a:ext cx="4937760" cy="320040"/>
          </a:xfrm>
          <a:prstGeom prst="rect">
            <a:avLst/>
          </a:prstGeom>
          <a:noFill/>
          <a:ln/>
        </p:spPr>
        <p:txBody>
          <a:bodyPr wrap="square" rtlCol="0" anchor="ctr"/>
          <a:lstStyle/>
          <a:p>
            <a:pPr indent="0" marL="0">
              <a:buNone/>
            </a:pPr>
            <a:r>
              <a:rPr lang="en-US" sz="1150" b="1" spc="150" kern="0" dirty="0">
                <a:solidFill>
                  <a:srgbClr val="FF9900"/>
                </a:solidFill>
                <a:latin typeface="Calibri" pitchFamily="34" charset="0"/>
                <a:ea typeface="Calibri" pitchFamily="34" charset="-122"/>
                <a:cs typeface="Calibri" pitchFamily="34" charset="-120"/>
              </a:rPr>
              <a:t>EXPECTED OUTPUTS</a:t>
            </a:r>
            <a:endParaRPr lang="en-US" sz="1150" dirty="0"/>
          </a:p>
        </p:txBody>
      </p:sp>
      <p:sp>
        <p:nvSpPr>
          <p:cNvPr id="24" name="Shape 22"/>
          <p:cNvSpPr/>
          <p:nvPr/>
        </p:nvSpPr>
        <p:spPr>
          <a:xfrm>
            <a:off x="6629400" y="2286000"/>
            <a:ext cx="118872" cy="118872"/>
          </a:xfrm>
          <a:prstGeom prst="ellipse">
            <a:avLst/>
          </a:prstGeom>
          <a:solidFill>
            <a:srgbClr val="FF9900"/>
          </a:solidFill>
          <a:ln/>
        </p:spPr>
      </p:sp>
      <p:sp>
        <p:nvSpPr>
          <p:cNvPr id="25" name="Text 23"/>
          <p:cNvSpPr/>
          <p:nvPr/>
        </p:nvSpPr>
        <p:spPr>
          <a:xfrm>
            <a:off x="6858000" y="2148840"/>
            <a:ext cx="4709160" cy="457200"/>
          </a:xfrm>
          <a:prstGeom prst="rect">
            <a:avLst/>
          </a:prstGeom>
          <a:noFill/>
          <a:ln/>
        </p:spPr>
        <p:txBody>
          <a:bodyPr wrap="square" rtlCol="0" anchor="ctr"/>
          <a:lstStyle/>
          <a:p>
            <a:pPr indent="0" marL="0">
              <a:buNone/>
            </a:pPr>
            <a:r>
              <a:rPr lang="en-US" sz="1150" dirty="0">
                <a:solidFill>
                  <a:srgbClr val="E9EDF1"/>
                </a:solidFill>
                <a:latin typeface="Calibri" pitchFamily="34" charset="0"/>
                <a:ea typeface="Calibri" pitchFamily="34" charset="-122"/>
                <a:cs typeface="Calibri" pitchFamily="34" charset="-120"/>
              </a:rPr>
              <a:t>A local IPv4 address &amp; default gateway</a:t>
            </a:r>
            <a:endParaRPr lang="en-US" sz="1150" dirty="0"/>
          </a:p>
        </p:txBody>
      </p:sp>
      <p:sp>
        <p:nvSpPr>
          <p:cNvPr id="26" name="Shape 24"/>
          <p:cNvSpPr/>
          <p:nvPr/>
        </p:nvSpPr>
        <p:spPr>
          <a:xfrm>
            <a:off x="6629400" y="2852928"/>
            <a:ext cx="118872" cy="118872"/>
          </a:xfrm>
          <a:prstGeom prst="ellipse">
            <a:avLst/>
          </a:prstGeom>
          <a:solidFill>
            <a:srgbClr val="FF9900"/>
          </a:solidFill>
          <a:ln/>
        </p:spPr>
      </p:sp>
      <p:sp>
        <p:nvSpPr>
          <p:cNvPr id="27" name="Text 25"/>
          <p:cNvSpPr/>
          <p:nvPr/>
        </p:nvSpPr>
        <p:spPr>
          <a:xfrm>
            <a:off x="6858000" y="2715768"/>
            <a:ext cx="4709160" cy="457200"/>
          </a:xfrm>
          <a:prstGeom prst="rect">
            <a:avLst/>
          </a:prstGeom>
          <a:noFill/>
          <a:ln/>
        </p:spPr>
        <p:txBody>
          <a:bodyPr wrap="square" rtlCol="0" anchor="ctr"/>
          <a:lstStyle/>
          <a:p>
            <a:pPr indent="0" marL="0">
              <a:buNone/>
            </a:pPr>
            <a:r>
              <a:rPr lang="en-US" sz="1150" dirty="0">
                <a:solidFill>
                  <a:srgbClr val="E9EDF1"/>
                </a:solidFill>
                <a:latin typeface="Calibri" pitchFamily="34" charset="0"/>
                <a:ea typeface="Calibri" pitchFamily="34" charset="-122"/>
                <a:cs typeface="Calibri" pitchFamily="34" charset="-120"/>
              </a:rPr>
              <a:t>4 successful replies with a low ms time</a:t>
            </a:r>
            <a:endParaRPr lang="en-US" sz="1150" dirty="0"/>
          </a:p>
        </p:txBody>
      </p:sp>
      <p:sp>
        <p:nvSpPr>
          <p:cNvPr id="28" name="Shape 26"/>
          <p:cNvSpPr/>
          <p:nvPr/>
        </p:nvSpPr>
        <p:spPr>
          <a:xfrm>
            <a:off x="6629400" y="3419856"/>
            <a:ext cx="118872" cy="118872"/>
          </a:xfrm>
          <a:prstGeom prst="ellipse">
            <a:avLst/>
          </a:prstGeom>
          <a:solidFill>
            <a:srgbClr val="FF9900"/>
          </a:solidFill>
          <a:ln/>
        </p:spPr>
      </p:sp>
      <p:sp>
        <p:nvSpPr>
          <p:cNvPr id="29" name="Text 27"/>
          <p:cNvSpPr/>
          <p:nvPr/>
        </p:nvSpPr>
        <p:spPr>
          <a:xfrm>
            <a:off x="6858000" y="3282696"/>
            <a:ext cx="4709160" cy="457200"/>
          </a:xfrm>
          <a:prstGeom prst="rect">
            <a:avLst/>
          </a:prstGeom>
          <a:noFill/>
          <a:ln/>
        </p:spPr>
        <p:txBody>
          <a:bodyPr wrap="square" rtlCol="0" anchor="ctr"/>
          <a:lstStyle/>
          <a:p>
            <a:pPr indent="0" marL="0">
              <a:buNone/>
            </a:pPr>
            <a:r>
              <a:rPr lang="en-US" sz="1150" dirty="0">
                <a:solidFill>
                  <a:srgbClr val="E9EDF1"/>
                </a:solidFill>
                <a:latin typeface="Calibri" pitchFamily="34" charset="0"/>
                <a:ea typeface="Calibri" pitchFamily="34" charset="-122"/>
                <a:cs typeface="Calibri" pitchFamily="34" charset="-120"/>
              </a:rPr>
              <a:t>A list of routers between you and Google</a:t>
            </a:r>
            <a:endParaRPr lang="en-US" sz="1150" dirty="0"/>
          </a:p>
        </p:txBody>
      </p:sp>
      <p:sp>
        <p:nvSpPr>
          <p:cNvPr id="30" name="Shape 28"/>
          <p:cNvSpPr/>
          <p:nvPr/>
        </p:nvSpPr>
        <p:spPr>
          <a:xfrm>
            <a:off x="6629400" y="3986784"/>
            <a:ext cx="118872" cy="118872"/>
          </a:xfrm>
          <a:prstGeom prst="ellipse">
            <a:avLst/>
          </a:prstGeom>
          <a:solidFill>
            <a:srgbClr val="FF9900"/>
          </a:solidFill>
          <a:ln/>
        </p:spPr>
      </p:sp>
      <p:sp>
        <p:nvSpPr>
          <p:cNvPr id="31" name="Text 29"/>
          <p:cNvSpPr/>
          <p:nvPr/>
        </p:nvSpPr>
        <p:spPr>
          <a:xfrm>
            <a:off x="6858000" y="3849624"/>
            <a:ext cx="4709160" cy="457200"/>
          </a:xfrm>
          <a:prstGeom prst="rect">
            <a:avLst/>
          </a:prstGeom>
          <a:noFill/>
          <a:ln/>
        </p:spPr>
        <p:txBody>
          <a:bodyPr wrap="square" rtlCol="0" anchor="ctr"/>
          <a:lstStyle/>
          <a:p>
            <a:pPr indent="0" marL="0">
              <a:buNone/>
            </a:pPr>
            <a:r>
              <a:rPr lang="en-US" sz="1150" dirty="0">
                <a:solidFill>
                  <a:srgbClr val="E9EDF1"/>
                </a:solidFill>
                <a:latin typeface="Calibri" pitchFamily="34" charset="0"/>
                <a:ea typeface="Calibri" pitchFamily="34" charset="-122"/>
                <a:cs typeface="Calibri" pitchFamily="34" charset="-120"/>
              </a:rPr>
              <a:t>Google's public IP address(es)</a:t>
            </a:r>
            <a:endParaRPr lang="en-US" sz="1150" dirty="0"/>
          </a:p>
        </p:txBody>
      </p:sp>
      <p:sp>
        <p:nvSpPr>
          <p:cNvPr id="32" name="Shape 30"/>
          <p:cNvSpPr/>
          <p:nvPr/>
        </p:nvSpPr>
        <p:spPr>
          <a:xfrm>
            <a:off x="6629400" y="4553712"/>
            <a:ext cx="118872" cy="118872"/>
          </a:xfrm>
          <a:prstGeom prst="ellipse">
            <a:avLst/>
          </a:prstGeom>
          <a:solidFill>
            <a:srgbClr val="FF9900"/>
          </a:solidFill>
          <a:ln/>
        </p:spPr>
      </p:sp>
      <p:sp>
        <p:nvSpPr>
          <p:cNvPr id="33" name="Text 31"/>
          <p:cNvSpPr/>
          <p:nvPr/>
        </p:nvSpPr>
        <p:spPr>
          <a:xfrm>
            <a:off x="6858000" y="4416552"/>
            <a:ext cx="4709160" cy="457200"/>
          </a:xfrm>
          <a:prstGeom prst="rect">
            <a:avLst/>
          </a:prstGeom>
          <a:noFill/>
          <a:ln/>
        </p:spPr>
        <p:txBody>
          <a:bodyPr wrap="square" rtlCol="0" anchor="ctr"/>
          <a:lstStyle/>
          <a:p>
            <a:pPr indent="0" marL="0">
              <a:buNone/>
            </a:pPr>
            <a:r>
              <a:rPr lang="en-US" sz="1150" dirty="0">
                <a:solidFill>
                  <a:srgbClr val="E9EDF1"/>
                </a:solidFill>
                <a:latin typeface="Calibri" pitchFamily="34" charset="0"/>
                <a:ea typeface="Calibri" pitchFamily="34" charset="-122"/>
                <a:cs typeface="Calibri" pitchFamily="34" charset="-120"/>
              </a:rPr>
              <a:t>Raw HTML starting with &lt;!doctype html&gt;</a:t>
            </a:r>
            <a:endParaRPr lang="en-US" sz="1150" dirty="0"/>
          </a:p>
        </p:txBody>
      </p:sp>
      <p:sp>
        <p:nvSpPr>
          <p:cNvPr id="34" name="Shape 32"/>
          <p:cNvSpPr/>
          <p:nvPr/>
        </p:nvSpPr>
        <p:spPr>
          <a:xfrm>
            <a:off x="6629400" y="5257800"/>
            <a:ext cx="4937760" cy="566928"/>
          </a:xfrm>
          <a:prstGeom prst="roundRect">
            <a:avLst>
              <a:gd name="adj" fmla="val 12903"/>
            </a:avLst>
          </a:prstGeom>
          <a:solidFill>
            <a:srgbClr val="232F3E"/>
          </a:solidFill>
          <a:ln/>
        </p:spPr>
      </p:sp>
      <p:sp>
        <p:nvSpPr>
          <p:cNvPr id="35" name="Shape 33"/>
          <p:cNvSpPr/>
          <p:nvPr/>
        </p:nvSpPr>
        <p:spPr>
          <a:xfrm>
            <a:off x="6784848" y="5312664"/>
            <a:ext cx="457200" cy="457200"/>
          </a:xfrm>
          <a:prstGeom prst="ellipse">
            <a:avLst/>
          </a:prstGeom>
          <a:solidFill>
            <a:srgbClr val="33455B"/>
          </a:solidFill>
          <a:ln/>
        </p:spPr>
      </p:sp>
      <p:pic>
        <p:nvPicPr>
          <p:cNvPr id="36" name="Image 0" descr="/home/claude/ppt3/icon_lightbulb_o.png">    </p:cNvPr>
          <p:cNvPicPr>
            <a:picLocks noChangeAspect="1"/>
          </p:cNvPicPr>
          <p:nvPr/>
        </p:nvPicPr>
        <p:blipFill>
          <a:blip r:embed="rId1"/>
          <a:stretch>
            <a:fillRect/>
          </a:stretch>
        </p:blipFill>
        <p:spPr>
          <a:xfrm>
            <a:off x="6894576" y="5422392"/>
            <a:ext cx="237744" cy="237744"/>
          </a:xfrm>
          <a:prstGeom prst="rect">
            <a:avLst/>
          </a:prstGeom>
        </p:spPr>
      </p:pic>
      <p:sp>
        <p:nvSpPr>
          <p:cNvPr id="37" name="Text 34"/>
          <p:cNvSpPr/>
          <p:nvPr/>
        </p:nvSpPr>
        <p:spPr>
          <a:xfrm>
            <a:off x="7315200" y="5257800"/>
            <a:ext cx="4023360"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Use Mac/Linux: ping, traceroute, nslookup, curl. Windows: tracert instead of traceroute.</a:t>
            </a:r>
            <a:endParaRPr lang="en-US" sz="1100" dirty="0"/>
          </a:p>
        </p:txBody>
      </p:sp>
      <p:sp>
        <p:nvSpPr>
          <p:cNvPr id="38" name="Text 35"/>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39" name="Text 36"/>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BRINGING IT TO AWS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How This Maps to AWS Networking</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See today's concepts become real AWS VPC building blocks.</a:t>
            </a:r>
            <a:endParaRPr lang="en-US" sz="1250" dirty="0"/>
          </a:p>
        </p:txBody>
      </p:sp>
      <p:sp>
        <p:nvSpPr>
          <p:cNvPr id="6" name="Shape 4"/>
          <p:cNvSpPr/>
          <p:nvPr/>
        </p:nvSpPr>
        <p:spPr>
          <a:xfrm>
            <a:off x="548640" y="1874520"/>
            <a:ext cx="1734312" cy="1737360"/>
          </a:xfrm>
          <a:prstGeom prst="roundRect">
            <a:avLst>
              <a:gd name="adj" fmla="val 4745"/>
            </a:avLst>
          </a:prstGeom>
          <a:solidFill>
            <a:srgbClr val="FFFFFF"/>
          </a:solidFill>
          <a:ln w="12700">
            <a:solidFill>
              <a:srgbClr val="D9DCE1"/>
            </a:solidFill>
            <a:prstDash val="solid"/>
          </a:ln>
        </p:spPr>
      </p:sp>
      <p:sp>
        <p:nvSpPr>
          <p:cNvPr id="7" name="Shape 5"/>
          <p:cNvSpPr/>
          <p:nvPr/>
        </p:nvSpPr>
        <p:spPr>
          <a:xfrm>
            <a:off x="982218" y="2135886"/>
            <a:ext cx="867156" cy="867156"/>
          </a:xfrm>
          <a:prstGeom prst="ellipse">
            <a:avLst/>
          </a:prstGeom>
          <a:solidFill>
            <a:srgbClr val="FFF3DE"/>
          </a:solidFill>
          <a:ln/>
        </p:spPr>
      </p:sp>
      <p:pic>
        <p:nvPicPr>
          <p:cNvPr id="8" name="Image 0" descr="/home/claude/ppt3/icon_globe_d.png">    </p:cNvPr>
          <p:cNvPicPr>
            <a:picLocks noChangeAspect="1"/>
          </p:cNvPicPr>
          <p:nvPr/>
        </p:nvPicPr>
        <p:blipFill>
          <a:blip r:embed="rId1"/>
          <a:stretch>
            <a:fillRect/>
          </a:stretch>
        </p:blipFill>
        <p:spPr>
          <a:xfrm>
            <a:off x="1190335" y="2344003"/>
            <a:ext cx="450921" cy="450921"/>
          </a:xfrm>
          <a:prstGeom prst="rect">
            <a:avLst/>
          </a:prstGeom>
        </p:spPr>
      </p:pic>
      <p:sp>
        <p:nvSpPr>
          <p:cNvPr id="9" name="Text 6"/>
          <p:cNvSpPr/>
          <p:nvPr/>
        </p:nvSpPr>
        <p:spPr>
          <a:xfrm>
            <a:off x="621792" y="3055925"/>
            <a:ext cx="1588008" cy="521208"/>
          </a:xfrm>
          <a:prstGeom prst="rect">
            <a:avLst/>
          </a:prstGeom>
          <a:noFill/>
          <a:ln/>
        </p:spPr>
        <p:txBody>
          <a:bodyPr wrap="square"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Internet</a:t>
            </a:r>
            <a:endParaRPr lang="en-US" sz="1100" dirty="0"/>
          </a:p>
        </p:txBody>
      </p:sp>
      <p:sp>
        <p:nvSpPr>
          <p:cNvPr id="10" name="Text 7"/>
          <p:cNvSpPr/>
          <p:nvPr/>
        </p:nvSpPr>
        <p:spPr>
          <a:xfrm>
            <a:off x="2282952" y="25146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2420112" y="1874520"/>
            <a:ext cx="1734312" cy="1737360"/>
          </a:xfrm>
          <a:prstGeom prst="roundRect">
            <a:avLst>
              <a:gd name="adj" fmla="val 4745"/>
            </a:avLst>
          </a:prstGeom>
          <a:solidFill>
            <a:srgbClr val="FFFFFF"/>
          </a:solidFill>
          <a:ln w="12700">
            <a:solidFill>
              <a:srgbClr val="D9DCE1"/>
            </a:solidFill>
            <a:prstDash val="solid"/>
          </a:ln>
        </p:spPr>
      </p:sp>
      <p:sp>
        <p:nvSpPr>
          <p:cNvPr id="12" name="Shape 9"/>
          <p:cNvSpPr/>
          <p:nvPr/>
        </p:nvSpPr>
        <p:spPr>
          <a:xfrm>
            <a:off x="2853690" y="2135886"/>
            <a:ext cx="867156" cy="867156"/>
          </a:xfrm>
          <a:prstGeom prst="ellipse">
            <a:avLst/>
          </a:prstGeom>
          <a:solidFill>
            <a:srgbClr val="FFF3DE"/>
          </a:solidFill>
          <a:ln/>
        </p:spPr>
      </p:sp>
      <p:pic>
        <p:nvPicPr>
          <p:cNvPr id="13" name="Image 1" descr="/home/claude/ppt3/icon_router_d.png">    </p:cNvPr>
          <p:cNvPicPr>
            <a:picLocks noChangeAspect="1"/>
          </p:cNvPicPr>
          <p:nvPr/>
        </p:nvPicPr>
        <p:blipFill>
          <a:blip r:embed="rId2"/>
          <a:stretch>
            <a:fillRect/>
          </a:stretch>
        </p:blipFill>
        <p:spPr>
          <a:xfrm>
            <a:off x="3061807" y="2344003"/>
            <a:ext cx="450921" cy="450921"/>
          </a:xfrm>
          <a:prstGeom prst="rect">
            <a:avLst/>
          </a:prstGeom>
        </p:spPr>
      </p:pic>
      <p:sp>
        <p:nvSpPr>
          <p:cNvPr id="14" name="Text 10"/>
          <p:cNvSpPr/>
          <p:nvPr/>
        </p:nvSpPr>
        <p:spPr>
          <a:xfrm>
            <a:off x="2493264" y="3055925"/>
            <a:ext cx="1588008" cy="521208"/>
          </a:xfrm>
          <a:prstGeom prst="rect">
            <a:avLst/>
          </a:prstGeom>
          <a:noFill/>
          <a:ln/>
        </p:spPr>
        <p:txBody>
          <a:bodyPr wrap="square"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Internet Gateway</a:t>
            </a:r>
            <a:endParaRPr lang="en-US" sz="1100" dirty="0"/>
          </a:p>
        </p:txBody>
      </p:sp>
      <p:sp>
        <p:nvSpPr>
          <p:cNvPr id="15" name="Text 11"/>
          <p:cNvSpPr/>
          <p:nvPr/>
        </p:nvSpPr>
        <p:spPr>
          <a:xfrm>
            <a:off x="4154424" y="25146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6" name="Shape 12"/>
          <p:cNvSpPr/>
          <p:nvPr/>
        </p:nvSpPr>
        <p:spPr>
          <a:xfrm>
            <a:off x="4291584" y="1874520"/>
            <a:ext cx="1734312" cy="1737360"/>
          </a:xfrm>
          <a:prstGeom prst="roundRect">
            <a:avLst>
              <a:gd name="adj" fmla="val 4745"/>
            </a:avLst>
          </a:prstGeom>
          <a:solidFill>
            <a:srgbClr val="FFFFFF"/>
          </a:solidFill>
          <a:ln w="12700">
            <a:solidFill>
              <a:srgbClr val="D9DCE1"/>
            </a:solidFill>
            <a:prstDash val="solid"/>
          </a:ln>
        </p:spPr>
      </p:sp>
      <p:sp>
        <p:nvSpPr>
          <p:cNvPr id="17" name="Shape 13"/>
          <p:cNvSpPr/>
          <p:nvPr/>
        </p:nvSpPr>
        <p:spPr>
          <a:xfrm>
            <a:off x="4725162" y="2135886"/>
            <a:ext cx="867156" cy="867156"/>
          </a:xfrm>
          <a:prstGeom prst="ellipse">
            <a:avLst/>
          </a:prstGeom>
          <a:solidFill>
            <a:srgbClr val="FFF3DE"/>
          </a:solidFill>
          <a:ln/>
        </p:spPr>
      </p:sp>
      <p:pic>
        <p:nvPicPr>
          <p:cNvPr id="18" name="Image 2" descr="/home/claude/ppt3/icon_sitemap_d.png">    </p:cNvPr>
          <p:cNvPicPr>
            <a:picLocks noChangeAspect="1"/>
          </p:cNvPicPr>
          <p:nvPr/>
        </p:nvPicPr>
        <p:blipFill>
          <a:blip r:embed="rId3"/>
          <a:stretch>
            <a:fillRect/>
          </a:stretch>
        </p:blipFill>
        <p:spPr>
          <a:xfrm>
            <a:off x="4933279" y="2344003"/>
            <a:ext cx="450921" cy="450921"/>
          </a:xfrm>
          <a:prstGeom prst="rect">
            <a:avLst/>
          </a:prstGeom>
        </p:spPr>
      </p:pic>
      <p:sp>
        <p:nvSpPr>
          <p:cNvPr id="19" name="Text 14"/>
          <p:cNvSpPr/>
          <p:nvPr/>
        </p:nvSpPr>
        <p:spPr>
          <a:xfrm>
            <a:off x="4364736" y="3055925"/>
            <a:ext cx="1588008" cy="521208"/>
          </a:xfrm>
          <a:prstGeom prst="rect">
            <a:avLst/>
          </a:prstGeom>
          <a:noFill/>
          <a:ln/>
        </p:spPr>
        <p:txBody>
          <a:bodyPr wrap="square"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VPC</a:t>
            </a:r>
            <a:endParaRPr lang="en-US" sz="1100" dirty="0"/>
          </a:p>
        </p:txBody>
      </p:sp>
      <p:sp>
        <p:nvSpPr>
          <p:cNvPr id="20" name="Text 15"/>
          <p:cNvSpPr/>
          <p:nvPr/>
        </p:nvSpPr>
        <p:spPr>
          <a:xfrm>
            <a:off x="6025896" y="25146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1" name="Shape 16"/>
          <p:cNvSpPr/>
          <p:nvPr/>
        </p:nvSpPr>
        <p:spPr>
          <a:xfrm>
            <a:off x="6163056" y="1874520"/>
            <a:ext cx="1734312" cy="1737360"/>
          </a:xfrm>
          <a:prstGeom prst="roundRect">
            <a:avLst>
              <a:gd name="adj" fmla="val 4745"/>
            </a:avLst>
          </a:prstGeom>
          <a:solidFill>
            <a:srgbClr val="FFFFFF"/>
          </a:solidFill>
          <a:ln w="12700">
            <a:solidFill>
              <a:srgbClr val="D9DCE1"/>
            </a:solidFill>
            <a:prstDash val="solid"/>
          </a:ln>
        </p:spPr>
      </p:sp>
      <p:sp>
        <p:nvSpPr>
          <p:cNvPr id="22" name="Shape 17"/>
          <p:cNvSpPr/>
          <p:nvPr/>
        </p:nvSpPr>
        <p:spPr>
          <a:xfrm>
            <a:off x="6596634" y="2135886"/>
            <a:ext cx="867156" cy="867156"/>
          </a:xfrm>
          <a:prstGeom prst="ellipse">
            <a:avLst/>
          </a:prstGeom>
          <a:solidFill>
            <a:srgbClr val="FFF3DE"/>
          </a:solidFill>
          <a:ln/>
        </p:spPr>
      </p:sp>
      <p:pic>
        <p:nvPicPr>
          <p:cNvPr id="23" name="Image 3" descr="/home/claude/ppt3/icon_layers_d.png">    </p:cNvPr>
          <p:cNvPicPr>
            <a:picLocks noChangeAspect="1"/>
          </p:cNvPicPr>
          <p:nvPr/>
        </p:nvPicPr>
        <p:blipFill>
          <a:blip r:embed="rId4"/>
          <a:stretch>
            <a:fillRect/>
          </a:stretch>
        </p:blipFill>
        <p:spPr>
          <a:xfrm>
            <a:off x="6804751" y="2344003"/>
            <a:ext cx="450921" cy="450921"/>
          </a:xfrm>
          <a:prstGeom prst="rect">
            <a:avLst/>
          </a:prstGeom>
        </p:spPr>
      </p:pic>
      <p:sp>
        <p:nvSpPr>
          <p:cNvPr id="24" name="Text 18"/>
          <p:cNvSpPr/>
          <p:nvPr/>
        </p:nvSpPr>
        <p:spPr>
          <a:xfrm>
            <a:off x="6236208" y="3055925"/>
            <a:ext cx="1588008" cy="521208"/>
          </a:xfrm>
          <a:prstGeom prst="rect">
            <a:avLst/>
          </a:prstGeom>
          <a:noFill/>
          <a:ln/>
        </p:spPr>
        <p:txBody>
          <a:bodyPr wrap="square"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Subnet</a:t>
            </a:r>
            <a:endParaRPr lang="en-US" sz="1100" dirty="0"/>
          </a:p>
        </p:txBody>
      </p:sp>
      <p:sp>
        <p:nvSpPr>
          <p:cNvPr id="25" name="Text 19"/>
          <p:cNvSpPr/>
          <p:nvPr/>
        </p:nvSpPr>
        <p:spPr>
          <a:xfrm>
            <a:off x="7897368" y="25146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6" name="Shape 20"/>
          <p:cNvSpPr/>
          <p:nvPr/>
        </p:nvSpPr>
        <p:spPr>
          <a:xfrm>
            <a:off x="8034528" y="1874520"/>
            <a:ext cx="1734312" cy="1737360"/>
          </a:xfrm>
          <a:prstGeom prst="roundRect">
            <a:avLst>
              <a:gd name="adj" fmla="val 4745"/>
            </a:avLst>
          </a:prstGeom>
          <a:solidFill>
            <a:srgbClr val="FFFFFF"/>
          </a:solidFill>
          <a:ln w="12700">
            <a:solidFill>
              <a:srgbClr val="D9DCE1"/>
            </a:solidFill>
            <a:prstDash val="solid"/>
          </a:ln>
        </p:spPr>
      </p:sp>
      <p:sp>
        <p:nvSpPr>
          <p:cNvPr id="27" name="Shape 21"/>
          <p:cNvSpPr/>
          <p:nvPr/>
        </p:nvSpPr>
        <p:spPr>
          <a:xfrm>
            <a:off x="8468106" y="2135886"/>
            <a:ext cx="867156" cy="867156"/>
          </a:xfrm>
          <a:prstGeom prst="ellipse">
            <a:avLst/>
          </a:prstGeom>
          <a:solidFill>
            <a:srgbClr val="FFF3DE"/>
          </a:solidFill>
          <a:ln/>
        </p:spPr>
      </p:sp>
      <p:pic>
        <p:nvPicPr>
          <p:cNvPr id="28" name="Image 4" descr="/home/claude/ppt3/icon_listol_d.png">    </p:cNvPr>
          <p:cNvPicPr>
            <a:picLocks noChangeAspect="1"/>
          </p:cNvPicPr>
          <p:nvPr/>
        </p:nvPicPr>
        <p:blipFill>
          <a:blip r:embed="rId5"/>
          <a:stretch>
            <a:fillRect/>
          </a:stretch>
        </p:blipFill>
        <p:spPr>
          <a:xfrm>
            <a:off x="8676223" y="2344003"/>
            <a:ext cx="450921" cy="450921"/>
          </a:xfrm>
          <a:prstGeom prst="rect">
            <a:avLst/>
          </a:prstGeom>
        </p:spPr>
      </p:pic>
      <p:sp>
        <p:nvSpPr>
          <p:cNvPr id="29" name="Text 22"/>
          <p:cNvSpPr/>
          <p:nvPr/>
        </p:nvSpPr>
        <p:spPr>
          <a:xfrm>
            <a:off x="8107680" y="3055925"/>
            <a:ext cx="1588008" cy="521208"/>
          </a:xfrm>
          <a:prstGeom prst="rect">
            <a:avLst/>
          </a:prstGeom>
          <a:noFill/>
          <a:ln/>
        </p:spPr>
        <p:txBody>
          <a:bodyPr wrap="square"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Route Table</a:t>
            </a:r>
            <a:endParaRPr lang="en-US" sz="1100" dirty="0"/>
          </a:p>
        </p:txBody>
      </p:sp>
      <p:sp>
        <p:nvSpPr>
          <p:cNvPr id="30" name="Text 23"/>
          <p:cNvSpPr/>
          <p:nvPr/>
        </p:nvSpPr>
        <p:spPr>
          <a:xfrm>
            <a:off x="9768840" y="25146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31" name="Shape 24"/>
          <p:cNvSpPr/>
          <p:nvPr/>
        </p:nvSpPr>
        <p:spPr>
          <a:xfrm>
            <a:off x="9906000" y="1874520"/>
            <a:ext cx="1734312" cy="1737360"/>
          </a:xfrm>
          <a:prstGeom prst="roundRect">
            <a:avLst>
              <a:gd name="adj" fmla="val 4745"/>
            </a:avLst>
          </a:prstGeom>
          <a:solidFill>
            <a:srgbClr val="FFFFFF"/>
          </a:solidFill>
          <a:ln w="12700">
            <a:solidFill>
              <a:srgbClr val="D9DCE1"/>
            </a:solidFill>
            <a:prstDash val="solid"/>
          </a:ln>
        </p:spPr>
      </p:sp>
      <p:sp>
        <p:nvSpPr>
          <p:cNvPr id="32" name="Shape 25"/>
          <p:cNvSpPr/>
          <p:nvPr/>
        </p:nvSpPr>
        <p:spPr>
          <a:xfrm>
            <a:off x="10339578" y="2135886"/>
            <a:ext cx="867156" cy="867156"/>
          </a:xfrm>
          <a:prstGeom prst="ellipse">
            <a:avLst/>
          </a:prstGeom>
          <a:solidFill>
            <a:srgbClr val="FFF3DE"/>
          </a:solidFill>
          <a:ln/>
        </p:spPr>
      </p:sp>
      <p:pic>
        <p:nvPicPr>
          <p:cNvPr id="33" name="Image 5" descr="/home/claude/ppt3/icon_server_d.png">    </p:cNvPr>
          <p:cNvPicPr>
            <a:picLocks noChangeAspect="1"/>
          </p:cNvPicPr>
          <p:nvPr/>
        </p:nvPicPr>
        <p:blipFill>
          <a:blip r:embed="rId6"/>
          <a:stretch>
            <a:fillRect/>
          </a:stretch>
        </p:blipFill>
        <p:spPr>
          <a:xfrm>
            <a:off x="10547695" y="2344003"/>
            <a:ext cx="450921" cy="450921"/>
          </a:xfrm>
          <a:prstGeom prst="rect">
            <a:avLst/>
          </a:prstGeom>
        </p:spPr>
      </p:pic>
      <p:sp>
        <p:nvSpPr>
          <p:cNvPr id="34" name="Text 26"/>
          <p:cNvSpPr/>
          <p:nvPr/>
        </p:nvSpPr>
        <p:spPr>
          <a:xfrm>
            <a:off x="9979152" y="3055925"/>
            <a:ext cx="1588008" cy="521208"/>
          </a:xfrm>
          <a:prstGeom prst="rect">
            <a:avLst/>
          </a:prstGeom>
          <a:noFill/>
          <a:ln/>
        </p:spPr>
        <p:txBody>
          <a:bodyPr wrap="square"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EC2 Instance</a:t>
            </a:r>
            <a:endParaRPr lang="en-US" sz="1100" dirty="0"/>
          </a:p>
        </p:txBody>
      </p:sp>
      <p:sp>
        <p:nvSpPr>
          <p:cNvPr id="35" name="Text 27"/>
          <p:cNvSpPr/>
          <p:nvPr/>
        </p:nvSpPr>
        <p:spPr>
          <a:xfrm>
            <a:off x="548640" y="3840480"/>
            <a:ext cx="11091672" cy="347472"/>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Internet Gateway  </a:t>
            </a:r>
            <a:pPr indent="0" marL="0">
              <a:buNone/>
            </a:pPr>
            <a:r>
              <a:rPr lang="en-US" sz="1250" dirty="0">
                <a:solidFill>
                  <a:srgbClr val="5A6B75"/>
                </a:solidFill>
                <a:latin typeface="Calibri" pitchFamily="34" charset="0"/>
                <a:ea typeface="Calibri" pitchFamily="34" charset="-122"/>
                <a:cs typeface="Calibri" pitchFamily="34" charset="-120"/>
              </a:rPr>
              <a:t>= your router's connection to your ISP</a:t>
            </a:r>
            <a:endParaRPr lang="en-US" sz="1250" dirty="0"/>
          </a:p>
        </p:txBody>
      </p:sp>
      <p:sp>
        <p:nvSpPr>
          <p:cNvPr id="36" name="Text 28"/>
          <p:cNvSpPr/>
          <p:nvPr/>
        </p:nvSpPr>
        <p:spPr>
          <a:xfrm>
            <a:off x="548640" y="4224528"/>
            <a:ext cx="11091672" cy="347472"/>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VPC  </a:t>
            </a:r>
            <a:pPr indent="0" marL="0">
              <a:buNone/>
            </a:pPr>
            <a:r>
              <a:rPr lang="en-US" sz="1250" dirty="0">
                <a:solidFill>
                  <a:srgbClr val="5A6B75"/>
                </a:solidFill>
                <a:latin typeface="Calibri" pitchFamily="34" charset="0"/>
                <a:ea typeface="Calibri" pitchFamily="34" charset="-122"/>
                <a:cs typeface="Calibri" pitchFamily="34" charset="-120"/>
              </a:rPr>
              <a:t>= your own private, isolated network (like a whole office building)</a:t>
            </a:r>
            <a:endParaRPr lang="en-US" sz="1250" dirty="0"/>
          </a:p>
        </p:txBody>
      </p:sp>
      <p:sp>
        <p:nvSpPr>
          <p:cNvPr id="37" name="Text 29"/>
          <p:cNvSpPr/>
          <p:nvPr/>
        </p:nvSpPr>
        <p:spPr>
          <a:xfrm>
            <a:off x="548640" y="4608576"/>
            <a:ext cx="11091672" cy="347472"/>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Subnet  </a:t>
            </a:r>
            <a:pPr indent="0" marL="0">
              <a:buNone/>
            </a:pPr>
            <a:r>
              <a:rPr lang="en-US" sz="1250" dirty="0">
                <a:solidFill>
                  <a:srgbClr val="5A6B75"/>
                </a:solidFill>
                <a:latin typeface="Calibri" pitchFamily="34" charset="0"/>
                <a:ea typeface="Calibri" pitchFamily="34" charset="-122"/>
                <a:cs typeface="Calibri" pitchFamily="34" charset="-120"/>
              </a:rPr>
              <a:t>= a floor within that building (with its own CIDR block)</a:t>
            </a:r>
            <a:endParaRPr lang="en-US" sz="1250" dirty="0"/>
          </a:p>
        </p:txBody>
      </p:sp>
      <p:sp>
        <p:nvSpPr>
          <p:cNvPr id="38" name="Text 30"/>
          <p:cNvSpPr/>
          <p:nvPr/>
        </p:nvSpPr>
        <p:spPr>
          <a:xfrm>
            <a:off x="548640" y="4992624"/>
            <a:ext cx="11091672" cy="347472"/>
          </a:xfrm>
          <a:prstGeom prst="rect">
            <a:avLst/>
          </a:prstGeom>
          <a:noFill/>
          <a:ln/>
        </p:spPr>
        <p:txBody>
          <a:bodyPr wrap="square" rtlCol="0" anchor="ctr"/>
          <a:lstStyle/>
          <a:p>
            <a:pPr indent="0" marL="0">
              <a:buNone/>
            </a:pPr>
            <a:r>
              <a:rPr lang="en-US" sz="1250" b="1" dirty="0">
                <a:solidFill>
                  <a:srgbClr val="232F3E"/>
                </a:solidFill>
                <a:latin typeface="Consolas" pitchFamily="34" charset="0"/>
                <a:ea typeface="Consolas" pitchFamily="34" charset="-122"/>
                <a:cs typeface="Consolas" pitchFamily="34" charset="-120"/>
              </a:rPr>
              <a:t>Route Table  </a:t>
            </a:r>
            <a:pPr indent="0" marL="0">
              <a:buNone/>
            </a:pPr>
            <a:r>
              <a:rPr lang="en-US" sz="1250" dirty="0">
                <a:solidFill>
                  <a:srgbClr val="5A6B75"/>
                </a:solidFill>
                <a:latin typeface="Calibri" pitchFamily="34" charset="0"/>
                <a:ea typeface="Calibri" pitchFamily="34" charset="-122"/>
                <a:cs typeface="Calibri" pitchFamily="34" charset="-120"/>
              </a:rPr>
              <a:t>= the routing rules deciding where each floor's traffic goes</a:t>
            </a:r>
            <a:endParaRPr lang="en-US" sz="1250" dirty="0"/>
          </a:p>
        </p:txBody>
      </p:sp>
      <p:sp>
        <p:nvSpPr>
          <p:cNvPr id="39" name="Text 3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40" name="Text 3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BRINGING IT TO AWS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AWS Hands-On Lab — Your First Network</a:t>
            </a:r>
            <a:endParaRPr lang="en-US" sz="2800" dirty="0"/>
          </a:p>
        </p:txBody>
      </p:sp>
      <p:sp>
        <p:nvSpPr>
          <p:cNvPr id="4" name="Shape 2"/>
          <p:cNvSpPr/>
          <p:nvPr/>
        </p:nvSpPr>
        <p:spPr>
          <a:xfrm>
            <a:off x="548640" y="1207008"/>
            <a:ext cx="11091672" cy="457200"/>
          </a:xfrm>
          <a:prstGeom prst="roundRect">
            <a:avLst>
              <a:gd name="adj" fmla="val 12000"/>
            </a:avLst>
          </a:prstGeom>
          <a:solidFill>
            <a:srgbClr val="FFF3DE"/>
          </a:solidFill>
          <a:ln/>
        </p:spPr>
      </p:sp>
      <p:sp>
        <p:nvSpPr>
          <p:cNvPr id="5" name="Text 3"/>
          <p:cNvSpPr/>
          <p:nvPr/>
        </p:nvSpPr>
        <p:spPr>
          <a:xfrm>
            <a:off x="777240" y="1207008"/>
            <a:ext cx="10634472" cy="457200"/>
          </a:xfrm>
          <a:prstGeom prst="rect">
            <a:avLst/>
          </a:prstGeom>
          <a:noFill/>
          <a:ln/>
        </p:spPr>
        <p:txBody>
          <a:bodyPr wrap="square" rtlCol="0" anchor="ctr"/>
          <a:lstStyle/>
          <a:p>
            <a:pPr indent="0" marL="0">
              <a:buNone/>
            </a:pPr>
            <a:r>
              <a:rPr lang="en-US" sz="1250" b="1" dirty="0">
                <a:solidFill>
                  <a:srgbClr val="B36B00"/>
                </a:solidFill>
                <a:latin typeface="Calibri" pitchFamily="34" charset="0"/>
                <a:ea typeface="Calibri" pitchFamily="34" charset="-122"/>
                <a:cs typeface="Calibri" pitchFamily="34" charset="-120"/>
              </a:rPr>
              <a:t>OBJECTIVE:  </a:t>
            </a:r>
            <a:pPr indent="0" marL="0">
              <a:buNone/>
            </a:pPr>
            <a:r>
              <a:rPr lang="en-US" sz="1250" dirty="0">
                <a:solidFill>
                  <a:srgbClr val="16191F"/>
                </a:solidFill>
                <a:latin typeface="Calibri" pitchFamily="34" charset="0"/>
                <a:ea typeface="Calibri" pitchFamily="34" charset="-122"/>
                <a:cs typeface="Calibri" pitchFamily="34" charset="-120"/>
              </a:rPr>
              <a:t>Build a simple, working network in the AWS Console — no coding required.</a:t>
            </a:r>
            <a:endParaRPr lang="en-US" sz="1250" dirty="0"/>
          </a:p>
        </p:txBody>
      </p:sp>
      <p:sp>
        <p:nvSpPr>
          <p:cNvPr id="6" name="Shape 4"/>
          <p:cNvSpPr/>
          <p:nvPr/>
        </p:nvSpPr>
        <p:spPr>
          <a:xfrm>
            <a:off x="548640" y="1828800"/>
            <a:ext cx="5943600" cy="3977640"/>
          </a:xfrm>
          <a:prstGeom prst="roundRect">
            <a:avLst>
              <a:gd name="adj" fmla="val 2299"/>
            </a:avLst>
          </a:prstGeom>
          <a:solidFill>
            <a:srgbClr val="FFFFFF"/>
          </a:solidFill>
          <a:ln w="12700">
            <a:solidFill>
              <a:srgbClr val="D9DCE1"/>
            </a:solidFill>
            <a:prstDash val="solid"/>
          </a:ln>
        </p:spPr>
      </p:sp>
      <p:sp>
        <p:nvSpPr>
          <p:cNvPr id="7" name="Text 5"/>
          <p:cNvSpPr/>
          <p:nvPr/>
        </p:nvSpPr>
        <p:spPr>
          <a:xfrm>
            <a:off x="822960" y="2011680"/>
            <a:ext cx="5394960" cy="320040"/>
          </a:xfrm>
          <a:prstGeom prst="rect">
            <a:avLst/>
          </a:prstGeom>
          <a:noFill/>
          <a:ln/>
        </p:spPr>
        <p:txBody>
          <a:bodyPr wrap="square" rtlCol="0" anchor="ctr"/>
          <a:lstStyle/>
          <a:p>
            <a:pPr indent="0" marL="0">
              <a:buNone/>
            </a:pPr>
            <a:r>
              <a:rPr lang="en-US" sz="1150" b="1" spc="150" kern="0" dirty="0">
                <a:solidFill>
                  <a:srgbClr val="FF9900"/>
                </a:solidFill>
                <a:latin typeface="Calibri" pitchFamily="34" charset="0"/>
                <a:ea typeface="Calibri" pitchFamily="34" charset="-122"/>
                <a:cs typeface="Calibri" pitchFamily="34" charset="-120"/>
              </a:rPr>
              <a:t>6 SIMPLE STEPS</a:t>
            </a:r>
            <a:endParaRPr lang="en-US" sz="1150" dirty="0"/>
          </a:p>
        </p:txBody>
      </p:sp>
      <p:sp>
        <p:nvSpPr>
          <p:cNvPr id="8" name="Shape 6"/>
          <p:cNvSpPr/>
          <p:nvPr/>
        </p:nvSpPr>
        <p:spPr>
          <a:xfrm>
            <a:off x="822960" y="2423160"/>
            <a:ext cx="365760" cy="365760"/>
          </a:xfrm>
          <a:prstGeom prst="ellipse">
            <a:avLst/>
          </a:prstGeom>
          <a:solidFill>
            <a:srgbClr val="FF9900"/>
          </a:solidFill>
          <a:ln/>
        </p:spPr>
      </p:sp>
      <p:sp>
        <p:nvSpPr>
          <p:cNvPr id="9" name="Text 7"/>
          <p:cNvSpPr/>
          <p:nvPr/>
        </p:nvSpPr>
        <p:spPr>
          <a:xfrm>
            <a:off x="822960" y="242316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0" name="Text 8"/>
          <p:cNvSpPr/>
          <p:nvPr/>
        </p:nvSpPr>
        <p:spPr>
          <a:xfrm>
            <a:off x="1298448" y="2377440"/>
            <a:ext cx="5074920" cy="32004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Create a VPC</a:t>
            </a:r>
            <a:endParaRPr lang="en-US" sz="1300" dirty="0"/>
          </a:p>
        </p:txBody>
      </p:sp>
      <p:sp>
        <p:nvSpPr>
          <p:cNvPr id="11" name="Text 9"/>
          <p:cNvSpPr/>
          <p:nvPr/>
        </p:nvSpPr>
        <p:spPr>
          <a:xfrm>
            <a:off x="1298448" y="2679192"/>
            <a:ext cx="5074920" cy="274320"/>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CIDR block 10.0.0.0/16</a:t>
            </a:r>
            <a:endParaRPr lang="en-US" sz="1050" dirty="0"/>
          </a:p>
        </p:txBody>
      </p:sp>
      <p:sp>
        <p:nvSpPr>
          <p:cNvPr id="12" name="Shape 10"/>
          <p:cNvSpPr/>
          <p:nvPr/>
        </p:nvSpPr>
        <p:spPr>
          <a:xfrm>
            <a:off x="822960" y="2971800"/>
            <a:ext cx="365760" cy="365760"/>
          </a:xfrm>
          <a:prstGeom prst="ellipse">
            <a:avLst/>
          </a:prstGeom>
          <a:solidFill>
            <a:srgbClr val="232F3E"/>
          </a:solidFill>
          <a:ln/>
        </p:spPr>
      </p:sp>
      <p:sp>
        <p:nvSpPr>
          <p:cNvPr id="13" name="Text 11"/>
          <p:cNvSpPr/>
          <p:nvPr/>
        </p:nvSpPr>
        <p:spPr>
          <a:xfrm>
            <a:off x="822960" y="297180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p:nvPr/>
        </p:nvSpPr>
        <p:spPr>
          <a:xfrm>
            <a:off x="1298448" y="2926080"/>
            <a:ext cx="5074920" cy="32004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Create a subnet</a:t>
            </a:r>
            <a:endParaRPr lang="en-US" sz="1300" dirty="0"/>
          </a:p>
        </p:txBody>
      </p:sp>
      <p:sp>
        <p:nvSpPr>
          <p:cNvPr id="15" name="Text 13"/>
          <p:cNvSpPr/>
          <p:nvPr/>
        </p:nvSpPr>
        <p:spPr>
          <a:xfrm>
            <a:off x="1298448" y="3227832"/>
            <a:ext cx="5074920" cy="274320"/>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10.0.1.0/24, inside the VPC</a:t>
            </a:r>
            <a:endParaRPr lang="en-US" sz="1050" dirty="0"/>
          </a:p>
        </p:txBody>
      </p:sp>
      <p:sp>
        <p:nvSpPr>
          <p:cNvPr id="16" name="Shape 14"/>
          <p:cNvSpPr/>
          <p:nvPr/>
        </p:nvSpPr>
        <p:spPr>
          <a:xfrm>
            <a:off x="822960" y="3520440"/>
            <a:ext cx="365760" cy="365760"/>
          </a:xfrm>
          <a:prstGeom prst="ellipse">
            <a:avLst/>
          </a:prstGeom>
          <a:solidFill>
            <a:srgbClr val="FF9900"/>
          </a:solidFill>
          <a:ln/>
        </p:spPr>
      </p:sp>
      <p:sp>
        <p:nvSpPr>
          <p:cNvPr id="17" name="Text 15"/>
          <p:cNvSpPr/>
          <p:nvPr/>
        </p:nvSpPr>
        <p:spPr>
          <a:xfrm>
            <a:off x="822960" y="352044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p:nvPr/>
        </p:nvSpPr>
        <p:spPr>
          <a:xfrm>
            <a:off x="1298448" y="3474720"/>
            <a:ext cx="5074920" cy="32004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Create &amp; attach an Internet Gateway</a:t>
            </a:r>
            <a:endParaRPr lang="en-US" sz="1300" dirty="0"/>
          </a:p>
        </p:txBody>
      </p:sp>
      <p:sp>
        <p:nvSpPr>
          <p:cNvPr id="19" name="Text 17"/>
          <p:cNvSpPr/>
          <p:nvPr/>
        </p:nvSpPr>
        <p:spPr>
          <a:xfrm>
            <a:off x="1298448" y="3776472"/>
            <a:ext cx="5074920" cy="274320"/>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Gives the VPC a path to the Internet</a:t>
            </a:r>
            <a:endParaRPr lang="en-US" sz="1050" dirty="0"/>
          </a:p>
        </p:txBody>
      </p:sp>
      <p:sp>
        <p:nvSpPr>
          <p:cNvPr id="20" name="Shape 18"/>
          <p:cNvSpPr/>
          <p:nvPr/>
        </p:nvSpPr>
        <p:spPr>
          <a:xfrm>
            <a:off x="822960" y="4069080"/>
            <a:ext cx="365760" cy="365760"/>
          </a:xfrm>
          <a:prstGeom prst="ellipse">
            <a:avLst/>
          </a:prstGeom>
          <a:solidFill>
            <a:srgbClr val="232F3E"/>
          </a:solidFill>
          <a:ln/>
        </p:spPr>
      </p:sp>
      <p:sp>
        <p:nvSpPr>
          <p:cNvPr id="21" name="Text 19"/>
          <p:cNvSpPr/>
          <p:nvPr/>
        </p:nvSpPr>
        <p:spPr>
          <a:xfrm>
            <a:off x="822960" y="406908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p:nvPr/>
        </p:nvSpPr>
        <p:spPr>
          <a:xfrm>
            <a:off x="1298448" y="4023360"/>
            <a:ext cx="5074920" cy="32004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Update the route table</a:t>
            </a:r>
            <a:endParaRPr lang="en-US" sz="1300" dirty="0"/>
          </a:p>
        </p:txBody>
      </p:sp>
      <p:sp>
        <p:nvSpPr>
          <p:cNvPr id="23" name="Text 21"/>
          <p:cNvSpPr/>
          <p:nvPr/>
        </p:nvSpPr>
        <p:spPr>
          <a:xfrm>
            <a:off x="1298448" y="4325112"/>
            <a:ext cx="5074920" cy="274320"/>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Add route 0.0.0.0/0 → Internet Gateway</a:t>
            </a:r>
            <a:endParaRPr lang="en-US" sz="1050" dirty="0"/>
          </a:p>
        </p:txBody>
      </p:sp>
      <p:sp>
        <p:nvSpPr>
          <p:cNvPr id="24" name="Shape 22"/>
          <p:cNvSpPr/>
          <p:nvPr/>
        </p:nvSpPr>
        <p:spPr>
          <a:xfrm>
            <a:off x="822960" y="4617720"/>
            <a:ext cx="365760" cy="365760"/>
          </a:xfrm>
          <a:prstGeom prst="ellipse">
            <a:avLst/>
          </a:prstGeom>
          <a:solidFill>
            <a:srgbClr val="FF9900"/>
          </a:solidFill>
          <a:ln/>
        </p:spPr>
      </p:sp>
      <p:sp>
        <p:nvSpPr>
          <p:cNvPr id="25" name="Text 23"/>
          <p:cNvSpPr/>
          <p:nvPr/>
        </p:nvSpPr>
        <p:spPr>
          <a:xfrm>
            <a:off x="822960" y="461772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6" name="Text 24"/>
          <p:cNvSpPr/>
          <p:nvPr/>
        </p:nvSpPr>
        <p:spPr>
          <a:xfrm>
            <a:off x="1298448" y="4572000"/>
            <a:ext cx="5074920" cy="32004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Launch a t2.micro EC2 instance</a:t>
            </a:r>
            <a:endParaRPr lang="en-US" sz="1300" dirty="0"/>
          </a:p>
        </p:txBody>
      </p:sp>
      <p:sp>
        <p:nvSpPr>
          <p:cNvPr id="27" name="Text 25"/>
          <p:cNvSpPr/>
          <p:nvPr/>
        </p:nvSpPr>
        <p:spPr>
          <a:xfrm>
            <a:off x="1298448" y="4873752"/>
            <a:ext cx="5074920" cy="274320"/>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Place it in your new public subnet</a:t>
            </a:r>
            <a:endParaRPr lang="en-US" sz="1050" dirty="0"/>
          </a:p>
        </p:txBody>
      </p:sp>
      <p:sp>
        <p:nvSpPr>
          <p:cNvPr id="28" name="Shape 26"/>
          <p:cNvSpPr/>
          <p:nvPr/>
        </p:nvSpPr>
        <p:spPr>
          <a:xfrm>
            <a:off x="822960" y="5166360"/>
            <a:ext cx="365760" cy="365760"/>
          </a:xfrm>
          <a:prstGeom prst="ellipse">
            <a:avLst/>
          </a:prstGeom>
          <a:solidFill>
            <a:srgbClr val="232F3E"/>
          </a:solidFill>
          <a:ln/>
        </p:spPr>
      </p:sp>
      <p:sp>
        <p:nvSpPr>
          <p:cNvPr id="29" name="Text 27"/>
          <p:cNvSpPr/>
          <p:nvPr/>
        </p:nvSpPr>
        <p:spPr>
          <a:xfrm>
            <a:off x="822960" y="5166360"/>
            <a:ext cx="365760" cy="365760"/>
          </a:xfrm>
          <a:prstGeom prst="rect">
            <a:avLst/>
          </a:prstGeom>
          <a:noFill/>
          <a:ln/>
        </p:spPr>
        <p:txBody>
          <a:bodyPr wrap="square"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30" name="Text 28"/>
          <p:cNvSpPr/>
          <p:nvPr/>
        </p:nvSpPr>
        <p:spPr>
          <a:xfrm>
            <a:off x="1298448" y="5120640"/>
            <a:ext cx="5074920" cy="32004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Connect and test</a:t>
            </a:r>
            <a:endParaRPr lang="en-US" sz="1300" dirty="0"/>
          </a:p>
        </p:txBody>
      </p:sp>
      <p:sp>
        <p:nvSpPr>
          <p:cNvPr id="31" name="Text 29"/>
          <p:cNvSpPr/>
          <p:nvPr/>
        </p:nvSpPr>
        <p:spPr>
          <a:xfrm>
            <a:off x="1298448" y="5422392"/>
            <a:ext cx="5074920" cy="274320"/>
          </a:xfrm>
          <a:prstGeom prst="rect">
            <a:avLst/>
          </a:prstGeom>
          <a:noFill/>
          <a:ln/>
        </p:spPr>
        <p:txBody>
          <a:bodyPr wrap="square" rtlCol="0" anchor="ctr"/>
          <a:lstStyle/>
          <a:p>
            <a:pPr indent="0" marL="0">
              <a:buNone/>
            </a:pPr>
            <a:r>
              <a:rPr lang="en-US" sz="1050" dirty="0">
                <a:solidFill>
                  <a:srgbClr val="5A6B75"/>
                </a:solidFill>
                <a:latin typeface="Calibri" pitchFamily="34" charset="0"/>
                <a:ea typeface="Calibri" pitchFamily="34" charset="-122"/>
                <a:cs typeface="Calibri" pitchFamily="34" charset="-120"/>
              </a:rPr>
              <a:t>SSH into the instance, then ping google.com</a:t>
            </a:r>
            <a:endParaRPr lang="en-US" sz="1050" dirty="0"/>
          </a:p>
        </p:txBody>
      </p:sp>
      <p:sp>
        <p:nvSpPr>
          <p:cNvPr id="32" name="Shape 30"/>
          <p:cNvSpPr/>
          <p:nvPr/>
        </p:nvSpPr>
        <p:spPr>
          <a:xfrm>
            <a:off x="6766560" y="1828800"/>
            <a:ext cx="1108710" cy="1371600"/>
          </a:xfrm>
          <a:prstGeom prst="roundRect">
            <a:avLst>
              <a:gd name="adj" fmla="val 7423"/>
            </a:avLst>
          </a:prstGeom>
          <a:solidFill>
            <a:srgbClr val="FFFFFF"/>
          </a:solidFill>
          <a:ln w="12700">
            <a:solidFill>
              <a:srgbClr val="D9DCE1"/>
            </a:solidFill>
            <a:prstDash val="solid"/>
          </a:ln>
        </p:spPr>
      </p:sp>
      <p:sp>
        <p:nvSpPr>
          <p:cNvPr id="33" name="Shape 31"/>
          <p:cNvSpPr/>
          <p:nvPr/>
        </p:nvSpPr>
        <p:spPr>
          <a:xfrm>
            <a:off x="7043738" y="2100263"/>
            <a:ext cx="554355" cy="554355"/>
          </a:xfrm>
          <a:prstGeom prst="ellipse">
            <a:avLst/>
          </a:prstGeom>
          <a:solidFill>
            <a:srgbClr val="FFF3DE"/>
          </a:solidFill>
          <a:ln/>
        </p:spPr>
      </p:sp>
      <p:pic>
        <p:nvPicPr>
          <p:cNvPr id="34" name="Image 0" descr="/home/claude/ppt3/icon_network_d.png">    </p:cNvPr>
          <p:cNvPicPr>
            <a:picLocks noChangeAspect="1"/>
          </p:cNvPicPr>
          <p:nvPr/>
        </p:nvPicPr>
        <p:blipFill>
          <a:blip r:embed="rId1"/>
          <a:stretch>
            <a:fillRect/>
          </a:stretch>
        </p:blipFill>
        <p:spPr>
          <a:xfrm>
            <a:off x="7176783" y="2233308"/>
            <a:ext cx="288265" cy="288265"/>
          </a:xfrm>
          <a:prstGeom prst="rect">
            <a:avLst/>
          </a:prstGeom>
        </p:spPr>
      </p:pic>
      <p:sp>
        <p:nvSpPr>
          <p:cNvPr id="35" name="Text 32"/>
          <p:cNvSpPr/>
          <p:nvPr/>
        </p:nvSpPr>
        <p:spPr>
          <a:xfrm>
            <a:off x="6839712" y="2761488"/>
            <a:ext cx="962406" cy="411480"/>
          </a:xfrm>
          <a:prstGeom prst="rect">
            <a:avLst/>
          </a:prstGeom>
          <a:noFill/>
          <a:ln/>
        </p:spPr>
        <p:txBody>
          <a:bodyPr wrap="square" rtlCol="0" anchor="t"/>
          <a:lstStyle/>
          <a:p>
            <a:pPr algn="ctr" indent="0" marL="0">
              <a:buNone/>
            </a:pPr>
            <a:r>
              <a:rPr lang="en-US" sz="1150" b="1" dirty="0">
                <a:solidFill>
                  <a:srgbClr val="232F3E"/>
                </a:solidFill>
                <a:latin typeface="Calibri" pitchFamily="34" charset="0"/>
                <a:ea typeface="Calibri" pitchFamily="34" charset="-122"/>
                <a:cs typeface="Calibri" pitchFamily="34" charset="-120"/>
              </a:rPr>
              <a:t>VPC</a:t>
            </a:r>
            <a:endParaRPr lang="en-US" sz="1150" dirty="0"/>
          </a:p>
        </p:txBody>
      </p:sp>
      <p:sp>
        <p:nvSpPr>
          <p:cNvPr id="36" name="Text 33"/>
          <p:cNvSpPr/>
          <p:nvPr/>
        </p:nvSpPr>
        <p:spPr>
          <a:xfrm>
            <a:off x="7875270" y="22860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37" name="Shape 34"/>
          <p:cNvSpPr/>
          <p:nvPr/>
        </p:nvSpPr>
        <p:spPr>
          <a:xfrm>
            <a:off x="8012430" y="1828800"/>
            <a:ext cx="1108710" cy="1371600"/>
          </a:xfrm>
          <a:prstGeom prst="roundRect">
            <a:avLst>
              <a:gd name="adj" fmla="val 7423"/>
            </a:avLst>
          </a:prstGeom>
          <a:solidFill>
            <a:srgbClr val="FFFFFF"/>
          </a:solidFill>
          <a:ln w="12700">
            <a:solidFill>
              <a:srgbClr val="D9DCE1"/>
            </a:solidFill>
            <a:prstDash val="solid"/>
          </a:ln>
        </p:spPr>
      </p:sp>
      <p:sp>
        <p:nvSpPr>
          <p:cNvPr id="38" name="Shape 35"/>
          <p:cNvSpPr/>
          <p:nvPr/>
        </p:nvSpPr>
        <p:spPr>
          <a:xfrm>
            <a:off x="8289607" y="2100263"/>
            <a:ext cx="554355" cy="554355"/>
          </a:xfrm>
          <a:prstGeom prst="ellipse">
            <a:avLst/>
          </a:prstGeom>
          <a:solidFill>
            <a:srgbClr val="FFF3DE"/>
          </a:solidFill>
          <a:ln/>
        </p:spPr>
      </p:sp>
      <p:pic>
        <p:nvPicPr>
          <p:cNvPr id="39" name="Image 1" descr="/home/claude/ppt3/icon_route_d.png">    </p:cNvPr>
          <p:cNvPicPr>
            <a:picLocks noChangeAspect="1"/>
          </p:cNvPicPr>
          <p:nvPr/>
        </p:nvPicPr>
        <p:blipFill>
          <a:blip r:embed="rId2"/>
          <a:stretch>
            <a:fillRect/>
          </a:stretch>
        </p:blipFill>
        <p:spPr>
          <a:xfrm>
            <a:off x="8422653" y="2233308"/>
            <a:ext cx="288265" cy="288265"/>
          </a:xfrm>
          <a:prstGeom prst="rect">
            <a:avLst/>
          </a:prstGeom>
        </p:spPr>
      </p:pic>
      <p:sp>
        <p:nvSpPr>
          <p:cNvPr id="40" name="Text 36"/>
          <p:cNvSpPr/>
          <p:nvPr/>
        </p:nvSpPr>
        <p:spPr>
          <a:xfrm>
            <a:off x="8085582" y="2761488"/>
            <a:ext cx="962406" cy="411480"/>
          </a:xfrm>
          <a:prstGeom prst="rect">
            <a:avLst/>
          </a:prstGeom>
          <a:noFill/>
          <a:ln/>
        </p:spPr>
        <p:txBody>
          <a:bodyPr wrap="square" rtlCol="0" anchor="t"/>
          <a:lstStyle/>
          <a:p>
            <a:pPr algn="ctr" indent="0" marL="0">
              <a:buNone/>
            </a:pPr>
            <a:r>
              <a:rPr lang="en-US" sz="1150" b="1" dirty="0">
                <a:solidFill>
                  <a:srgbClr val="232F3E"/>
                </a:solidFill>
                <a:latin typeface="Calibri" pitchFamily="34" charset="0"/>
                <a:ea typeface="Calibri" pitchFamily="34" charset="-122"/>
                <a:cs typeface="Calibri" pitchFamily="34" charset="-120"/>
              </a:rPr>
              <a:t>Subnet</a:t>
            </a:r>
            <a:endParaRPr lang="en-US" sz="1150" dirty="0"/>
          </a:p>
        </p:txBody>
      </p:sp>
      <p:sp>
        <p:nvSpPr>
          <p:cNvPr id="41" name="Text 37"/>
          <p:cNvSpPr/>
          <p:nvPr/>
        </p:nvSpPr>
        <p:spPr>
          <a:xfrm>
            <a:off x="9121140" y="22860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42" name="Shape 38"/>
          <p:cNvSpPr/>
          <p:nvPr/>
        </p:nvSpPr>
        <p:spPr>
          <a:xfrm>
            <a:off x="9258300" y="1828800"/>
            <a:ext cx="1108710" cy="1371600"/>
          </a:xfrm>
          <a:prstGeom prst="roundRect">
            <a:avLst>
              <a:gd name="adj" fmla="val 7423"/>
            </a:avLst>
          </a:prstGeom>
          <a:solidFill>
            <a:srgbClr val="FFFFFF"/>
          </a:solidFill>
          <a:ln w="12700">
            <a:solidFill>
              <a:srgbClr val="D9DCE1"/>
            </a:solidFill>
            <a:prstDash val="solid"/>
          </a:ln>
        </p:spPr>
      </p:sp>
      <p:sp>
        <p:nvSpPr>
          <p:cNvPr id="43" name="Shape 39"/>
          <p:cNvSpPr/>
          <p:nvPr/>
        </p:nvSpPr>
        <p:spPr>
          <a:xfrm>
            <a:off x="9535478" y="2100263"/>
            <a:ext cx="554355" cy="554355"/>
          </a:xfrm>
          <a:prstGeom prst="ellipse">
            <a:avLst/>
          </a:prstGeom>
          <a:solidFill>
            <a:srgbClr val="FFF3DE"/>
          </a:solidFill>
          <a:ln/>
        </p:spPr>
      </p:sp>
      <p:pic>
        <p:nvPicPr>
          <p:cNvPr id="44" name="Image 2" descr="/home/claude/ppt3/icon_globe_d.png">    </p:cNvPr>
          <p:cNvPicPr>
            <a:picLocks noChangeAspect="1"/>
          </p:cNvPicPr>
          <p:nvPr/>
        </p:nvPicPr>
        <p:blipFill>
          <a:blip r:embed="rId3"/>
          <a:stretch>
            <a:fillRect/>
          </a:stretch>
        </p:blipFill>
        <p:spPr>
          <a:xfrm>
            <a:off x="9668523" y="2233308"/>
            <a:ext cx="288265" cy="288265"/>
          </a:xfrm>
          <a:prstGeom prst="rect">
            <a:avLst/>
          </a:prstGeom>
        </p:spPr>
      </p:pic>
      <p:sp>
        <p:nvSpPr>
          <p:cNvPr id="45" name="Text 40"/>
          <p:cNvSpPr/>
          <p:nvPr/>
        </p:nvSpPr>
        <p:spPr>
          <a:xfrm>
            <a:off x="9331452" y="2761488"/>
            <a:ext cx="962406" cy="411480"/>
          </a:xfrm>
          <a:prstGeom prst="rect">
            <a:avLst/>
          </a:prstGeom>
          <a:noFill/>
          <a:ln/>
        </p:spPr>
        <p:txBody>
          <a:bodyPr wrap="square" rtlCol="0" anchor="t"/>
          <a:lstStyle/>
          <a:p>
            <a:pPr algn="ctr" indent="0" marL="0">
              <a:buNone/>
            </a:pPr>
            <a:r>
              <a:rPr lang="en-US" sz="1150" b="1" dirty="0">
                <a:solidFill>
                  <a:srgbClr val="232F3E"/>
                </a:solidFill>
                <a:latin typeface="Calibri" pitchFamily="34" charset="0"/>
                <a:ea typeface="Calibri" pitchFamily="34" charset="-122"/>
                <a:cs typeface="Calibri" pitchFamily="34" charset="-120"/>
              </a:rPr>
              <a:t>IGW</a:t>
            </a:r>
            <a:endParaRPr lang="en-US" sz="1150" dirty="0"/>
          </a:p>
        </p:txBody>
      </p:sp>
      <p:sp>
        <p:nvSpPr>
          <p:cNvPr id="46" name="Text 41"/>
          <p:cNvSpPr/>
          <p:nvPr/>
        </p:nvSpPr>
        <p:spPr>
          <a:xfrm>
            <a:off x="10367010" y="2286000"/>
            <a:ext cx="137160" cy="457200"/>
          </a:xfrm>
          <a:prstGeom prst="rect">
            <a:avLst/>
          </a:prstGeom>
          <a:noFill/>
          <a:ln/>
        </p:spPr>
        <p:txBody>
          <a:bodyPr wrap="square"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47" name="Shape 42"/>
          <p:cNvSpPr/>
          <p:nvPr/>
        </p:nvSpPr>
        <p:spPr>
          <a:xfrm>
            <a:off x="10504170" y="1828800"/>
            <a:ext cx="1108710" cy="1371600"/>
          </a:xfrm>
          <a:prstGeom prst="roundRect">
            <a:avLst>
              <a:gd name="adj" fmla="val 7423"/>
            </a:avLst>
          </a:prstGeom>
          <a:solidFill>
            <a:srgbClr val="FFFFFF"/>
          </a:solidFill>
          <a:ln w="12700">
            <a:solidFill>
              <a:srgbClr val="D9DCE1"/>
            </a:solidFill>
            <a:prstDash val="solid"/>
          </a:ln>
        </p:spPr>
      </p:sp>
      <p:sp>
        <p:nvSpPr>
          <p:cNvPr id="48" name="Shape 43"/>
          <p:cNvSpPr/>
          <p:nvPr/>
        </p:nvSpPr>
        <p:spPr>
          <a:xfrm>
            <a:off x="10781348" y="2100263"/>
            <a:ext cx="554355" cy="554355"/>
          </a:xfrm>
          <a:prstGeom prst="ellipse">
            <a:avLst/>
          </a:prstGeom>
          <a:solidFill>
            <a:srgbClr val="FFF3DE"/>
          </a:solidFill>
          <a:ln/>
        </p:spPr>
      </p:sp>
      <p:pic>
        <p:nvPicPr>
          <p:cNvPr id="49" name="Image 3" descr="/home/claude/ppt3/icon_server_d.png">    </p:cNvPr>
          <p:cNvPicPr>
            <a:picLocks noChangeAspect="1"/>
          </p:cNvPicPr>
          <p:nvPr/>
        </p:nvPicPr>
        <p:blipFill>
          <a:blip r:embed="rId4"/>
          <a:stretch>
            <a:fillRect/>
          </a:stretch>
        </p:blipFill>
        <p:spPr>
          <a:xfrm>
            <a:off x="10914393" y="2233308"/>
            <a:ext cx="288265" cy="288265"/>
          </a:xfrm>
          <a:prstGeom prst="rect">
            <a:avLst/>
          </a:prstGeom>
        </p:spPr>
      </p:pic>
      <p:sp>
        <p:nvSpPr>
          <p:cNvPr id="50" name="Text 44"/>
          <p:cNvSpPr/>
          <p:nvPr/>
        </p:nvSpPr>
        <p:spPr>
          <a:xfrm>
            <a:off x="10577322" y="2761488"/>
            <a:ext cx="962406" cy="411480"/>
          </a:xfrm>
          <a:prstGeom prst="rect">
            <a:avLst/>
          </a:prstGeom>
          <a:noFill/>
          <a:ln/>
        </p:spPr>
        <p:txBody>
          <a:bodyPr wrap="square" rtlCol="0" anchor="t"/>
          <a:lstStyle/>
          <a:p>
            <a:pPr algn="ctr" indent="0" marL="0">
              <a:buNone/>
            </a:pPr>
            <a:r>
              <a:rPr lang="en-US" sz="1150" b="1" dirty="0">
                <a:solidFill>
                  <a:srgbClr val="232F3E"/>
                </a:solidFill>
                <a:latin typeface="Calibri" pitchFamily="34" charset="0"/>
                <a:ea typeface="Calibri" pitchFamily="34" charset="-122"/>
                <a:cs typeface="Calibri" pitchFamily="34" charset="-120"/>
              </a:rPr>
              <a:t>EC2</a:t>
            </a:r>
            <a:endParaRPr lang="en-US" sz="1150" dirty="0"/>
          </a:p>
        </p:txBody>
      </p:sp>
      <p:sp>
        <p:nvSpPr>
          <p:cNvPr id="51" name="Shape 45"/>
          <p:cNvSpPr/>
          <p:nvPr/>
        </p:nvSpPr>
        <p:spPr>
          <a:xfrm>
            <a:off x="6766560" y="3429000"/>
            <a:ext cx="4846320" cy="2377440"/>
          </a:xfrm>
          <a:prstGeom prst="roundRect">
            <a:avLst>
              <a:gd name="adj" fmla="val 3846"/>
            </a:avLst>
          </a:prstGeom>
          <a:solidFill>
            <a:srgbClr val="FFFFFF"/>
          </a:solidFill>
          <a:ln w="15875">
            <a:solidFill>
              <a:srgbClr val="FF9900"/>
            </a:solidFill>
            <a:prstDash val="solid"/>
          </a:ln>
        </p:spPr>
      </p:sp>
      <p:sp>
        <p:nvSpPr>
          <p:cNvPr id="52" name="Shape 46"/>
          <p:cNvSpPr/>
          <p:nvPr/>
        </p:nvSpPr>
        <p:spPr>
          <a:xfrm>
            <a:off x="7132320" y="3794760"/>
            <a:ext cx="731520" cy="731520"/>
          </a:xfrm>
          <a:prstGeom prst="ellipse">
            <a:avLst/>
          </a:prstGeom>
          <a:solidFill>
            <a:srgbClr val="FFF3DE"/>
          </a:solidFill>
          <a:ln/>
        </p:spPr>
      </p:sp>
      <p:pic>
        <p:nvPicPr>
          <p:cNvPr id="53" name="Image 4" descr="/home/claude/ppt3/icon_check_o.png">    </p:cNvPr>
          <p:cNvPicPr>
            <a:picLocks noChangeAspect="1"/>
          </p:cNvPicPr>
          <p:nvPr/>
        </p:nvPicPr>
        <p:blipFill>
          <a:blip r:embed="rId5"/>
          <a:stretch>
            <a:fillRect/>
          </a:stretch>
        </p:blipFill>
        <p:spPr>
          <a:xfrm>
            <a:off x="7307885" y="3970325"/>
            <a:ext cx="380390" cy="380390"/>
          </a:xfrm>
          <a:prstGeom prst="rect">
            <a:avLst/>
          </a:prstGeom>
        </p:spPr>
      </p:pic>
      <p:sp>
        <p:nvSpPr>
          <p:cNvPr id="54" name="Text 47"/>
          <p:cNvSpPr/>
          <p:nvPr/>
        </p:nvSpPr>
        <p:spPr>
          <a:xfrm>
            <a:off x="8001000" y="3703320"/>
            <a:ext cx="3429000" cy="457200"/>
          </a:xfrm>
          <a:prstGeom prst="rect">
            <a:avLst/>
          </a:prstGeom>
          <a:noFill/>
          <a:ln/>
        </p:spPr>
        <p:txBody>
          <a:bodyPr wrap="square" rtlCol="0" anchor="ctr"/>
          <a:lstStyle/>
          <a:p>
            <a:pPr indent="0" marL="0">
              <a:buNone/>
            </a:pPr>
            <a:r>
              <a:rPr lang="en-US" sz="1300" b="1" dirty="0">
                <a:solidFill>
                  <a:srgbClr val="232F3E"/>
                </a:solidFill>
                <a:latin typeface="Arial" pitchFamily="34" charset="0"/>
                <a:ea typeface="Arial" pitchFamily="34" charset="-122"/>
                <a:cs typeface="Arial" pitchFamily="34" charset="-120"/>
              </a:rPr>
              <a:t>You'll Know It Worked When…</a:t>
            </a:r>
            <a:endParaRPr lang="en-US" sz="1300" dirty="0"/>
          </a:p>
        </p:txBody>
      </p:sp>
      <p:sp>
        <p:nvSpPr>
          <p:cNvPr id="55" name="Text 48"/>
          <p:cNvSpPr/>
          <p:nvPr/>
        </p:nvSpPr>
        <p:spPr>
          <a:xfrm>
            <a:off x="8001000" y="4114800"/>
            <a:ext cx="3429000" cy="914400"/>
          </a:xfrm>
          <a:prstGeom prst="rect">
            <a:avLst/>
          </a:prstGeom>
          <a:noFill/>
          <a:ln/>
        </p:spPr>
        <p:txBody>
          <a:bodyPr wrap="square" rtlCol="0" anchor="t"/>
          <a:lstStyle/>
          <a:p>
            <a:pPr indent="0" marL="0">
              <a:buNone/>
            </a:pPr>
            <a:r>
              <a:rPr lang="en-US" sz="1100" dirty="0">
                <a:solidFill>
                  <a:srgbClr val="5A6B75"/>
                </a:solidFill>
                <a:latin typeface="Calibri" pitchFamily="34" charset="0"/>
                <a:ea typeface="Calibri" pitchFamily="34" charset="-122"/>
                <a:cs typeface="Calibri" pitchFamily="34" charset="-120"/>
              </a:rPr>
              <a:t>Your EC2 instance gets a public IP, you can SSH into it, and it can successfully ping the public Internet.</a:t>
            </a:r>
            <a:endParaRPr lang="en-US" sz="1100" dirty="0"/>
          </a:p>
        </p:txBody>
      </p:sp>
      <p:sp>
        <p:nvSpPr>
          <p:cNvPr id="56" name="Text 49"/>
          <p:cNvSpPr/>
          <p:nvPr/>
        </p:nvSpPr>
        <p:spPr>
          <a:xfrm>
            <a:off x="6995160" y="5212080"/>
            <a:ext cx="4480560" cy="365760"/>
          </a:xfrm>
          <a:prstGeom prst="rect">
            <a:avLst/>
          </a:prstGeom>
          <a:noFill/>
          <a:ln/>
        </p:spPr>
        <p:txBody>
          <a:bodyPr wrap="square" rtlCol="0" anchor="ctr"/>
          <a:lstStyle/>
          <a:p>
            <a:pPr indent="0" marL="0">
              <a:buNone/>
            </a:pPr>
            <a:r>
              <a:rPr lang="en-US" sz="1050" i="1" dirty="0">
                <a:solidFill>
                  <a:srgbClr val="5A6B75"/>
                </a:solidFill>
                <a:latin typeface="Calibri" pitchFamily="34" charset="0"/>
                <a:ea typeface="Calibri" pitchFamily="34" charset="-122"/>
                <a:cs typeface="Calibri" pitchFamily="34" charset="-120"/>
              </a:rPr>
              <a:t>~30–45 minutes  ·  AWS Free Tier eligible</a:t>
            </a:r>
            <a:endParaRPr lang="en-US" sz="1050" dirty="0"/>
          </a:p>
        </p:txBody>
      </p:sp>
      <p:sp>
        <p:nvSpPr>
          <p:cNvPr id="57" name="Shape 50"/>
          <p:cNvSpPr/>
          <p:nvPr/>
        </p:nvSpPr>
        <p:spPr>
          <a:xfrm>
            <a:off x="548640" y="5943600"/>
            <a:ext cx="11091672" cy="566928"/>
          </a:xfrm>
          <a:prstGeom prst="roundRect">
            <a:avLst>
              <a:gd name="adj" fmla="val 12903"/>
            </a:avLst>
          </a:prstGeom>
          <a:solidFill>
            <a:srgbClr val="232F3E"/>
          </a:solidFill>
          <a:ln/>
        </p:spPr>
      </p:sp>
      <p:sp>
        <p:nvSpPr>
          <p:cNvPr id="58" name="Shape 51"/>
          <p:cNvSpPr/>
          <p:nvPr/>
        </p:nvSpPr>
        <p:spPr>
          <a:xfrm>
            <a:off x="704088" y="5998464"/>
            <a:ext cx="457200" cy="457200"/>
          </a:xfrm>
          <a:prstGeom prst="ellipse">
            <a:avLst/>
          </a:prstGeom>
          <a:solidFill>
            <a:srgbClr val="33455B"/>
          </a:solidFill>
          <a:ln/>
        </p:spPr>
      </p:sp>
      <p:pic>
        <p:nvPicPr>
          <p:cNvPr id="59" name="Image 5" descr="/home/claude/ppt3/icon_lightbulb_o.png">    </p:cNvPr>
          <p:cNvPicPr>
            <a:picLocks noChangeAspect="1"/>
          </p:cNvPicPr>
          <p:nvPr/>
        </p:nvPicPr>
        <p:blipFill>
          <a:blip r:embed="rId6"/>
          <a:stretch>
            <a:fillRect/>
          </a:stretch>
        </p:blipFill>
        <p:spPr>
          <a:xfrm>
            <a:off x="813816" y="6108192"/>
            <a:ext cx="237744" cy="237744"/>
          </a:xfrm>
          <a:prstGeom prst="rect">
            <a:avLst/>
          </a:prstGeom>
        </p:spPr>
      </p:pic>
      <p:sp>
        <p:nvSpPr>
          <p:cNvPr id="60" name="Text 52"/>
          <p:cNvSpPr/>
          <p:nvPr/>
        </p:nvSpPr>
        <p:spPr>
          <a:xfrm>
            <a:off x="1234440" y="594360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Terminate the EC2 instance when you're done — stay inside the Free Tier and avoid surprise charges.</a:t>
            </a:r>
            <a:endParaRPr lang="en-US" sz="1100" dirty="0"/>
          </a:p>
        </p:txBody>
      </p:sp>
      <p:sp>
        <p:nvSpPr>
          <p:cNvPr id="61" name="Text 53"/>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62" name="Text 54"/>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WRAP-UP</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Summary — What We Covered</a:t>
            </a:r>
            <a:endParaRPr lang="en-US" sz="2800" dirty="0"/>
          </a:p>
        </p:txBody>
      </p:sp>
      <p:sp>
        <p:nvSpPr>
          <p:cNvPr id="4" name="Shape 2"/>
          <p:cNvSpPr/>
          <p:nvPr/>
        </p:nvSpPr>
        <p:spPr>
          <a:xfrm>
            <a:off x="640080" y="1737360"/>
            <a:ext cx="329184" cy="329184"/>
          </a:xfrm>
          <a:prstGeom prst="ellipse">
            <a:avLst/>
          </a:prstGeom>
          <a:solidFill>
            <a:srgbClr val="FF9900"/>
          </a:solidFill>
          <a:ln/>
        </p:spPr>
      </p:sp>
      <p:sp>
        <p:nvSpPr>
          <p:cNvPr id="5" name="Text 3"/>
          <p:cNvSpPr/>
          <p:nvPr/>
        </p:nvSpPr>
        <p:spPr>
          <a:xfrm>
            <a:off x="640080" y="1737360"/>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6" name="Text 4"/>
          <p:cNvSpPr/>
          <p:nvPr/>
        </p:nvSpPr>
        <p:spPr>
          <a:xfrm>
            <a:off x="1143000" y="1691640"/>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Networks connect devices to exchange data, at different scales (PAN to Internet)</a:t>
            </a:r>
            <a:endParaRPr lang="en-US" sz="1350" dirty="0"/>
          </a:p>
        </p:txBody>
      </p:sp>
      <p:sp>
        <p:nvSpPr>
          <p:cNvPr id="7" name="Shape 5"/>
          <p:cNvSpPr/>
          <p:nvPr/>
        </p:nvSpPr>
        <p:spPr>
          <a:xfrm>
            <a:off x="640080" y="2304288"/>
            <a:ext cx="329184" cy="329184"/>
          </a:xfrm>
          <a:prstGeom prst="ellipse">
            <a:avLst/>
          </a:prstGeom>
          <a:solidFill>
            <a:srgbClr val="161E2D"/>
          </a:solidFill>
          <a:ln/>
        </p:spPr>
      </p:sp>
      <p:sp>
        <p:nvSpPr>
          <p:cNvPr id="8" name="Text 6"/>
          <p:cNvSpPr/>
          <p:nvPr/>
        </p:nvSpPr>
        <p:spPr>
          <a:xfrm>
            <a:off x="640080" y="2304288"/>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143000" y="2258568"/>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OSI &amp; TCP/IP models describe how data is layered and transmitted</a:t>
            </a:r>
            <a:endParaRPr lang="en-US" sz="1350" dirty="0"/>
          </a:p>
        </p:txBody>
      </p:sp>
      <p:sp>
        <p:nvSpPr>
          <p:cNvPr id="10" name="Shape 8"/>
          <p:cNvSpPr/>
          <p:nvPr/>
        </p:nvSpPr>
        <p:spPr>
          <a:xfrm>
            <a:off x="640080" y="2871216"/>
            <a:ext cx="329184" cy="329184"/>
          </a:xfrm>
          <a:prstGeom prst="ellipse">
            <a:avLst/>
          </a:prstGeom>
          <a:solidFill>
            <a:srgbClr val="FF9900"/>
          </a:solidFill>
          <a:ln/>
        </p:spPr>
      </p:sp>
      <p:sp>
        <p:nvSpPr>
          <p:cNvPr id="11" name="Text 9"/>
          <p:cNvSpPr/>
          <p:nvPr/>
        </p:nvSpPr>
        <p:spPr>
          <a:xfrm>
            <a:off x="640080" y="2871216"/>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p:nvPr/>
        </p:nvSpPr>
        <p:spPr>
          <a:xfrm>
            <a:off x="1143000" y="2825496"/>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IPv4 addresses, subnetting &amp; CIDR define how devices are organized and addressed</a:t>
            </a:r>
            <a:endParaRPr lang="en-US" sz="1350" dirty="0"/>
          </a:p>
        </p:txBody>
      </p:sp>
      <p:sp>
        <p:nvSpPr>
          <p:cNvPr id="13" name="Shape 11"/>
          <p:cNvSpPr/>
          <p:nvPr/>
        </p:nvSpPr>
        <p:spPr>
          <a:xfrm>
            <a:off x="640080" y="3438144"/>
            <a:ext cx="329184" cy="329184"/>
          </a:xfrm>
          <a:prstGeom prst="ellipse">
            <a:avLst/>
          </a:prstGeom>
          <a:solidFill>
            <a:srgbClr val="161E2D"/>
          </a:solidFill>
          <a:ln/>
        </p:spPr>
      </p:sp>
      <p:sp>
        <p:nvSpPr>
          <p:cNvPr id="14" name="Text 12"/>
          <p:cNvSpPr/>
          <p:nvPr/>
        </p:nvSpPr>
        <p:spPr>
          <a:xfrm>
            <a:off x="640080" y="3438144"/>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5" name="Text 13"/>
          <p:cNvSpPr/>
          <p:nvPr/>
        </p:nvSpPr>
        <p:spPr>
          <a:xfrm>
            <a:off x="1143000" y="3392424"/>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Ports &amp; protocols identify which service traffic is meant for, and how it's delivered</a:t>
            </a:r>
            <a:endParaRPr lang="en-US" sz="1350" dirty="0"/>
          </a:p>
        </p:txBody>
      </p:sp>
      <p:sp>
        <p:nvSpPr>
          <p:cNvPr id="16" name="Shape 14"/>
          <p:cNvSpPr/>
          <p:nvPr/>
        </p:nvSpPr>
        <p:spPr>
          <a:xfrm>
            <a:off x="640080" y="4005072"/>
            <a:ext cx="329184" cy="329184"/>
          </a:xfrm>
          <a:prstGeom prst="ellipse">
            <a:avLst/>
          </a:prstGeom>
          <a:solidFill>
            <a:srgbClr val="FF9900"/>
          </a:solidFill>
          <a:ln/>
        </p:spPr>
      </p:sp>
      <p:sp>
        <p:nvSpPr>
          <p:cNvPr id="17" name="Text 15"/>
          <p:cNvSpPr/>
          <p:nvPr/>
        </p:nvSpPr>
        <p:spPr>
          <a:xfrm>
            <a:off x="640080" y="4005072"/>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p:nvPr/>
        </p:nvSpPr>
        <p:spPr>
          <a:xfrm>
            <a:off x="1143000" y="3959352"/>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DNS, DHCP, NAT, firewalls &amp; VPNs are core services enabling and securing connectivity</a:t>
            </a:r>
            <a:endParaRPr lang="en-US" sz="1350" dirty="0"/>
          </a:p>
        </p:txBody>
      </p:sp>
      <p:sp>
        <p:nvSpPr>
          <p:cNvPr id="19" name="Shape 17"/>
          <p:cNvSpPr/>
          <p:nvPr/>
        </p:nvSpPr>
        <p:spPr>
          <a:xfrm>
            <a:off x="640080" y="4572000"/>
            <a:ext cx="329184" cy="329184"/>
          </a:xfrm>
          <a:prstGeom prst="ellipse">
            <a:avLst/>
          </a:prstGeom>
          <a:solidFill>
            <a:srgbClr val="161E2D"/>
          </a:solidFill>
          <a:ln/>
        </p:spPr>
      </p:sp>
      <p:sp>
        <p:nvSpPr>
          <p:cNvPr id="20" name="Text 18"/>
          <p:cNvSpPr/>
          <p:nvPr/>
        </p:nvSpPr>
        <p:spPr>
          <a:xfrm>
            <a:off x="640080" y="4572000"/>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1" name="Text 19"/>
          <p:cNvSpPr/>
          <p:nvPr/>
        </p:nvSpPr>
        <p:spPr>
          <a:xfrm>
            <a:off x="1143000" y="4526280"/>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Troubleshooting tools help diagnose problems layer by layer</a:t>
            </a:r>
            <a:endParaRPr lang="en-US" sz="1350" dirty="0"/>
          </a:p>
        </p:txBody>
      </p:sp>
      <p:sp>
        <p:nvSpPr>
          <p:cNvPr id="22" name="Shape 20"/>
          <p:cNvSpPr/>
          <p:nvPr/>
        </p:nvSpPr>
        <p:spPr>
          <a:xfrm>
            <a:off x="640080" y="5138928"/>
            <a:ext cx="329184" cy="329184"/>
          </a:xfrm>
          <a:prstGeom prst="ellipse">
            <a:avLst/>
          </a:prstGeom>
          <a:solidFill>
            <a:srgbClr val="FF9900"/>
          </a:solidFill>
          <a:ln/>
        </p:spPr>
      </p:sp>
      <p:sp>
        <p:nvSpPr>
          <p:cNvPr id="23" name="Text 21"/>
          <p:cNvSpPr/>
          <p:nvPr/>
        </p:nvSpPr>
        <p:spPr>
          <a:xfrm>
            <a:off x="640080" y="5138928"/>
            <a:ext cx="329184" cy="329184"/>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4" name="Text 22"/>
          <p:cNvSpPr/>
          <p:nvPr/>
        </p:nvSpPr>
        <p:spPr>
          <a:xfrm>
            <a:off x="1143000" y="5093208"/>
            <a:ext cx="10424160" cy="502920"/>
          </a:xfrm>
          <a:prstGeom prst="rect">
            <a:avLst/>
          </a:prstGeom>
          <a:noFill/>
          <a:ln/>
        </p:spPr>
        <p:txBody>
          <a:bodyPr wrap="square" rtlCol="0" anchor="ctr"/>
          <a:lstStyle/>
          <a:p>
            <a:pPr indent="0" marL="0">
              <a:buNone/>
            </a:pPr>
            <a:r>
              <a:rPr lang="en-US" sz="1350" dirty="0">
                <a:solidFill>
                  <a:srgbClr val="E9EDF1"/>
                </a:solidFill>
                <a:latin typeface="Calibri" pitchFamily="34" charset="0"/>
                <a:ea typeface="Calibri" pitchFamily="34" charset="-122"/>
                <a:cs typeface="Calibri" pitchFamily="34" charset="-120"/>
              </a:rPr>
              <a:t>Every concept maps directly onto AWS VPC networking</a:t>
            </a:r>
            <a:endParaRPr lang="en-US" sz="1350" dirty="0"/>
          </a:p>
        </p:txBody>
      </p:sp>
      <p:sp>
        <p:nvSpPr>
          <p:cNvPr id="25" name="Text 23"/>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26" name="Text 24"/>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COMMON MISTAKES</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Avoid These Networking Pitfalls</a:t>
            </a:r>
            <a:endParaRPr lang="en-US" sz="2800" dirty="0"/>
          </a:p>
        </p:txBody>
      </p:sp>
      <p:sp>
        <p:nvSpPr>
          <p:cNvPr id="4" name="Shape 2"/>
          <p:cNvSpPr/>
          <p:nvPr/>
        </p:nvSpPr>
        <p:spPr>
          <a:xfrm>
            <a:off x="580644" y="1920240"/>
            <a:ext cx="2606040" cy="3017520"/>
          </a:xfrm>
          <a:prstGeom prst="roundRect">
            <a:avLst>
              <a:gd name="adj" fmla="val 3509"/>
            </a:avLst>
          </a:prstGeom>
          <a:solidFill>
            <a:srgbClr val="161E2D"/>
          </a:solidFill>
          <a:ln w="12700">
            <a:solidFill>
              <a:srgbClr val="E5533D"/>
            </a:solidFill>
            <a:prstDash val="solid"/>
          </a:ln>
        </p:spPr>
      </p:sp>
      <p:sp>
        <p:nvSpPr>
          <p:cNvPr id="5" name="Shape 3"/>
          <p:cNvSpPr/>
          <p:nvPr/>
        </p:nvSpPr>
        <p:spPr>
          <a:xfrm>
            <a:off x="1449324" y="2263140"/>
            <a:ext cx="868680" cy="868680"/>
          </a:xfrm>
          <a:prstGeom prst="ellipse">
            <a:avLst/>
          </a:prstGeom>
          <a:solidFill>
            <a:srgbClr val="3A2A26"/>
          </a:solidFill>
          <a:ln/>
        </p:spPr>
      </p:sp>
      <p:pic>
        <p:nvPicPr>
          <p:cNvPr id="6" name="Image 0" descr="/home/claude/ppt3/icon_bug_w.png">    </p:cNvPr>
          <p:cNvPicPr>
            <a:picLocks noChangeAspect="1"/>
          </p:cNvPicPr>
          <p:nvPr/>
        </p:nvPicPr>
        <p:blipFill>
          <a:blip r:embed="rId1"/>
          <a:stretch>
            <a:fillRect/>
          </a:stretch>
        </p:blipFill>
        <p:spPr>
          <a:xfrm>
            <a:off x="1657807" y="2471623"/>
            <a:ext cx="451714" cy="451714"/>
          </a:xfrm>
          <a:prstGeom prst="rect">
            <a:avLst/>
          </a:prstGeom>
        </p:spPr>
      </p:pic>
      <p:sp>
        <p:nvSpPr>
          <p:cNvPr id="7" name="Text 4"/>
          <p:cNvSpPr/>
          <p:nvPr/>
        </p:nvSpPr>
        <p:spPr>
          <a:xfrm>
            <a:off x="717804" y="3291840"/>
            <a:ext cx="2331720" cy="502920"/>
          </a:xfrm>
          <a:prstGeom prst="rect">
            <a:avLst/>
          </a:prstGeom>
          <a:noFill/>
          <a:ln/>
        </p:spPr>
        <p:txBody>
          <a:bodyPr wrap="square" rtlCol="0" anchor="ctr"/>
          <a:lstStyle/>
          <a:p>
            <a:pPr algn="ctr" indent="0" marL="0">
              <a:buNone/>
            </a:pPr>
            <a:r>
              <a:rPr lang="en-US" sz="1300" b="1" dirty="0">
                <a:solidFill>
                  <a:srgbClr val="FFB199"/>
                </a:solidFill>
                <a:latin typeface="Arial" pitchFamily="34" charset="0"/>
                <a:ea typeface="Arial" pitchFamily="34" charset="-122"/>
                <a:cs typeface="Arial" pitchFamily="34" charset="-120"/>
              </a:rPr>
              <a:t>CIDR Confusion</a:t>
            </a:r>
            <a:endParaRPr lang="en-US" sz="1300" dirty="0"/>
          </a:p>
        </p:txBody>
      </p:sp>
      <p:sp>
        <p:nvSpPr>
          <p:cNvPr id="8" name="Text 5"/>
          <p:cNvSpPr/>
          <p:nvPr/>
        </p:nvSpPr>
        <p:spPr>
          <a:xfrm>
            <a:off x="763524" y="3840480"/>
            <a:ext cx="2240280" cy="1005840"/>
          </a:xfrm>
          <a:prstGeom prst="rect">
            <a:avLst/>
          </a:prstGeom>
          <a:noFill/>
          <a:ln/>
        </p:spPr>
        <p:txBody>
          <a:bodyPr wrap="square" rtlCol="0" anchor="ctr"/>
          <a:lstStyle/>
          <a:p>
            <a:pPr algn="ctr" indent="0" marL="0">
              <a:buNone/>
            </a:pPr>
            <a:r>
              <a:rPr lang="en-US" sz="1050" dirty="0">
                <a:solidFill>
                  <a:srgbClr val="C7D1D9"/>
                </a:solidFill>
                <a:latin typeface="Calibri" pitchFamily="34" charset="0"/>
                <a:ea typeface="Calibri" pitchFamily="34" charset="-122"/>
                <a:cs typeface="Calibri" pitchFamily="34" charset="-120"/>
              </a:rPr>
              <a:t>Thinking a higher CIDR number (e.g. /28) means a bigger network than a lower one (e.g. /24).</a:t>
            </a:r>
            <a:endParaRPr lang="en-US" sz="1050" dirty="0"/>
          </a:p>
        </p:txBody>
      </p:sp>
      <p:sp>
        <p:nvSpPr>
          <p:cNvPr id="9" name="Shape 6"/>
          <p:cNvSpPr/>
          <p:nvPr/>
        </p:nvSpPr>
        <p:spPr>
          <a:xfrm>
            <a:off x="3387852" y="1920240"/>
            <a:ext cx="2606040" cy="3017520"/>
          </a:xfrm>
          <a:prstGeom prst="roundRect">
            <a:avLst>
              <a:gd name="adj" fmla="val 3509"/>
            </a:avLst>
          </a:prstGeom>
          <a:solidFill>
            <a:srgbClr val="161E2D"/>
          </a:solidFill>
          <a:ln w="12700">
            <a:solidFill>
              <a:srgbClr val="E5533D"/>
            </a:solidFill>
            <a:prstDash val="solid"/>
          </a:ln>
        </p:spPr>
      </p:sp>
      <p:sp>
        <p:nvSpPr>
          <p:cNvPr id="10" name="Shape 7"/>
          <p:cNvSpPr/>
          <p:nvPr/>
        </p:nvSpPr>
        <p:spPr>
          <a:xfrm>
            <a:off x="4256532" y="2263140"/>
            <a:ext cx="868680" cy="868680"/>
          </a:xfrm>
          <a:prstGeom prst="ellipse">
            <a:avLst/>
          </a:prstGeom>
          <a:solidFill>
            <a:srgbClr val="3A2A26"/>
          </a:solidFill>
          <a:ln/>
        </p:spPr>
      </p:sp>
      <p:pic>
        <p:nvPicPr>
          <p:cNvPr id="11" name="Image 1" descr="/home/claude/ppt3/icon_router_w.png">    </p:cNvPr>
          <p:cNvPicPr>
            <a:picLocks noChangeAspect="1"/>
          </p:cNvPicPr>
          <p:nvPr/>
        </p:nvPicPr>
        <p:blipFill>
          <a:blip r:embed="rId2"/>
          <a:stretch>
            <a:fillRect/>
          </a:stretch>
        </p:blipFill>
        <p:spPr>
          <a:xfrm>
            <a:off x="4465015" y="2471623"/>
            <a:ext cx="451714" cy="451714"/>
          </a:xfrm>
          <a:prstGeom prst="rect">
            <a:avLst/>
          </a:prstGeom>
        </p:spPr>
      </p:pic>
      <p:sp>
        <p:nvSpPr>
          <p:cNvPr id="12" name="Text 8"/>
          <p:cNvSpPr/>
          <p:nvPr/>
        </p:nvSpPr>
        <p:spPr>
          <a:xfrm>
            <a:off x="3525012" y="3291840"/>
            <a:ext cx="2331720" cy="502920"/>
          </a:xfrm>
          <a:prstGeom prst="rect">
            <a:avLst/>
          </a:prstGeom>
          <a:noFill/>
          <a:ln/>
        </p:spPr>
        <p:txBody>
          <a:bodyPr wrap="square" rtlCol="0" anchor="ctr"/>
          <a:lstStyle/>
          <a:p>
            <a:pPr algn="ctr" indent="0" marL="0">
              <a:buNone/>
            </a:pPr>
            <a:r>
              <a:rPr lang="en-US" sz="1300" b="1" dirty="0">
                <a:solidFill>
                  <a:srgbClr val="FFB199"/>
                </a:solidFill>
                <a:latin typeface="Arial" pitchFamily="34" charset="0"/>
                <a:ea typeface="Arial" pitchFamily="34" charset="-122"/>
                <a:cs typeface="Arial" pitchFamily="34" charset="-120"/>
              </a:rPr>
              <a:t>Missing Default Gateway</a:t>
            </a:r>
            <a:endParaRPr lang="en-US" sz="1300" dirty="0"/>
          </a:p>
        </p:txBody>
      </p:sp>
      <p:sp>
        <p:nvSpPr>
          <p:cNvPr id="13" name="Text 9"/>
          <p:cNvSpPr/>
          <p:nvPr/>
        </p:nvSpPr>
        <p:spPr>
          <a:xfrm>
            <a:off x="3570732" y="3840480"/>
            <a:ext cx="2240280" cy="1005840"/>
          </a:xfrm>
          <a:prstGeom prst="rect">
            <a:avLst/>
          </a:prstGeom>
          <a:noFill/>
          <a:ln/>
        </p:spPr>
        <p:txBody>
          <a:bodyPr wrap="square" rtlCol="0" anchor="ctr"/>
          <a:lstStyle/>
          <a:p>
            <a:pPr algn="ctr" indent="0" marL="0">
              <a:buNone/>
            </a:pPr>
            <a:r>
              <a:rPr lang="en-US" sz="1050" dirty="0">
                <a:solidFill>
                  <a:srgbClr val="C7D1D9"/>
                </a:solidFill>
                <a:latin typeface="Calibri" pitchFamily="34" charset="0"/>
                <a:ea typeface="Calibri" pitchFamily="34" charset="-122"/>
                <a:cs typeface="Calibri" pitchFamily="34" charset="-120"/>
              </a:rPr>
              <a:t>Assuming devices can reach the Internet without a correctly set gateway.</a:t>
            </a:r>
            <a:endParaRPr lang="en-US" sz="1050" dirty="0"/>
          </a:p>
        </p:txBody>
      </p:sp>
      <p:sp>
        <p:nvSpPr>
          <p:cNvPr id="14" name="Shape 10"/>
          <p:cNvSpPr/>
          <p:nvPr/>
        </p:nvSpPr>
        <p:spPr>
          <a:xfrm>
            <a:off x="6195060" y="1920240"/>
            <a:ext cx="2606040" cy="3017520"/>
          </a:xfrm>
          <a:prstGeom prst="roundRect">
            <a:avLst>
              <a:gd name="adj" fmla="val 3509"/>
            </a:avLst>
          </a:prstGeom>
          <a:solidFill>
            <a:srgbClr val="161E2D"/>
          </a:solidFill>
          <a:ln w="12700">
            <a:solidFill>
              <a:srgbClr val="E5533D"/>
            </a:solidFill>
            <a:prstDash val="solid"/>
          </a:ln>
        </p:spPr>
      </p:sp>
      <p:sp>
        <p:nvSpPr>
          <p:cNvPr id="15" name="Shape 11"/>
          <p:cNvSpPr/>
          <p:nvPr/>
        </p:nvSpPr>
        <p:spPr>
          <a:xfrm>
            <a:off x="7063740" y="2263140"/>
            <a:ext cx="868680" cy="868680"/>
          </a:xfrm>
          <a:prstGeom prst="ellipse">
            <a:avLst/>
          </a:prstGeom>
          <a:solidFill>
            <a:srgbClr val="3A2A26"/>
          </a:solidFill>
          <a:ln/>
        </p:spPr>
      </p:sp>
      <p:pic>
        <p:nvPicPr>
          <p:cNvPr id="16" name="Image 2" descr="/home/claude/ppt3/icon_shield_w.png">    </p:cNvPr>
          <p:cNvPicPr>
            <a:picLocks noChangeAspect="1"/>
          </p:cNvPicPr>
          <p:nvPr/>
        </p:nvPicPr>
        <p:blipFill>
          <a:blip r:embed="rId3"/>
          <a:stretch>
            <a:fillRect/>
          </a:stretch>
        </p:blipFill>
        <p:spPr>
          <a:xfrm>
            <a:off x="7272223" y="2471623"/>
            <a:ext cx="451714" cy="451714"/>
          </a:xfrm>
          <a:prstGeom prst="rect">
            <a:avLst/>
          </a:prstGeom>
        </p:spPr>
      </p:pic>
      <p:sp>
        <p:nvSpPr>
          <p:cNvPr id="17" name="Text 12"/>
          <p:cNvSpPr/>
          <p:nvPr/>
        </p:nvSpPr>
        <p:spPr>
          <a:xfrm>
            <a:off x="6332220" y="3291840"/>
            <a:ext cx="2331720" cy="502920"/>
          </a:xfrm>
          <a:prstGeom prst="rect">
            <a:avLst/>
          </a:prstGeom>
          <a:noFill/>
          <a:ln/>
        </p:spPr>
        <p:txBody>
          <a:bodyPr wrap="square" rtlCol="0" anchor="ctr"/>
          <a:lstStyle/>
          <a:p>
            <a:pPr algn="ctr" indent="0" marL="0">
              <a:buNone/>
            </a:pPr>
            <a:r>
              <a:rPr lang="en-US" sz="1300" b="1" dirty="0">
                <a:solidFill>
                  <a:srgbClr val="FFB199"/>
                </a:solidFill>
                <a:latin typeface="Arial" pitchFamily="34" charset="0"/>
                <a:ea typeface="Arial" pitchFamily="34" charset="-122"/>
                <a:cs typeface="Arial" pitchFamily="34" charset="-120"/>
              </a:rPr>
              <a:t>Overly Open Firewalls</a:t>
            </a:r>
            <a:endParaRPr lang="en-US" sz="1300" dirty="0"/>
          </a:p>
        </p:txBody>
      </p:sp>
      <p:sp>
        <p:nvSpPr>
          <p:cNvPr id="18" name="Text 13"/>
          <p:cNvSpPr/>
          <p:nvPr/>
        </p:nvSpPr>
        <p:spPr>
          <a:xfrm>
            <a:off x="6377940" y="3840480"/>
            <a:ext cx="2240280" cy="1005840"/>
          </a:xfrm>
          <a:prstGeom prst="rect">
            <a:avLst/>
          </a:prstGeom>
          <a:noFill/>
          <a:ln/>
        </p:spPr>
        <p:txBody>
          <a:bodyPr wrap="square" rtlCol="0" anchor="ctr"/>
          <a:lstStyle/>
          <a:p>
            <a:pPr algn="ctr" indent="0" marL="0">
              <a:buNone/>
            </a:pPr>
            <a:r>
              <a:rPr lang="en-US" sz="1050" dirty="0">
                <a:solidFill>
                  <a:srgbClr val="C7D1D9"/>
                </a:solidFill>
                <a:latin typeface="Calibri" pitchFamily="34" charset="0"/>
                <a:ea typeface="Calibri" pitchFamily="34" charset="-122"/>
                <a:cs typeface="Calibri" pitchFamily="34" charset="-120"/>
              </a:rPr>
              <a:t>Opening all ports “just to make it work” instead of allowing only what's needed.</a:t>
            </a:r>
            <a:endParaRPr lang="en-US" sz="1050" dirty="0"/>
          </a:p>
        </p:txBody>
      </p:sp>
      <p:sp>
        <p:nvSpPr>
          <p:cNvPr id="19" name="Shape 14"/>
          <p:cNvSpPr/>
          <p:nvPr/>
        </p:nvSpPr>
        <p:spPr>
          <a:xfrm>
            <a:off x="9002268" y="1920240"/>
            <a:ext cx="2606040" cy="3017520"/>
          </a:xfrm>
          <a:prstGeom prst="roundRect">
            <a:avLst>
              <a:gd name="adj" fmla="val 3509"/>
            </a:avLst>
          </a:prstGeom>
          <a:solidFill>
            <a:srgbClr val="161E2D"/>
          </a:solidFill>
          <a:ln w="12700">
            <a:solidFill>
              <a:srgbClr val="E5533D"/>
            </a:solidFill>
            <a:prstDash val="solid"/>
          </a:ln>
        </p:spPr>
      </p:sp>
      <p:sp>
        <p:nvSpPr>
          <p:cNvPr id="20" name="Shape 15"/>
          <p:cNvSpPr/>
          <p:nvPr/>
        </p:nvSpPr>
        <p:spPr>
          <a:xfrm>
            <a:off x="9870948" y="2263140"/>
            <a:ext cx="868680" cy="868680"/>
          </a:xfrm>
          <a:prstGeom prst="ellipse">
            <a:avLst/>
          </a:prstGeom>
          <a:solidFill>
            <a:srgbClr val="3A2A26"/>
          </a:solidFill>
          <a:ln/>
        </p:spPr>
      </p:sp>
      <p:pic>
        <p:nvPicPr>
          <p:cNvPr id="21" name="Image 3" descr="/home/claude/ppt3/icon_lockopen_w.png">    </p:cNvPr>
          <p:cNvPicPr>
            <a:picLocks noChangeAspect="1"/>
          </p:cNvPicPr>
          <p:nvPr/>
        </p:nvPicPr>
        <p:blipFill>
          <a:blip r:embed="rId4"/>
          <a:stretch>
            <a:fillRect/>
          </a:stretch>
        </p:blipFill>
        <p:spPr>
          <a:xfrm>
            <a:off x="10079431" y="2471623"/>
            <a:ext cx="451714" cy="451714"/>
          </a:xfrm>
          <a:prstGeom prst="rect">
            <a:avLst/>
          </a:prstGeom>
        </p:spPr>
      </p:pic>
      <p:sp>
        <p:nvSpPr>
          <p:cNvPr id="22" name="Text 16"/>
          <p:cNvSpPr/>
          <p:nvPr/>
        </p:nvSpPr>
        <p:spPr>
          <a:xfrm>
            <a:off x="9139428" y="3291840"/>
            <a:ext cx="2331720" cy="502920"/>
          </a:xfrm>
          <a:prstGeom prst="rect">
            <a:avLst/>
          </a:prstGeom>
          <a:noFill/>
          <a:ln/>
        </p:spPr>
        <p:txBody>
          <a:bodyPr wrap="square" rtlCol="0" anchor="ctr"/>
          <a:lstStyle/>
          <a:p>
            <a:pPr algn="ctr" indent="0" marL="0">
              <a:buNone/>
            </a:pPr>
            <a:r>
              <a:rPr lang="en-US" sz="1300" b="1" dirty="0">
                <a:solidFill>
                  <a:srgbClr val="FFB199"/>
                </a:solidFill>
                <a:latin typeface="Arial" pitchFamily="34" charset="0"/>
                <a:ea typeface="Arial" pitchFamily="34" charset="-122"/>
                <a:cs typeface="Arial" pitchFamily="34" charset="-120"/>
              </a:rPr>
              <a:t>Confusing NAT with Security</a:t>
            </a:r>
            <a:endParaRPr lang="en-US" sz="1300" dirty="0"/>
          </a:p>
        </p:txBody>
      </p:sp>
      <p:sp>
        <p:nvSpPr>
          <p:cNvPr id="23" name="Text 17"/>
          <p:cNvSpPr/>
          <p:nvPr/>
        </p:nvSpPr>
        <p:spPr>
          <a:xfrm>
            <a:off x="9185148" y="3840480"/>
            <a:ext cx="2240280" cy="1005840"/>
          </a:xfrm>
          <a:prstGeom prst="rect">
            <a:avLst/>
          </a:prstGeom>
          <a:noFill/>
          <a:ln/>
        </p:spPr>
        <p:txBody>
          <a:bodyPr wrap="square" rtlCol="0" anchor="ctr"/>
          <a:lstStyle/>
          <a:p>
            <a:pPr algn="ctr" indent="0" marL="0">
              <a:buNone/>
            </a:pPr>
            <a:r>
              <a:rPr lang="en-US" sz="1050" dirty="0">
                <a:solidFill>
                  <a:srgbClr val="C7D1D9"/>
                </a:solidFill>
                <a:latin typeface="Calibri" pitchFamily="34" charset="0"/>
                <a:ea typeface="Calibri" pitchFamily="34" charset="-122"/>
                <a:cs typeface="Calibri" pitchFamily="34" charset="-120"/>
              </a:rPr>
              <a:t>Believing NAT alone makes a private network secure, rather than just address-hidden.</a:t>
            </a:r>
            <a:endParaRPr lang="en-US" sz="1050" dirty="0"/>
          </a:p>
        </p:txBody>
      </p:sp>
      <p:sp>
        <p:nvSpPr>
          <p:cNvPr id="24" name="Shape 18"/>
          <p:cNvSpPr/>
          <p:nvPr/>
        </p:nvSpPr>
        <p:spPr>
          <a:xfrm>
            <a:off x="548640" y="5212080"/>
            <a:ext cx="11091672" cy="566928"/>
          </a:xfrm>
          <a:prstGeom prst="roundRect">
            <a:avLst>
              <a:gd name="adj" fmla="val 12903"/>
            </a:avLst>
          </a:prstGeom>
          <a:solidFill>
            <a:srgbClr val="232F3E"/>
          </a:solidFill>
          <a:ln/>
        </p:spPr>
      </p:sp>
      <p:sp>
        <p:nvSpPr>
          <p:cNvPr id="25" name="Shape 19"/>
          <p:cNvSpPr/>
          <p:nvPr/>
        </p:nvSpPr>
        <p:spPr>
          <a:xfrm>
            <a:off x="704088" y="5266944"/>
            <a:ext cx="457200" cy="457200"/>
          </a:xfrm>
          <a:prstGeom prst="ellipse">
            <a:avLst/>
          </a:prstGeom>
          <a:solidFill>
            <a:srgbClr val="33455B"/>
          </a:solidFill>
          <a:ln/>
        </p:spPr>
      </p:sp>
      <p:pic>
        <p:nvPicPr>
          <p:cNvPr id="26" name="Image 4" descr="/home/claude/ppt3/icon_lightbulb_o.png">    </p:cNvPr>
          <p:cNvPicPr>
            <a:picLocks noChangeAspect="1"/>
          </p:cNvPicPr>
          <p:nvPr/>
        </p:nvPicPr>
        <p:blipFill>
          <a:blip r:embed="rId5"/>
          <a:stretch>
            <a:fillRect/>
          </a:stretch>
        </p:blipFill>
        <p:spPr>
          <a:xfrm>
            <a:off x="813816" y="5376672"/>
            <a:ext cx="237744" cy="237744"/>
          </a:xfrm>
          <a:prstGeom prst="rect">
            <a:avLst/>
          </a:prstGeom>
        </p:spPr>
      </p:pic>
      <p:sp>
        <p:nvSpPr>
          <p:cNvPr id="27" name="Text 20"/>
          <p:cNvSpPr/>
          <p:nvPr/>
        </p:nvSpPr>
        <p:spPr>
          <a:xfrm>
            <a:off x="1234440" y="521208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When troubleshooting, check in order: cable/WiFi → IP config → gateway → DNS → firewall/ports.</a:t>
            </a:r>
            <a:endParaRPr lang="en-US" sz="1100" dirty="0"/>
          </a:p>
        </p:txBody>
      </p:sp>
      <p:sp>
        <p:nvSpPr>
          <p:cNvPr id="28" name="Text 2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29" name="Text 2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Quiz — Questions 1–5</a:t>
            </a:r>
            <a:endParaRPr lang="en-US" sz="2800" dirty="0"/>
          </a:p>
        </p:txBody>
      </p:sp>
      <p:sp>
        <p:nvSpPr>
          <p:cNvPr id="4" name="Shape 2"/>
          <p:cNvSpPr/>
          <p:nvPr/>
        </p:nvSpPr>
        <p:spPr>
          <a:xfrm>
            <a:off x="548640" y="1554480"/>
            <a:ext cx="11091672" cy="777240"/>
          </a:xfrm>
          <a:prstGeom prst="roundRect">
            <a:avLst>
              <a:gd name="adj" fmla="val 9412"/>
            </a:avLst>
          </a:prstGeom>
          <a:solidFill>
            <a:srgbClr val="FFFFFF"/>
          </a:solidFill>
          <a:ln w="12700">
            <a:solidFill>
              <a:srgbClr val="D9DCE1"/>
            </a:solidFill>
            <a:prstDash val="solid"/>
          </a:ln>
        </p:spPr>
      </p:sp>
      <p:sp>
        <p:nvSpPr>
          <p:cNvPr id="5" name="Shape 3"/>
          <p:cNvSpPr/>
          <p:nvPr/>
        </p:nvSpPr>
        <p:spPr>
          <a:xfrm>
            <a:off x="777240" y="1728216"/>
            <a:ext cx="420624" cy="420624"/>
          </a:xfrm>
          <a:prstGeom prst="ellipse">
            <a:avLst/>
          </a:prstGeom>
          <a:solidFill>
            <a:srgbClr val="FF9900"/>
          </a:solidFill>
          <a:ln/>
        </p:spPr>
      </p:sp>
      <p:sp>
        <p:nvSpPr>
          <p:cNvPr id="6" name="Text 4"/>
          <p:cNvSpPr/>
          <p:nvPr/>
        </p:nvSpPr>
        <p:spPr>
          <a:xfrm>
            <a:off x="777240" y="172821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7" name="Text 5"/>
          <p:cNvSpPr/>
          <p:nvPr/>
        </p:nvSpPr>
        <p:spPr>
          <a:xfrm>
            <a:off x="1371600" y="155448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does a router primarily do?</a:t>
            </a:r>
            <a:endParaRPr lang="en-US" sz="1350" dirty="0"/>
          </a:p>
        </p:txBody>
      </p:sp>
      <p:sp>
        <p:nvSpPr>
          <p:cNvPr id="8" name="Shape 6"/>
          <p:cNvSpPr/>
          <p:nvPr/>
        </p:nvSpPr>
        <p:spPr>
          <a:xfrm>
            <a:off x="548640" y="2423160"/>
            <a:ext cx="11091672" cy="777240"/>
          </a:xfrm>
          <a:prstGeom prst="roundRect">
            <a:avLst>
              <a:gd name="adj" fmla="val 9412"/>
            </a:avLst>
          </a:prstGeom>
          <a:solidFill>
            <a:srgbClr val="FFFFFF"/>
          </a:solidFill>
          <a:ln w="12700">
            <a:solidFill>
              <a:srgbClr val="D9DCE1"/>
            </a:solidFill>
            <a:prstDash val="solid"/>
          </a:ln>
        </p:spPr>
      </p:sp>
      <p:sp>
        <p:nvSpPr>
          <p:cNvPr id="9" name="Shape 7"/>
          <p:cNvSpPr/>
          <p:nvPr/>
        </p:nvSpPr>
        <p:spPr>
          <a:xfrm>
            <a:off x="777240" y="2596896"/>
            <a:ext cx="420624" cy="420624"/>
          </a:xfrm>
          <a:prstGeom prst="ellipse">
            <a:avLst/>
          </a:prstGeom>
          <a:solidFill>
            <a:srgbClr val="232F3E"/>
          </a:solidFill>
          <a:ln/>
        </p:spPr>
      </p:sp>
      <p:sp>
        <p:nvSpPr>
          <p:cNvPr id="10" name="Text 8"/>
          <p:cNvSpPr/>
          <p:nvPr/>
        </p:nvSpPr>
        <p:spPr>
          <a:xfrm>
            <a:off x="777240" y="259689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1" name="Text 9"/>
          <p:cNvSpPr/>
          <p:nvPr/>
        </p:nvSpPr>
        <p:spPr>
          <a:xfrm>
            <a:off x="1371600" y="242316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Which OSI layer handles physical cables and radio signals?</a:t>
            </a:r>
            <a:endParaRPr lang="en-US" sz="1350" dirty="0"/>
          </a:p>
        </p:txBody>
      </p:sp>
      <p:sp>
        <p:nvSpPr>
          <p:cNvPr id="12" name="Shape 10"/>
          <p:cNvSpPr/>
          <p:nvPr/>
        </p:nvSpPr>
        <p:spPr>
          <a:xfrm>
            <a:off x="548640" y="3291840"/>
            <a:ext cx="11091672" cy="777240"/>
          </a:xfrm>
          <a:prstGeom prst="roundRect">
            <a:avLst>
              <a:gd name="adj" fmla="val 9412"/>
            </a:avLst>
          </a:prstGeom>
          <a:solidFill>
            <a:srgbClr val="FFFFFF"/>
          </a:solidFill>
          <a:ln w="12700">
            <a:solidFill>
              <a:srgbClr val="D9DCE1"/>
            </a:solidFill>
            <a:prstDash val="solid"/>
          </a:ln>
        </p:spPr>
      </p:sp>
      <p:sp>
        <p:nvSpPr>
          <p:cNvPr id="13" name="Shape 11"/>
          <p:cNvSpPr/>
          <p:nvPr/>
        </p:nvSpPr>
        <p:spPr>
          <a:xfrm>
            <a:off x="777240" y="3465576"/>
            <a:ext cx="420624" cy="420624"/>
          </a:xfrm>
          <a:prstGeom prst="ellipse">
            <a:avLst/>
          </a:prstGeom>
          <a:solidFill>
            <a:srgbClr val="FF9900"/>
          </a:solidFill>
          <a:ln/>
        </p:spPr>
      </p:sp>
      <p:sp>
        <p:nvSpPr>
          <p:cNvPr id="14" name="Text 12"/>
          <p:cNvSpPr/>
          <p:nvPr/>
        </p:nvSpPr>
        <p:spPr>
          <a:xfrm>
            <a:off x="777240" y="346557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5" name="Text 13"/>
          <p:cNvSpPr/>
          <p:nvPr/>
        </p:nvSpPr>
        <p:spPr>
          <a:xfrm>
            <a:off x="1371600" y="329184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Which model is actually implemented on the real Internet: OSI or TCP/IP?</a:t>
            </a:r>
            <a:endParaRPr lang="en-US" sz="1350" dirty="0"/>
          </a:p>
        </p:txBody>
      </p:sp>
      <p:sp>
        <p:nvSpPr>
          <p:cNvPr id="16" name="Shape 14"/>
          <p:cNvSpPr/>
          <p:nvPr/>
        </p:nvSpPr>
        <p:spPr>
          <a:xfrm>
            <a:off x="548640" y="4160520"/>
            <a:ext cx="11091672" cy="777240"/>
          </a:xfrm>
          <a:prstGeom prst="roundRect">
            <a:avLst>
              <a:gd name="adj" fmla="val 9412"/>
            </a:avLst>
          </a:prstGeom>
          <a:solidFill>
            <a:srgbClr val="FFFFFF"/>
          </a:solidFill>
          <a:ln w="12700">
            <a:solidFill>
              <a:srgbClr val="D9DCE1"/>
            </a:solidFill>
            <a:prstDash val="solid"/>
          </a:ln>
        </p:spPr>
      </p:sp>
      <p:sp>
        <p:nvSpPr>
          <p:cNvPr id="17" name="Shape 15"/>
          <p:cNvSpPr/>
          <p:nvPr/>
        </p:nvSpPr>
        <p:spPr>
          <a:xfrm>
            <a:off x="777240" y="4334256"/>
            <a:ext cx="420624" cy="420624"/>
          </a:xfrm>
          <a:prstGeom prst="ellipse">
            <a:avLst/>
          </a:prstGeom>
          <a:solidFill>
            <a:srgbClr val="232F3E"/>
          </a:solidFill>
          <a:ln/>
        </p:spPr>
      </p:sp>
      <p:sp>
        <p:nvSpPr>
          <p:cNvPr id="18" name="Text 16"/>
          <p:cNvSpPr/>
          <p:nvPr/>
        </p:nvSpPr>
        <p:spPr>
          <a:xfrm>
            <a:off x="777240" y="433425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9" name="Text 17"/>
          <p:cNvSpPr/>
          <p:nvPr/>
        </p:nvSpPr>
        <p:spPr>
          <a:xfrm>
            <a:off x="1371600" y="416052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does the network portion of an IP address identify?</a:t>
            </a:r>
            <a:endParaRPr lang="en-US" sz="1350" dirty="0"/>
          </a:p>
        </p:txBody>
      </p:sp>
      <p:sp>
        <p:nvSpPr>
          <p:cNvPr id="20" name="Shape 18"/>
          <p:cNvSpPr/>
          <p:nvPr/>
        </p:nvSpPr>
        <p:spPr>
          <a:xfrm>
            <a:off x="548640" y="5029200"/>
            <a:ext cx="11091672" cy="777240"/>
          </a:xfrm>
          <a:prstGeom prst="roundRect">
            <a:avLst>
              <a:gd name="adj" fmla="val 9412"/>
            </a:avLst>
          </a:prstGeom>
          <a:solidFill>
            <a:srgbClr val="FFFFFF"/>
          </a:solidFill>
          <a:ln w="12700">
            <a:solidFill>
              <a:srgbClr val="D9DCE1"/>
            </a:solidFill>
            <a:prstDash val="solid"/>
          </a:ln>
        </p:spPr>
      </p:sp>
      <p:sp>
        <p:nvSpPr>
          <p:cNvPr id="21" name="Shape 19"/>
          <p:cNvSpPr/>
          <p:nvPr/>
        </p:nvSpPr>
        <p:spPr>
          <a:xfrm>
            <a:off x="777240" y="5202936"/>
            <a:ext cx="420624" cy="420624"/>
          </a:xfrm>
          <a:prstGeom prst="ellipse">
            <a:avLst/>
          </a:prstGeom>
          <a:solidFill>
            <a:srgbClr val="FF9900"/>
          </a:solidFill>
          <a:ln/>
        </p:spPr>
      </p:sp>
      <p:sp>
        <p:nvSpPr>
          <p:cNvPr id="22" name="Text 20"/>
          <p:cNvSpPr/>
          <p:nvPr/>
        </p:nvSpPr>
        <p:spPr>
          <a:xfrm>
            <a:off x="777240" y="520293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3" name="Text 21"/>
          <p:cNvSpPr/>
          <p:nvPr/>
        </p:nvSpPr>
        <p:spPr>
          <a:xfrm>
            <a:off x="1371600" y="502920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Which of these is a private IP range: 8.8.8.8 or 192.168.1.1?</a:t>
            </a:r>
            <a:endParaRPr lang="en-US" sz="1350" dirty="0"/>
          </a:p>
        </p:txBody>
      </p:sp>
      <p:sp>
        <p:nvSpPr>
          <p:cNvPr id="24" name="Text 2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Quiz — Questions 6–10</a:t>
            </a:r>
            <a:endParaRPr lang="en-US" sz="2800" dirty="0"/>
          </a:p>
        </p:txBody>
      </p:sp>
      <p:sp>
        <p:nvSpPr>
          <p:cNvPr id="4" name="Shape 2"/>
          <p:cNvSpPr/>
          <p:nvPr/>
        </p:nvSpPr>
        <p:spPr>
          <a:xfrm>
            <a:off x="548640" y="1554480"/>
            <a:ext cx="11091672" cy="777240"/>
          </a:xfrm>
          <a:prstGeom prst="roundRect">
            <a:avLst>
              <a:gd name="adj" fmla="val 9412"/>
            </a:avLst>
          </a:prstGeom>
          <a:solidFill>
            <a:srgbClr val="FFFFFF"/>
          </a:solidFill>
          <a:ln w="12700">
            <a:solidFill>
              <a:srgbClr val="D9DCE1"/>
            </a:solidFill>
            <a:prstDash val="solid"/>
          </a:ln>
        </p:spPr>
      </p:sp>
      <p:sp>
        <p:nvSpPr>
          <p:cNvPr id="5" name="Shape 3"/>
          <p:cNvSpPr/>
          <p:nvPr/>
        </p:nvSpPr>
        <p:spPr>
          <a:xfrm>
            <a:off x="777240" y="1728216"/>
            <a:ext cx="420624" cy="420624"/>
          </a:xfrm>
          <a:prstGeom prst="ellipse">
            <a:avLst/>
          </a:prstGeom>
          <a:solidFill>
            <a:srgbClr val="FF9900"/>
          </a:solidFill>
          <a:ln/>
        </p:spPr>
      </p:sp>
      <p:sp>
        <p:nvSpPr>
          <p:cNvPr id="6" name="Text 4"/>
          <p:cNvSpPr/>
          <p:nvPr/>
        </p:nvSpPr>
        <p:spPr>
          <a:xfrm>
            <a:off x="777240" y="172821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7" name="Text 5"/>
          <p:cNvSpPr/>
          <p:nvPr/>
        </p:nvSpPr>
        <p:spPr>
          <a:xfrm>
            <a:off x="1371600" y="155448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In CIDR notation, does a larger number after the slash mean a bigger or smaller network?</a:t>
            </a:r>
            <a:endParaRPr lang="en-US" sz="1350" dirty="0"/>
          </a:p>
        </p:txBody>
      </p:sp>
      <p:sp>
        <p:nvSpPr>
          <p:cNvPr id="8" name="Shape 6"/>
          <p:cNvSpPr/>
          <p:nvPr/>
        </p:nvSpPr>
        <p:spPr>
          <a:xfrm>
            <a:off x="548640" y="2423160"/>
            <a:ext cx="11091672" cy="777240"/>
          </a:xfrm>
          <a:prstGeom prst="roundRect">
            <a:avLst>
              <a:gd name="adj" fmla="val 9412"/>
            </a:avLst>
          </a:prstGeom>
          <a:solidFill>
            <a:srgbClr val="FFFFFF"/>
          </a:solidFill>
          <a:ln w="12700">
            <a:solidFill>
              <a:srgbClr val="D9DCE1"/>
            </a:solidFill>
            <a:prstDash val="solid"/>
          </a:ln>
        </p:spPr>
      </p:sp>
      <p:sp>
        <p:nvSpPr>
          <p:cNvPr id="9" name="Shape 7"/>
          <p:cNvSpPr/>
          <p:nvPr/>
        </p:nvSpPr>
        <p:spPr>
          <a:xfrm>
            <a:off x="777240" y="2596896"/>
            <a:ext cx="420624" cy="420624"/>
          </a:xfrm>
          <a:prstGeom prst="ellipse">
            <a:avLst/>
          </a:prstGeom>
          <a:solidFill>
            <a:srgbClr val="232F3E"/>
          </a:solidFill>
          <a:ln/>
        </p:spPr>
      </p:sp>
      <p:sp>
        <p:nvSpPr>
          <p:cNvPr id="10" name="Text 8"/>
          <p:cNvSpPr/>
          <p:nvPr/>
        </p:nvSpPr>
        <p:spPr>
          <a:xfrm>
            <a:off x="777240" y="259689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7</a:t>
            </a:r>
            <a:endParaRPr lang="en-US" sz="1400" dirty="0"/>
          </a:p>
        </p:txBody>
      </p:sp>
      <p:sp>
        <p:nvSpPr>
          <p:cNvPr id="11" name="Text 9"/>
          <p:cNvSpPr/>
          <p:nvPr/>
        </p:nvSpPr>
        <p:spPr>
          <a:xfrm>
            <a:off x="1371600" y="242316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port does HTTPS use by default?</a:t>
            </a:r>
            <a:endParaRPr lang="en-US" sz="1350" dirty="0"/>
          </a:p>
        </p:txBody>
      </p:sp>
      <p:sp>
        <p:nvSpPr>
          <p:cNvPr id="12" name="Shape 10"/>
          <p:cNvSpPr/>
          <p:nvPr/>
        </p:nvSpPr>
        <p:spPr>
          <a:xfrm>
            <a:off x="548640" y="3291840"/>
            <a:ext cx="11091672" cy="777240"/>
          </a:xfrm>
          <a:prstGeom prst="roundRect">
            <a:avLst>
              <a:gd name="adj" fmla="val 9412"/>
            </a:avLst>
          </a:prstGeom>
          <a:solidFill>
            <a:srgbClr val="FFFFFF"/>
          </a:solidFill>
          <a:ln w="12700">
            <a:solidFill>
              <a:srgbClr val="D9DCE1"/>
            </a:solidFill>
            <a:prstDash val="solid"/>
          </a:ln>
        </p:spPr>
      </p:sp>
      <p:sp>
        <p:nvSpPr>
          <p:cNvPr id="13" name="Shape 11"/>
          <p:cNvSpPr/>
          <p:nvPr/>
        </p:nvSpPr>
        <p:spPr>
          <a:xfrm>
            <a:off x="777240" y="3465576"/>
            <a:ext cx="420624" cy="420624"/>
          </a:xfrm>
          <a:prstGeom prst="ellipse">
            <a:avLst/>
          </a:prstGeom>
          <a:solidFill>
            <a:srgbClr val="FF9900"/>
          </a:solidFill>
          <a:ln/>
        </p:spPr>
      </p:sp>
      <p:sp>
        <p:nvSpPr>
          <p:cNvPr id="14" name="Text 12"/>
          <p:cNvSpPr/>
          <p:nvPr/>
        </p:nvSpPr>
        <p:spPr>
          <a:xfrm>
            <a:off x="777240" y="346557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8</a:t>
            </a:r>
            <a:endParaRPr lang="en-US" sz="1400" dirty="0"/>
          </a:p>
        </p:txBody>
      </p:sp>
      <p:sp>
        <p:nvSpPr>
          <p:cNvPr id="15" name="Text 13"/>
          <p:cNvSpPr/>
          <p:nvPr/>
        </p:nvSpPr>
        <p:spPr>
          <a:xfrm>
            <a:off x="1371600" y="329184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Which transport protocol guarantees delivery: TCP or UDP?</a:t>
            </a:r>
            <a:endParaRPr lang="en-US" sz="1350" dirty="0"/>
          </a:p>
        </p:txBody>
      </p:sp>
      <p:sp>
        <p:nvSpPr>
          <p:cNvPr id="16" name="Shape 14"/>
          <p:cNvSpPr/>
          <p:nvPr/>
        </p:nvSpPr>
        <p:spPr>
          <a:xfrm>
            <a:off x="548640" y="4160520"/>
            <a:ext cx="11091672" cy="777240"/>
          </a:xfrm>
          <a:prstGeom prst="roundRect">
            <a:avLst>
              <a:gd name="adj" fmla="val 9412"/>
            </a:avLst>
          </a:prstGeom>
          <a:solidFill>
            <a:srgbClr val="FFFFFF"/>
          </a:solidFill>
          <a:ln w="12700">
            <a:solidFill>
              <a:srgbClr val="D9DCE1"/>
            </a:solidFill>
            <a:prstDash val="solid"/>
          </a:ln>
        </p:spPr>
      </p:sp>
      <p:sp>
        <p:nvSpPr>
          <p:cNvPr id="17" name="Shape 15"/>
          <p:cNvSpPr/>
          <p:nvPr/>
        </p:nvSpPr>
        <p:spPr>
          <a:xfrm>
            <a:off x="777240" y="4334256"/>
            <a:ext cx="420624" cy="420624"/>
          </a:xfrm>
          <a:prstGeom prst="ellipse">
            <a:avLst/>
          </a:prstGeom>
          <a:solidFill>
            <a:srgbClr val="232F3E"/>
          </a:solidFill>
          <a:ln/>
        </p:spPr>
      </p:sp>
      <p:sp>
        <p:nvSpPr>
          <p:cNvPr id="18" name="Text 16"/>
          <p:cNvSpPr/>
          <p:nvPr/>
        </p:nvSpPr>
        <p:spPr>
          <a:xfrm>
            <a:off x="777240" y="433425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9</a:t>
            </a:r>
            <a:endParaRPr lang="en-US" sz="1400" dirty="0"/>
          </a:p>
        </p:txBody>
      </p:sp>
      <p:sp>
        <p:nvSpPr>
          <p:cNvPr id="19" name="Text 17"/>
          <p:cNvSpPr/>
          <p:nvPr/>
        </p:nvSpPr>
        <p:spPr>
          <a:xfrm>
            <a:off x="1371600" y="416052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type of DNS server holds the actual, final answer for a domain?</a:t>
            </a:r>
            <a:endParaRPr lang="en-US" sz="1350" dirty="0"/>
          </a:p>
        </p:txBody>
      </p:sp>
      <p:sp>
        <p:nvSpPr>
          <p:cNvPr id="20" name="Shape 18"/>
          <p:cNvSpPr/>
          <p:nvPr/>
        </p:nvSpPr>
        <p:spPr>
          <a:xfrm>
            <a:off x="548640" y="5029200"/>
            <a:ext cx="11091672" cy="777240"/>
          </a:xfrm>
          <a:prstGeom prst="roundRect">
            <a:avLst>
              <a:gd name="adj" fmla="val 9412"/>
            </a:avLst>
          </a:prstGeom>
          <a:solidFill>
            <a:srgbClr val="FFFFFF"/>
          </a:solidFill>
          <a:ln w="12700">
            <a:solidFill>
              <a:srgbClr val="D9DCE1"/>
            </a:solidFill>
            <a:prstDash val="solid"/>
          </a:ln>
        </p:spPr>
      </p:sp>
      <p:sp>
        <p:nvSpPr>
          <p:cNvPr id="21" name="Shape 19"/>
          <p:cNvSpPr/>
          <p:nvPr/>
        </p:nvSpPr>
        <p:spPr>
          <a:xfrm>
            <a:off x="777240" y="5202936"/>
            <a:ext cx="420624" cy="420624"/>
          </a:xfrm>
          <a:prstGeom prst="ellipse">
            <a:avLst/>
          </a:prstGeom>
          <a:solidFill>
            <a:srgbClr val="FF9900"/>
          </a:solidFill>
          <a:ln/>
        </p:spPr>
      </p:sp>
      <p:sp>
        <p:nvSpPr>
          <p:cNvPr id="22" name="Text 20"/>
          <p:cNvSpPr/>
          <p:nvPr/>
        </p:nvSpPr>
        <p:spPr>
          <a:xfrm>
            <a:off x="777240" y="520293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10</a:t>
            </a:r>
            <a:endParaRPr lang="en-US" sz="1400" dirty="0"/>
          </a:p>
        </p:txBody>
      </p:sp>
      <p:sp>
        <p:nvSpPr>
          <p:cNvPr id="23" name="Text 21"/>
          <p:cNvSpPr/>
          <p:nvPr/>
        </p:nvSpPr>
        <p:spPr>
          <a:xfrm>
            <a:off x="1371600" y="502920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does the 'D' in DORA (DHCP) stand for?</a:t>
            </a:r>
            <a:endParaRPr lang="en-US" sz="1350" dirty="0"/>
          </a:p>
        </p:txBody>
      </p:sp>
      <p:sp>
        <p:nvSpPr>
          <p:cNvPr id="24" name="Text 2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Quiz — Questions 11–15</a:t>
            </a:r>
            <a:endParaRPr lang="en-US" sz="2800" dirty="0"/>
          </a:p>
        </p:txBody>
      </p:sp>
      <p:sp>
        <p:nvSpPr>
          <p:cNvPr id="4" name="Shape 2"/>
          <p:cNvSpPr/>
          <p:nvPr/>
        </p:nvSpPr>
        <p:spPr>
          <a:xfrm>
            <a:off x="548640" y="1554480"/>
            <a:ext cx="11091672" cy="777240"/>
          </a:xfrm>
          <a:prstGeom prst="roundRect">
            <a:avLst>
              <a:gd name="adj" fmla="val 9412"/>
            </a:avLst>
          </a:prstGeom>
          <a:solidFill>
            <a:srgbClr val="FFFFFF"/>
          </a:solidFill>
          <a:ln w="12700">
            <a:solidFill>
              <a:srgbClr val="D9DCE1"/>
            </a:solidFill>
            <a:prstDash val="solid"/>
          </a:ln>
        </p:spPr>
      </p:sp>
      <p:sp>
        <p:nvSpPr>
          <p:cNvPr id="5" name="Shape 3"/>
          <p:cNvSpPr/>
          <p:nvPr/>
        </p:nvSpPr>
        <p:spPr>
          <a:xfrm>
            <a:off x="777240" y="1728216"/>
            <a:ext cx="420624" cy="420624"/>
          </a:xfrm>
          <a:prstGeom prst="ellipse">
            <a:avLst/>
          </a:prstGeom>
          <a:solidFill>
            <a:srgbClr val="FF9900"/>
          </a:solidFill>
          <a:ln/>
        </p:spPr>
      </p:sp>
      <p:sp>
        <p:nvSpPr>
          <p:cNvPr id="6" name="Text 4"/>
          <p:cNvSpPr/>
          <p:nvPr/>
        </p:nvSpPr>
        <p:spPr>
          <a:xfrm>
            <a:off x="777240" y="172821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11</a:t>
            </a:r>
            <a:endParaRPr lang="en-US" sz="1400" dirty="0"/>
          </a:p>
        </p:txBody>
      </p:sp>
      <p:sp>
        <p:nvSpPr>
          <p:cNvPr id="7" name="Text 5"/>
          <p:cNvSpPr/>
          <p:nvPr/>
        </p:nvSpPr>
        <p:spPr>
          <a:xfrm>
            <a:off x="1371600" y="155448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does NAT allow multiple private devices to share?</a:t>
            </a:r>
            <a:endParaRPr lang="en-US" sz="1350" dirty="0"/>
          </a:p>
        </p:txBody>
      </p:sp>
      <p:sp>
        <p:nvSpPr>
          <p:cNvPr id="8" name="Shape 6"/>
          <p:cNvSpPr/>
          <p:nvPr/>
        </p:nvSpPr>
        <p:spPr>
          <a:xfrm>
            <a:off x="548640" y="2423160"/>
            <a:ext cx="11091672" cy="777240"/>
          </a:xfrm>
          <a:prstGeom prst="roundRect">
            <a:avLst>
              <a:gd name="adj" fmla="val 9412"/>
            </a:avLst>
          </a:prstGeom>
          <a:solidFill>
            <a:srgbClr val="FFFFFF"/>
          </a:solidFill>
          <a:ln w="12700">
            <a:solidFill>
              <a:srgbClr val="D9DCE1"/>
            </a:solidFill>
            <a:prstDash val="solid"/>
          </a:ln>
        </p:spPr>
      </p:sp>
      <p:sp>
        <p:nvSpPr>
          <p:cNvPr id="9" name="Shape 7"/>
          <p:cNvSpPr/>
          <p:nvPr/>
        </p:nvSpPr>
        <p:spPr>
          <a:xfrm>
            <a:off x="777240" y="2596896"/>
            <a:ext cx="420624" cy="420624"/>
          </a:xfrm>
          <a:prstGeom prst="ellipse">
            <a:avLst/>
          </a:prstGeom>
          <a:solidFill>
            <a:srgbClr val="232F3E"/>
          </a:solidFill>
          <a:ln/>
        </p:spPr>
      </p:sp>
      <p:sp>
        <p:nvSpPr>
          <p:cNvPr id="10" name="Text 8"/>
          <p:cNvSpPr/>
          <p:nvPr/>
        </p:nvSpPr>
        <p:spPr>
          <a:xfrm>
            <a:off x="777240" y="259689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12</a:t>
            </a:r>
            <a:endParaRPr lang="en-US" sz="1400" dirty="0"/>
          </a:p>
        </p:txBody>
      </p:sp>
      <p:sp>
        <p:nvSpPr>
          <p:cNvPr id="11" name="Text 9"/>
          <p:cNvSpPr/>
          <p:nvPr/>
        </p:nvSpPr>
        <p:spPr>
          <a:xfrm>
            <a:off x="1371600" y="242316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What's the difference between a stateful and a stateless firewall?</a:t>
            </a:r>
            <a:endParaRPr lang="en-US" sz="1350" dirty="0"/>
          </a:p>
        </p:txBody>
      </p:sp>
      <p:sp>
        <p:nvSpPr>
          <p:cNvPr id="12" name="Shape 10"/>
          <p:cNvSpPr/>
          <p:nvPr/>
        </p:nvSpPr>
        <p:spPr>
          <a:xfrm>
            <a:off x="548640" y="3291840"/>
            <a:ext cx="11091672" cy="777240"/>
          </a:xfrm>
          <a:prstGeom prst="roundRect">
            <a:avLst>
              <a:gd name="adj" fmla="val 9412"/>
            </a:avLst>
          </a:prstGeom>
          <a:solidFill>
            <a:srgbClr val="FFFFFF"/>
          </a:solidFill>
          <a:ln w="12700">
            <a:solidFill>
              <a:srgbClr val="D9DCE1"/>
            </a:solidFill>
            <a:prstDash val="solid"/>
          </a:ln>
        </p:spPr>
      </p:sp>
      <p:sp>
        <p:nvSpPr>
          <p:cNvPr id="13" name="Shape 11"/>
          <p:cNvSpPr/>
          <p:nvPr/>
        </p:nvSpPr>
        <p:spPr>
          <a:xfrm>
            <a:off x="777240" y="3465576"/>
            <a:ext cx="420624" cy="420624"/>
          </a:xfrm>
          <a:prstGeom prst="ellipse">
            <a:avLst/>
          </a:prstGeom>
          <a:solidFill>
            <a:srgbClr val="FF9900"/>
          </a:solidFill>
          <a:ln/>
        </p:spPr>
      </p:sp>
      <p:sp>
        <p:nvSpPr>
          <p:cNvPr id="14" name="Text 12"/>
          <p:cNvSpPr/>
          <p:nvPr/>
        </p:nvSpPr>
        <p:spPr>
          <a:xfrm>
            <a:off x="777240" y="346557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13</a:t>
            </a:r>
            <a:endParaRPr lang="en-US" sz="1400" dirty="0"/>
          </a:p>
        </p:txBody>
      </p:sp>
      <p:sp>
        <p:nvSpPr>
          <p:cNvPr id="15" name="Text 13"/>
          <p:cNvSpPr/>
          <p:nvPr/>
        </p:nvSpPr>
        <p:spPr>
          <a:xfrm>
            <a:off x="1371600" y="329184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What does a VPN primarily protect while data crosses an untrusted network?</a:t>
            </a:r>
            <a:endParaRPr lang="en-US" sz="1350" dirty="0"/>
          </a:p>
        </p:txBody>
      </p:sp>
      <p:sp>
        <p:nvSpPr>
          <p:cNvPr id="16" name="Shape 14"/>
          <p:cNvSpPr/>
          <p:nvPr/>
        </p:nvSpPr>
        <p:spPr>
          <a:xfrm>
            <a:off x="548640" y="4160520"/>
            <a:ext cx="11091672" cy="777240"/>
          </a:xfrm>
          <a:prstGeom prst="roundRect">
            <a:avLst>
              <a:gd name="adj" fmla="val 9412"/>
            </a:avLst>
          </a:prstGeom>
          <a:solidFill>
            <a:srgbClr val="FFFFFF"/>
          </a:solidFill>
          <a:ln w="12700">
            <a:solidFill>
              <a:srgbClr val="D9DCE1"/>
            </a:solidFill>
            <a:prstDash val="solid"/>
          </a:ln>
        </p:spPr>
      </p:sp>
      <p:sp>
        <p:nvSpPr>
          <p:cNvPr id="17" name="Shape 15"/>
          <p:cNvSpPr/>
          <p:nvPr/>
        </p:nvSpPr>
        <p:spPr>
          <a:xfrm>
            <a:off x="777240" y="4334256"/>
            <a:ext cx="420624" cy="420624"/>
          </a:xfrm>
          <a:prstGeom prst="ellipse">
            <a:avLst/>
          </a:prstGeom>
          <a:solidFill>
            <a:srgbClr val="232F3E"/>
          </a:solidFill>
          <a:ln/>
        </p:spPr>
      </p:sp>
      <p:sp>
        <p:nvSpPr>
          <p:cNvPr id="18" name="Text 16"/>
          <p:cNvSpPr/>
          <p:nvPr/>
        </p:nvSpPr>
        <p:spPr>
          <a:xfrm>
            <a:off x="777240" y="433425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14</a:t>
            </a:r>
            <a:endParaRPr lang="en-US" sz="1400" dirty="0"/>
          </a:p>
        </p:txBody>
      </p:sp>
      <p:sp>
        <p:nvSpPr>
          <p:cNvPr id="19" name="Text 17"/>
          <p:cNvSpPr/>
          <p:nvPr/>
        </p:nvSpPr>
        <p:spPr>
          <a:xfrm>
            <a:off x="1371600" y="416052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Which command shows the path (hops) packets take to a destination?</a:t>
            </a:r>
            <a:endParaRPr lang="en-US" sz="1350" dirty="0"/>
          </a:p>
        </p:txBody>
      </p:sp>
      <p:sp>
        <p:nvSpPr>
          <p:cNvPr id="20" name="Shape 18"/>
          <p:cNvSpPr/>
          <p:nvPr/>
        </p:nvSpPr>
        <p:spPr>
          <a:xfrm>
            <a:off x="548640" y="5029200"/>
            <a:ext cx="11091672" cy="777240"/>
          </a:xfrm>
          <a:prstGeom prst="roundRect">
            <a:avLst>
              <a:gd name="adj" fmla="val 9412"/>
            </a:avLst>
          </a:prstGeom>
          <a:solidFill>
            <a:srgbClr val="FFFFFF"/>
          </a:solidFill>
          <a:ln w="12700">
            <a:solidFill>
              <a:srgbClr val="D9DCE1"/>
            </a:solidFill>
            <a:prstDash val="solid"/>
          </a:ln>
        </p:spPr>
      </p:sp>
      <p:sp>
        <p:nvSpPr>
          <p:cNvPr id="21" name="Shape 19"/>
          <p:cNvSpPr/>
          <p:nvPr/>
        </p:nvSpPr>
        <p:spPr>
          <a:xfrm>
            <a:off x="777240" y="5202936"/>
            <a:ext cx="420624" cy="420624"/>
          </a:xfrm>
          <a:prstGeom prst="ellipse">
            <a:avLst/>
          </a:prstGeom>
          <a:solidFill>
            <a:srgbClr val="FF9900"/>
          </a:solidFill>
          <a:ln/>
        </p:spPr>
      </p:sp>
      <p:sp>
        <p:nvSpPr>
          <p:cNvPr id="22" name="Text 20"/>
          <p:cNvSpPr/>
          <p:nvPr/>
        </p:nvSpPr>
        <p:spPr>
          <a:xfrm>
            <a:off x="777240" y="5202936"/>
            <a:ext cx="420624" cy="420624"/>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15</a:t>
            </a:r>
            <a:endParaRPr lang="en-US" sz="1400" dirty="0"/>
          </a:p>
        </p:txBody>
      </p:sp>
      <p:sp>
        <p:nvSpPr>
          <p:cNvPr id="23" name="Text 21"/>
          <p:cNvSpPr/>
          <p:nvPr/>
        </p:nvSpPr>
        <p:spPr>
          <a:xfrm>
            <a:off x="1371600" y="5029200"/>
            <a:ext cx="9875520" cy="777240"/>
          </a:xfrm>
          <a:prstGeom prst="rect">
            <a:avLst/>
          </a:prstGeom>
          <a:noFill/>
          <a:ln/>
        </p:spPr>
        <p:txBody>
          <a:bodyPr wrap="square" rtlCol="0" anchor="ctr"/>
          <a:lstStyle/>
          <a:p>
            <a:pPr indent="0" marL="0">
              <a:buNone/>
            </a:pPr>
            <a:r>
              <a:rPr lang="en-US" sz="1350" dirty="0">
                <a:solidFill>
                  <a:srgbClr val="16191F"/>
                </a:solidFill>
                <a:latin typeface="Calibri" pitchFamily="34" charset="0"/>
                <a:ea typeface="Calibri" pitchFamily="34" charset="-122"/>
                <a:cs typeface="Calibri" pitchFamily="34" charset="-120"/>
              </a:rPr>
              <a:t>In AWS, which component plays the same role as a home router's link to your ISP?</a:t>
            </a:r>
            <a:endParaRPr lang="en-US" sz="1350" dirty="0"/>
          </a:p>
        </p:txBody>
      </p:sp>
      <p:sp>
        <p:nvSpPr>
          <p:cNvPr id="24" name="Text 2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37</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CHECK-IN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Quiz — Answer Key</a:t>
            </a:r>
            <a:endParaRPr lang="en-US" sz="2800" dirty="0"/>
          </a:p>
        </p:txBody>
      </p:sp>
      <p:sp>
        <p:nvSpPr>
          <p:cNvPr id="4" name="Shape 2"/>
          <p:cNvSpPr/>
          <p:nvPr/>
        </p:nvSpPr>
        <p:spPr>
          <a:xfrm>
            <a:off x="548640" y="1417320"/>
            <a:ext cx="3520440" cy="530352"/>
          </a:xfrm>
          <a:prstGeom prst="roundRect">
            <a:avLst>
              <a:gd name="adj" fmla="val 10345"/>
            </a:avLst>
          </a:prstGeom>
          <a:solidFill>
            <a:srgbClr val="161E2D"/>
          </a:solidFill>
          <a:ln/>
        </p:spPr>
      </p:sp>
      <p:sp>
        <p:nvSpPr>
          <p:cNvPr id="5" name="Text 3"/>
          <p:cNvSpPr/>
          <p:nvPr/>
        </p:nvSpPr>
        <p:spPr>
          <a:xfrm>
            <a:off x="713232" y="1417320"/>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 Directs traffic between different networks</a:t>
            </a:r>
            <a:endParaRPr lang="en-US" sz="1100" dirty="0"/>
          </a:p>
        </p:txBody>
      </p:sp>
      <p:sp>
        <p:nvSpPr>
          <p:cNvPr id="6" name="Shape 4"/>
          <p:cNvSpPr/>
          <p:nvPr/>
        </p:nvSpPr>
        <p:spPr>
          <a:xfrm>
            <a:off x="4270248" y="1417320"/>
            <a:ext cx="3520440" cy="530352"/>
          </a:xfrm>
          <a:prstGeom prst="roundRect">
            <a:avLst>
              <a:gd name="adj" fmla="val 10345"/>
            </a:avLst>
          </a:prstGeom>
          <a:solidFill>
            <a:srgbClr val="161E2D"/>
          </a:solidFill>
          <a:ln/>
        </p:spPr>
      </p:sp>
      <p:sp>
        <p:nvSpPr>
          <p:cNvPr id="7" name="Text 5"/>
          <p:cNvSpPr/>
          <p:nvPr/>
        </p:nvSpPr>
        <p:spPr>
          <a:xfrm>
            <a:off x="4434840" y="1417320"/>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2. Layer 1 — Physical</a:t>
            </a:r>
            <a:endParaRPr lang="en-US" sz="1100" dirty="0"/>
          </a:p>
        </p:txBody>
      </p:sp>
      <p:sp>
        <p:nvSpPr>
          <p:cNvPr id="8" name="Shape 6"/>
          <p:cNvSpPr/>
          <p:nvPr/>
        </p:nvSpPr>
        <p:spPr>
          <a:xfrm>
            <a:off x="7991856" y="1417320"/>
            <a:ext cx="3520440" cy="530352"/>
          </a:xfrm>
          <a:prstGeom prst="roundRect">
            <a:avLst>
              <a:gd name="adj" fmla="val 10345"/>
            </a:avLst>
          </a:prstGeom>
          <a:solidFill>
            <a:srgbClr val="161E2D"/>
          </a:solidFill>
          <a:ln/>
        </p:spPr>
      </p:sp>
      <p:sp>
        <p:nvSpPr>
          <p:cNvPr id="9" name="Text 7"/>
          <p:cNvSpPr/>
          <p:nvPr/>
        </p:nvSpPr>
        <p:spPr>
          <a:xfrm>
            <a:off x="8156448" y="1417320"/>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3. TCP/IP</a:t>
            </a:r>
            <a:endParaRPr lang="en-US" sz="1100" dirty="0"/>
          </a:p>
        </p:txBody>
      </p:sp>
      <p:sp>
        <p:nvSpPr>
          <p:cNvPr id="10" name="Shape 8"/>
          <p:cNvSpPr/>
          <p:nvPr/>
        </p:nvSpPr>
        <p:spPr>
          <a:xfrm>
            <a:off x="548640" y="2039112"/>
            <a:ext cx="3520440" cy="530352"/>
          </a:xfrm>
          <a:prstGeom prst="roundRect">
            <a:avLst>
              <a:gd name="adj" fmla="val 10345"/>
            </a:avLst>
          </a:prstGeom>
          <a:solidFill>
            <a:srgbClr val="161E2D"/>
          </a:solidFill>
          <a:ln/>
        </p:spPr>
      </p:sp>
      <p:sp>
        <p:nvSpPr>
          <p:cNvPr id="11" name="Text 9"/>
          <p:cNvSpPr/>
          <p:nvPr/>
        </p:nvSpPr>
        <p:spPr>
          <a:xfrm>
            <a:off x="713232" y="2039112"/>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4. Which network a device belongs to</a:t>
            </a:r>
            <a:endParaRPr lang="en-US" sz="1100" dirty="0"/>
          </a:p>
        </p:txBody>
      </p:sp>
      <p:sp>
        <p:nvSpPr>
          <p:cNvPr id="12" name="Shape 10"/>
          <p:cNvSpPr/>
          <p:nvPr/>
        </p:nvSpPr>
        <p:spPr>
          <a:xfrm>
            <a:off x="4270248" y="2039112"/>
            <a:ext cx="3520440" cy="530352"/>
          </a:xfrm>
          <a:prstGeom prst="roundRect">
            <a:avLst>
              <a:gd name="adj" fmla="val 10345"/>
            </a:avLst>
          </a:prstGeom>
          <a:solidFill>
            <a:srgbClr val="161E2D"/>
          </a:solidFill>
          <a:ln/>
        </p:spPr>
      </p:sp>
      <p:sp>
        <p:nvSpPr>
          <p:cNvPr id="13" name="Text 11"/>
          <p:cNvSpPr/>
          <p:nvPr/>
        </p:nvSpPr>
        <p:spPr>
          <a:xfrm>
            <a:off x="4434840" y="2039112"/>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5. 192.168.1.1 (private)</a:t>
            </a:r>
            <a:endParaRPr lang="en-US" sz="1100" dirty="0"/>
          </a:p>
        </p:txBody>
      </p:sp>
      <p:sp>
        <p:nvSpPr>
          <p:cNvPr id="14" name="Shape 12"/>
          <p:cNvSpPr/>
          <p:nvPr/>
        </p:nvSpPr>
        <p:spPr>
          <a:xfrm>
            <a:off x="7991856" y="2039112"/>
            <a:ext cx="3520440" cy="530352"/>
          </a:xfrm>
          <a:prstGeom prst="roundRect">
            <a:avLst>
              <a:gd name="adj" fmla="val 10345"/>
            </a:avLst>
          </a:prstGeom>
          <a:solidFill>
            <a:srgbClr val="161E2D"/>
          </a:solidFill>
          <a:ln/>
        </p:spPr>
      </p:sp>
      <p:sp>
        <p:nvSpPr>
          <p:cNvPr id="15" name="Text 13"/>
          <p:cNvSpPr/>
          <p:nvPr/>
        </p:nvSpPr>
        <p:spPr>
          <a:xfrm>
            <a:off x="8156448" y="2039112"/>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6. Smaller network</a:t>
            </a:r>
            <a:endParaRPr lang="en-US" sz="1100" dirty="0"/>
          </a:p>
        </p:txBody>
      </p:sp>
      <p:sp>
        <p:nvSpPr>
          <p:cNvPr id="16" name="Shape 14"/>
          <p:cNvSpPr/>
          <p:nvPr/>
        </p:nvSpPr>
        <p:spPr>
          <a:xfrm>
            <a:off x="548640" y="2660904"/>
            <a:ext cx="3520440" cy="530352"/>
          </a:xfrm>
          <a:prstGeom prst="roundRect">
            <a:avLst>
              <a:gd name="adj" fmla="val 10345"/>
            </a:avLst>
          </a:prstGeom>
          <a:solidFill>
            <a:srgbClr val="161E2D"/>
          </a:solidFill>
          <a:ln/>
        </p:spPr>
      </p:sp>
      <p:sp>
        <p:nvSpPr>
          <p:cNvPr id="17" name="Text 15"/>
          <p:cNvSpPr/>
          <p:nvPr/>
        </p:nvSpPr>
        <p:spPr>
          <a:xfrm>
            <a:off x="713232" y="2660904"/>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7. Port 443</a:t>
            </a:r>
            <a:endParaRPr lang="en-US" sz="1100" dirty="0"/>
          </a:p>
        </p:txBody>
      </p:sp>
      <p:sp>
        <p:nvSpPr>
          <p:cNvPr id="18" name="Shape 16"/>
          <p:cNvSpPr/>
          <p:nvPr/>
        </p:nvSpPr>
        <p:spPr>
          <a:xfrm>
            <a:off x="4270248" y="2660904"/>
            <a:ext cx="3520440" cy="530352"/>
          </a:xfrm>
          <a:prstGeom prst="roundRect">
            <a:avLst>
              <a:gd name="adj" fmla="val 10345"/>
            </a:avLst>
          </a:prstGeom>
          <a:solidFill>
            <a:srgbClr val="161E2D"/>
          </a:solidFill>
          <a:ln/>
        </p:spPr>
      </p:sp>
      <p:sp>
        <p:nvSpPr>
          <p:cNvPr id="19" name="Text 17"/>
          <p:cNvSpPr/>
          <p:nvPr/>
        </p:nvSpPr>
        <p:spPr>
          <a:xfrm>
            <a:off x="4434840" y="2660904"/>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8. TCP</a:t>
            </a:r>
            <a:endParaRPr lang="en-US" sz="1100" dirty="0"/>
          </a:p>
        </p:txBody>
      </p:sp>
      <p:sp>
        <p:nvSpPr>
          <p:cNvPr id="20" name="Shape 18"/>
          <p:cNvSpPr/>
          <p:nvPr/>
        </p:nvSpPr>
        <p:spPr>
          <a:xfrm>
            <a:off x="7991856" y="2660904"/>
            <a:ext cx="3520440" cy="530352"/>
          </a:xfrm>
          <a:prstGeom prst="roundRect">
            <a:avLst>
              <a:gd name="adj" fmla="val 10345"/>
            </a:avLst>
          </a:prstGeom>
          <a:solidFill>
            <a:srgbClr val="161E2D"/>
          </a:solidFill>
          <a:ln/>
        </p:spPr>
      </p:sp>
      <p:sp>
        <p:nvSpPr>
          <p:cNvPr id="21" name="Text 19"/>
          <p:cNvSpPr/>
          <p:nvPr/>
        </p:nvSpPr>
        <p:spPr>
          <a:xfrm>
            <a:off x="8156448" y="2660904"/>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9. Authoritative server</a:t>
            </a:r>
            <a:endParaRPr lang="en-US" sz="1100" dirty="0"/>
          </a:p>
        </p:txBody>
      </p:sp>
      <p:sp>
        <p:nvSpPr>
          <p:cNvPr id="22" name="Shape 20"/>
          <p:cNvSpPr/>
          <p:nvPr/>
        </p:nvSpPr>
        <p:spPr>
          <a:xfrm>
            <a:off x="548640" y="3282696"/>
            <a:ext cx="3520440" cy="530352"/>
          </a:xfrm>
          <a:prstGeom prst="roundRect">
            <a:avLst>
              <a:gd name="adj" fmla="val 10345"/>
            </a:avLst>
          </a:prstGeom>
          <a:solidFill>
            <a:srgbClr val="161E2D"/>
          </a:solidFill>
          <a:ln/>
        </p:spPr>
      </p:sp>
      <p:sp>
        <p:nvSpPr>
          <p:cNvPr id="23" name="Text 21"/>
          <p:cNvSpPr/>
          <p:nvPr/>
        </p:nvSpPr>
        <p:spPr>
          <a:xfrm>
            <a:off x="713232" y="3282696"/>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10. Discover</a:t>
            </a:r>
            <a:endParaRPr lang="en-US" sz="1100" dirty="0"/>
          </a:p>
        </p:txBody>
      </p:sp>
      <p:sp>
        <p:nvSpPr>
          <p:cNvPr id="24" name="Shape 22"/>
          <p:cNvSpPr/>
          <p:nvPr/>
        </p:nvSpPr>
        <p:spPr>
          <a:xfrm>
            <a:off x="4270248" y="3282696"/>
            <a:ext cx="3520440" cy="530352"/>
          </a:xfrm>
          <a:prstGeom prst="roundRect">
            <a:avLst>
              <a:gd name="adj" fmla="val 10345"/>
            </a:avLst>
          </a:prstGeom>
          <a:solidFill>
            <a:srgbClr val="161E2D"/>
          </a:solidFill>
          <a:ln/>
        </p:spPr>
      </p:sp>
      <p:sp>
        <p:nvSpPr>
          <p:cNvPr id="25" name="Text 23"/>
          <p:cNvSpPr/>
          <p:nvPr/>
        </p:nvSpPr>
        <p:spPr>
          <a:xfrm>
            <a:off x="4434840" y="3282696"/>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11. One public IP address</a:t>
            </a:r>
            <a:endParaRPr lang="en-US" sz="1100" dirty="0"/>
          </a:p>
        </p:txBody>
      </p:sp>
      <p:sp>
        <p:nvSpPr>
          <p:cNvPr id="26" name="Shape 24"/>
          <p:cNvSpPr/>
          <p:nvPr/>
        </p:nvSpPr>
        <p:spPr>
          <a:xfrm>
            <a:off x="7991856" y="3282696"/>
            <a:ext cx="3520440" cy="530352"/>
          </a:xfrm>
          <a:prstGeom prst="roundRect">
            <a:avLst>
              <a:gd name="adj" fmla="val 10345"/>
            </a:avLst>
          </a:prstGeom>
          <a:solidFill>
            <a:srgbClr val="161E2D"/>
          </a:solidFill>
          <a:ln/>
        </p:spPr>
      </p:sp>
      <p:sp>
        <p:nvSpPr>
          <p:cNvPr id="27" name="Text 25"/>
          <p:cNvSpPr/>
          <p:nvPr/>
        </p:nvSpPr>
        <p:spPr>
          <a:xfrm>
            <a:off x="8156448" y="3282696"/>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12. Stateful remembers connections; stateless checks every packet</a:t>
            </a:r>
            <a:endParaRPr lang="en-US" sz="1100" dirty="0"/>
          </a:p>
        </p:txBody>
      </p:sp>
      <p:sp>
        <p:nvSpPr>
          <p:cNvPr id="28" name="Shape 26"/>
          <p:cNvSpPr/>
          <p:nvPr/>
        </p:nvSpPr>
        <p:spPr>
          <a:xfrm>
            <a:off x="548640" y="3904488"/>
            <a:ext cx="3520440" cy="530352"/>
          </a:xfrm>
          <a:prstGeom prst="roundRect">
            <a:avLst>
              <a:gd name="adj" fmla="val 10345"/>
            </a:avLst>
          </a:prstGeom>
          <a:solidFill>
            <a:srgbClr val="161E2D"/>
          </a:solidFill>
          <a:ln/>
        </p:spPr>
      </p:sp>
      <p:sp>
        <p:nvSpPr>
          <p:cNvPr id="29" name="Text 27"/>
          <p:cNvSpPr/>
          <p:nvPr/>
        </p:nvSpPr>
        <p:spPr>
          <a:xfrm>
            <a:off x="713232" y="3904488"/>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13. The content/data itself</a:t>
            </a:r>
            <a:endParaRPr lang="en-US" sz="1100" dirty="0"/>
          </a:p>
        </p:txBody>
      </p:sp>
      <p:sp>
        <p:nvSpPr>
          <p:cNvPr id="30" name="Shape 28"/>
          <p:cNvSpPr/>
          <p:nvPr/>
        </p:nvSpPr>
        <p:spPr>
          <a:xfrm>
            <a:off x="4270248" y="3904488"/>
            <a:ext cx="3520440" cy="530352"/>
          </a:xfrm>
          <a:prstGeom prst="roundRect">
            <a:avLst>
              <a:gd name="adj" fmla="val 10345"/>
            </a:avLst>
          </a:prstGeom>
          <a:solidFill>
            <a:srgbClr val="161E2D"/>
          </a:solidFill>
          <a:ln/>
        </p:spPr>
      </p:sp>
      <p:sp>
        <p:nvSpPr>
          <p:cNvPr id="31" name="Text 29"/>
          <p:cNvSpPr/>
          <p:nvPr/>
        </p:nvSpPr>
        <p:spPr>
          <a:xfrm>
            <a:off x="4434840" y="3904488"/>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14. traceroute / tracert</a:t>
            </a:r>
            <a:endParaRPr lang="en-US" sz="1100" dirty="0"/>
          </a:p>
        </p:txBody>
      </p:sp>
      <p:sp>
        <p:nvSpPr>
          <p:cNvPr id="32" name="Shape 30"/>
          <p:cNvSpPr/>
          <p:nvPr/>
        </p:nvSpPr>
        <p:spPr>
          <a:xfrm>
            <a:off x="7991856" y="3904488"/>
            <a:ext cx="3520440" cy="530352"/>
          </a:xfrm>
          <a:prstGeom prst="roundRect">
            <a:avLst>
              <a:gd name="adj" fmla="val 10345"/>
            </a:avLst>
          </a:prstGeom>
          <a:solidFill>
            <a:srgbClr val="161E2D"/>
          </a:solidFill>
          <a:ln/>
        </p:spPr>
      </p:sp>
      <p:sp>
        <p:nvSpPr>
          <p:cNvPr id="33" name="Text 31"/>
          <p:cNvSpPr/>
          <p:nvPr/>
        </p:nvSpPr>
        <p:spPr>
          <a:xfrm>
            <a:off x="8156448" y="3904488"/>
            <a:ext cx="3191256" cy="530352"/>
          </a:xfrm>
          <a:prstGeom prst="rect">
            <a:avLst/>
          </a:prstGeom>
          <a:noFill/>
          <a:ln/>
        </p:spPr>
        <p:txBody>
          <a:bodyPr wrap="square" rtlCol="0" anchor="ctr"/>
          <a:lstStyle/>
          <a:p>
            <a:pPr indent="0" marL="0">
              <a:buNone/>
            </a:pPr>
            <a:r>
              <a:rPr lang="en-US" sz="1100" dirty="0">
                <a:solidFill>
                  <a:srgbClr val="E9EDF1"/>
                </a:solidFill>
                <a:latin typeface="Calibri" pitchFamily="34" charset="0"/>
                <a:ea typeface="Calibri" pitchFamily="34" charset="-122"/>
                <a:cs typeface="Calibri" pitchFamily="34" charset="-120"/>
              </a:rPr>
              <a:t>15. Internet Gateway</a:t>
            </a:r>
            <a:endParaRPr lang="en-US" sz="1100" dirty="0"/>
          </a:p>
        </p:txBody>
      </p:sp>
      <p:sp>
        <p:nvSpPr>
          <p:cNvPr id="34" name="Text 3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35" name="Text 3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38</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BEFORE NEXT SESSION</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Homework</a:t>
            </a:r>
            <a:endParaRPr lang="en-US" sz="2800" dirty="0"/>
          </a:p>
        </p:txBody>
      </p:sp>
      <p:sp>
        <p:nvSpPr>
          <p:cNvPr id="4" name="Shape 2"/>
          <p:cNvSpPr/>
          <p:nvPr/>
        </p:nvSpPr>
        <p:spPr>
          <a:xfrm>
            <a:off x="612648" y="1691640"/>
            <a:ext cx="3520440" cy="3108960"/>
          </a:xfrm>
          <a:prstGeom prst="roundRect">
            <a:avLst>
              <a:gd name="adj" fmla="val 2941"/>
            </a:avLst>
          </a:prstGeom>
          <a:solidFill>
            <a:srgbClr val="FFFFFF"/>
          </a:solidFill>
          <a:ln w="12700">
            <a:solidFill>
              <a:srgbClr val="D9DCE1"/>
            </a:solidFill>
            <a:prstDash val="solid"/>
          </a:ln>
        </p:spPr>
      </p:sp>
      <p:sp>
        <p:nvSpPr>
          <p:cNvPr id="5" name="Shape 3"/>
          <p:cNvSpPr/>
          <p:nvPr/>
        </p:nvSpPr>
        <p:spPr>
          <a:xfrm>
            <a:off x="1915668" y="2103120"/>
            <a:ext cx="914400" cy="914400"/>
          </a:xfrm>
          <a:prstGeom prst="ellipse">
            <a:avLst/>
          </a:prstGeom>
          <a:solidFill>
            <a:srgbClr val="FFF3DE"/>
          </a:solidFill>
          <a:ln/>
        </p:spPr>
      </p:sp>
      <p:pic>
        <p:nvPicPr>
          <p:cNvPr id="6" name="Image 0" descr="/home/claude/ppt3/icon_sitemap_d.png">    </p:cNvPr>
          <p:cNvPicPr>
            <a:picLocks noChangeAspect="1"/>
          </p:cNvPicPr>
          <p:nvPr/>
        </p:nvPicPr>
        <p:blipFill>
          <a:blip r:embed="rId1"/>
          <a:stretch>
            <a:fillRect/>
          </a:stretch>
        </p:blipFill>
        <p:spPr>
          <a:xfrm>
            <a:off x="2135124" y="2322576"/>
            <a:ext cx="475488" cy="475488"/>
          </a:xfrm>
          <a:prstGeom prst="rect">
            <a:avLst/>
          </a:prstGeom>
        </p:spPr>
      </p:pic>
      <p:sp>
        <p:nvSpPr>
          <p:cNvPr id="7" name="Text 4"/>
          <p:cNvSpPr/>
          <p:nvPr/>
        </p:nvSpPr>
        <p:spPr>
          <a:xfrm>
            <a:off x="795528" y="3200400"/>
            <a:ext cx="3154680" cy="502920"/>
          </a:xfrm>
          <a:prstGeom prst="rect">
            <a:avLst/>
          </a:prstGeom>
          <a:noFill/>
          <a:ln/>
        </p:spPr>
        <p:txBody>
          <a:bodyPr wrap="square" rtlCol="0" anchor="ctr"/>
          <a:lstStyle/>
          <a:p>
            <a:pPr algn="ctr" indent="0" marL="0">
              <a:buNone/>
            </a:pPr>
            <a:r>
              <a:rPr lang="en-US" sz="1500" b="1" dirty="0">
                <a:solidFill>
                  <a:srgbClr val="232F3E"/>
                </a:solidFill>
                <a:latin typeface="Arial" pitchFamily="34" charset="0"/>
                <a:ea typeface="Arial" pitchFamily="34" charset="-122"/>
                <a:cs typeface="Arial" pitchFamily="34" charset="-120"/>
              </a:rPr>
              <a:t>Subnet Practice</a:t>
            </a:r>
            <a:endParaRPr lang="en-US" sz="1500" dirty="0"/>
          </a:p>
        </p:txBody>
      </p:sp>
      <p:sp>
        <p:nvSpPr>
          <p:cNvPr id="8" name="Text 5"/>
          <p:cNvSpPr/>
          <p:nvPr/>
        </p:nvSpPr>
        <p:spPr>
          <a:xfrm>
            <a:off x="886968" y="3749040"/>
            <a:ext cx="2971800" cy="914400"/>
          </a:xfrm>
          <a:prstGeom prst="rect">
            <a:avLst/>
          </a:prstGeom>
          <a:noFill/>
          <a:ln/>
        </p:spPr>
        <p:txBody>
          <a:bodyPr wrap="square" rtlCol="0" anchor="t"/>
          <a:lstStyle/>
          <a:p>
            <a:pPr algn="ctr" indent="0" marL="0">
              <a:buNone/>
            </a:pPr>
            <a:r>
              <a:rPr lang="en-US" sz="1150" dirty="0">
                <a:solidFill>
                  <a:srgbClr val="5A6B75"/>
                </a:solidFill>
                <a:latin typeface="Calibri" pitchFamily="34" charset="0"/>
                <a:ea typeface="Calibri" pitchFamily="34" charset="-122"/>
                <a:cs typeface="Calibri" pitchFamily="34" charset="-120"/>
              </a:rPr>
              <a:t>Split 10.0.0.0/16 into 4 equal subnets and write out each CIDR block.</a:t>
            </a:r>
            <a:endParaRPr lang="en-US" sz="1150" dirty="0"/>
          </a:p>
        </p:txBody>
      </p:sp>
      <p:sp>
        <p:nvSpPr>
          <p:cNvPr id="9" name="Shape 6"/>
          <p:cNvSpPr/>
          <p:nvPr/>
        </p:nvSpPr>
        <p:spPr>
          <a:xfrm>
            <a:off x="4334256" y="1691640"/>
            <a:ext cx="3520440" cy="3108960"/>
          </a:xfrm>
          <a:prstGeom prst="roundRect">
            <a:avLst>
              <a:gd name="adj" fmla="val 2941"/>
            </a:avLst>
          </a:prstGeom>
          <a:solidFill>
            <a:srgbClr val="FFFFFF"/>
          </a:solidFill>
          <a:ln w="12700">
            <a:solidFill>
              <a:srgbClr val="D9DCE1"/>
            </a:solidFill>
            <a:prstDash val="solid"/>
          </a:ln>
        </p:spPr>
      </p:sp>
      <p:sp>
        <p:nvSpPr>
          <p:cNvPr id="10" name="Shape 7"/>
          <p:cNvSpPr/>
          <p:nvPr/>
        </p:nvSpPr>
        <p:spPr>
          <a:xfrm>
            <a:off x="5637276" y="2103120"/>
            <a:ext cx="914400" cy="914400"/>
          </a:xfrm>
          <a:prstGeom prst="ellipse">
            <a:avLst/>
          </a:prstGeom>
          <a:solidFill>
            <a:srgbClr val="FFF3DE"/>
          </a:solidFill>
          <a:ln/>
        </p:spPr>
      </p:sp>
      <p:pic>
        <p:nvPicPr>
          <p:cNvPr id="11" name="Image 1" descr="/home/claude/ppt3/icon_terminal_d.png">    </p:cNvPr>
          <p:cNvPicPr>
            <a:picLocks noChangeAspect="1"/>
          </p:cNvPicPr>
          <p:nvPr/>
        </p:nvPicPr>
        <p:blipFill>
          <a:blip r:embed="rId2"/>
          <a:stretch>
            <a:fillRect/>
          </a:stretch>
        </p:blipFill>
        <p:spPr>
          <a:xfrm>
            <a:off x="5856732" y="2322576"/>
            <a:ext cx="475488" cy="475488"/>
          </a:xfrm>
          <a:prstGeom prst="rect">
            <a:avLst/>
          </a:prstGeom>
        </p:spPr>
      </p:pic>
      <p:sp>
        <p:nvSpPr>
          <p:cNvPr id="12" name="Text 8"/>
          <p:cNvSpPr/>
          <p:nvPr/>
        </p:nvSpPr>
        <p:spPr>
          <a:xfrm>
            <a:off x="4517136" y="3200400"/>
            <a:ext cx="3154680" cy="502920"/>
          </a:xfrm>
          <a:prstGeom prst="rect">
            <a:avLst/>
          </a:prstGeom>
          <a:noFill/>
          <a:ln/>
        </p:spPr>
        <p:txBody>
          <a:bodyPr wrap="square" rtlCol="0" anchor="ctr"/>
          <a:lstStyle/>
          <a:p>
            <a:pPr algn="ctr" indent="0" marL="0">
              <a:buNone/>
            </a:pPr>
            <a:r>
              <a:rPr lang="en-US" sz="1500" b="1" dirty="0">
                <a:solidFill>
                  <a:srgbClr val="232F3E"/>
                </a:solidFill>
                <a:latin typeface="Arial" pitchFamily="34" charset="0"/>
                <a:ea typeface="Arial" pitchFamily="34" charset="-122"/>
                <a:cs typeface="Arial" pitchFamily="34" charset="-120"/>
              </a:rPr>
              <a:t>Command Practice</a:t>
            </a:r>
            <a:endParaRPr lang="en-US" sz="1500" dirty="0"/>
          </a:p>
        </p:txBody>
      </p:sp>
      <p:sp>
        <p:nvSpPr>
          <p:cNvPr id="13" name="Text 9"/>
          <p:cNvSpPr/>
          <p:nvPr/>
        </p:nvSpPr>
        <p:spPr>
          <a:xfrm>
            <a:off x="4608576" y="3749040"/>
            <a:ext cx="2971800" cy="914400"/>
          </a:xfrm>
          <a:prstGeom prst="rect">
            <a:avLst/>
          </a:prstGeom>
          <a:noFill/>
          <a:ln/>
        </p:spPr>
        <p:txBody>
          <a:bodyPr wrap="square" rtlCol="0" anchor="t"/>
          <a:lstStyle/>
          <a:p>
            <a:pPr algn="ctr" indent="0" marL="0">
              <a:buNone/>
            </a:pPr>
            <a:r>
              <a:rPr lang="en-US" sz="1150" dirty="0">
                <a:solidFill>
                  <a:srgbClr val="5A6B75"/>
                </a:solidFill>
                <a:latin typeface="Calibri" pitchFamily="34" charset="0"/>
                <a:ea typeface="Calibri" pitchFamily="34" charset="-122"/>
                <a:cs typeface="Calibri" pitchFamily="34" charset="-120"/>
              </a:rPr>
              <a:t>Run all 5 lab commands against 3 different websites and record the results.</a:t>
            </a:r>
            <a:endParaRPr lang="en-US" sz="1150" dirty="0"/>
          </a:p>
        </p:txBody>
      </p:sp>
      <p:sp>
        <p:nvSpPr>
          <p:cNvPr id="14" name="Shape 10"/>
          <p:cNvSpPr/>
          <p:nvPr/>
        </p:nvSpPr>
        <p:spPr>
          <a:xfrm>
            <a:off x="8055864" y="1691640"/>
            <a:ext cx="3520440" cy="3108960"/>
          </a:xfrm>
          <a:prstGeom prst="roundRect">
            <a:avLst>
              <a:gd name="adj" fmla="val 2941"/>
            </a:avLst>
          </a:prstGeom>
          <a:solidFill>
            <a:srgbClr val="FFFFFF"/>
          </a:solidFill>
          <a:ln w="12700">
            <a:solidFill>
              <a:srgbClr val="D9DCE1"/>
            </a:solidFill>
            <a:prstDash val="solid"/>
          </a:ln>
        </p:spPr>
      </p:sp>
      <p:sp>
        <p:nvSpPr>
          <p:cNvPr id="15" name="Shape 11"/>
          <p:cNvSpPr/>
          <p:nvPr/>
        </p:nvSpPr>
        <p:spPr>
          <a:xfrm>
            <a:off x="9358884" y="2103120"/>
            <a:ext cx="914400" cy="914400"/>
          </a:xfrm>
          <a:prstGeom prst="ellipse">
            <a:avLst/>
          </a:prstGeom>
          <a:solidFill>
            <a:srgbClr val="FFF3DE"/>
          </a:solidFill>
          <a:ln/>
        </p:spPr>
      </p:sp>
      <p:pic>
        <p:nvPicPr>
          <p:cNvPr id="16" name="Image 2" descr="/home/claude/ppt3/icon_aws_d.png">    </p:cNvPr>
          <p:cNvPicPr>
            <a:picLocks noChangeAspect="1"/>
          </p:cNvPicPr>
          <p:nvPr/>
        </p:nvPicPr>
        <p:blipFill>
          <a:blip r:embed="rId3"/>
          <a:stretch>
            <a:fillRect/>
          </a:stretch>
        </p:blipFill>
        <p:spPr>
          <a:xfrm>
            <a:off x="9578340" y="2322576"/>
            <a:ext cx="475488" cy="475488"/>
          </a:xfrm>
          <a:prstGeom prst="rect">
            <a:avLst/>
          </a:prstGeom>
        </p:spPr>
      </p:pic>
      <p:sp>
        <p:nvSpPr>
          <p:cNvPr id="17" name="Text 12"/>
          <p:cNvSpPr/>
          <p:nvPr/>
        </p:nvSpPr>
        <p:spPr>
          <a:xfrm>
            <a:off x="8238744" y="3200400"/>
            <a:ext cx="3154680" cy="502920"/>
          </a:xfrm>
          <a:prstGeom prst="rect">
            <a:avLst/>
          </a:prstGeom>
          <a:noFill/>
          <a:ln/>
        </p:spPr>
        <p:txBody>
          <a:bodyPr wrap="square" rtlCol="0" anchor="ctr"/>
          <a:lstStyle/>
          <a:p>
            <a:pPr algn="ctr" indent="0" marL="0">
              <a:buNone/>
            </a:pPr>
            <a:r>
              <a:rPr lang="en-US" sz="1500" b="1" dirty="0">
                <a:solidFill>
                  <a:srgbClr val="232F3E"/>
                </a:solidFill>
                <a:latin typeface="Arial" pitchFamily="34" charset="0"/>
                <a:ea typeface="Arial" pitchFamily="34" charset="-122"/>
                <a:cs typeface="Arial" pitchFamily="34" charset="-120"/>
              </a:rPr>
              <a:t>Read: AWS VPC Docs</a:t>
            </a:r>
            <a:endParaRPr lang="en-US" sz="1500" dirty="0"/>
          </a:p>
        </p:txBody>
      </p:sp>
      <p:sp>
        <p:nvSpPr>
          <p:cNvPr id="18" name="Text 13"/>
          <p:cNvSpPr/>
          <p:nvPr/>
        </p:nvSpPr>
        <p:spPr>
          <a:xfrm>
            <a:off x="8330184" y="3749040"/>
            <a:ext cx="2971800" cy="914400"/>
          </a:xfrm>
          <a:prstGeom prst="rect">
            <a:avLst/>
          </a:prstGeom>
          <a:noFill/>
          <a:ln/>
        </p:spPr>
        <p:txBody>
          <a:bodyPr wrap="square" rtlCol="0" anchor="t"/>
          <a:lstStyle/>
          <a:p>
            <a:pPr algn="ctr" indent="0" marL="0">
              <a:buNone/>
            </a:pPr>
            <a:r>
              <a:rPr lang="en-US" sz="1150" dirty="0">
                <a:solidFill>
                  <a:srgbClr val="5A6B75"/>
                </a:solidFill>
                <a:latin typeface="Calibri" pitchFamily="34" charset="0"/>
                <a:ea typeface="Calibri" pitchFamily="34" charset="-122"/>
                <a:cs typeface="Calibri" pitchFamily="34" charset="-120"/>
              </a:rPr>
              <a:t>Skim the AWS VPC “Getting Started” guide to preview tomorrow's hands-on lab.</a:t>
            </a:r>
            <a:endParaRPr lang="en-US" sz="1150" dirty="0"/>
          </a:p>
        </p:txBody>
      </p:sp>
      <p:sp>
        <p:nvSpPr>
          <p:cNvPr id="19" name="Text 14"/>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0" name="Text 15"/>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39</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Text 1"/>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a:t>
            </a:r>
            <a:endParaRPr lang="en-US" sz="1200" dirty="0"/>
          </a:p>
        </p:txBody>
      </p:sp>
      <p:sp>
        <p:nvSpPr>
          <p:cNvPr id="4" name="Text 2"/>
          <p:cNvSpPr/>
          <p:nvPr/>
        </p:nvSpPr>
        <p:spPr>
          <a:xfrm>
            <a:off x="822960" y="2377440"/>
            <a:ext cx="8229600" cy="1280160"/>
          </a:xfrm>
          <a:prstGeom prst="rect">
            <a:avLst/>
          </a:prstGeom>
          <a:noFill/>
          <a:ln/>
        </p:spPr>
        <p:txBody>
          <a:bodyPr wrap="square" rtlCol="0" anchor="ctr"/>
          <a:lstStyle/>
          <a:p>
            <a:pPr indent="0" marL="0">
              <a:buNone/>
            </a:pPr>
            <a:r>
              <a:rPr lang="en-US" sz="3600" b="1" dirty="0">
                <a:solidFill>
                  <a:srgbClr val="FFFFFF"/>
                </a:solidFill>
                <a:latin typeface="Arial" pitchFamily="34" charset="0"/>
                <a:ea typeface="Arial" pitchFamily="34" charset="-122"/>
                <a:cs typeface="Arial" pitchFamily="34" charset="-120"/>
              </a:rPr>
              <a:t>Reference &amp; Cheat Sheets</a:t>
            </a:r>
            <a:endParaRPr lang="en-US" sz="3600" dirty="0"/>
          </a:p>
        </p:txBody>
      </p:sp>
      <p:sp>
        <p:nvSpPr>
          <p:cNvPr id="5" name="Text 3"/>
          <p:cNvSpPr/>
          <p:nvPr/>
        </p:nvSpPr>
        <p:spPr>
          <a:xfrm>
            <a:off x="822960" y="3520440"/>
            <a:ext cx="7772400" cy="731520"/>
          </a:xfrm>
          <a:prstGeom prst="rect">
            <a:avLst/>
          </a:prstGeom>
          <a:noFill/>
          <a:ln/>
        </p:spPr>
        <p:txBody>
          <a:bodyPr wrap="square" rtlCol="0" anchor="ctr"/>
          <a:lstStyle/>
          <a:p>
            <a:pPr indent="0" marL="0">
              <a:buNone/>
            </a:pPr>
            <a:r>
              <a:rPr lang="en-US" sz="1500" i="1" dirty="0">
                <a:solidFill>
                  <a:srgbClr val="C7D1D9"/>
                </a:solidFill>
                <a:latin typeface="Calibri" pitchFamily="34" charset="0"/>
                <a:ea typeface="Calibri" pitchFamily="34" charset="-122"/>
                <a:cs typeface="Calibri" pitchFamily="34" charset="-120"/>
              </a:rPr>
              <a:t>Quick-reference material to keep handy as you continue building AWS skills.</a:t>
            </a:r>
            <a:endParaRPr lang="en-US" sz="1500" dirty="0"/>
          </a:p>
        </p:txBody>
      </p:sp>
      <p:sp>
        <p:nvSpPr>
          <p:cNvPr id="6" name="Shape 4"/>
          <p:cNvSpPr/>
          <p:nvPr/>
        </p:nvSpPr>
        <p:spPr>
          <a:xfrm>
            <a:off x="9326880" y="2331720"/>
            <a:ext cx="2194560" cy="2194560"/>
          </a:xfrm>
          <a:prstGeom prst="ellipse">
            <a:avLst/>
          </a:prstGeom>
          <a:solidFill>
            <a:srgbClr val="161E2D"/>
          </a:solidFill>
          <a:ln/>
        </p:spPr>
      </p:sp>
      <p:pic>
        <p:nvPicPr>
          <p:cNvPr id="7" name="Image 0" descr="/home/claude/ppt3/icon_bookopen_w.png">    </p:cNvPr>
          <p:cNvPicPr>
            <a:picLocks noChangeAspect="1"/>
          </p:cNvPicPr>
          <p:nvPr/>
        </p:nvPicPr>
        <p:blipFill>
          <a:blip r:embed="rId1"/>
          <a:stretch>
            <a:fillRect/>
          </a:stretch>
        </p:blipFill>
        <p:spPr>
          <a:xfrm>
            <a:off x="9853574" y="2858414"/>
            <a:ext cx="1141171" cy="1141171"/>
          </a:xfrm>
          <a:prstGeom prst="rect">
            <a:avLst/>
          </a:prstGeom>
        </p:spPr>
      </p:pic>
      <p:sp>
        <p:nvSpPr>
          <p:cNvPr id="8" name="Text 5"/>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9" name="Text 6"/>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Networking Cheat Sheet</a:t>
            </a:r>
            <a:endParaRPr lang="en-US" sz="2800" dirty="0"/>
          </a:p>
        </p:txBody>
      </p:sp>
      <p:sp>
        <p:nvSpPr>
          <p:cNvPr id="4" name="Shape 2"/>
          <p:cNvSpPr/>
          <p:nvPr/>
        </p:nvSpPr>
        <p:spPr>
          <a:xfrm>
            <a:off x="548640" y="1417320"/>
            <a:ext cx="3520440" cy="658368"/>
          </a:xfrm>
          <a:prstGeom prst="roundRect">
            <a:avLst>
              <a:gd name="adj" fmla="val 8333"/>
            </a:avLst>
          </a:prstGeom>
          <a:solidFill>
            <a:srgbClr val="FFFFFF"/>
          </a:solidFill>
          <a:ln w="12700">
            <a:solidFill>
              <a:srgbClr val="D9DCE1"/>
            </a:solidFill>
            <a:prstDash val="solid"/>
          </a:ln>
        </p:spPr>
      </p:sp>
      <p:sp>
        <p:nvSpPr>
          <p:cNvPr id="5" name="Text 3"/>
          <p:cNvSpPr/>
          <p:nvPr/>
        </p:nvSpPr>
        <p:spPr>
          <a:xfrm>
            <a:off x="685800" y="1472184"/>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IP Address</a:t>
            </a:r>
            <a:endParaRPr lang="en-US" sz="1200" dirty="0"/>
          </a:p>
        </p:txBody>
      </p:sp>
      <p:sp>
        <p:nvSpPr>
          <p:cNvPr id="6" name="Text 4"/>
          <p:cNvSpPr/>
          <p:nvPr/>
        </p:nvSpPr>
        <p:spPr>
          <a:xfrm>
            <a:off x="685800" y="1728216"/>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Unique identifier for a device on a network</a:t>
            </a:r>
            <a:endParaRPr lang="en-US" sz="950" dirty="0"/>
          </a:p>
        </p:txBody>
      </p:sp>
      <p:sp>
        <p:nvSpPr>
          <p:cNvPr id="7" name="Shape 5"/>
          <p:cNvSpPr/>
          <p:nvPr/>
        </p:nvSpPr>
        <p:spPr>
          <a:xfrm>
            <a:off x="4270248" y="1417320"/>
            <a:ext cx="3520440" cy="658368"/>
          </a:xfrm>
          <a:prstGeom prst="roundRect">
            <a:avLst>
              <a:gd name="adj" fmla="val 8333"/>
            </a:avLst>
          </a:prstGeom>
          <a:solidFill>
            <a:srgbClr val="FFFFFF"/>
          </a:solidFill>
          <a:ln w="12700">
            <a:solidFill>
              <a:srgbClr val="D9DCE1"/>
            </a:solidFill>
            <a:prstDash val="solid"/>
          </a:ln>
        </p:spPr>
      </p:sp>
      <p:sp>
        <p:nvSpPr>
          <p:cNvPr id="8" name="Text 6"/>
          <p:cNvSpPr/>
          <p:nvPr/>
        </p:nvSpPr>
        <p:spPr>
          <a:xfrm>
            <a:off x="4407408" y="1472184"/>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Subnet</a:t>
            </a:r>
            <a:endParaRPr lang="en-US" sz="1200" dirty="0"/>
          </a:p>
        </p:txBody>
      </p:sp>
      <p:sp>
        <p:nvSpPr>
          <p:cNvPr id="9" name="Text 7"/>
          <p:cNvSpPr/>
          <p:nvPr/>
        </p:nvSpPr>
        <p:spPr>
          <a:xfrm>
            <a:off x="4407408" y="1728216"/>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A smaller, segmented piece of a larger network</a:t>
            </a:r>
            <a:endParaRPr lang="en-US" sz="950" dirty="0"/>
          </a:p>
        </p:txBody>
      </p:sp>
      <p:sp>
        <p:nvSpPr>
          <p:cNvPr id="10" name="Shape 8"/>
          <p:cNvSpPr/>
          <p:nvPr/>
        </p:nvSpPr>
        <p:spPr>
          <a:xfrm>
            <a:off x="7991856" y="1417320"/>
            <a:ext cx="3520440" cy="658368"/>
          </a:xfrm>
          <a:prstGeom prst="roundRect">
            <a:avLst>
              <a:gd name="adj" fmla="val 8333"/>
            </a:avLst>
          </a:prstGeom>
          <a:solidFill>
            <a:srgbClr val="FFFFFF"/>
          </a:solidFill>
          <a:ln w="12700">
            <a:solidFill>
              <a:srgbClr val="D9DCE1"/>
            </a:solidFill>
            <a:prstDash val="solid"/>
          </a:ln>
        </p:spPr>
      </p:sp>
      <p:sp>
        <p:nvSpPr>
          <p:cNvPr id="11" name="Text 9"/>
          <p:cNvSpPr/>
          <p:nvPr/>
        </p:nvSpPr>
        <p:spPr>
          <a:xfrm>
            <a:off x="8129016" y="1472184"/>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CIDR</a:t>
            </a:r>
            <a:endParaRPr lang="en-US" sz="1200" dirty="0"/>
          </a:p>
        </p:txBody>
      </p:sp>
      <p:sp>
        <p:nvSpPr>
          <p:cNvPr id="12" name="Text 10"/>
          <p:cNvSpPr/>
          <p:nvPr/>
        </p:nvSpPr>
        <p:spPr>
          <a:xfrm>
            <a:off x="8129016" y="1728216"/>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Shorthand for network size, e.g. /24</a:t>
            </a:r>
            <a:endParaRPr lang="en-US" sz="950" dirty="0"/>
          </a:p>
        </p:txBody>
      </p:sp>
      <p:sp>
        <p:nvSpPr>
          <p:cNvPr id="13" name="Shape 11"/>
          <p:cNvSpPr/>
          <p:nvPr/>
        </p:nvSpPr>
        <p:spPr>
          <a:xfrm>
            <a:off x="548640" y="2167128"/>
            <a:ext cx="3520440" cy="658368"/>
          </a:xfrm>
          <a:prstGeom prst="roundRect">
            <a:avLst>
              <a:gd name="adj" fmla="val 8333"/>
            </a:avLst>
          </a:prstGeom>
          <a:solidFill>
            <a:srgbClr val="FFFFFF"/>
          </a:solidFill>
          <a:ln w="12700">
            <a:solidFill>
              <a:srgbClr val="D9DCE1"/>
            </a:solidFill>
            <a:prstDash val="solid"/>
          </a:ln>
        </p:spPr>
      </p:sp>
      <p:sp>
        <p:nvSpPr>
          <p:cNvPr id="14" name="Text 12"/>
          <p:cNvSpPr/>
          <p:nvPr/>
        </p:nvSpPr>
        <p:spPr>
          <a:xfrm>
            <a:off x="685800" y="2221992"/>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Gateway</a:t>
            </a:r>
            <a:endParaRPr lang="en-US" sz="1200" dirty="0"/>
          </a:p>
        </p:txBody>
      </p:sp>
      <p:sp>
        <p:nvSpPr>
          <p:cNvPr id="15" name="Text 13"/>
          <p:cNvSpPr/>
          <p:nvPr/>
        </p:nvSpPr>
        <p:spPr>
          <a:xfrm>
            <a:off x="685800" y="2478024"/>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The router that connects a subnet to other networks</a:t>
            </a:r>
            <a:endParaRPr lang="en-US" sz="950" dirty="0"/>
          </a:p>
        </p:txBody>
      </p:sp>
      <p:sp>
        <p:nvSpPr>
          <p:cNvPr id="16" name="Shape 14"/>
          <p:cNvSpPr/>
          <p:nvPr/>
        </p:nvSpPr>
        <p:spPr>
          <a:xfrm>
            <a:off x="4270248" y="2167128"/>
            <a:ext cx="3520440" cy="658368"/>
          </a:xfrm>
          <a:prstGeom prst="roundRect">
            <a:avLst>
              <a:gd name="adj" fmla="val 8333"/>
            </a:avLst>
          </a:prstGeom>
          <a:solidFill>
            <a:srgbClr val="FFFFFF"/>
          </a:solidFill>
          <a:ln w="12700">
            <a:solidFill>
              <a:srgbClr val="D9DCE1"/>
            </a:solidFill>
            <a:prstDash val="solid"/>
          </a:ln>
        </p:spPr>
      </p:sp>
      <p:sp>
        <p:nvSpPr>
          <p:cNvPr id="17" name="Text 15"/>
          <p:cNvSpPr/>
          <p:nvPr/>
        </p:nvSpPr>
        <p:spPr>
          <a:xfrm>
            <a:off x="4407408" y="2221992"/>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DNS</a:t>
            </a:r>
            <a:endParaRPr lang="en-US" sz="1200" dirty="0"/>
          </a:p>
        </p:txBody>
      </p:sp>
      <p:sp>
        <p:nvSpPr>
          <p:cNvPr id="18" name="Text 16"/>
          <p:cNvSpPr/>
          <p:nvPr/>
        </p:nvSpPr>
        <p:spPr>
          <a:xfrm>
            <a:off x="4407408" y="2478024"/>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Translates domain names into IP addresses</a:t>
            </a:r>
            <a:endParaRPr lang="en-US" sz="950" dirty="0"/>
          </a:p>
        </p:txBody>
      </p:sp>
      <p:sp>
        <p:nvSpPr>
          <p:cNvPr id="19" name="Shape 17"/>
          <p:cNvSpPr/>
          <p:nvPr/>
        </p:nvSpPr>
        <p:spPr>
          <a:xfrm>
            <a:off x="7991856" y="2167128"/>
            <a:ext cx="3520440" cy="658368"/>
          </a:xfrm>
          <a:prstGeom prst="roundRect">
            <a:avLst>
              <a:gd name="adj" fmla="val 8333"/>
            </a:avLst>
          </a:prstGeom>
          <a:solidFill>
            <a:srgbClr val="FFFFFF"/>
          </a:solidFill>
          <a:ln w="12700">
            <a:solidFill>
              <a:srgbClr val="D9DCE1"/>
            </a:solidFill>
            <a:prstDash val="solid"/>
          </a:ln>
        </p:spPr>
      </p:sp>
      <p:sp>
        <p:nvSpPr>
          <p:cNvPr id="20" name="Text 18"/>
          <p:cNvSpPr/>
          <p:nvPr/>
        </p:nvSpPr>
        <p:spPr>
          <a:xfrm>
            <a:off x="8129016" y="2221992"/>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DHCP</a:t>
            </a:r>
            <a:endParaRPr lang="en-US" sz="1200" dirty="0"/>
          </a:p>
        </p:txBody>
      </p:sp>
      <p:sp>
        <p:nvSpPr>
          <p:cNvPr id="21" name="Text 19"/>
          <p:cNvSpPr/>
          <p:nvPr/>
        </p:nvSpPr>
        <p:spPr>
          <a:xfrm>
            <a:off x="8129016" y="2478024"/>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Automatically assigns IP addresses to devices</a:t>
            </a:r>
            <a:endParaRPr lang="en-US" sz="950" dirty="0"/>
          </a:p>
        </p:txBody>
      </p:sp>
      <p:sp>
        <p:nvSpPr>
          <p:cNvPr id="22" name="Shape 20"/>
          <p:cNvSpPr/>
          <p:nvPr/>
        </p:nvSpPr>
        <p:spPr>
          <a:xfrm>
            <a:off x="548640" y="2916936"/>
            <a:ext cx="3520440" cy="658368"/>
          </a:xfrm>
          <a:prstGeom prst="roundRect">
            <a:avLst>
              <a:gd name="adj" fmla="val 8333"/>
            </a:avLst>
          </a:prstGeom>
          <a:solidFill>
            <a:srgbClr val="FFFFFF"/>
          </a:solidFill>
          <a:ln w="12700">
            <a:solidFill>
              <a:srgbClr val="D9DCE1"/>
            </a:solidFill>
            <a:prstDash val="solid"/>
          </a:ln>
        </p:spPr>
      </p:sp>
      <p:sp>
        <p:nvSpPr>
          <p:cNvPr id="23" name="Text 21"/>
          <p:cNvSpPr/>
          <p:nvPr/>
        </p:nvSpPr>
        <p:spPr>
          <a:xfrm>
            <a:off x="685800" y="2971800"/>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NAT</a:t>
            </a:r>
            <a:endParaRPr lang="en-US" sz="1200" dirty="0"/>
          </a:p>
        </p:txBody>
      </p:sp>
      <p:sp>
        <p:nvSpPr>
          <p:cNvPr id="24" name="Text 22"/>
          <p:cNvSpPr/>
          <p:nvPr/>
        </p:nvSpPr>
        <p:spPr>
          <a:xfrm>
            <a:off x="685800" y="3227832"/>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Lets many private devices share one public IP</a:t>
            </a:r>
            <a:endParaRPr lang="en-US" sz="950" dirty="0"/>
          </a:p>
        </p:txBody>
      </p:sp>
      <p:sp>
        <p:nvSpPr>
          <p:cNvPr id="25" name="Shape 23"/>
          <p:cNvSpPr/>
          <p:nvPr/>
        </p:nvSpPr>
        <p:spPr>
          <a:xfrm>
            <a:off x="4270248" y="2916936"/>
            <a:ext cx="3520440" cy="658368"/>
          </a:xfrm>
          <a:prstGeom prst="roundRect">
            <a:avLst>
              <a:gd name="adj" fmla="val 8333"/>
            </a:avLst>
          </a:prstGeom>
          <a:solidFill>
            <a:srgbClr val="FFFFFF"/>
          </a:solidFill>
          <a:ln w="12700">
            <a:solidFill>
              <a:srgbClr val="D9DCE1"/>
            </a:solidFill>
            <a:prstDash val="solid"/>
          </a:ln>
        </p:spPr>
      </p:sp>
      <p:sp>
        <p:nvSpPr>
          <p:cNvPr id="26" name="Text 24"/>
          <p:cNvSpPr/>
          <p:nvPr/>
        </p:nvSpPr>
        <p:spPr>
          <a:xfrm>
            <a:off x="4407408" y="2971800"/>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Firewall</a:t>
            </a:r>
            <a:endParaRPr lang="en-US" sz="1200" dirty="0"/>
          </a:p>
        </p:txBody>
      </p:sp>
      <p:sp>
        <p:nvSpPr>
          <p:cNvPr id="27" name="Text 25"/>
          <p:cNvSpPr/>
          <p:nvPr/>
        </p:nvSpPr>
        <p:spPr>
          <a:xfrm>
            <a:off x="4407408" y="3227832"/>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Filters traffic based on rules</a:t>
            </a:r>
            <a:endParaRPr lang="en-US" sz="950" dirty="0"/>
          </a:p>
        </p:txBody>
      </p:sp>
      <p:sp>
        <p:nvSpPr>
          <p:cNvPr id="28" name="Shape 26"/>
          <p:cNvSpPr/>
          <p:nvPr/>
        </p:nvSpPr>
        <p:spPr>
          <a:xfrm>
            <a:off x="7991856" y="2916936"/>
            <a:ext cx="3520440" cy="658368"/>
          </a:xfrm>
          <a:prstGeom prst="roundRect">
            <a:avLst>
              <a:gd name="adj" fmla="val 8333"/>
            </a:avLst>
          </a:prstGeom>
          <a:solidFill>
            <a:srgbClr val="FFFFFF"/>
          </a:solidFill>
          <a:ln w="12700">
            <a:solidFill>
              <a:srgbClr val="D9DCE1"/>
            </a:solidFill>
            <a:prstDash val="solid"/>
          </a:ln>
        </p:spPr>
      </p:sp>
      <p:sp>
        <p:nvSpPr>
          <p:cNvPr id="29" name="Text 27"/>
          <p:cNvSpPr/>
          <p:nvPr/>
        </p:nvSpPr>
        <p:spPr>
          <a:xfrm>
            <a:off x="8129016" y="2971800"/>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VPN</a:t>
            </a:r>
            <a:endParaRPr lang="en-US" sz="1200" dirty="0"/>
          </a:p>
        </p:txBody>
      </p:sp>
      <p:sp>
        <p:nvSpPr>
          <p:cNvPr id="30" name="Text 28"/>
          <p:cNvSpPr/>
          <p:nvPr/>
        </p:nvSpPr>
        <p:spPr>
          <a:xfrm>
            <a:off x="8129016" y="3227832"/>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Encrypts traffic across an untrusted network</a:t>
            </a:r>
            <a:endParaRPr lang="en-US" sz="950" dirty="0"/>
          </a:p>
        </p:txBody>
      </p:sp>
      <p:sp>
        <p:nvSpPr>
          <p:cNvPr id="31" name="Shape 29"/>
          <p:cNvSpPr/>
          <p:nvPr/>
        </p:nvSpPr>
        <p:spPr>
          <a:xfrm>
            <a:off x="548640" y="3666744"/>
            <a:ext cx="3520440" cy="658368"/>
          </a:xfrm>
          <a:prstGeom prst="roundRect">
            <a:avLst>
              <a:gd name="adj" fmla="val 8333"/>
            </a:avLst>
          </a:prstGeom>
          <a:solidFill>
            <a:srgbClr val="FFFFFF"/>
          </a:solidFill>
          <a:ln w="12700">
            <a:solidFill>
              <a:srgbClr val="D9DCE1"/>
            </a:solidFill>
            <a:prstDash val="solid"/>
          </a:ln>
        </p:spPr>
      </p:sp>
      <p:sp>
        <p:nvSpPr>
          <p:cNvPr id="32" name="Text 30"/>
          <p:cNvSpPr/>
          <p:nvPr/>
        </p:nvSpPr>
        <p:spPr>
          <a:xfrm>
            <a:off x="685800" y="3721608"/>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Port</a:t>
            </a:r>
            <a:endParaRPr lang="en-US" sz="1200" dirty="0"/>
          </a:p>
        </p:txBody>
      </p:sp>
      <p:sp>
        <p:nvSpPr>
          <p:cNvPr id="33" name="Text 31"/>
          <p:cNvSpPr/>
          <p:nvPr/>
        </p:nvSpPr>
        <p:spPr>
          <a:xfrm>
            <a:off x="685800" y="3977640"/>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Identifies which service traffic is meant for</a:t>
            </a:r>
            <a:endParaRPr lang="en-US" sz="950" dirty="0"/>
          </a:p>
        </p:txBody>
      </p:sp>
      <p:sp>
        <p:nvSpPr>
          <p:cNvPr id="34" name="Shape 32"/>
          <p:cNvSpPr/>
          <p:nvPr/>
        </p:nvSpPr>
        <p:spPr>
          <a:xfrm>
            <a:off x="4270248" y="3666744"/>
            <a:ext cx="3520440" cy="658368"/>
          </a:xfrm>
          <a:prstGeom prst="roundRect">
            <a:avLst>
              <a:gd name="adj" fmla="val 8333"/>
            </a:avLst>
          </a:prstGeom>
          <a:solidFill>
            <a:srgbClr val="FFFFFF"/>
          </a:solidFill>
          <a:ln w="12700">
            <a:solidFill>
              <a:srgbClr val="D9DCE1"/>
            </a:solidFill>
            <a:prstDash val="solid"/>
          </a:ln>
        </p:spPr>
      </p:sp>
      <p:sp>
        <p:nvSpPr>
          <p:cNvPr id="35" name="Text 33"/>
          <p:cNvSpPr/>
          <p:nvPr/>
        </p:nvSpPr>
        <p:spPr>
          <a:xfrm>
            <a:off x="4407408" y="3721608"/>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Router</a:t>
            </a:r>
            <a:endParaRPr lang="en-US" sz="1200" dirty="0"/>
          </a:p>
        </p:txBody>
      </p:sp>
      <p:sp>
        <p:nvSpPr>
          <p:cNvPr id="36" name="Text 34"/>
          <p:cNvSpPr/>
          <p:nvPr/>
        </p:nvSpPr>
        <p:spPr>
          <a:xfrm>
            <a:off x="4407408" y="3977640"/>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Connects different networks together</a:t>
            </a:r>
            <a:endParaRPr lang="en-US" sz="950" dirty="0"/>
          </a:p>
        </p:txBody>
      </p:sp>
      <p:sp>
        <p:nvSpPr>
          <p:cNvPr id="37" name="Shape 35"/>
          <p:cNvSpPr/>
          <p:nvPr/>
        </p:nvSpPr>
        <p:spPr>
          <a:xfrm>
            <a:off x="7991856" y="3666744"/>
            <a:ext cx="3520440" cy="658368"/>
          </a:xfrm>
          <a:prstGeom prst="roundRect">
            <a:avLst>
              <a:gd name="adj" fmla="val 8333"/>
            </a:avLst>
          </a:prstGeom>
          <a:solidFill>
            <a:srgbClr val="FFFFFF"/>
          </a:solidFill>
          <a:ln w="12700">
            <a:solidFill>
              <a:srgbClr val="D9DCE1"/>
            </a:solidFill>
            <a:prstDash val="solid"/>
          </a:ln>
        </p:spPr>
      </p:sp>
      <p:sp>
        <p:nvSpPr>
          <p:cNvPr id="38" name="Text 36"/>
          <p:cNvSpPr/>
          <p:nvPr/>
        </p:nvSpPr>
        <p:spPr>
          <a:xfrm>
            <a:off x="8129016" y="3721608"/>
            <a:ext cx="3246120" cy="256032"/>
          </a:xfrm>
          <a:prstGeom prst="rect">
            <a:avLst/>
          </a:prstGeom>
          <a:noFill/>
          <a:ln/>
        </p:spPr>
        <p:txBody>
          <a:bodyPr wrap="square" rtlCol="0" anchor="ctr"/>
          <a:lstStyle/>
          <a:p>
            <a:pPr indent="0" marL="0">
              <a:buNone/>
            </a:pPr>
            <a:r>
              <a:rPr lang="en-US" sz="1200" b="1" dirty="0">
                <a:solidFill>
                  <a:srgbClr val="FF9900"/>
                </a:solidFill>
                <a:latin typeface="Arial" pitchFamily="34" charset="0"/>
                <a:ea typeface="Arial" pitchFamily="34" charset="-122"/>
                <a:cs typeface="Arial" pitchFamily="34" charset="-120"/>
              </a:rPr>
              <a:t>Switch</a:t>
            </a:r>
            <a:endParaRPr lang="en-US" sz="1200" dirty="0"/>
          </a:p>
        </p:txBody>
      </p:sp>
      <p:sp>
        <p:nvSpPr>
          <p:cNvPr id="39" name="Text 37"/>
          <p:cNvSpPr/>
          <p:nvPr/>
        </p:nvSpPr>
        <p:spPr>
          <a:xfrm>
            <a:off x="8129016" y="3977640"/>
            <a:ext cx="3246120" cy="320040"/>
          </a:xfrm>
          <a:prstGeom prst="rect">
            <a:avLst/>
          </a:prstGeom>
          <a:noFill/>
          <a:ln/>
        </p:spPr>
        <p:txBody>
          <a:bodyPr wrap="square" rtlCol="0" anchor="ctr"/>
          <a:lstStyle/>
          <a:p>
            <a:pPr indent="0" marL="0">
              <a:buNone/>
            </a:pPr>
            <a:r>
              <a:rPr lang="en-US" sz="950" dirty="0">
                <a:solidFill>
                  <a:srgbClr val="5A6B75"/>
                </a:solidFill>
                <a:latin typeface="Calibri" pitchFamily="34" charset="0"/>
                <a:ea typeface="Calibri" pitchFamily="34" charset="-122"/>
                <a:cs typeface="Calibri" pitchFamily="34" charset="-120"/>
              </a:rPr>
              <a:t>Connects devices within the same network</a:t>
            </a:r>
            <a:endParaRPr lang="en-US" sz="950" dirty="0"/>
          </a:p>
        </p:txBody>
      </p:sp>
      <p:sp>
        <p:nvSpPr>
          <p:cNvPr id="40" name="Text 38"/>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41" name="Text 39"/>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41</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Port Cheat Sheet</a:t>
            </a:r>
            <a:endParaRPr lang="en-US" sz="2800" dirty="0"/>
          </a:p>
        </p:txBody>
      </p:sp>
      <p:sp>
        <p:nvSpPr>
          <p:cNvPr id="4" name="Shape 2"/>
          <p:cNvSpPr/>
          <p:nvPr/>
        </p:nvSpPr>
        <p:spPr>
          <a:xfrm>
            <a:off x="548640" y="1554480"/>
            <a:ext cx="1783080" cy="777240"/>
          </a:xfrm>
          <a:prstGeom prst="roundRect">
            <a:avLst>
              <a:gd name="adj" fmla="val 8235"/>
            </a:avLst>
          </a:prstGeom>
          <a:solidFill>
            <a:srgbClr val="232F3E"/>
          </a:solidFill>
          <a:ln/>
        </p:spPr>
      </p:sp>
      <p:sp>
        <p:nvSpPr>
          <p:cNvPr id="5" name="Text 3"/>
          <p:cNvSpPr/>
          <p:nvPr/>
        </p:nvSpPr>
        <p:spPr>
          <a:xfrm>
            <a:off x="548640" y="1645920"/>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20/21</a:t>
            </a:r>
            <a:endParaRPr lang="en-US" sz="1500" dirty="0"/>
          </a:p>
        </p:txBody>
      </p:sp>
      <p:sp>
        <p:nvSpPr>
          <p:cNvPr id="6" name="Text 4"/>
          <p:cNvSpPr/>
          <p:nvPr/>
        </p:nvSpPr>
        <p:spPr>
          <a:xfrm>
            <a:off x="548640" y="2011680"/>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FTP</a:t>
            </a:r>
            <a:endParaRPr lang="en-US" sz="1000" dirty="0"/>
          </a:p>
        </p:txBody>
      </p:sp>
      <p:sp>
        <p:nvSpPr>
          <p:cNvPr id="7" name="Shape 5"/>
          <p:cNvSpPr/>
          <p:nvPr/>
        </p:nvSpPr>
        <p:spPr>
          <a:xfrm>
            <a:off x="2423160" y="1554480"/>
            <a:ext cx="1783080" cy="777240"/>
          </a:xfrm>
          <a:prstGeom prst="roundRect">
            <a:avLst>
              <a:gd name="adj" fmla="val 8235"/>
            </a:avLst>
          </a:prstGeom>
          <a:solidFill>
            <a:srgbClr val="232F3E"/>
          </a:solidFill>
          <a:ln/>
        </p:spPr>
      </p:sp>
      <p:sp>
        <p:nvSpPr>
          <p:cNvPr id="8" name="Text 6"/>
          <p:cNvSpPr/>
          <p:nvPr/>
        </p:nvSpPr>
        <p:spPr>
          <a:xfrm>
            <a:off x="2423160" y="1645920"/>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22</a:t>
            </a:r>
            <a:endParaRPr lang="en-US" sz="1500" dirty="0"/>
          </a:p>
        </p:txBody>
      </p:sp>
      <p:sp>
        <p:nvSpPr>
          <p:cNvPr id="9" name="Text 7"/>
          <p:cNvSpPr/>
          <p:nvPr/>
        </p:nvSpPr>
        <p:spPr>
          <a:xfrm>
            <a:off x="2423160" y="2011680"/>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SSH</a:t>
            </a:r>
            <a:endParaRPr lang="en-US" sz="1000" dirty="0"/>
          </a:p>
        </p:txBody>
      </p:sp>
      <p:sp>
        <p:nvSpPr>
          <p:cNvPr id="10" name="Shape 8"/>
          <p:cNvSpPr/>
          <p:nvPr/>
        </p:nvSpPr>
        <p:spPr>
          <a:xfrm>
            <a:off x="4297680" y="1554480"/>
            <a:ext cx="1783080" cy="777240"/>
          </a:xfrm>
          <a:prstGeom prst="roundRect">
            <a:avLst>
              <a:gd name="adj" fmla="val 8235"/>
            </a:avLst>
          </a:prstGeom>
          <a:solidFill>
            <a:srgbClr val="232F3E"/>
          </a:solidFill>
          <a:ln/>
        </p:spPr>
      </p:sp>
      <p:sp>
        <p:nvSpPr>
          <p:cNvPr id="11" name="Text 9"/>
          <p:cNvSpPr/>
          <p:nvPr/>
        </p:nvSpPr>
        <p:spPr>
          <a:xfrm>
            <a:off x="4297680" y="1645920"/>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23</a:t>
            </a:r>
            <a:endParaRPr lang="en-US" sz="1500" dirty="0"/>
          </a:p>
        </p:txBody>
      </p:sp>
      <p:sp>
        <p:nvSpPr>
          <p:cNvPr id="12" name="Text 10"/>
          <p:cNvSpPr/>
          <p:nvPr/>
        </p:nvSpPr>
        <p:spPr>
          <a:xfrm>
            <a:off x="4297680" y="2011680"/>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Telnet</a:t>
            </a:r>
            <a:endParaRPr lang="en-US" sz="1000" dirty="0"/>
          </a:p>
        </p:txBody>
      </p:sp>
      <p:sp>
        <p:nvSpPr>
          <p:cNvPr id="13" name="Shape 11"/>
          <p:cNvSpPr/>
          <p:nvPr/>
        </p:nvSpPr>
        <p:spPr>
          <a:xfrm>
            <a:off x="6172200" y="1554480"/>
            <a:ext cx="1783080" cy="777240"/>
          </a:xfrm>
          <a:prstGeom prst="roundRect">
            <a:avLst>
              <a:gd name="adj" fmla="val 8235"/>
            </a:avLst>
          </a:prstGeom>
          <a:solidFill>
            <a:srgbClr val="232F3E"/>
          </a:solidFill>
          <a:ln/>
        </p:spPr>
      </p:sp>
      <p:sp>
        <p:nvSpPr>
          <p:cNvPr id="14" name="Text 12"/>
          <p:cNvSpPr/>
          <p:nvPr/>
        </p:nvSpPr>
        <p:spPr>
          <a:xfrm>
            <a:off x="6172200" y="1645920"/>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25</a:t>
            </a:r>
            <a:endParaRPr lang="en-US" sz="1500" dirty="0"/>
          </a:p>
        </p:txBody>
      </p:sp>
      <p:sp>
        <p:nvSpPr>
          <p:cNvPr id="15" name="Text 13"/>
          <p:cNvSpPr/>
          <p:nvPr/>
        </p:nvSpPr>
        <p:spPr>
          <a:xfrm>
            <a:off x="6172200" y="2011680"/>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SMTP</a:t>
            </a:r>
            <a:endParaRPr lang="en-US" sz="1000" dirty="0"/>
          </a:p>
        </p:txBody>
      </p:sp>
      <p:sp>
        <p:nvSpPr>
          <p:cNvPr id="16" name="Shape 14"/>
          <p:cNvSpPr/>
          <p:nvPr/>
        </p:nvSpPr>
        <p:spPr>
          <a:xfrm>
            <a:off x="8046720" y="1554480"/>
            <a:ext cx="1783080" cy="777240"/>
          </a:xfrm>
          <a:prstGeom prst="roundRect">
            <a:avLst>
              <a:gd name="adj" fmla="val 8235"/>
            </a:avLst>
          </a:prstGeom>
          <a:solidFill>
            <a:srgbClr val="232F3E"/>
          </a:solidFill>
          <a:ln/>
        </p:spPr>
      </p:sp>
      <p:sp>
        <p:nvSpPr>
          <p:cNvPr id="17" name="Text 15"/>
          <p:cNvSpPr/>
          <p:nvPr/>
        </p:nvSpPr>
        <p:spPr>
          <a:xfrm>
            <a:off x="8046720" y="1645920"/>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53</a:t>
            </a:r>
            <a:endParaRPr lang="en-US" sz="1500" dirty="0"/>
          </a:p>
        </p:txBody>
      </p:sp>
      <p:sp>
        <p:nvSpPr>
          <p:cNvPr id="18" name="Text 16"/>
          <p:cNvSpPr/>
          <p:nvPr/>
        </p:nvSpPr>
        <p:spPr>
          <a:xfrm>
            <a:off x="8046720" y="2011680"/>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DNS</a:t>
            </a:r>
            <a:endParaRPr lang="en-US" sz="1000" dirty="0"/>
          </a:p>
        </p:txBody>
      </p:sp>
      <p:sp>
        <p:nvSpPr>
          <p:cNvPr id="19" name="Shape 17"/>
          <p:cNvSpPr/>
          <p:nvPr/>
        </p:nvSpPr>
        <p:spPr>
          <a:xfrm>
            <a:off x="9921240" y="1554480"/>
            <a:ext cx="1783080" cy="777240"/>
          </a:xfrm>
          <a:prstGeom prst="roundRect">
            <a:avLst>
              <a:gd name="adj" fmla="val 8235"/>
            </a:avLst>
          </a:prstGeom>
          <a:solidFill>
            <a:srgbClr val="232F3E"/>
          </a:solidFill>
          <a:ln/>
        </p:spPr>
      </p:sp>
      <p:sp>
        <p:nvSpPr>
          <p:cNvPr id="20" name="Text 18"/>
          <p:cNvSpPr/>
          <p:nvPr/>
        </p:nvSpPr>
        <p:spPr>
          <a:xfrm>
            <a:off x="9921240" y="1645920"/>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67/68</a:t>
            </a:r>
            <a:endParaRPr lang="en-US" sz="1500" dirty="0"/>
          </a:p>
        </p:txBody>
      </p:sp>
      <p:sp>
        <p:nvSpPr>
          <p:cNvPr id="21" name="Text 19"/>
          <p:cNvSpPr/>
          <p:nvPr/>
        </p:nvSpPr>
        <p:spPr>
          <a:xfrm>
            <a:off x="9921240" y="2011680"/>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DHCP</a:t>
            </a:r>
            <a:endParaRPr lang="en-US" sz="1000" dirty="0"/>
          </a:p>
        </p:txBody>
      </p:sp>
      <p:sp>
        <p:nvSpPr>
          <p:cNvPr id="22" name="Shape 20"/>
          <p:cNvSpPr/>
          <p:nvPr/>
        </p:nvSpPr>
        <p:spPr>
          <a:xfrm>
            <a:off x="548640" y="2441448"/>
            <a:ext cx="1783080" cy="777240"/>
          </a:xfrm>
          <a:prstGeom prst="roundRect">
            <a:avLst>
              <a:gd name="adj" fmla="val 8235"/>
            </a:avLst>
          </a:prstGeom>
          <a:solidFill>
            <a:srgbClr val="232F3E"/>
          </a:solidFill>
          <a:ln/>
        </p:spPr>
      </p:sp>
      <p:sp>
        <p:nvSpPr>
          <p:cNvPr id="23" name="Text 21"/>
          <p:cNvSpPr/>
          <p:nvPr/>
        </p:nvSpPr>
        <p:spPr>
          <a:xfrm>
            <a:off x="548640" y="2532888"/>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80</a:t>
            </a:r>
            <a:endParaRPr lang="en-US" sz="1500" dirty="0"/>
          </a:p>
        </p:txBody>
      </p:sp>
      <p:sp>
        <p:nvSpPr>
          <p:cNvPr id="24" name="Text 22"/>
          <p:cNvSpPr/>
          <p:nvPr/>
        </p:nvSpPr>
        <p:spPr>
          <a:xfrm>
            <a:off x="548640" y="2898648"/>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HTTP</a:t>
            </a:r>
            <a:endParaRPr lang="en-US" sz="1000" dirty="0"/>
          </a:p>
        </p:txBody>
      </p:sp>
      <p:sp>
        <p:nvSpPr>
          <p:cNvPr id="25" name="Shape 23"/>
          <p:cNvSpPr/>
          <p:nvPr/>
        </p:nvSpPr>
        <p:spPr>
          <a:xfrm>
            <a:off x="2423160" y="2441448"/>
            <a:ext cx="1783080" cy="777240"/>
          </a:xfrm>
          <a:prstGeom prst="roundRect">
            <a:avLst>
              <a:gd name="adj" fmla="val 8235"/>
            </a:avLst>
          </a:prstGeom>
          <a:solidFill>
            <a:srgbClr val="232F3E"/>
          </a:solidFill>
          <a:ln/>
        </p:spPr>
      </p:sp>
      <p:sp>
        <p:nvSpPr>
          <p:cNvPr id="26" name="Text 24"/>
          <p:cNvSpPr/>
          <p:nvPr/>
        </p:nvSpPr>
        <p:spPr>
          <a:xfrm>
            <a:off x="2423160" y="2532888"/>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110</a:t>
            </a:r>
            <a:endParaRPr lang="en-US" sz="1500" dirty="0"/>
          </a:p>
        </p:txBody>
      </p:sp>
      <p:sp>
        <p:nvSpPr>
          <p:cNvPr id="27" name="Text 25"/>
          <p:cNvSpPr/>
          <p:nvPr/>
        </p:nvSpPr>
        <p:spPr>
          <a:xfrm>
            <a:off x="2423160" y="2898648"/>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POP3</a:t>
            </a:r>
            <a:endParaRPr lang="en-US" sz="1000" dirty="0"/>
          </a:p>
        </p:txBody>
      </p:sp>
      <p:sp>
        <p:nvSpPr>
          <p:cNvPr id="28" name="Shape 26"/>
          <p:cNvSpPr/>
          <p:nvPr/>
        </p:nvSpPr>
        <p:spPr>
          <a:xfrm>
            <a:off x="4297680" y="2441448"/>
            <a:ext cx="1783080" cy="777240"/>
          </a:xfrm>
          <a:prstGeom prst="roundRect">
            <a:avLst>
              <a:gd name="adj" fmla="val 8235"/>
            </a:avLst>
          </a:prstGeom>
          <a:solidFill>
            <a:srgbClr val="232F3E"/>
          </a:solidFill>
          <a:ln/>
        </p:spPr>
      </p:sp>
      <p:sp>
        <p:nvSpPr>
          <p:cNvPr id="29" name="Text 27"/>
          <p:cNvSpPr/>
          <p:nvPr/>
        </p:nvSpPr>
        <p:spPr>
          <a:xfrm>
            <a:off x="4297680" y="2532888"/>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123</a:t>
            </a:r>
            <a:endParaRPr lang="en-US" sz="1500" dirty="0"/>
          </a:p>
        </p:txBody>
      </p:sp>
      <p:sp>
        <p:nvSpPr>
          <p:cNvPr id="30" name="Text 28"/>
          <p:cNvSpPr/>
          <p:nvPr/>
        </p:nvSpPr>
        <p:spPr>
          <a:xfrm>
            <a:off x="4297680" y="2898648"/>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NTP</a:t>
            </a:r>
            <a:endParaRPr lang="en-US" sz="1000" dirty="0"/>
          </a:p>
        </p:txBody>
      </p:sp>
      <p:sp>
        <p:nvSpPr>
          <p:cNvPr id="31" name="Shape 29"/>
          <p:cNvSpPr/>
          <p:nvPr/>
        </p:nvSpPr>
        <p:spPr>
          <a:xfrm>
            <a:off x="6172200" y="2441448"/>
            <a:ext cx="1783080" cy="777240"/>
          </a:xfrm>
          <a:prstGeom prst="roundRect">
            <a:avLst>
              <a:gd name="adj" fmla="val 8235"/>
            </a:avLst>
          </a:prstGeom>
          <a:solidFill>
            <a:srgbClr val="232F3E"/>
          </a:solidFill>
          <a:ln/>
        </p:spPr>
      </p:sp>
      <p:sp>
        <p:nvSpPr>
          <p:cNvPr id="32" name="Text 30"/>
          <p:cNvSpPr/>
          <p:nvPr/>
        </p:nvSpPr>
        <p:spPr>
          <a:xfrm>
            <a:off x="6172200" y="2532888"/>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143</a:t>
            </a:r>
            <a:endParaRPr lang="en-US" sz="1500" dirty="0"/>
          </a:p>
        </p:txBody>
      </p:sp>
      <p:sp>
        <p:nvSpPr>
          <p:cNvPr id="33" name="Text 31"/>
          <p:cNvSpPr/>
          <p:nvPr/>
        </p:nvSpPr>
        <p:spPr>
          <a:xfrm>
            <a:off x="6172200" y="2898648"/>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IMAP</a:t>
            </a:r>
            <a:endParaRPr lang="en-US" sz="1000" dirty="0"/>
          </a:p>
        </p:txBody>
      </p:sp>
      <p:sp>
        <p:nvSpPr>
          <p:cNvPr id="34" name="Shape 32"/>
          <p:cNvSpPr/>
          <p:nvPr/>
        </p:nvSpPr>
        <p:spPr>
          <a:xfrm>
            <a:off x="8046720" y="2441448"/>
            <a:ext cx="1783080" cy="777240"/>
          </a:xfrm>
          <a:prstGeom prst="roundRect">
            <a:avLst>
              <a:gd name="adj" fmla="val 8235"/>
            </a:avLst>
          </a:prstGeom>
          <a:solidFill>
            <a:srgbClr val="232F3E"/>
          </a:solidFill>
          <a:ln/>
        </p:spPr>
      </p:sp>
      <p:sp>
        <p:nvSpPr>
          <p:cNvPr id="35" name="Text 33"/>
          <p:cNvSpPr/>
          <p:nvPr/>
        </p:nvSpPr>
        <p:spPr>
          <a:xfrm>
            <a:off x="8046720" y="2532888"/>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389</a:t>
            </a:r>
            <a:endParaRPr lang="en-US" sz="1500" dirty="0"/>
          </a:p>
        </p:txBody>
      </p:sp>
      <p:sp>
        <p:nvSpPr>
          <p:cNvPr id="36" name="Text 34"/>
          <p:cNvSpPr/>
          <p:nvPr/>
        </p:nvSpPr>
        <p:spPr>
          <a:xfrm>
            <a:off x="8046720" y="2898648"/>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LDAP</a:t>
            </a:r>
            <a:endParaRPr lang="en-US" sz="1000" dirty="0"/>
          </a:p>
        </p:txBody>
      </p:sp>
      <p:sp>
        <p:nvSpPr>
          <p:cNvPr id="37" name="Shape 35"/>
          <p:cNvSpPr/>
          <p:nvPr/>
        </p:nvSpPr>
        <p:spPr>
          <a:xfrm>
            <a:off x="9921240" y="2441448"/>
            <a:ext cx="1783080" cy="777240"/>
          </a:xfrm>
          <a:prstGeom prst="roundRect">
            <a:avLst>
              <a:gd name="adj" fmla="val 8235"/>
            </a:avLst>
          </a:prstGeom>
          <a:solidFill>
            <a:srgbClr val="232F3E"/>
          </a:solidFill>
          <a:ln/>
        </p:spPr>
      </p:sp>
      <p:sp>
        <p:nvSpPr>
          <p:cNvPr id="38" name="Text 36"/>
          <p:cNvSpPr/>
          <p:nvPr/>
        </p:nvSpPr>
        <p:spPr>
          <a:xfrm>
            <a:off x="9921240" y="2532888"/>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443</a:t>
            </a:r>
            <a:endParaRPr lang="en-US" sz="1500" dirty="0"/>
          </a:p>
        </p:txBody>
      </p:sp>
      <p:sp>
        <p:nvSpPr>
          <p:cNvPr id="39" name="Text 37"/>
          <p:cNvSpPr/>
          <p:nvPr/>
        </p:nvSpPr>
        <p:spPr>
          <a:xfrm>
            <a:off x="9921240" y="2898648"/>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HTTPS</a:t>
            </a:r>
            <a:endParaRPr lang="en-US" sz="1000" dirty="0"/>
          </a:p>
        </p:txBody>
      </p:sp>
      <p:sp>
        <p:nvSpPr>
          <p:cNvPr id="40" name="Shape 38"/>
          <p:cNvSpPr/>
          <p:nvPr/>
        </p:nvSpPr>
        <p:spPr>
          <a:xfrm>
            <a:off x="548640" y="3328416"/>
            <a:ext cx="1783080" cy="777240"/>
          </a:xfrm>
          <a:prstGeom prst="roundRect">
            <a:avLst>
              <a:gd name="adj" fmla="val 8235"/>
            </a:avLst>
          </a:prstGeom>
          <a:solidFill>
            <a:srgbClr val="232F3E"/>
          </a:solidFill>
          <a:ln/>
        </p:spPr>
      </p:sp>
      <p:sp>
        <p:nvSpPr>
          <p:cNvPr id="41" name="Text 39"/>
          <p:cNvSpPr/>
          <p:nvPr/>
        </p:nvSpPr>
        <p:spPr>
          <a:xfrm>
            <a:off x="548640" y="3419856"/>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445</a:t>
            </a:r>
            <a:endParaRPr lang="en-US" sz="1500" dirty="0"/>
          </a:p>
        </p:txBody>
      </p:sp>
      <p:sp>
        <p:nvSpPr>
          <p:cNvPr id="42" name="Text 40"/>
          <p:cNvSpPr/>
          <p:nvPr/>
        </p:nvSpPr>
        <p:spPr>
          <a:xfrm>
            <a:off x="548640" y="3785616"/>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SMB</a:t>
            </a:r>
            <a:endParaRPr lang="en-US" sz="1000" dirty="0"/>
          </a:p>
        </p:txBody>
      </p:sp>
      <p:sp>
        <p:nvSpPr>
          <p:cNvPr id="43" name="Shape 41"/>
          <p:cNvSpPr/>
          <p:nvPr/>
        </p:nvSpPr>
        <p:spPr>
          <a:xfrm>
            <a:off x="2423160" y="3328416"/>
            <a:ext cx="1783080" cy="777240"/>
          </a:xfrm>
          <a:prstGeom prst="roundRect">
            <a:avLst>
              <a:gd name="adj" fmla="val 8235"/>
            </a:avLst>
          </a:prstGeom>
          <a:solidFill>
            <a:srgbClr val="232F3E"/>
          </a:solidFill>
          <a:ln/>
        </p:spPr>
      </p:sp>
      <p:sp>
        <p:nvSpPr>
          <p:cNvPr id="44" name="Text 42"/>
          <p:cNvSpPr/>
          <p:nvPr/>
        </p:nvSpPr>
        <p:spPr>
          <a:xfrm>
            <a:off x="2423160" y="3419856"/>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3306</a:t>
            </a:r>
            <a:endParaRPr lang="en-US" sz="1500" dirty="0"/>
          </a:p>
        </p:txBody>
      </p:sp>
      <p:sp>
        <p:nvSpPr>
          <p:cNvPr id="45" name="Text 43"/>
          <p:cNvSpPr/>
          <p:nvPr/>
        </p:nvSpPr>
        <p:spPr>
          <a:xfrm>
            <a:off x="2423160" y="3785616"/>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MySQL</a:t>
            </a:r>
            <a:endParaRPr lang="en-US" sz="1000" dirty="0"/>
          </a:p>
        </p:txBody>
      </p:sp>
      <p:sp>
        <p:nvSpPr>
          <p:cNvPr id="46" name="Shape 44"/>
          <p:cNvSpPr/>
          <p:nvPr/>
        </p:nvSpPr>
        <p:spPr>
          <a:xfrm>
            <a:off x="4297680" y="3328416"/>
            <a:ext cx="1783080" cy="777240"/>
          </a:xfrm>
          <a:prstGeom prst="roundRect">
            <a:avLst>
              <a:gd name="adj" fmla="val 8235"/>
            </a:avLst>
          </a:prstGeom>
          <a:solidFill>
            <a:srgbClr val="232F3E"/>
          </a:solidFill>
          <a:ln/>
        </p:spPr>
      </p:sp>
      <p:sp>
        <p:nvSpPr>
          <p:cNvPr id="47" name="Text 45"/>
          <p:cNvSpPr/>
          <p:nvPr/>
        </p:nvSpPr>
        <p:spPr>
          <a:xfrm>
            <a:off x="4297680" y="3419856"/>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3389</a:t>
            </a:r>
            <a:endParaRPr lang="en-US" sz="1500" dirty="0"/>
          </a:p>
        </p:txBody>
      </p:sp>
      <p:sp>
        <p:nvSpPr>
          <p:cNvPr id="48" name="Text 46"/>
          <p:cNvSpPr/>
          <p:nvPr/>
        </p:nvSpPr>
        <p:spPr>
          <a:xfrm>
            <a:off x="4297680" y="3785616"/>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RDP</a:t>
            </a:r>
            <a:endParaRPr lang="en-US" sz="1000" dirty="0"/>
          </a:p>
        </p:txBody>
      </p:sp>
      <p:sp>
        <p:nvSpPr>
          <p:cNvPr id="49" name="Shape 47"/>
          <p:cNvSpPr/>
          <p:nvPr/>
        </p:nvSpPr>
        <p:spPr>
          <a:xfrm>
            <a:off x="6172200" y="3328416"/>
            <a:ext cx="1783080" cy="777240"/>
          </a:xfrm>
          <a:prstGeom prst="roundRect">
            <a:avLst>
              <a:gd name="adj" fmla="val 8235"/>
            </a:avLst>
          </a:prstGeom>
          <a:solidFill>
            <a:srgbClr val="232F3E"/>
          </a:solidFill>
          <a:ln/>
        </p:spPr>
      </p:sp>
      <p:sp>
        <p:nvSpPr>
          <p:cNvPr id="50" name="Text 48"/>
          <p:cNvSpPr/>
          <p:nvPr/>
        </p:nvSpPr>
        <p:spPr>
          <a:xfrm>
            <a:off x="6172200" y="3419856"/>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5432</a:t>
            </a:r>
            <a:endParaRPr lang="en-US" sz="1500" dirty="0"/>
          </a:p>
        </p:txBody>
      </p:sp>
      <p:sp>
        <p:nvSpPr>
          <p:cNvPr id="51" name="Text 49"/>
          <p:cNvSpPr/>
          <p:nvPr/>
        </p:nvSpPr>
        <p:spPr>
          <a:xfrm>
            <a:off x="6172200" y="3785616"/>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PostgreSQL</a:t>
            </a:r>
            <a:endParaRPr lang="en-US" sz="1000" dirty="0"/>
          </a:p>
        </p:txBody>
      </p:sp>
      <p:sp>
        <p:nvSpPr>
          <p:cNvPr id="52" name="Shape 50"/>
          <p:cNvSpPr/>
          <p:nvPr/>
        </p:nvSpPr>
        <p:spPr>
          <a:xfrm>
            <a:off x="8046720" y="3328416"/>
            <a:ext cx="1783080" cy="777240"/>
          </a:xfrm>
          <a:prstGeom prst="roundRect">
            <a:avLst>
              <a:gd name="adj" fmla="val 8235"/>
            </a:avLst>
          </a:prstGeom>
          <a:solidFill>
            <a:srgbClr val="232F3E"/>
          </a:solidFill>
          <a:ln/>
        </p:spPr>
      </p:sp>
      <p:sp>
        <p:nvSpPr>
          <p:cNvPr id="53" name="Text 51"/>
          <p:cNvSpPr/>
          <p:nvPr/>
        </p:nvSpPr>
        <p:spPr>
          <a:xfrm>
            <a:off x="8046720" y="3419856"/>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6379</a:t>
            </a:r>
            <a:endParaRPr lang="en-US" sz="1500" dirty="0"/>
          </a:p>
        </p:txBody>
      </p:sp>
      <p:sp>
        <p:nvSpPr>
          <p:cNvPr id="54" name="Text 52"/>
          <p:cNvSpPr/>
          <p:nvPr/>
        </p:nvSpPr>
        <p:spPr>
          <a:xfrm>
            <a:off x="8046720" y="3785616"/>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Redis</a:t>
            </a:r>
            <a:endParaRPr lang="en-US" sz="1000" dirty="0"/>
          </a:p>
        </p:txBody>
      </p:sp>
      <p:sp>
        <p:nvSpPr>
          <p:cNvPr id="55" name="Shape 53"/>
          <p:cNvSpPr/>
          <p:nvPr/>
        </p:nvSpPr>
        <p:spPr>
          <a:xfrm>
            <a:off x="9921240" y="3328416"/>
            <a:ext cx="1783080" cy="777240"/>
          </a:xfrm>
          <a:prstGeom prst="roundRect">
            <a:avLst>
              <a:gd name="adj" fmla="val 8235"/>
            </a:avLst>
          </a:prstGeom>
          <a:solidFill>
            <a:srgbClr val="232F3E"/>
          </a:solidFill>
          <a:ln/>
        </p:spPr>
      </p:sp>
      <p:sp>
        <p:nvSpPr>
          <p:cNvPr id="56" name="Text 54"/>
          <p:cNvSpPr/>
          <p:nvPr/>
        </p:nvSpPr>
        <p:spPr>
          <a:xfrm>
            <a:off x="9921240" y="3419856"/>
            <a:ext cx="1783080" cy="365760"/>
          </a:xfrm>
          <a:prstGeom prst="rect">
            <a:avLst/>
          </a:prstGeom>
          <a:noFill/>
          <a:ln/>
        </p:spPr>
        <p:txBody>
          <a:bodyPr wrap="square" rtlCol="0" anchor="ctr"/>
          <a:lstStyle/>
          <a:p>
            <a:pPr algn="ctr" indent="0" marL="0">
              <a:buNone/>
            </a:pPr>
            <a:r>
              <a:rPr lang="en-US" sz="1500" b="1" dirty="0">
                <a:solidFill>
                  <a:srgbClr val="FF9900"/>
                </a:solidFill>
                <a:latin typeface="Consolas" pitchFamily="34" charset="0"/>
                <a:ea typeface="Consolas" pitchFamily="34" charset="-122"/>
                <a:cs typeface="Consolas" pitchFamily="34" charset="-120"/>
              </a:rPr>
              <a:t>8080/8443</a:t>
            </a:r>
            <a:endParaRPr lang="en-US" sz="1500" dirty="0"/>
          </a:p>
        </p:txBody>
      </p:sp>
      <p:sp>
        <p:nvSpPr>
          <p:cNvPr id="57" name="Text 55"/>
          <p:cNvSpPr/>
          <p:nvPr/>
        </p:nvSpPr>
        <p:spPr>
          <a:xfrm>
            <a:off x="9921240" y="3785616"/>
            <a:ext cx="1783080" cy="27432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HTTP/S Alt</a:t>
            </a:r>
            <a:endParaRPr lang="en-US" sz="1000" dirty="0"/>
          </a:p>
        </p:txBody>
      </p:sp>
      <p:sp>
        <p:nvSpPr>
          <p:cNvPr id="58" name="Shape 56"/>
          <p:cNvSpPr/>
          <p:nvPr/>
        </p:nvSpPr>
        <p:spPr>
          <a:xfrm>
            <a:off x="548640" y="5074920"/>
            <a:ext cx="11091672" cy="566928"/>
          </a:xfrm>
          <a:prstGeom prst="roundRect">
            <a:avLst>
              <a:gd name="adj" fmla="val 12903"/>
            </a:avLst>
          </a:prstGeom>
          <a:solidFill>
            <a:srgbClr val="232F3E"/>
          </a:solidFill>
          <a:ln/>
        </p:spPr>
      </p:sp>
      <p:sp>
        <p:nvSpPr>
          <p:cNvPr id="59" name="Shape 57"/>
          <p:cNvSpPr/>
          <p:nvPr/>
        </p:nvSpPr>
        <p:spPr>
          <a:xfrm>
            <a:off x="704088" y="5129784"/>
            <a:ext cx="457200" cy="457200"/>
          </a:xfrm>
          <a:prstGeom prst="ellipse">
            <a:avLst/>
          </a:prstGeom>
          <a:solidFill>
            <a:srgbClr val="33455B"/>
          </a:solidFill>
          <a:ln/>
        </p:spPr>
      </p:sp>
      <p:pic>
        <p:nvPicPr>
          <p:cNvPr id="60" name="Image 0" descr="/home/claude/ppt3/icon_lightbulb_o.png">    </p:cNvPr>
          <p:cNvPicPr>
            <a:picLocks noChangeAspect="1"/>
          </p:cNvPicPr>
          <p:nvPr/>
        </p:nvPicPr>
        <p:blipFill>
          <a:blip r:embed="rId1"/>
          <a:stretch>
            <a:fillRect/>
          </a:stretch>
        </p:blipFill>
        <p:spPr>
          <a:xfrm>
            <a:off x="813816" y="5239512"/>
            <a:ext cx="237744" cy="237744"/>
          </a:xfrm>
          <a:prstGeom prst="rect">
            <a:avLst/>
          </a:prstGeom>
        </p:spPr>
      </p:pic>
      <p:sp>
        <p:nvSpPr>
          <p:cNvPr id="61" name="Text 58"/>
          <p:cNvSpPr/>
          <p:nvPr/>
        </p:nvSpPr>
        <p:spPr>
          <a:xfrm>
            <a:off x="1234440" y="5074920"/>
            <a:ext cx="10177272" cy="56692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INSTRUCTOR TIP:  </a:t>
            </a:r>
            <a:pPr indent="0" marL="0">
              <a:buNone/>
            </a:pPr>
            <a:r>
              <a:rPr lang="en-US" sz="1100" dirty="0">
                <a:solidFill>
                  <a:srgbClr val="FFFFFF"/>
                </a:solidFill>
                <a:latin typeface="Calibri" pitchFamily="34" charset="0"/>
                <a:ea typeface="Calibri" pitchFamily="34" charset="-122"/>
                <a:cs typeface="Calibri" pitchFamily="34" charset="-120"/>
              </a:rPr>
              <a:t>22=SSH, 80/443=Web, 53=DNS — memorize these three first; the rest follow with repetition.</a:t>
            </a:r>
            <a:endParaRPr lang="en-US" sz="1100" dirty="0"/>
          </a:p>
        </p:txBody>
      </p:sp>
      <p:sp>
        <p:nvSpPr>
          <p:cNvPr id="62" name="Text 59"/>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63" name="Text 60"/>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42</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CIDR Cheat Sheet</a:t>
            </a:r>
            <a:endParaRPr lang="en-US" sz="2800" dirty="0"/>
          </a:p>
        </p:txBody>
      </p:sp>
      <p:sp>
        <p:nvSpPr>
          <p:cNvPr id="4" name="Shape 2"/>
          <p:cNvSpPr/>
          <p:nvPr/>
        </p:nvSpPr>
        <p:spPr>
          <a:xfrm>
            <a:off x="1737360" y="1554480"/>
            <a:ext cx="8686800" cy="384048"/>
          </a:xfrm>
          <a:prstGeom prst="rect">
            <a:avLst/>
          </a:prstGeom>
          <a:solidFill>
            <a:srgbClr val="232F3E"/>
          </a:solidFill>
          <a:ln/>
        </p:spPr>
      </p:sp>
      <p:sp>
        <p:nvSpPr>
          <p:cNvPr id="5" name="Text 3"/>
          <p:cNvSpPr/>
          <p:nvPr/>
        </p:nvSpPr>
        <p:spPr>
          <a:xfrm>
            <a:off x="1965960" y="1554480"/>
            <a:ext cx="2743200" cy="38404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CIDR</a:t>
            </a:r>
            <a:endParaRPr lang="en-US" sz="1100" dirty="0"/>
          </a:p>
        </p:txBody>
      </p:sp>
      <p:sp>
        <p:nvSpPr>
          <p:cNvPr id="6" name="Text 4"/>
          <p:cNvSpPr/>
          <p:nvPr/>
        </p:nvSpPr>
        <p:spPr>
          <a:xfrm>
            <a:off x="4709160" y="1554480"/>
            <a:ext cx="2743200" cy="38404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TOTAL IPs</a:t>
            </a:r>
            <a:endParaRPr lang="en-US" sz="1100" dirty="0"/>
          </a:p>
        </p:txBody>
      </p:sp>
      <p:sp>
        <p:nvSpPr>
          <p:cNvPr id="7" name="Text 5"/>
          <p:cNvSpPr/>
          <p:nvPr/>
        </p:nvSpPr>
        <p:spPr>
          <a:xfrm>
            <a:off x="7452360" y="1554480"/>
            <a:ext cx="2743200" cy="384048"/>
          </a:xfrm>
          <a:prstGeom prst="rect">
            <a:avLst/>
          </a:prstGeom>
          <a:noFill/>
          <a:ln/>
        </p:spPr>
        <p:txBody>
          <a:bodyPr wrap="square" rtlCol="0" anchor="ctr"/>
          <a:lstStyle/>
          <a:p>
            <a:pPr indent="0" marL="0">
              <a:buNone/>
            </a:pPr>
            <a:r>
              <a:rPr lang="en-US" sz="1100" b="1" dirty="0">
                <a:solidFill>
                  <a:srgbClr val="FF9900"/>
                </a:solidFill>
                <a:latin typeface="Calibri" pitchFamily="34" charset="0"/>
                <a:ea typeface="Calibri" pitchFamily="34" charset="-122"/>
                <a:cs typeface="Calibri" pitchFamily="34" charset="-120"/>
              </a:rPr>
              <a:t>USABLE HOSTS</a:t>
            </a:r>
            <a:endParaRPr lang="en-US" sz="1100" dirty="0"/>
          </a:p>
        </p:txBody>
      </p:sp>
      <p:sp>
        <p:nvSpPr>
          <p:cNvPr id="8" name="Shape 6"/>
          <p:cNvSpPr/>
          <p:nvPr/>
        </p:nvSpPr>
        <p:spPr>
          <a:xfrm>
            <a:off x="1737360" y="1938528"/>
            <a:ext cx="8686800" cy="457200"/>
          </a:xfrm>
          <a:prstGeom prst="rect">
            <a:avLst/>
          </a:prstGeom>
          <a:solidFill>
            <a:srgbClr val="FFFFFF"/>
          </a:solidFill>
          <a:ln w="9525">
            <a:solidFill>
              <a:srgbClr val="D9DCE1"/>
            </a:solidFill>
            <a:prstDash val="solid"/>
          </a:ln>
        </p:spPr>
      </p:sp>
      <p:sp>
        <p:nvSpPr>
          <p:cNvPr id="9" name="Text 7"/>
          <p:cNvSpPr/>
          <p:nvPr/>
        </p:nvSpPr>
        <p:spPr>
          <a:xfrm>
            <a:off x="1965960" y="19385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/16</a:t>
            </a:r>
            <a:endParaRPr lang="en-US" sz="1300" dirty="0"/>
          </a:p>
        </p:txBody>
      </p:sp>
      <p:sp>
        <p:nvSpPr>
          <p:cNvPr id="10" name="Text 8"/>
          <p:cNvSpPr/>
          <p:nvPr/>
        </p:nvSpPr>
        <p:spPr>
          <a:xfrm>
            <a:off x="4709160" y="19385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65,536</a:t>
            </a:r>
            <a:endParaRPr lang="en-US" sz="1200" dirty="0"/>
          </a:p>
        </p:txBody>
      </p:sp>
      <p:sp>
        <p:nvSpPr>
          <p:cNvPr id="11" name="Text 9"/>
          <p:cNvSpPr/>
          <p:nvPr/>
        </p:nvSpPr>
        <p:spPr>
          <a:xfrm>
            <a:off x="7452360" y="19385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65,534</a:t>
            </a:r>
            <a:endParaRPr lang="en-US" sz="1200" dirty="0"/>
          </a:p>
        </p:txBody>
      </p:sp>
      <p:sp>
        <p:nvSpPr>
          <p:cNvPr id="12" name="Shape 10"/>
          <p:cNvSpPr/>
          <p:nvPr/>
        </p:nvSpPr>
        <p:spPr>
          <a:xfrm>
            <a:off x="1737360" y="2395728"/>
            <a:ext cx="8686800" cy="457200"/>
          </a:xfrm>
          <a:prstGeom prst="rect">
            <a:avLst/>
          </a:prstGeom>
          <a:solidFill>
            <a:srgbClr val="FAFAFB"/>
          </a:solidFill>
          <a:ln w="9525">
            <a:solidFill>
              <a:srgbClr val="D9DCE1"/>
            </a:solidFill>
            <a:prstDash val="solid"/>
          </a:ln>
        </p:spPr>
      </p:sp>
      <p:sp>
        <p:nvSpPr>
          <p:cNvPr id="13" name="Text 11"/>
          <p:cNvSpPr/>
          <p:nvPr/>
        </p:nvSpPr>
        <p:spPr>
          <a:xfrm>
            <a:off x="1965960" y="23957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/20</a:t>
            </a:r>
            <a:endParaRPr lang="en-US" sz="1300" dirty="0"/>
          </a:p>
        </p:txBody>
      </p:sp>
      <p:sp>
        <p:nvSpPr>
          <p:cNvPr id="14" name="Text 12"/>
          <p:cNvSpPr/>
          <p:nvPr/>
        </p:nvSpPr>
        <p:spPr>
          <a:xfrm>
            <a:off x="4709160" y="23957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4,096</a:t>
            </a:r>
            <a:endParaRPr lang="en-US" sz="1200" dirty="0"/>
          </a:p>
        </p:txBody>
      </p:sp>
      <p:sp>
        <p:nvSpPr>
          <p:cNvPr id="15" name="Text 13"/>
          <p:cNvSpPr/>
          <p:nvPr/>
        </p:nvSpPr>
        <p:spPr>
          <a:xfrm>
            <a:off x="7452360" y="23957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4,094</a:t>
            </a:r>
            <a:endParaRPr lang="en-US" sz="1200" dirty="0"/>
          </a:p>
        </p:txBody>
      </p:sp>
      <p:sp>
        <p:nvSpPr>
          <p:cNvPr id="16" name="Shape 14"/>
          <p:cNvSpPr/>
          <p:nvPr/>
        </p:nvSpPr>
        <p:spPr>
          <a:xfrm>
            <a:off x="1737360" y="2852928"/>
            <a:ext cx="8686800" cy="457200"/>
          </a:xfrm>
          <a:prstGeom prst="rect">
            <a:avLst/>
          </a:prstGeom>
          <a:solidFill>
            <a:srgbClr val="FFFFFF"/>
          </a:solidFill>
          <a:ln w="9525">
            <a:solidFill>
              <a:srgbClr val="D9DCE1"/>
            </a:solidFill>
            <a:prstDash val="solid"/>
          </a:ln>
        </p:spPr>
      </p:sp>
      <p:sp>
        <p:nvSpPr>
          <p:cNvPr id="17" name="Text 15"/>
          <p:cNvSpPr/>
          <p:nvPr/>
        </p:nvSpPr>
        <p:spPr>
          <a:xfrm>
            <a:off x="1965960" y="28529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/24</a:t>
            </a:r>
            <a:endParaRPr lang="en-US" sz="1300" dirty="0"/>
          </a:p>
        </p:txBody>
      </p:sp>
      <p:sp>
        <p:nvSpPr>
          <p:cNvPr id="18" name="Text 16"/>
          <p:cNvSpPr/>
          <p:nvPr/>
        </p:nvSpPr>
        <p:spPr>
          <a:xfrm>
            <a:off x="4709160" y="28529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256</a:t>
            </a:r>
            <a:endParaRPr lang="en-US" sz="1200" dirty="0"/>
          </a:p>
        </p:txBody>
      </p:sp>
      <p:sp>
        <p:nvSpPr>
          <p:cNvPr id="19" name="Text 17"/>
          <p:cNvSpPr/>
          <p:nvPr/>
        </p:nvSpPr>
        <p:spPr>
          <a:xfrm>
            <a:off x="7452360" y="28529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254</a:t>
            </a:r>
            <a:endParaRPr lang="en-US" sz="1200" dirty="0"/>
          </a:p>
        </p:txBody>
      </p:sp>
      <p:sp>
        <p:nvSpPr>
          <p:cNvPr id="20" name="Shape 18"/>
          <p:cNvSpPr/>
          <p:nvPr/>
        </p:nvSpPr>
        <p:spPr>
          <a:xfrm>
            <a:off x="1737360" y="3310128"/>
            <a:ext cx="8686800" cy="457200"/>
          </a:xfrm>
          <a:prstGeom prst="rect">
            <a:avLst/>
          </a:prstGeom>
          <a:solidFill>
            <a:srgbClr val="FAFAFB"/>
          </a:solidFill>
          <a:ln w="9525">
            <a:solidFill>
              <a:srgbClr val="D9DCE1"/>
            </a:solidFill>
            <a:prstDash val="solid"/>
          </a:ln>
        </p:spPr>
      </p:sp>
      <p:sp>
        <p:nvSpPr>
          <p:cNvPr id="21" name="Text 19"/>
          <p:cNvSpPr/>
          <p:nvPr/>
        </p:nvSpPr>
        <p:spPr>
          <a:xfrm>
            <a:off x="1965960" y="33101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/25</a:t>
            </a:r>
            <a:endParaRPr lang="en-US" sz="1300" dirty="0"/>
          </a:p>
        </p:txBody>
      </p:sp>
      <p:sp>
        <p:nvSpPr>
          <p:cNvPr id="22" name="Text 20"/>
          <p:cNvSpPr/>
          <p:nvPr/>
        </p:nvSpPr>
        <p:spPr>
          <a:xfrm>
            <a:off x="4709160" y="33101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128</a:t>
            </a:r>
            <a:endParaRPr lang="en-US" sz="1200" dirty="0"/>
          </a:p>
        </p:txBody>
      </p:sp>
      <p:sp>
        <p:nvSpPr>
          <p:cNvPr id="23" name="Text 21"/>
          <p:cNvSpPr/>
          <p:nvPr/>
        </p:nvSpPr>
        <p:spPr>
          <a:xfrm>
            <a:off x="7452360" y="33101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126</a:t>
            </a:r>
            <a:endParaRPr lang="en-US" sz="1200" dirty="0"/>
          </a:p>
        </p:txBody>
      </p:sp>
      <p:sp>
        <p:nvSpPr>
          <p:cNvPr id="24" name="Shape 22"/>
          <p:cNvSpPr/>
          <p:nvPr/>
        </p:nvSpPr>
        <p:spPr>
          <a:xfrm>
            <a:off x="1737360" y="3767328"/>
            <a:ext cx="8686800" cy="457200"/>
          </a:xfrm>
          <a:prstGeom prst="rect">
            <a:avLst/>
          </a:prstGeom>
          <a:solidFill>
            <a:srgbClr val="FFFFFF"/>
          </a:solidFill>
          <a:ln w="9525">
            <a:solidFill>
              <a:srgbClr val="D9DCE1"/>
            </a:solidFill>
            <a:prstDash val="solid"/>
          </a:ln>
        </p:spPr>
      </p:sp>
      <p:sp>
        <p:nvSpPr>
          <p:cNvPr id="25" name="Text 23"/>
          <p:cNvSpPr/>
          <p:nvPr/>
        </p:nvSpPr>
        <p:spPr>
          <a:xfrm>
            <a:off x="1965960" y="37673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/26</a:t>
            </a:r>
            <a:endParaRPr lang="en-US" sz="1300" dirty="0"/>
          </a:p>
        </p:txBody>
      </p:sp>
      <p:sp>
        <p:nvSpPr>
          <p:cNvPr id="26" name="Text 24"/>
          <p:cNvSpPr/>
          <p:nvPr/>
        </p:nvSpPr>
        <p:spPr>
          <a:xfrm>
            <a:off x="4709160" y="37673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64</a:t>
            </a:r>
            <a:endParaRPr lang="en-US" sz="1200" dirty="0"/>
          </a:p>
        </p:txBody>
      </p:sp>
      <p:sp>
        <p:nvSpPr>
          <p:cNvPr id="27" name="Text 25"/>
          <p:cNvSpPr/>
          <p:nvPr/>
        </p:nvSpPr>
        <p:spPr>
          <a:xfrm>
            <a:off x="7452360" y="37673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62</a:t>
            </a:r>
            <a:endParaRPr lang="en-US" sz="1200" dirty="0"/>
          </a:p>
        </p:txBody>
      </p:sp>
      <p:sp>
        <p:nvSpPr>
          <p:cNvPr id="28" name="Shape 26"/>
          <p:cNvSpPr/>
          <p:nvPr/>
        </p:nvSpPr>
        <p:spPr>
          <a:xfrm>
            <a:off x="1737360" y="4224528"/>
            <a:ext cx="8686800" cy="457200"/>
          </a:xfrm>
          <a:prstGeom prst="rect">
            <a:avLst/>
          </a:prstGeom>
          <a:solidFill>
            <a:srgbClr val="FAFAFB"/>
          </a:solidFill>
          <a:ln w="9525">
            <a:solidFill>
              <a:srgbClr val="D9DCE1"/>
            </a:solidFill>
            <a:prstDash val="solid"/>
          </a:ln>
        </p:spPr>
      </p:sp>
      <p:sp>
        <p:nvSpPr>
          <p:cNvPr id="29" name="Text 27"/>
          <p:cNvSpPr/>
          <p:nvPr/>
        </p:nvSpPr>
        <p:spPr>
          <a:xfrm>
            <a:off x="1965960" y="42245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/27</a:t>
            </a:r>
            <a:endParaRPr lang="en-US" sz="1300" dirty="0"/>
          </a:p>
        </p:txBody>
      </p:sp>
      <p:sp>
        <p:nvSpPr>
          <p:cNvPr id="30" name="Text 28"/>
          <p:cNvSpPr/>
          <p:nvPr/>
        </p:nvSpPr>
        <p:spPr>
          <a:xfrm>
            <a:off x="4709160" y="42245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32</a:t>
            </a:r>
            <a:endParaRPr lang="en-US" sz="1200" dirty="0"/>
          </a:p>
        </p:txBody>
      </p:sp>
      <p:sp>
        <p:nvSpPr>
          <p:cNvPr id="31" name="Text 29"/>
          <p:cNvSpPr/>
          <p:nvPr/>
        </p:nvSpPr>
        <p:spPr>
          <a:xfrm>
            <a:off x="7452360" y="42245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30</a:t>
            </a:r>
            <a:endParaRPr lang="en-US" sz="1200" dirty="0"/>
          </a:p>
        </p:txBody>
      </p:sp>
      <p:sp>
        <p:nvSpPr>
          <p:cNvPr id="32" name="Shape 30"/>
          <p:cNvSpPr/>
          <p:nvPr/>
        </p:nvSpPr>
        <p:spPr>
          <a:xfrm>
            <a:off x="1737360" y="4681728"/>
            <a:ext cx="8686800" cy="457200"/>
          </a:xfrm>
          <a:prstGeom prst="rect">
            <a:avLst/>
          </a:prstGeom>
          <a:solidFill>
            <a:srgbClr val="FFFFFF"/>
          </a:solidFill>
          <a:ln w="9525">
            <a:solidFill>
              <a:srgbClr val="D9DCE1"/>
            </a:solidFill>
            <a:prstDash val="solid"/>
          </a:ln>
        </p:spPr>
      </p:sp>
      <p:sp>
        <p:nvSpPr>
          <p:cNvPr id="33" name="Text 31"/>
          <p:cNvSpPr/>
          <p:nvPr/>
        </p:nvSpPr>
        <p:spPr>
          <a:xfrm>
            <a:off x="1965960" y="46817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/28</a:t>
            </a:r>
            <a:endParaRPr lang="en-US" sz="1300" dirty="0"/>
          </a:p>
        </p:txBody>
      </p:sp>
      <p:sp>
        <p:nvSpPr>
          <p:cNvPr id="34" name="Text 32"/>
          <p:cNvSpPr/>
          <p:nvPr/>
        </p:nvSpPr>
        <p:spPr>
          <a:xfrm>
            <a:off x="4709160" y="46817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16</a:t>
            </a:r>
            <a:endParaRPr lang="en-US" sz="1200" dirty="0"/>
          </a:p>
        </p:txBody>
      </p:sp>
      <p:sp>
        <p:nvSpPr>
          <p:cNvPr id="35" name="Text 33"/>
          <p:cNvSpPr/>
          <p:nvPr/>
        </p:nvSpPr>
        <p:spPr>
          <a:xfrm>
            <a:off x="7452360" y="46817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14</a:t>
            </a:r>
            <a:endParaRPr lang="en-US" sz="1200" dirty="0"/>
          </a:p>
        </p:txBody>
      </p:sp>
      <p:sp>
        <p:nvSpPr>
          <p:cNvPr id="36" name="Shape 34"/>
          <p:cNvSpPr/>
          <p:nvPr/>
        </p:nvSpPr>
        <p:spPr>
          <a:xfrm>
            <a:off x="1737360" y="5138928"/>
            <a:ext cx="8686800" cy="457200"/>
          </a:xfrm>
          <a:prstGeom prst="rect">
            <a:avLst/>
          </a:prstGeom>
          <a:solidFill>
            <a:srgbClr val="FAFAFB"/>
          </a:solidFill>
          <a:ln w="9525">
            <a:solidFill>
              <a:srgbClr val="D9DCE1"/>
            </a:solidFill>
            <a:prstDash val="solid"/>
          </a:ln>
        </p:spPr>
      </p:sp>
      <p:sp>
        <p:nvSpPr>
          <p:cNvPr id="37" name="Text 35"/>
          <p:cNvSpPr/>
          <p:nvPr/>
        </p:nvSpPr>
        <p:spPr>
          <a:xfrm>
            <a:off x="1965960" y="51389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/29</a:t>
            </a:r>
            <a:endParaRPr lang="en-US" sz="1300" dirty="0"/>
          </a:p>
        </p:txBody>
      </p:sp>
      <p:sp>
        <p:nvSpPr>
          <p:cNvPr id="38" name="Text 36"/>
          <p:cNvSpPr/>
          <p:nvPr/>
        </p:nvSpPr>
        <p:spPr>
          <a:xfrm>
            <a:off x="4709160" y="51389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8</a:t>
            </a:r>
            <a:endParaRPr lang="en-US" sz="1200" dirty="0"/>
          </a:p>
        </p:txBody>
      </p:sp>
      <p:sp>
        <p:nvSpPr>
          <p:cNvPr id="39" name="Text 37"/>
          <p:cNvSpPr/>
          <p:nvPr/>
        </p:nvSpPr>
        <p:spPr>
          <a:xfrm>
            <a:off x="7452360" y="51389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6</a:t>
            </a:r>
            <a:endParaRPr lang="en-US" sz="1200" dirty="0"/>
          </a:p>
        </p:txBody>
      </p:sp>
      <p:sp>
        <p:nvSpPr>
          <p:cNvPr id="40" name="Shape 38"/>
          <p:cNvSpPr/>
          <p:nvPr/>
        </p:nvSpPr>
        <p:spPr>
          <a:xfrm>
            <a:off x="1737360" y="5596128"/>
            <a:ext cx="8686800" cy="457200"/>
          </a:xfrm>
          <a:prstGeom prst="rect">
            <a:avLst/>
          </a:prstGeom>
          <a:solidFill>
            <a:srgbClr val="FFFFFF"/>
          </a:solidFill>
          <a:ln w="9525">
            <a:solidFill>
              <a:srgbClr val="D9DCE1"/>
            </a:solidFill>
            <a:prstDash val="solid"/>
          </a:ln>
        </p:spPr>
      </p:sp>
      <p:sp>
        <p:nvSpPr>
          <p:cNvPr id="41" name="Text 39"/>
          <p:cNvSpPr/>
          <p:nvPr/>
        </p:nvSpPr>
        <p:spPr>
          <a:xfrm>
            <a:off x="1965960" y="5596128"/>
            <a:ext cx="2743200" cy="457200"/>
          </a:xfrm>
          <a:prstGeom prst="rect">
            <a:avLst/>
          </a:prstGeom>
          <a:noFill/>
          <a:ln/>
        </p:spPr>
        <p:txBody>
          <a:bodyPr wrap="square" rtlCol="0" anchor="ctr"/>
          <a:lstStyle/>
          <a:p>
            <a:pPr indent="0" marL="0">
              <a:buNone/>
            </a:pPr>
            <a:r>
              <a:rPr lang="en-US" sz="1300" b="1" dirty="0">
                <a:solidFill>
                  <a:srgbClr val="232F3E"/>
                </a:solidFill>
                <a:latin typeface="Consolas" pitchFamily="34" charset="0"/>
                <a:ea typeface="Consolas" pitchFamily="34" charset="-122"/>
                <a:cs typeface="Consolas" pitchFamily="34" charset="-120"/>
              </a:rPr>
              <a:t>/30</a:t>
            </a:r>
            <a:endParaRPr lang="en-US" sz="1300" dirty="0"/>
          </a:p>
        </p:txBody>
      </p:sp>
      <p:sp>
        <p:nvSpPr>
          <p:cNvPr id="42" name="Text 40"/>
          <p:cNvSpPr/>
          <p:nvPr/>
        </p:nvSpPr>
        <p:spPr>
          <a:xfrm>
            <a:off x="4709160" y="55961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4</a:t>
            </a:r>
            <a:endParaRPr lang="en-US" sz="1200" dirty="0"/>
          </a:p>
        </p:txBody>
      </p:sp>
      <p:sp>
        <p:nvSpPr>
          <p:cNvPr id="43" name="Text 41"/>
          <p:cNvSpPr/>
          <p:nvPr/>
        </p:nvSpPr>
        <p:spPr>
          <a:xfrm>
            <a:off x="7452360" y="5596128"/>
            <a:ext cx="2743200" cy="457200"/>
          </a:xfrm>
          <a:prstGeom prst="rect">
            <a:avLst/>
          </a:prstGeom>
          <a:noFill/>
          <a:ln/>
        </p:spPr>
        <p:txBody>
          <a:bodyPr wrap="square" rtlCol="0" anchor="ctr"/>
          <a:lstStyle/>
          <a:p>
            <a:pPr indent="0" marL="0">
              <a:buNone/>
            </a:pPr>
            <a:r>
              <a:rPr lang="en-US" sz="1200" dirty="0">
                <a:solidFill>
                  <a:srgbClr val="16191F"/>
                </a:solidFill>
                <a:latin typeface="Calibri" pitchFamily="34" charset="0"/>
                <a:ea typeface="Calibri" pitchFamily="34" charset="-122"/>
                <a:cs typeface="Calibri" pitchFamily="34" charset="-120"/>
              </a:rPr>
              <a:t>2</a:t>
            </a:r>
            <a:endParaRPr lang="en-US" sz="1200" dirty="0"/>
          </a:p>
        </p:txBody>
      </p:sp>
      <p:sp>
        <p:nvSpPr>
          <p:cNvPr id="44" name="Text 4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45" name="Text 4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43</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OSI Cheat Sheet</a:t>
            </a:r>
            <a:endParaRPr lang="en-US" sz="2800" dirty="0"/>
          </a:p>
        </p:txBody>
      </p:sp>
      <p:sp>
        <p:nvSpPr>
          <p:cNvPr id="4" name="Shape 2"/>
          <p:cNvSpPr/>
          <p:nvPr/>
        </p:nvSpPr>
        <p:spPr>
          <a:xfrm>
            <a:off x="2194560" y="1554480"/>
            <a:ext cx="7772400" cy="493776"/>
          </a:xfrm>
          <a:prstGeom prst="roundRect">
            <a:avLst>
              <a:gd name="adj" fmla="val 9259"/>
            </a:avLst>
          </a:prstGeom>
          <a:solidFill>
            <a:srgbClr val="232F3E"/>
          </a:solidFill>
          <a:ln/>
        </p:spPr>
      </p:sp>
      <p:sp>
        <p:nvSpPr>
          <p:cNvPr id="5" name="Text 3"/>
          <p:cNvSpPr/>
          <p:nvPr/>
        </p:nvSpPr>
        <p:spPr>
          <a:xfrm>
            <a:off x="2331720" y="1554480"/>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7</a:t>
            </a:r>
            <a:endParaRPr lang="en-US" sz="1500" dirty="0"/>
          </a:p>
        </p:txBody>
      </p:sp>
      <p:sp>
        <p:nvSpPr>
          <p:cNvPr id="6" name="Text 4"/>
          <p:cNvSpPr/>
          <p:nvPr/>
        </p:nvSpPr>
        <p:spPr>
          <a:xfrm>
            <a:off x="2880360" y="1554480"/>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Application</a:t>
            </a:r>
            <a:endParaRPr lang="en-US" sz="1300" dirty="0"/>
          </a:p>
        </p:txBody>
      </p:sp>
      <p:sp>
        <p:nvSpPr>
          <p:cNvPr id="7" name="Text 5"/>
          <p:cNvSpPr/>
          <p:nvPr/>
        </p:nvSpPr>
        <p:spPr>
          <a:xfrm>
            <a:off x="5486400" y="1554480"/>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HTTP, DNS, FTP</a:t>
            </a:r>
            <a:endParaRPr lang="en-US" sz="1100" dirty="0"/>
          </a:p>
        </p:txBody>
      </p:sp>
      <p:sp>
        <p:nvSpPr>
          <p:cNvPr id="8" name="Shape 6"/>
          <p:cNvSpPr/>
          <p:nvPr/>
        </p:nvSpPr>
        <p:spPr>
          <a:xfrm>
            <a:off x="2194560" y="2121408"/>
            <a:ext cx="7772400" cy="493776"/>
          </a:xfrm>
          <a:prstGeom prst="roundRect">
            <a:avLst>
              <a:gd name="adj" fmla="val 9259"/>
            </a:avLst>
          </a:prstGeom>
          <a:solidFill>
            <a:srgbClr val="232F3E"/>
          </a:solidFill>
          <a:ln/>
        </p:spPr>
      </p:sp>
      <p:sp>
        <p:nvSpPr>
          <p:cNvPr id="9" name="Text 7"/>
          <p:cNvSpPr/>
          <p:nvPr/>
        </p:nvSpPr>
        <p:spPr>
          <a:xfrm>
            <a:off x="2331720" y="2121408"/>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6</a:t>
            </a:r>
            <a:endParaRPr lang="en-US" sz="1500" dirty="0"/>
          </a:p>
        </p:txBody>
      </p:sp>
      <p:sp>
        <p:nvSpPr>
          <p:cNvPr id="10" name="Text 8"/>
          <p:cNvSpPr/>
          <p:nvPr/>
        </p:nvSpPr>
        <p:spPr>
          <a:xfrm>
            <a:off x="2880360" y="2121408"/>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Presentation</a:t>
            </a:r>
            <a:endParaRPr lang="en-US" sz="1300" dirty="0"/>
          </a:p>
        </p:txBody>
      </p:sp>
      <p:sp>
        <p:nvSpPr>
          <p:cNvPr id="11" name="Text 9"/>
          <p:cNvSpPr/>
          <p:nvPr/>
        </p:nvSpPr>
        <p:spPr>
          <a:xfrm>
            <a:off x="5486400" y="2121408"/>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SSL/TLS, encoding</a:t>
            </a:r>
            <a:endParaRPr lang="en-US" sz="1100" dirty="0"/>
          </a:p>
        </p:txBody>
      </p:sp>
      <p:sp>
        <p:nvSpPr>
          <p:cNvPr id="12" name="Shape 10"/>
          <p:cNvSpPr/>
          <p:nvPr/>
        </p:nvSpPr>
        <p:spPr>
          <a:xfrm>
            <a:off x="2194560" y="2688336"/>
            <a:ext cx="7772400" cy="493776"/>
          </a:xfrm>
          <a:prstGeom prst="roundRect">
            <a:avLst>
              <a:gd name="adj" fmla="val 9259"/>
            </a:avLst>
          </a:prstGeom>
          <a:solidFill>
            <a:srgbClr val="232F3E"/>
          </a:solidFill>
          <a:ln/>
        </p:spPr>
      </p:sp>
      <p:sp>
        <p:nvSpPr>
          <p:cNvPr id="13" name="Text 11"/>
          <p:cNvSpPr/>
          <p:nvPr/>
        </p:nvSpPr>
        <p:spPr>
          <a:xfrm>
            <a:off x="2331720" y="2688336"/>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5</a:t>
            </a:r>
            <a:endParaRPr lang="en-US" sz="1500" dirty="0"/>
          </a:p>
        </p:txBody>
      </p:sp>
      <p:sp>
        <p:nvSpPr>
          <p:cNvPr id="14" name="Text 12"/>
          <p:cNvSpPr/>
          <p:nvPr/>
        </p:nvSpPr>
        <p:spPr>
          <a:xfrm>
            <a:off x="2880360" y="2688336"/>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Session</a:t>
            </a:r>
            <a:endParaRPr lang="en-US" sz="1300" dirty="0"/>
          </a:p>
        </p:txBody>
      </p:sp>
      <p:sp>
        <p:nvSpPr>
          <p:cNvPr id="15" name="Text 13"/>
          <p:cNvSpPr/>
          <p:nvPr/>
        </p:nvSpPr>
        <p:spPr>
          <a:xfrm>
            <a:off x="5486400" y="2688336"/>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Session establishment</a:t>
            </a:r>
            <a:endParaRPr lang="en-US" sz="1100" dirty="0"/>
          </a:p>
        </p:txBody>
      </p:sp>
      <p:sp>
        <p:nvSpPr>
          <p:cNvPr id="16" name="Shape 14"/>
          <p:cNvSpPr/>
          <p:nvPr/>
        </p:nvSpPr>
        <p:spPr>
          <a:xfrm>
            <a:off x="2194560" y="3255264"/>
            <a:ext cx="7772400" cy="493776"/>
          </a:xfrm>
          <a:prstGeom prst="roundRect">
            <a:avLst>
              <a:gd name="adj" fmla="val 9259"/>
            </a:avLst>
          </a:prstGeom>
          <a:solidFill>
            <a:srgbClr val="232F3E"/>
          </a:solidFill>
          <a:ln/>
        </p:spPr>
      </p:sp>
      <p:sp>
        <p:nvSpPr>
          <p:cNvPr id="17" name="Text 15"/>
          <p:cNvSpPr/>
          <p:nvPr/>
        </p:nvSpPr>
        <p:spPr>
          <a:xfrm>
            <a:off x="2331720" y="3255264"/>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4</a:t>
            </a:r>
            <a:endParaRPr lang="en-US" sz="1500" dirty="0"/>
          </a:p>
        </p:txBody>
      </p:sp>
      <p:sp>
        <p:nvSpPr>
          <p:cNvPr id="18" name="Text 16"/>
          <p:cNvSpPr/>
          <p:nvPr/>
        </p:nvSpPr>
        <p:spPr>
          <a:xfrm>
            <a:off x="2880360" y="3255264"/>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Transport</a:t>
            </a:r>
            <a:endParaRPr lang="en-US" sz="1300" dirty="0"/>
          </a:p>
        </p:txBody>
      </p:sp>
      <p:sp>
        <p:nvSpPr>
          <p:cNvPr id="19" name="Text 17"/>
          <p:cNvSpPr/>
          <p:nvPr/>
        </p:nvSpPr>
        <p:spPr>
          <a:xfrm>
            <a:off x="5486400" y="3255264"/>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TCP, UDP</a:t>
            </a:r>
            <a:endParaRPr lang="en-US" sz="1100" dirty="0"/>
          </a:p>
        </p:txBody>
      </p:sp>
      <p:sp>
        <p:nvSpPr>
          <p:cNvPr id="20" name="Shape 18"/>
          <p:cNvSpPr/>
          <p:nvPr/>
        </p:nvSpPr>
        <p:spPr>
          <a:xfrm>
            <a:off x="2194560" y="3822192"/>
            <a:ext cx="7772400" cy="493776"/>
          </a:xfrm>
          <a:prstGeom prst="roundRect">
            <a:avLst>
              <a:gd name="adj" fmla="val 9259"/>
            </a:avLst>
          </a:prstGeom>
          <a:solidFill>
            <a:srgbClr val="232F3E"/>
          </a:solidFill>
          <a:ln/>
        </p:spPr>
      </p:sp>
      <p:sp>
        <p:nvSpPr>
          <p:cNvPr id="21" name="Text 19"/>
          <p:cNvSpPr/>
          <p:nvPr/>
        </p:nvSpPr>
        <p:spPr>
          <a:xfrm>
            <a:off x="2331720" y="3822192"/>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3</a:t>
            </a:r>
            <a:endParaRPr lang="en-US" sz="1500" dirty="0"/>
          </a:p>
        </p:txBody>
      </p:sp>
      <p:sp>
        <p:nvSpPr>
          <p:cNvPr id="22" name="Text 20"/>
          <p:cNvSpPr/>
          <p:nvPr/>
        </p:nvSpPr>
        <p:spPr>
          <a:xfrm>
            <a:off x="2880360" y="3822192"/>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Network</a:t>
            </a:r>
            <a:endParaRPr lang="en-US" sz="1300" dirty="0"/>
          </a:p>
        </p:txBody>
      </p:sp>
      <p:sp>
        <p:nvSpPr>
          <p:cNvPr id="23" name="Text 21"/>
          <p:cNvSpPr/>
          <p:nvPr/>
        </p:nvSpPr>
        <p:spPr>
          <a:xfrm>
            <a:off x="5486400" y="3822192"/>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IP, ICMP</a:t>
            </a:r>
            <a:endParaRPr lang="en-US" sz="1100" dirty="0"/>
          </a:p>
        </p:txBody>
      </p:sp>
      <p:sp>
        <p:nvSpPr>
          <p:cNvPr id="24" name="Shape 22"/>
          <p:cNvSpPr/>
          <p:nvPr/>
        </p:nvSpPr>
        <p:spPr>
          <a:xfrm>
            <a:off x="2194560" y="4389120"/>
            <a:ext cx="7772400" cy="493776"/>
          </a:xfrm>
          <a:prstGeom prst="roundRect">
            <a:avLst>
              <a:gd name="adj" fmla="val 9259"/>
            </a:avLst>
          </a:prstGeom>
          <a:solidFill>
            <a:srgbClr val="232F3E"/>
          </a:solidFill>
          <a:ln/>
        </p:spPr>
      </p:sp>
      <p:sp>
        <p:nvSpPr>
          <p:cNvPr id="25" name="Text 23"/>
          <p:cNvSpPr/>
          <p:nvPr/>
        </p:nvSpPr>
        <p:spPr>
          <a:xfrm>
            <a:off x="2331720" y="4389120"/>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2</a:t>
            </a:r>
            <a:endParaRPr lang="en-US" sz="1500" dirty="0"/>
          </a:p>
        </p:txBody>
      </p:sp>
      <p:sp>
        <p:nvSpPr>
          <p:cNvPr id="26" name="Text 24"/>
          <p:cNvSpPr/>
          <p:nvPr/>
        </p:nvSpPr>
        <p:spPr>
          <a:xfrm>
            <a:off x="2880360" y="4389120"/>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Data Link</a:t>
            </a:r>
            <a:endParaRPr lang="en-US" sz="1300" dirty="0"/>
          </a:p>
        </p:txBody>
      </p:sp>
      <p:sp>
        <p:nvSpPr>
          <p:cNvPr id="27" name="Text 25"/>
          <p:cNvSpPr/>
          <p:nvPr/>
        </p:nvSpPr>
        <p:spPr>
          <a:xfrm>
            <a:off x="5486400" y="4389120"/>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Ethernet, MAC, ARP</a:t>
            </a:r>
            <a:endParaRPr lang="en-US" sz="1100" dirty="0"/>
          </a:p>
        </p:txBody>
      </p:sp>
      <p:sp>
        <p:nvSpPr>
          <p:cNvPr id="28" name="Shape 26"/>
          <p:cNvSpPr/>
          <p:nvPr/>
        </p:nvSpPr>
        <p:spPr>
          <a:xfrm>
            <a:off x="2194560" y="4956048"/>
            <a:ext cx="7772400" cy="493776"/>
          </a:xfrm>
          <a:prstGeom prst="roundRect">
            <a:avLst>
              <a:gd name="adj" fmla="val 9259"/>
            </a:avLst>
          </a:prstGeom>
          <a:solidFill>
            <a:srgbClr val="232F3E"/>
          </a:solidFill>
          <a:ln/>
        </p:spPr>
      </p:sp>
      <p:sp>
        <p:nvSpPr>
          <p:cNvPr id="29" name="Text 27"/>
          <p:cNvSpPr/>
          <p:nvPr/>
        </p:nvSpPr>
        <p:spPr>
          <a:xfrm>
            <a:off x="2331720" y="4956048"/>
            <a:ext cx="457200" cy="493776"/>
          </a:xfrm>
          <a:prstGeom prst="rect">
            <a:avLst/>
          </a:prstGeom>
          <a:noFill/>
          <a:ln/>
        </p:spPr>
        <p:txBody>
          <a:bodyPr wrap="square" rtlCol="0" anchor="ctr"/>
          <a:lstStyle/>
          <a:p>
            <a:pPr indent="0" marL="0">
              <a:buNone/>
            </a:pPr>
            <a:r>
              <a:rPr lang="en-US" sz="1500" b="1" dirty="0">
                <a:solidFill>
                  <a:srgbClr val="FF9900"/>
                </a:solidFill>
                <a:latin typeface="Arial" pitchFamily="34" charset="0"/>
                <a:ea typeface="Arial" pitchFamily="34" charset="-122"/>
                <a:cs typeface="Arial" pitchFamily="34" charset="-120"/>
              </a:rPr>
              <a:t>1</a:t>
            </a:r>
            <a:endParaRPr lang="en-US" sz="1500" dirty="0"/>
          </a:p>
        </p:txBody>
      </p:sp>
      <p:sp>
        <p:nvSpPr>
          <p:cNvPr id="30" name="Text 28"/>
          <p:cNvSpPr/>
          <p:nvPr/>
        </p:nvSpPr>
        <p:spPr>
          <a:xfrm>
            <a:off x="2880360" y="4956048"/>
            <a:ext cx="2560320" cy="493776"/>
          </a:xfrm>
          <a:prstGeom prst="rect">
            <a:avLst/>
          </a:prstGeom>
          <a:noFill/>
          <a:ln/>
        </p:spPr>
        <p:txBody>
          <a:bodyPr wrap="square" rtlCol="0" anchor="ctr"/>
          <a:lstStyle/>
          <a:p>
            <a:pPr indent="0" marL="0">
              <a:buNone/>
            </a:pPr>
            <a:r>
              <a:rPr lang="en-US" sz="1300" b="1" dirty="0">
                <a:solidFill>
                  <a:srgbClr val="FFFFFF"/>
                </a:solidFill>
                <a:latin typeface="Arial" pitchFamily="34" charset="0"/>
                <a:ea typeface="Arial" pitchFamily="34" charset="-122"/>
                <a:cs typeface="Arial" pitchFamily="34" charset="-120"/>
              </a:rPr>
              <a:t>Physical</a:t>
            </a:r>
            <a:endParaRPr lang="en-US" sz="1300" dirty="0"/>
          </a:p>
        </p:txBody>
      </p:sp>
      <p:sp>
        <p:nvSpPr>
          <p:cNvPr id="31" name="Text 29"/>
          <p:cNvSpPr/>
          <p:nvPr/>
        </p:nvSpPr>
        <p:spPr>
          <a:xfrm>
            <a:off x="5486400" y="4956048"/>
            <a:ext cx="4343400" cy="493776"/>
          </a:xfrm>
          <a:prstGeom prst="rect">
            <a:avLst/>
          </a:prstGeom>
          <a:noFill/>
          <a:ln/>
        </p:spPr>
        <p:txBody>
          <a:bodyPr wrap="square" rtlCol="0" anchor="ctr"/>
          <a:lstStyle/>
          <a:p>
            <a:pPr indent="0" marL="0">
              <a:buNone/>
            </a:pPr>
            <a:r>
              <a:rPr lang="en-US" sz="1100" dirty="0">
                <a:solidFill>
                  <a:srgbClr val="AEB9C2"/>
                </a:solidFill>
                <a:latin typeface="Consolas" pitchFamily="34" charset="0"/>
                <a:ea typeface="Consolas" pitchFamily="34" charset="-122"/>
                <a:cs typeface="Consolas" pitchFamily="34" charset="-120"/>
              </a:rPr>
              <a:t>Cables, radio waves</a:t>
            </a:r>
            <a:endParaRPr lang="en-US" sz="1100" dirty="0"/>
          </a:p>
        </p:txBody>
      </p:sp>
      <p:sp>
        <p:nvSpPr>
          <p:cNvPr id="32" name="Text 30"/>
          <p:cNvSpPr/>
          <p:nvPr/>
        </p:nvSpPr>
        <p:spPr>
          <a:xfrm>
            <a:off x="548640" y="5614416"/>
            <a:ext cx="11091672" cy="365760"/>
          </a:xfrm>
          <a:prstGeom prst="rect">
            <a:avLst/>
          </a:prstGeom>
          <a:noFill/>
          <a:ln/>
        </p:spPr>
        <p:txBody>
          <a:bodyPr wrap="square" rtlCol="0" anchor="ctr"/>
          <a:lstStyle/>
          <a:p>
            <a:pPr algn="ctr" indent="0" marL="0">
              <a:buNone/>
            </a:pPr>
            <a:r>
              <a:rPr lang="en-US" sz="1200" i="1" dirty="0">
                <a:solidFill>
                  <a:srgbClr val="5A6B75"/>
                </a:solidFill>
                <a:latin typeface="Calibri" pitchFamily="34" charset="0"/>
                <a:ea typeface="Calibri" pitchFamily="34" charset="-122"/>
                <a:cs typeface="Calibri" pitchFamily="34" charset="-120"/>
              </a:rPr>
              <a:t>Mnemonic: Please Do Not Throw Sausage Pizza Away (bottom → top)</a:t>
            </a:r>
            <a:endParaRPr lang="en-US" sz="1200" dirty="0"/>
          </a:p>
        </p:txBody>
      </p:sp>
      <p:sp>
        <p:nvSpPr>
          <p:cNvPr id="33" name="Text 31"/>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34" name="Text 32"/>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44</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2F3F3"/>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232F3E"/>
                </a:solidFill>
                <a:latin typeface="Arial" pitchFamily="34" charset="0"/>
                <a:ea typeface="Arial" pitchFamily="34" charset="-122"/>
                <a:cs typeface="Arial" pitchFamily="34" charset="-120"/>
              </a:rPr>
              <a:t>TCP vs. UDP — Quick Reference</a:t>
            </a:r>
            <a:endParaRPr lang="en-US" sz="2800" dirty="0"/>
          </a:p>
        </p:txBody>
      </p:sp>
      <p:sp>
        <p:nvSpPr>
          <p:cNvPr id="4" name="Shape 2"/>
          <p:cNvSpPr/>
          <p:nvPr/>
        </p:nvSpPr>
        <p:spPr>
          <a:xfrm>
            <a:off x="548640" y="1691640"/>
            <a:ext cx="11091672" cy="411480"/>
          </a:xfrm>
          <a:prstGeom prst="rect">
            <a:avLst/>
          </a:prstGeom>
          <a:solidFill>
            <a:srgbClr val="232F3E"/>
          </a:solidFill>
          <a:ln/>
        </p:spPr>
      </p:sp>
      <p:sp>
        <p:nvSpPr>
          <p:cNvPr id="5" name="Text 3"/>
          <p:cNvSpPr/>
          <p:nvPr/>
        </p:nvSpPr>
        <p:spPr>
          <a:xfrm>
            <a:off x="777240" y="1691640"/>
            <a:ext cx="2743200" cy="411480"/>
          </a:xfrm>
          <a:prstGeom prst="rect">
            <a:avLst/>
          </a:prstGeom>
          <a:noFill/>
          <a:ln/>
        </p:spPr>
        <p:txBody>
          <a:bodyPr wrap="square" rtlCol="0" anchor="ctr"/>
          <a:lstStyle/>
          <a:p>
            <a:pPr indent="0" marL="0">
              <a:buNone/>
            </a:pPr>
            <a:r>
              <a:rPr lang="en-US" sz="1150" b="1" spc="100" kern="0" dirty="0">
                <a:solidFill>
                  <a:srgbClr val="FF9900"/>
                </a:solidFill>
                <a:latin typeface="Calibri" pitchFamily="34" charset="0"/>
                <a:ea typeface="Calibri" pitchFamily="34" charset="-122"/>
                <a:cs typeface="Calibri" pitchFamily="34" charset="-120"/>
              </a:rPr>
              <a:t>CATEGORY</a:t>
            </a:r>
            <a:endParaRPr lang="en-US" sz="1150" dirty="0"/>
          </a:p>
        </p:txBody>
      </p:sp>
      <p:sp>
        <p:nvSpPr>
          <p:cNvPr id="6" name="Text 4"/>
          <p:cNvSpPr/>
          <p:nvPr/>
        </p:nvSpPr>
        <p:spPr>
          <a:xfrm>
            <a:off x="3749040" y="1691640"/>
            <a:ext cx="3931920" cy="411480"/>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TCP</a:t>
            </a:r>
            <a:endParaRPr lang="en-US" sz="1150" dirty="0"/>
          </a:p>
        </p:txBody>
      </p:sp>
      <p:sp>
        <p:nvSpPr>
          <p:cNvPr id="7" name="Text 5"/>
          <p:cNvSpPr/>
          <p:nvPr/>
        </p:nvSpPr>
        <p:spPr>
          <a:xfrm>
            <a:off x="7863840" y="1691640"/>
            <a:ext cx="3566160" cy="411480"/>
          </a:xfrm>
          <a:prstGeom prst="rect">
            <a:avLst/>
          </a:prstGeom>
          <a:noFill/>
          <a:ln/>
        </p:spPr>
        <p:txBody>
          <a:bodyPr wrap="square" rtlCol="0" anchor="ctr"/>
          <a:lstStyle/>
          <a:p>
            <a:pPr indent="0" marL="0">
              <a:buNone/>
            </a:pPr>
            <a:r>
              <a:rPr lang="en-US" sz="1150" b="1" spc="100" kern="0" dirty="0">
                <a:solidFill>
                  <a:srgbClr val="FFFFFF"/>
                </a:solidFill>
                <a:latin typeface="Calibri" pitchFamily="34" charset="0"/>
                <a:ea typeface="Calibri" pitchFamily="34" charset="-122"/>
                <a:cs typeface="Calibri" pitchFamily="34" charset="-120"/>
              </a:rPr>
              <a:t>UDP</a:t>
            </a:r>
            <a:endParaRPr lang="en-US" sz="1150" dirty="0"/>
          </a:p>
        </p:txBody>
      </p:sp>
      <p:sp>
        <p:nvSpPr>
          <p:cNvPr id="8" name="Shape 6"/>
          <p:cNvSpPr/>
          <p:nvPr/>
        </p:nvSpPr>
        <p:spPr>
          <a:xfrm>
            <a:off x="548640" y="2103120"/>
            <a:ext cx="11091672" cy="777240"/>
          </a:xfrm>
          <a:prstGeom prst="rect">
            <a:avLst/>
          </a:prstGeom>
          <a:solidFill>
            <a:srgbClr val="FFFFFF"/>
          </a:solidFill>
          <a:ln w="9525">
            <a:solidFill>
              <a:srgbClr val="D9DCE1"/>
            </a:solidFill>
            <a:prstDash val="solid"/>
          </a:ln>
        </p:spPr>
      </p:sp>
      <p:sp>
        <p:nvSpPr>
          <p:cNvPr id="9" name="Text 7"/>
          <p:cNvSpPr/>
          <p:nvPr/>
        </p:nvSpPr>
        <p:spPr>
          <a:xfrm>
            <a:off x="777240" y="2103120"/>
            <a:ext cx="2743200" cy="777240"/>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Connection</a:t>
            </a:r>
            <a:endParaRPr lang="en-US" sz="1300" dirty="0"/>
          </a:p>
        </p:txBody>
      </p:sp>
      <p:sp>
        <p:nvSpPr>
          <p:cNvPr id="10" name="Text 8"/>
          <p:cNvSpPr/>
          <p:nvPr/>
        </p:nvSpPr>
        <p:spPr>
          <a:xfrm>
            <a:off x="3749040" y="2103120"/>
            <a:ext cx="393192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Connection-based (handshake)</a:t>
            </a:r>
            <a:endParaRPr lang="en-US" sz="1250" dirty="0"/>
          </a:p>
        </p:txBody>
      </p:sp>
      <p:sp>
        <p:nvSpPr>
          <p:cNvPr id="11" name="Text 9"/>
          <p:cNvSpPr/>
          <p:nvPr/>
        </p:nvSpPr>
        <p:spPr>
          <a:xfrm>
            <a:off x="7863840" y="2103120"/>
            <a:ext cx="356616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Connectionless</a:t>
            </a:r>
            <a:endParaRPr lang="en-US" sz="1250" dirty="0"/>
          </a:p>
        </p:txBody>
      </p:sp>
      <p:sp>
        <p:nvSpPr>
          <p:cNvPr id="12" name="Shape 10"/>
          <p:cNvSpPr/>
          <p:nvPr/>
        </p:nvSpPr>
        <p:spPr>
          <a:xfrm>
            <a:off x="548640" y="2880360"/>
            <a:ext cx="11091672" cy="777240"/>
          </a:xfrm>
          <a:prstGeom prst="rect">
            <a:avLst/>
          </a:prstGeom>
          <a:solidFill>
            <a:srgbClr val="FAFAFB"/>
          </a:solidFill>
          <a:ln w="9525">
            <a:solidFill>
              <a:srgbClr val="D9DCE1"/>
            </a:solidFill>
            <a:prstDash val="solid"/>
          </a:ln>
        </p:spPr>
      </p:sp>
      <p:sp>
        <p:nvSpPr>
          <p:cNvPr id="13" name="Text 11"/>
          <p:cNvSpPr/>
          <p:nvPr/>
        </p:nvSpPr>
        <p:spPr>
          <a:xfrm>
            <a:off x="777240" y="2880360"/>
            <a:ext cx="2743200" cy="777240"/>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Reliability</a:t>
            </a:r>
            <a:endParaRPr lang="en-US" sz="1300" dirty="0"/>
          </a:p>
        </p:txBody>
      </p:sp>
      <p:sp>
        <p:nvSpPr>
          <p:cNvPr id="14" name="Text 12"/>
          <p:cNvSpPr/>
          <p:nvPr/>
        </p:nvSpPr>
        <p:spPr>
          <a:xfrm>
            <a:off x="3749040" y="2880360"/>
            <a:ext cx="393192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Guaranteed delivery &amp; order</a:t>
            </a:r>
            <a:endParaRPr lang="en-US" sz="1250" dirty="0"/>
          </a:p>
        </p:txBody>
      </p:sp>
      <p:sp>
        <p:nvSpPr>
          <p:cNvPr id="15" name="Text 13"/>
          <p:cNvSpPr/>
          <p:nvPr/>
        </p:nvSpPr>
        <p:spPr>
          <a:xfrm>
            <a:off x="7863840" y="2880360"/>
            <a:ext cx="356616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No guarantee</a:t>
            </a:r>
            <a:endParaRPr lang="en-US" sz="1250" dirty="0"/>
          </a:p>
        </p:txBody>
      </p:sp>
      <p:sp>
        <p:nvSpPr>
          <p:cNvPr id="16" name="Shape 14"/>
          <p:cNvSpPr/>
          <p:nvPr/>
        </p:nvSpPr>
        <p:spPr>
          <a:xfrm>
            <a:off x="548640" y="3657600"/>
            <a:ext cx="11091672" cy="777240"/>
          </a:xfrm>
          <a:prstGeom prst="rect">
            <a:avLst/>
          </a:prstGeom>
          <a:solidFill>
            <a:srgbClr val="FFFFFF"/>
          </a:solidFill>
          <a:ln w="9525">
            <a:solidFill>
              <a:srgbClr val="D9DCE1"/>
            </a:solidFill>
            <a:prstDash val="solid"/>
          </a:ln>
        </p:spPr>
      </p:sp>
      <p:sp>
        <p:nvSpPr>
          <p:cNvPr id="17" name="Text 15"/>
          <p:cNvSpPr/>
          <p:nvPr/>
        </p:nvSpPr>
        <p:spPr>
          <a:xfrm>
            <a:off x="777240" y="3657600"/>
            <a:ext cx="2743200" cy="777240"/>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Speed</a:t>
            </a:r>
            <a:endParaRPr lang="en-US" sz="1300" dirty="0"/>
          </a:p>
        </p:txBody>
      </p:sp>
      <p:sp>
        <p:nvSpPr>
          <p:cNvPr id="18" name="Text 16"/>
          <p:cNvSpPr/>
          <p:nvPr/>
        </p:nvSpPr>
        <p:spPr>
          <a:xfrm>
            <a:off x="3749040" y="3657600"/>
            <a:ext cx="393192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Slower (more overhead)</a:t>
            </a:r>
            <a:endParaRPr lang="en-US" sz="1250" dirty="0"/>
          </a:p>
        </p:txBody>
      </p:sp>
      <p:sp>
        <p:nvSpPr>
          <p:cNvPr id="19" name="Text 17"/>
          <p:cNvSpPr/>
          <p:nvPr/>
        </p:nvSpPr>
        <p:spPr>
          <a:xfrm>
            <a:off x="7863840" y="3657600"/>
            <a:ext cx="356616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Faster (less overhead)</a:t>
            </a:r>
            <a:endParaRPr lang="en-US" sz="1250" dirty="0"/>
          </a:p>
        </p:txBody>
      </p:sp>
      <p:sp>
        <p:nvSpPr>
          <p:cNvPr id="20" name="Shape 18"/>
          <p:cNvSpPr/>
          <p:nvPr/>
        </p:nvSpPr>
        <p:spPr>
          <a:xfrm>
            <a:off x="548640" y="4434840"/>
            <a:ext cx="11091672" cy="777240"/>
          </a:xfrm>
          <a:prstGeom prst="rect">
            <a:avLst/>
          </a:prstGeom>
          <a:solidFill>
            <a:srgbClr val="FAFAFB"/>
          </a:solidFill>
          <a:ln w="9525">
            <a:solidFill>
              <a:srgbClr val="D9DCE1"/>
            </a:solidFill>
            <a:prstDash val="solid"/>
          </a:ln>
        </p:spPr>
      </p:sp>
      <p:sp>
        <p:nvSpPr>
          <p:cNvPr id="21" name="Text 19"/>
          <p:cNvSpPr/>
          <p:nvPr/>
        </p:nvSpPr>
        <p:spPr>
          <a:xfrm>
            <a:off x="777240" y="4434840"/>
            <a:ext cx="2743200" cy="777240"/>
          </a:xfrm>
          <a:prstGeom prst="rect">
            <a:avLst/>
          </a:prstGeom>
          <a:noFill/>
          <a:ln/>
        </p:spPr>
        <p:txBody>
          <a:bodyPr wrap="square"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Common Uses</a:t>
            </a:r>
            <a:endParaRPr lang="en-US" sz="1300" dirty="0"/>
          </a:p>
        </p:txBody>
      </p:sp>
      <p:sp>
        <p:nvSpPr>
          <p:cNvPr id="22" name="Text 20"/>
          <p:cNvSpPr/>
          <p:nvPr/>
        </p:nvSpPr>
        <p:spPr>
          <a:xfrm>
            <a:off x="3749040" y="4434840"/>
            <a:ext cx="393192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Web, email, file transfer</a:t>
            </a:r>
            <a:endParaRPr lang="en-US" sz="1250" dirty="0"/>
          </a:p>
        </p:txBody>
      </p:sp>
      <p:sp>
        <p:nvSpPr>
          <p:cNvPr id="23" name="Text 21"/>
          <p:cNvSpPr/>
          <p:nvPr/>
        </p:nvSpPr>
        <p:spPr>
          <a:xfrm>
            <a:off x="7863840" y="4434840"/>
            <a:ext cx="3566160" cy="777240"/>
          </a:xfrm>
          <a:prstGeom prst="rect">
            <a:avLst/>
          </a:prstGeom>
          <a:noFill/>
          <a:ln/>
        </p:spPr>
        <p:txBody>
          <a:bodyPr wrap="square" rtlCol="0" anchor="ctr"/>
          <a:lstStyle/>
          <a:p>
            <a:pPr indent="0" marL="0">
              <a:buNone/>
            </a:pPr>
            <a:r>
              <a:rPr lang="en-US" sz="1250" dirty="0">
                <a:solidFill>
                  <a:srgbClr val="16191F"/>
                </a:solidFill>
                <a:latin typeface="Calibri" pitchFamily="34" charset="0"/>
                <a:ea typeface="Calibri" pitchFamily="34" charset="-122"/>
                <a:cs typeface="Calibri" pitchFamily="34" charset="-120"/>
              </a:rPr>
              <a:t>Video calls, gaming, DNS</a:t>
            </a:r>
            <a:endParaRPr lang="en-US" sz="1250" dirty="0"/>
          </a:p>
        </p:txBody>
      </p:sp>
      <p:sp>
        <p:nvSpPr>
          <p:cNvPr id="24" name="Text 22"/>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9AA5AC"/>
                </a:solidFill>
                <a:latin typeface="Calibri" pitchFamily="34" charset="0"/>
                <a:ea typeface="Calibri" pitchFamily="34" charset="-122"/>
                <a:cs typeface="Calibri" pitchFamily="34" charset="-120"/>
              </a:rPr>
              <a:t>DAY 3  ·  NETWORKING FUNDAMENTALS</a:t>
            </a:r>
            <a:endParaRPr lang="en-US" sz="900" dirty="0"/>
          </a:p>
        </p:txBody>
      </p:sp>
      <p:sp>
        <p:nvSpPr>
          <p:cNvPr id="25" name="Text 23"/>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9AA5AC"/>
                </a:solidFill>
                <a:latin typeface="Calibri" pitchFamily="34" charset="0"/>
                <a:ea typeface="Calibri" pitchFamily="34" charset="-122"/>
                <a:cs typeface="Calibri" pitchFamily="34" charset="-120"/>
              </a:rPr>
              <a:t>45</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232F3E"/>
        </a:solidFill>
      </p:bgPr>
    </p:bg>
    <p:spTree>
      <p:nvGrpSpPr>
        <p:cNvPr id="1" name=""/>
        <p:cNvGrpSpPr/>
        <p:nvPr/>
      </p:nvGrpSpPr>
      <p:grpSpPr>
        <a:xfrm>
          <a:off x="0" y="0"/>
          <a:ext cx="0" cy="0"/>
          <a:chOff x="0" y="0"/>
          <a:chExt cx="0" cy="0"/>
        </a:xfrm>
      </p:grpSpPr>
      <p:sp>
        <p:nvSpPr>
          <p:cNvPr id="2" name="Text 0"/>
          <p:cNvSpPr/>
          <p:nvPr/>
        </p:nvSpPr>
        <p:spPr>
          <a:xfrm>
            <a:off x="548640" y="228600"/>
            <a:ext cx="11091672" cy="320040"/>
          </a:xfrm>
          <a:prstGeom prst="rect">
            <a:avLst/>
          </a:prstGeom>
          <a:noFill/>
          <a:ln/>
        </p:spPr>
        <p:txBody>
          <a:bodyPr wrap="square" rtlCol="0" anchor="ctr"/>
          <a:lstStyle/>
          <a:p>
            <a:pPr algn="l" indent="0" marL="0">
              <a:buNone/>
            </a:pPr>
            <a:r>
              <a:rPr lang="en-US" sz="1200" b="1" spc="200" kern="0" dirty="0">
                <a:solidFill>
                  <a:srgbClr val="FF9900"/>
                </a:solidFill>
                <a:latin typeface="Calibri" pitchFamily="34" charset="0"/>
                <a:ea typeface="Calibri" pitchFamily="34" charset="-122"/>
                <a:cs typeface="Calibri" pitchFamily="34" charset="-120"/>
              </a:rPr>
              <a:t>APPENDIX — REFERENCE</a:t>
            </a:r>
            <a:endParaRPr lang="en-US" sz="1200" dirty="0"/>
          </a:p>
        </p:txBody>
      </p:sp>
      <p:sp>
        <p:nvSpPr>
          <p:cNvPr id="3" name="Text 1"/>
          <p:cNvSpPr/>
          <p:nvPr/>
        </p:nvSpPr>
        <p:spPr>
          <a:xfrm>
            <a:off x="548640" y="530352"/>
            <a:ext cx="11091672" cy="685800"/>
          </a:xfrm>
          <a:prstGeom prst="rect">
            <a:avLst/>
          </a:prstGeom>
          <a:noFill/>
          <a:ln/>
        </p:spPr>
        <p:txBody>
          <a:bodyPr wrap="square" rtlCol="0" anchor="ctr"/>
          <a:lstStyle/>
          <a:p>
            <a:pPr algn="l" indent="0" marL="0">
              <a:buNone/>
            </a:pPr>
            <a:r>
              <a:rPr lang="en-US" sz="2800" b="1" dirty="0">
                <a:solidFill>
                  <a:srgbClr val="FFFFFF"/>
                </a:solidFill>
                <a:latin typeface="Arial" pitchFamily="34" charset="0"/>
                <a:ea typeface="Arial" pitchFamily="34" charset="-122"/>
                <a:cs typeface="Arial" pitchFamily="34" charset="-120"/>
              </a:rPr>
              <a:t>Useful Commands Reference</a:t>
            </a:r>
            <a:endParaRPr lang="en-US" sz="2800" dirty="0"/>
          </a:p>
        </p:txBody>
      </p:sp>
      <p:sp>
        <p:nvSpPr>
          <p:cNvPr id="4" name="Shape 2"/>
          <p:cNvSpPr/>
          <p:nvPr/>
        </p:nvSpPr>
        <p:spPr>
          <a:xfrm>
            <a:off x="548640" y="1508760"/>
            <a:ext cx="3520440" cy="685800"/>
          </a:xfrm>
          <a:prstGeom prst="roundRect">
            <a:avLst>
              <a:gd name="adj" fmla="val 9333"/>
            </a:avLst>
          </a:prstGeom>
          <a:solidFill>
            <a:srgbClr val="161E2D"/>
          </a:solidFill>
          <a:ln/>
        </p:spPr>
      </p:sp>
      <p:sp>
        <p:nvSpPr>
          <p:cNvPr id="5" name="Text 3"/>
          <p:cNvSpPr/>
          <p:nvPr/>
        </p:nvSpPr>
        <p:spPr>
          <a:xfrm>
            <a:off x="685800" y="1581912"/>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ping &lt;host&gt;</a:t>
            </a:r>
            <a:endParaRPr lang="en-US" sz="1150" dirty="0"/>
          </a:p>
        </p:txBody>
      </p:sp>
      <p:sp>
        <p:nvSpPr>
          <p:cNvPr id="6" name="Text 4"/>
          <p:cNvSpPr/>
          <p:nvPr/>
        </p:nvSpPr>
        <p:spPr>
          <a:xfrm>
            <a:off x="685800" y="1874520"/>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Test connectivity</a:t>
            </a:r>
            <a:endParaRPr lang="en-US" sz="1000" dirty="0"/>
          </a:p>
        </p:txBody>
      </p:sp>
      <p:sp>
        <p:nvSpPr>
          <p:cNvPr id="7" name="Shape 5"/>
          <p:cNvSpPr/>
          <p:nvPr/>
        </p:nvSpPr>
        <p:spPr>
          <a:xfrm>
            <a:off x="4270248" y="1508760"/>
            <a:ext cx="3520440" cy="685800"/>
          </a:xfrm>
          <a:prstGeom prst="roundRect">
            <a:avLst>
              <a:gd name="adj" fmla="val 9333"/>
            </a:avLst>
          </a:prstGeom>
          <a:solidFill>
            <a:srgbClr val="161E2D"/>
          </a:solidFill>
          <a:ln/>
        </p:spPr>
      </p:sp>
      <p:sp>
        <p:nvSpPr>
          <p:cNvPr id="8" name="Text 6"/>
          <p:cNvSpPr/>
          <p:nvPr/>
        </p:nvSpPr>
        <p:spPr>
          <a:xfrm>
            <a:off x="4407408" y="1581912"/>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traceroute/tracert &lt;host&gt;</a:t>
            </a:r>
            <a:endParaRPr lang="en-US" sz="1150" dirty="0"/>
          </a:p>
        </p:txBody>
      </p:sp>
      <p:sp>
        <p:nvSpPr>
          <p:cNvPr id="9" name="Text 7"/>
          <p:cNvSpPr/>
          <p:nvPr/>
        </p:nvSpPr>
        <p:spPr>
          <a:xfrm>
            <a:off x="4407408" y="1874520"/>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Trace the path taken</a:t>
            </a:r>
            <a:endParaRPr lang="en-US" sz="1000" dirty="0"/>
          </a:p>
        </p:txBody>
      </p:sp>
      <p:sp>
        <p:nvSpPr>
          <p:cNvPr id="10" name="Shape 8"/>
          <p:cNvSpPr/>
          <p:nvPr/>
        </p:nvSpPr>
        <p:spPr>
          <a:xfrm>
            <a:off x="7991856" y="1508760"/>
            <a:ext cx="3520440" cy="685800"/>
          </a:xfrm>
          <a:prstGeom prst="roundRect">
            <a:avLst>
              <a:gd name="adj" fmla="val 9333"/>
            </a:avLst>
          </a:prstGeom>
          <a:solidFill>
            <a:srgbClr val="161E2D"/>
          </a:solidFill>
          <a:ln/>
        </p:spPr>
      </p:sp>
      <p:sp>
        <p:nvSpPr>
          <p:cNvPr id="11" name="Text 9"/>
          <p:cNvSpPr/>
          <p:nvPr/>
        </p:nvSpPr>
        <p:spPr>
          <a:xfrm>
            <a:off x="8129016" y="1581912"/>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ipconfig / ifconfig / ip addr</a:t>
            </a:r>
            <a:endParaRPr lang="en-US" sz="1150" dirty="0"/>
          </a:p>
        </p:txBody>
      </p:sp>
      <p:sp>
        <p:nvSpPr>
          <p:cNvPr id="12" name="Text 10"/>
          <p:cNvSpPr/>
          <p:nvPr/>
        </p:nvSpPr>
        <p:spPr>
          <a:xfrm>
            <a:off x="8129016" y="1874520"/>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Show local IP config</a:t>
            </a:r>
            <a:endParaRPr lang="en-US" sz="1000" dirty="0"/>
          </a:p>
        </p:txBody>
      </p:sp>
      <p:sp>
        <p:nvSpPr>
          <p:cNvPr id="13" name="Shape 11"/>
          <p:cNvSpPr/>
          <p:nvPr/>
        </p:nvSpPr>
        <p:spPr>
          <a:xfrm>
            <a:off x="548640" y="2304288"/>
            <a:ext cx="3520440" cy="685800"/>
          </a:xfrm>
          <a:prstGeom prst="roundRect">
            <a:avLst>
              <a:gd name="adj" fmla="val 9333"/>
            </a:avLst>
          </a:prstGeom>
          <a:solidFill>
            <a:srgbClr val="161E2D"/>
          </a:solidFill>
          <a:ln/>
        </p:spPr>
      </p:sp>
      <p:sp>
        <p:nvSpPr>
          <p:cNvPr id="14" name="Text 12"/>
          <p:cNvSpPr/>
          <p:nvPr/>
        </p:nvSpPr>
        <p:spPr>
          <a:xfrm>
            <a:off x="685800" y="2377440"/>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netstat -an / ss -tulpn</a:t>
            </a:r>
            <a:endParaRPr lang="en-US" sz="1150" dirty="0"/>
          </a:p>
        </p:txBody>
      </p:sp>
      <p:sp>
        <p:nvSpPr>
          <p:cNvPr id="15" name="Text 13"/>
          <p:cNvSpPr/>
          <p:nvPr/>
        </p:nvSpPr>
        <p:spPr>
          <a:xfrm>
            <a:off x="685800" y="2670048"/>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List active connections</a:t>
            </a:r>
            <a:endParaRPr lang="en-US" sz="1000" dirty="0"/>
          </a:p>
        </p:txBody>
      </p:sp>
      <p:sp>
        <p:nvSpPr>
          <p:cNvPr id="16" name="Shape 14"/>
          <p:cNvSpPr/>
          <p:nvPr/>
        </p:nvSpPr>
        <p:spPr>
          <a:xfrm>
            <a:off x="4270248" y="2304288"/>
            <a:ext cx="3520440" cy="685800"/>
          </a:xfrm>
          <a:prstGeom prst="roundRect">
            <a:avLst>
              <a:gd name="adj" fmla="val 9333"/>
            </a:avLst>
          </a:prstGeom>
          <a:solidFill>
            <a:srgbClr val="161E2D"/>
          </a:solidFill>
          <a:ln/>
        </p:spPr>
      </p:sp>
      <p:sp>
        <p:nvSpPr>
          <p:cNvPr id="17" name="Text 15"/>
          <p:cNvSpPr/>
          <p:nvPr/>
        </p:nvSpPr>
        <p:spPr>
          <a:xfrm>
            <a:off x="4407408" y="2377440"/>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arp -a</a:t>
            </a:r>
            <a:endParaRPr lang="en-US" sz="1150" dirty="0"/>
          </a:p>
        </p:txBody>
      </p:sp>
      <p:sp>
        <p:nvSpPr>
          <p:cNvPr id="18" name="Text 16"/>
          <p:cNvSpPr/>
          <p:nvPr/>
        </p:nvSpPr>
        <p:spPr>
          <a:xfrm>
            <a:off x="4407408" y="2670048"/>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Show local ARP table</a:t>
            </a:r>
            <a:endParaRPr lang="en-US" sz="1000" dirty="0"/>
          </a:p>
        </p:txBody>
      </p:sp>
      <p:sp>
        <p:nvSpPr>
          <p:cNvPr id="19" name="Shape 17"/>
          <p:cNvSpPr/>
          <p:nvPr/>
        </p:nvSpPr>
        <p:spPr>
          <a:xfrm>
            <a:off x="7991856" y="2304288"/>
            <a:ext cx="3520440" cy="685800"/>
          </a:xfrm>
          <a:prstGeom prst="roundRect">
            <a:avLst>
              <a:gd name="adj" fmla="val 9333"/>
            </a:avLst>
          </a:prstGeom>
          <a:solidFill>
            <a:srgbClr val="161E2D"/>
          </a:solidFill>
          <a:ln/>
        </p:spPr>
      </p:sp>
      <p:sp>
        <p:nvSpPr>
          <p:cNvPr id="20" name="Text 18"/>
          <p:cNvSpPr/>
          <p:nvPr/>
        </p:nvSpPr>
        <p:spPr>
          <a:xfrm>
            <a:off x="8129016" y="2377440"/>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route print / ip route</a:t>
            </a:r>
            <a:endParaRPr lang="en-US" sz="1150" dirty="0"/>
          </a:p>
        </p:txBody>
      </p:sp>
      <p:sp>
        <p:nvSpPr>
          <p:cNvPr id="21" name="Text 19"/>
          <p:cNvSpPr/>
          <p:nvPr/>
        </p:nvSpPr>
        <p:spPr>
          <a:xfrm>
            <a:off x="8129016" y="2670048"/>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Show routing table</a:t>
            </a:r>
            <a:endParaRPr lang="en-US" sz="1000" dirty="0"/>
          </a:p>
        </p:txBody>
      </p:sp>
      <p:sp>
        <p:nvSpPr>
          <p:cNvPr id="22" name="Shape 20"/>
          <p:cNvSpPr/>
          <p:nvPr/>
        </p:nvSpPr>
        <p:spPr>
          <a:xfrm>
            <a:off x="548640" y="3099816"/>
            <a:ext cx="3520440" cy="685800"/>
          </a:xfrm>
          <a:prstGeom prst="roundRect">
            <a:avLst>
              <a:gd name="adj" fmla="val 9333"/>
            </a:avLst>
          </a:prstGeom>
          <a:solidFill>
            <a:srgbClr val="161E2D"/>
          </a:solidFill>
          <a:ln/>
        </p:spPr>
      </p:sp>
      <p:sp>
        <p:nvSpPr>
          <p:cNvPr id="23" name="Text 21"/>
          <p:cNvSpPr/>
          <p:nvPr/>
        </p:nvSpPr>
        <p:spPr>
          <a:xfrm>
            <a:off x="685800" y="3172968"/>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nslookup &lt;domain&gt;</a:t>
            </a:r>
            <a:endParaRPr lang="en-US" sz="1150" dirty="0"/>
          </a:p>
        </p:txBody>
      </p:sp>
      <p:sp>
        <p:nvSpPr>
          <p:cNvPr id="24" name="Text 22"/>
          <p:cNvSpPr/>
          <p:nvPr/>
        </p:nvSpPr>
        <p:spPr>
          <a:xfrm>
            <a:off x="685800" y="3465576"/>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Basic DNS lookup</a:t>
            </a:r>
            <a:endParaRPr lang="en-US" sz="1000" dirty="0"/>
          </a:p>
        </p:txBody>
      </p:sp>
      <p:sp>
        <p:nvSpPr>
          <p:cNvPr id="25" name="Shape 23"/>
          <p:cNvSpPr/>
          <p:nvPr/>
        </p:nvSpPr>
        <p:spPr>
          <a:xfrm>
            <a:off x="4270248" y="3099816"/>
            <a:ext cx="3520440" cy="685800"/>
          </a:xfrm>
          <a:prstGeom prst="roundRect">
            <a:avLst>
              <a:gd name="adj" fmla="val 9333"/>
            </a:avLst>
          </a:prstGeom>
          <a:solidFill>
            <a:srgbClr val="161E2D"/>
          </a:solidFill>
          <a:ln/>
        </p:spPr>
      </p:sp>
      <p:sp>
        <p:nvSpPr>
          <p:cNvPr id="26" name="Text 24"/>
          <p:cNvSpPr/>
          <p:nvPr/>
        </p:nvSpPr>
        <p:spPr>
          <a:xfrm>
            <a:off x="4407408" y="3172968"/>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dig &lt;domain&gt;</a:t>
            </a:r>
            <a:endParaRPr lang="en-US" sz="1150" dirty="0"/>
          </a:p>
        </p:txBody>
      </p:sp>
      <p:sp>
        <p:nvSpPr>
          <p:cNvPr id="27" name="Text 25"/>
          <p:cNvSpPr/>
          <p:nvPr/>
        </p:nvSpPr>
        <p:spPr>
          <a:xfrm>
            <a:off x="4407408" y="3465576"/>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Detailed DNS lookup</a:t>
            </a:r>
            <a:endParaRPr lang="en-US" sz="1000" dirty="0"/>
          </a:p>
        </p:txBody>
      </p:sp>
      <p:sp>
        <p:nvSpPr>
          <p:cNvPr id="28" name="Shape 26"/>
          <p:cNvSpPr/>
          <p:nvPr/>
        </p:nvSpPr>
        <p:spPr>
          <a:xfrm>
            <a:off x="7991856" y="3099816"/>
            <a:ext cx="3520440" cy="685800"/>
          </a:xfrm>
          <a:prstGeom prst="roundRect">
            <a:avLst>
              <a:gd name="adj" fmla="val 9333"/>
            </a:avLst>
          </a:prstGeom>
          <a:solidFill>
            <a:srgbClr val="161E2D"/>
          </a:solidFill>
          <a:ln/>
        </p:spPr>
      </p:sp>
      <p:sp>
        <p:nvSpPr>
          <p:cNvPr id="29" name="Text 27"/>
          <p:cNvSpPr/>
          <p:nvPr/>
        </p:nvSpPr>
        <p:spPr>
          <a:xfrm>
            <a:off x="8129016" y="3172968"/>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curl &lt;url&gt;</a:t>
            </a:r>
            <a:endParaRPr lang="en-US" sz="1150" dirty="0"/>
          </a:p>
        </p:txBody>
      </p:sp>
      <p:sp>
        <p:nvSpPr>
          <p:cNvPr id="30" name="Text 28"/>
          <p:cNvSpPr/>
          <p:nvPr/>
        </p:nvSpPr>
        <p:spPr>
          <a:xfrm>
            <a:off x="8129016" y="3465576"/>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Request a URL directly</a:t>
            </a:r>
            <a:endParaRPr lang="en-US" sz="1000" dirty="0"/>
          </a:p>
        </p:txBody>
      </p:sp>
      <p:sp>
        <p:nvSpPr>
          <p:cNvPr id="31" name="Shape 29"/>
          <p:cNvSpPr/>
          <p:nvPr/>
        </p:nvSpPr>
        <p:spPr>
          <a:xfrm>
            <a:off x="548640" y="3895344"/>
            <a:ext cx="3520440" cy="685800"/>
          </a:xfrm>
          <a:prstGeom prst="roundRect">
            <a:avLst>
              <a:gd name="adj" fmla="val 9333"/>
            </a:avLst>
          </a:prstGeom>
          <a:solidFill>
            <a:srgbClr val="161E2D"/>
          </a:solidFill>
          <a:ln/>
        </p:spPr>
      </p:sp>
      <p:sp>
        <p:nvSpPr>
          <p:cNvPr id="32" name="Text 30"/>
          <p:cNvSpPr/>
          <p:nvPr/>
        </p:nvSpPr>
        <p:spPr>
          <a:xfrm>
            <a:off x="685800" y="3968496"/>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telnet &lt;host&gt; &lt;port&gt;</a:t>
            </a:r>
            <a:endParaRPr lang="en-US" sz="1150" dirty="0"/>
          </a:p>
        </p:txBody>
      </p:sp>
      <p:sp>
        <p:nvSpPr>
          <p:cNvPr id="33" name="Text 31"/>
          <p:cNvSpPr/>
          <p:nvPr/>
        </p:nvSpPr>
        <p:spPr>
          <a:xfrm>
            <a:off x="685800" y="4261104"/>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Test if a port is open</a:t>
            </a:r>
            <a:endParaRPr lang="en-US" sz="1000" dirty="0"/>
          </a:p>
        </p:txBody>
      </p:sp>
      <p:sp>
        <p:nvSpPr>
          <p:cNvPr id="34" name="Shape 32"/>
          <p:cNvSpPr/>
          <p:nvPr/>
        </p:nvSpPr>
        <p:spPr>
          <a:xfrm>
            <a:off x="4270248" y="3895344"/>
            <a:ext cx="3520440" cy="685800"/>
          </a:xfrm>
          <a:prstGeom prst="roundRect">
            <a:avLst>
              <a:gd name="adj" fmla="val 9333"/>
            </a:avLst>
          </a:prstGeom>
          <a:solidFill>
            <a:srgbClr val="161E2D"/>
          </a:solidFill>
          <a:ln/>
        </p:spPr>
      </p:sp>
      <p:sp>
        <p:nvSpPr>
          <p:cNvPr id="35" name="Text 33"/>
          <p:cNvSpPr/>
          <p:nvPr/>
        </p:nvSpPr>
        <p:spPr>
          <a:xfrm>
            <a:off x="4407408" y="3968496"/>
            <a:ext cx="3246120" cy="292608"/>
          </a:xfrm>
          <a:prstGeom prst="rect">
            <a:avLst/>
          </a:prstGeom>
          <a:noFill/>
          <a:ln/>
        </p:spPr>
        <p:txBody>
          <a:bodyPr wrap="square" rtlCol="0" anchor="ctr"/>
          <a:lstStyle/>
          <a:p>
            <a:pPr indent="0" marL="0">
              <a:buNone/>
            </a:pPr>
            <a:r>
              <a:rPr lang="en-US" sz="1150" b="1" dirty="0">
                <a:solidFill>
                  <a:srgbClr val="FF9900"/>
                </a:solidFill>
                <a:latin typeface="Consolas" pitchFamily="34" charset="0"/>
                <a:ea typeface="Consolas" pitchFamily="34" charset="-122"/>
                <a:cs typeface="Consolas" pitchFamily="34" charset="-120"/>
              </a:rPr>
              <a:t>Test-NetConnection &lt;host&gt;</a:t>
            </a:r>
            <a:endParaRPr lang="en-US" sz="1150" dirty="0"/>
          </a:p>
        </p:txBody>
      </p:sp>
      <p:sp>
        <p:nvSpPr>
          <p:cNvPr id="36" name="Text 34"/>
          <p:cNvSpPr/>
          <p:nvPr/>
        </p:nvSpPr>
        <p:spPr>
          <a:xfrm>
            <a:off x="4407408" y="4261104"/>
            <a:ext cx="3246120" cy="274320"/>
          </a:xfrm>
          <a:prstGeom prst="rect">
            <a:avLst/>
          </a:prstGeom>
          <a:noFill/>
          <a:ln/>
        </p:spPr>
        <p:txBody>
          <a:bodyPr wrap="square" rtlCol="0" anchor="ctr"/>
          <a:lstStyle/>
          <a:p>
            <a:pPr indent="0" marL="0">
              <a:buNone/>
            </a:pPr>
            <a:r>
              <a:rPr lang="en-US" sz="1000" dirty="0">
                <a:solidFill>
                  <a:srgbClr val="C7D1D9"/>
                </a:solidFill>
                <a:latin typeface="Calibri" pitchFamily="34" charset="0"/>
                <a:ea typeface="Calibri" pitchFamily="34" charset="-122"/>
                <a:cs typeface="Calibri" pitchFamily="34" charset="-120"/>
              </a:rPr>
              <a:t>Windows port/connectivity test</a:t>
            </a:r>
            <a:endParaRPr lang="en-US" sz="1000" dirty="0"/>
          </a:p>
        </p:txBody>
      </p:sp>
      <p:sp>
        <p:nvSpPr>
          <p:cNvPr id="37" name="Text 35"/>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38" name="Text 36"/>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46</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FF9900"/>
          </a:solidFill>
          <a:ln/>
        </p:spPr>
      </p:sp>
      <p:sp>
        <p:nvSpPr>
          <p:cNvPr id="3" name="Shape 1"/>
          <p:cNvSpPr/>
          <p:nvPr/>
        </p:nvSpPr>
        <p:spPr>
          <a:xfrm>
            <a:off x="5180076" y="1554480"/>
            <a:ext cx="1828800" cy="1828800"/>
          </a:xfrm>
          <a:prstGeom prst="ellipse">
            <a:avLst/>
          </a:prstGeom>
          <a:solidFill>
            <a:srgbClr val="161E2D"/>
          </a:solidFill>
          <a:ln/>
        </p:spPr>
      </p:sp>
      <p:pic>
        <p:nvPicPr>
          <p:cNvPr id="4" name="Image 0" descr="/home/claude/ppt3/icon_network_o.png">    </p:cNvPr>
          <p:cNvPicPr>
            <a:picLocks noChangeAspect="1"/>
          </p:cNvPicPr>
          <p:nvPr/>
        </p:nvPicPr>
        <p:blipFill>
          <a:blip r:embed="rId1"/>
          <a:stretch>
            <a:fillRect/>
          </a:stretch>
        </p:blipFill>
        <p:spPr>
          <a:xfrm>
            <a:off x="5618988" y="1993392"/>
            <a:ext cx="950976" cy="950976"/>
          </a:xfrm>
          <a:prstGeom prst="rect">
            <a:avLst/>
          </a:prstGeom>
        </p:spPr>
      </p:pic>
      <p:sp>
        <p:nvSpPr>
          <p:cNvPr id="5" name="Text 2"/>
          <p:cNvSpPr/>
          <p:nvPr/>
        </p:nvSpPr>
        <p:spPr>
          <a:xfrm>
            <a:off x="822960" y="3657600"/>
            <a:ext cx="10543032" cy="731520"/>
          </a:xfrm>
          <a:prstGeom prst="rect">
            <a:avLst/>
          </a:prstGeom>
          <a:noFill/>
          <a:ln/>
        </p:spPr>
        <p:txBody>
          <a:bodyPr wrap="square"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Great Work Today!</a:t>
            </a:r>
            <a:endParaRPr lang="en-US" sz="3000" dirty="0"/>
          </a:p>
        </p:txBody>
      </p:sp>
      <p:sp>
        <p:nvSpPr>
          <p:cNvPr id="6" name="Text 3"/>
          <p:cNvSpPr/>
          <p:nvPr/>
        </p:nvSpPr>
        <p:spPr>
          <a:xfrm>
            <a:off x="1188720" y="4343400"/>
            <a:ext cx="9811512" cy="640080"/>
          </a:xfrm>
          <a:prstGeom prst="rect">
            <a:avLst/>
          </a:prstGeom>
          <a:noFill/>
          <a:ln/>
        </p:spPr>
        <p:txBody>
          <a:bodyPr wrap="square" rtlCol="0" anchor="ctr"/>
          <a:lstStyle/>
          <a:p>
            <a:pPr algn="ctr" indent="0" marL="0">
              <a:buNone/>
            </a:pPr>
            <a:r>
              <a:rPr lang="en-US" sz="1400" i="1" dirty="0">
                <a:solidFill>
                  <a:srgbClr val="C7D1D9"/>
                </a:solidFill>
                <a:latin typeface="Calibri" pitchFamily="34" charset="0"/>
                <a:ea typeface="Calibri" pitchFamily="34" charset="-122"/>
                <a:cs typeface="Calibri" pitchFamily="34" charset="-120"/>
              </a:rPr>
              <a:t>You now understand how networks, IP addressing, and the Internet itself actually work — the foundation for everything in AWS VPC.</a:t>
            </a:r>
            <a:endParaRPr lang="en-US" sz="1400" dirty="0"/>
          </a:p>
        </p:txBody>
      </p:sp>
      <p:sp>
        <p:nvSpPr>
          <p:cNvPr id="7" name="Text 4"/>
          <p:cNvSpPr/>
          <p:nvPr/>
        </p:nvSpPr>
        <p:spPr>
          <a:xfrm>
            <a:off x="548640" y="6400800"/>
            <a:ext cx="6400800" cy="292608"/>
          </a:xfrm>
          <a:prstGeom prst="rect">
            <a:avLst/>
          </a:prstGeom>
          <a:noFill/>
          <a:ln/>
        </p:spPr>
        <p:txBody>
          <a:bodyPr wrap="square" rtlCol="0" anchor="ctr"/>
          <a:lstStyle/>
          <a:p>
            <a:pPr indent="0" marL="0">
              <a:buNone/>
            </a:pPr>
            <a:r>
              <a:rPr lang="en-US" sz="900" spc="100" kern="0" dirty="0">
                <a:solidFill>
                  <a:srgbClr val="8A97A3"/>
                </a:solidFill>
                <a:latin typeface="Calibri" pitchFamily="34" charset="0"/>
                <a:ea typeface="Calibri" pitchFamily="34" charset="-122"/>
                <a:cs typeface="Calibri" pitchFamily="34" charset="-120"/>
              </a:rPr>
              <a:t>DAY 3  ·  NETWORKING FUNDAMENTALS</a:t>
            </a:r>
            <a:endParaRPr lang="en-US" sz="900" dirty="0"/>
          </a:p>
        </p:txBody>
      </p:sp>
      <p:sp>
        <p:nvSpPr>
          <p:cNvPr id="8" name="Text 5"/>
          <p:cNvSpPr/>
          <p:nvPr/>
        </p:nvSpPr>
        <p:spPr>
          <a:xfrm>
            <a:off x="11274552" y="6400800"/>
            <a:ext cx="548640" cy="292608"/>
          </a:xfrm>
          <a:prstGeom prst="rect">
            <a:avLst/>
          </a:prstGeom>
          <a:noFill/>
          <a:ln/>
        </p:spPr>
        <p:txBody>
          <a:bodyPr wrap="square" rtlCol="0" anchor="ctr"/>
          <a:lstStyle/>
          <a:p>
            <a:pPr algn="r" indent="0" marL="0">
              <a:buNone/>
            </a:pPr>
            <a:r>
              <a:rPr lang="en-US" sz="900" dirty="0">
                <a:solidFill>
                  <a:srgbClr val="8A97A3"/>
                </a:solidFill>
                <a:latin typeface="Calibri" pitchFamily="34" charset="0"/>
                <a:ea typeface="Calibri" pitchFamily="34" charset="-122"/>
                <a:cs typeface="Calibri" pitchFamily="34" charset="-120"/>
              </a:rPr>
              <a:t>47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2026-08-04T10:27:27Z</dcterms:created>
  <dcterms:modified xsi:type="dcterms:W3CDTF">2026-08-04T10:27:27Z</dcterms:modified>
</cp:coreProperties>
</file>