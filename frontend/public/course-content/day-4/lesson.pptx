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6" autoAdjust="0"/>
    <p:restoredTop sz="94610"/>
  </p:normalViewPr>
  <p:slideViewPr>
    <p:cSldViewPr snapToGrid="0" snapToObjects="1">
      <p:cViewPr>
        <p:scale>
          <a:sx n="119" d="100"/>
          <a:sy n="119" d="100"/>
        </p:scale>
        <p:origin x="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564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Welcome back for Day 4. So far students have learned how computers work, how to use Linux, and how networking connects everything together. Today we add the tool that ties all of an engineer's work into a safe, trackable, collaborative history: Git, plus its most popular hosting platform, GitHub.
TALKING POINTS: Emphasize that Git isn't just for 'programmers' — cloud engineers use it constantly for Terraform code, CloudFormation templates, automation scripts, and documentation.
STUDENT QUESTIONS: "Do I need to know how to code to use Git?" — No, Git tracks any text-based files; today's exercises use simple text and config files, not full programs.
TROUBLESHOOTING TIPS: None yet — this is the intro slide.
ANIMATION: Fade in the title, then Float In the duration/prerequisites, then Zoom on the Git logo.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each objective, noting that this is the exact skill set expected of a junior cloud/DevOps engineer on day one of a real job.
TALKING POINTS: Mention that Terraform, CI/CD pipelines, and even AWS CloudFormation templates all live in Git repositories in real organizations.
STUDENT QUESTIONS: "Is GitHub the only option?" — No, GitLab and Bitbucket are popular alternatives, but they all use the same underlying Git commands we'll learn today.
ANIMATION: Appear each card in sequence (Fade, staggered by 0.2s).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Preview the flow of the day. Mention we build up gradually: local Git first (no internet needed), then GitHub once we're comfortable with the local workflow.
TALKING POINTS: Note the hands-on lab ties everything together at the end — today is intentionally very hands-on since Git is a muscle-memory skill.
ANIMATION: Appear each row top-to-bottom (Wipe).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Ask the question aloud and take 2-3 answers. Most beginners will say they'd panic, re-download, or lose the work entirely.
STUDENT QUESTIONS: Expect answers like "I'd check the recycle bin" or "I don't know, I'd probably lose it."
EXPECTED ANSWERS: There isn't a wrong answer here — the point is to surface that most people have no real safety net for their own work today.
TALKING POINTS: Use this as the bridge into Slide 5: Git exists specifically to solve this exact fear — permanently, and for free.
ANIMATION: Zoom in on the quote bubble, then Fade in the answer options below.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Show the four problem categories, then reveal the file-naming nightmare below — nearly every student will laugh in recognition of Project_Final_Final_REAL.
STORYTELLING EXAMPLE: Tell a quick story of two people editing the same document over email, ending up with three conflicting 'final' versions and no way to tell which one is actually correct.
STUDENT QUESTIONS: "Isn't Google Docs / Dropbox enough?" — Those handle simple syncing but don't give structured history, branching, or safe experimentation the way Git does.
COMMON MISCONCEPTIONS: Students often think version control is only for large teams — stress that solo engineers benefit just as much from having a safety net.
ANIMATION: Appear the four problem cards (Fade), then Wipe in each filename row top-to-bottom for comedic timing.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Break down the definition piece by piece: 'distributed' means every copy has the full history (unlike older centralized systems); 'version control' means it tracks change over time; 'snapshot' is Git's core mental model.
STUDENT QUESTIONS: "Do I need the Internet to use Git?" — No! Git itself is fully local; you only need internet when syncing with GitHub.
COMMON MISCONCEPTIONS: Beginners often confuse 'Git' and 'GitHub' as the same thing — flag that we'll draw a clear line between them on the next slide.
ANIMATION: Fade in the definition card, Float In the Git logo from the right, Zoom on the analogy box.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single most important distinction to nail down early. Git = local tool. GitHub = one company's cloud platform for hosting Git repositories (GitLab and Bitbucket are competitors offering the same idea).
STUDENT QUESTIONS: "Is GitHub required to use Git?" — No, Git works completely standalone; GitHub is optional but extremely common in the industry for team collaboration.
COMMON MISCONCEPTIONS: Some students think 'pushing to GitHub' IS what saves their work — clarify that Git already saved it locally the moment they committed; GitHub is just a backup/sharing layer on top.
ANIMATION: Float In each feature card left-to-right, then Zoom in on the closing distinction bar.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each platform briefly, then have everyone run git --version together to confirm success before moving on.
STUDENT QUESTIONS: "What if the command isn't found?" — Usually means installation didn't complete or the terminal needs to be restarted; on Windows this often means using 'Git Bash' instead of the default Command Prompt.
TROUBLESHOOTING TIPS: On Windows, recommend Git Bash for consistency with Mac/Linux commands throughout the rest of the course. On Mac, the Xcode Command Line Tools prompt can take several minutes — be patient.
ANIMATION: Appear the three OS cards left-to-right, then Zoom in on the terminal verification.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Have students run both config commands with their own name and email. Explain --global means this setting applies to every repository on their machine, not just one project.
STUDENT QUESTIONS: "Can I change this later?" — Yes, just re-run the same commands with new values at any time.
COMMON MISCONCEPTIONS: Students sometimes think this is a login/password — clarify it's just a label, not an authentication step; GitHub authentication happens separately later.
ANIMATION: Appear terminal window, Fade in the explanation card, Zoom on the tip 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down the stack. A file starts in your Working Directory the moment you edit it. git add moves it to the Staging Area (a waiting room). git commit locks it permanently into your Local Repository. git push syncs it to the Remote Repository on GitHub.
STORYTELLING EXAMPLE: Compare it to packing for a trip: Working Directory is your messy room, Staging is your open suitcase (add what you want packed), Commit is zipping the suitcase shut (a permanent packed snapshot), and Push is checking that suitcase onto the plane (GitHub).
STUDENT QUESTIONS: "Why not skip staging and commit directly?" — Staging lets you choose exactly which changes go into each commit, even if you edited multiple unrelated files.
COMMON MISCONCEPTIONS: Beginners often think saving a file (Ctrl+S) is the same as committing — clarify saving only updates the Working Directory; Git doesn't know about the change until you add and commit it.
ANIMATION: Morph transition down through each stage as you explain it; the command pill Fades in between each pair.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Demonstrate all six commands live in sequence on a scratch folder so students see the full loop: init once, then status/add/commit repeatedly, with log and diff for inspection anytime.
STUDENT QUESTIONS: "Do I run git init every time?" — No, only once per project, at the very start.
TROUBLESHOOTING TIPS: If git status says 'not a git repository', they likely forgot git init or are in the wrong folder — have them run pwd to check.
ANIMATION: Appear terminal, then Fade in each command description in the side list sequentially.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students' first end-to-end rep of the full workflow: create a folder, initialize Git, create a README, check status, stage, and commit. Have everyone type along in real time.
STUDENT QUESTIONS: "What is README.md for?" — It's the description file every repository should have; GitHub automatically displays it on the repo's homepage.
TROUBLESHOOTING TIPS: If commit fails with an identity error, they skipped Slide 9's git config step — send them back to set user.name/user.email.
ANIMATION: Wipe in each terminal line as you type it live, pausing after git status and git commit to review the output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 commit is a permanent snapshot with a message describing what changed. Compare the good vs. bad examples side by side and ask students which would help them more 6 months from now.
STUDENT QUESTIONS: "How long should a commit message be?" — Short first line (under ~50 characters) is the convention; longer explanations can go in a second paragraph if needed.
COMMON MISCONCEPTIONS: Beginners often make one giant commit at the end of the day — encourage small, frequent commits tied to one logical change each.
ANIMATION: Appear the good card first (Fade), then the bad card, then Float In the analogy and tip boxes.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Draw attention to the branching graph — main stays untouched and stable while a feature branch splits off, gets its own commits, and later rejoins.
STORYTELLING EXAMPLE: Compare it to a movie script — main is the official screenplay, while a feature branch is a alternate scene you're drafting separately before deciding whether to fold it into the real script.
STUDENT QUESTIONS: "Can I have more than one feature branch at once?" — Yes, unlimited branches, each isolated from the others.
COMMON MISCONCEPTIONS: New users sometimes think branching duplicates the whole project as separate files — clarify it's all still one repository, just multiple timelines within it.
ANIMATION: Motion Path draws the main line first, then the feature branch splits off and rejoins with a Morph transition.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Demonstrate the full cycle live: create a branch, switch onto it, make a small change and commit it, switch back to main, then merge. Show git branch (no args) before/after to visually confirm the new branch exists.
STUDENT QUESTIONS: "What's the difference between switch and checkout?" — They do almost the same thing; switch is the newer, clearer command introduced specifically for changing branches, while checkout is older and more multi-purpose.
TROUBLESHOOTING TIPS: If merge fails with uncommitted changes, have students commit or stash first — Git refuses to merge over unsaved work.
ANIMATION: Appear terminal, Fade in each command description sequentially.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Show the raw conflict markers Git inserts directly into the file, then walk through the four resolution steps live using a simple two-line text file conflict you've pre-staged.
STORYTELLING EXAMPLE: Two roommates each rewrite the same whiteboard note at the same time — Git just flags 'these don't match, you decide' rather than silently picking one.
STUDENT QUESTIONS: "Can I avoid conflicts entirely?" — Not 100%, but small, frequent commits and pulling often greatly reduce how often they happen.
COMMON MISCONCEPTIONS: Beginners panic and think a conflict means they broke something permanently — reassure them nothing is lost; both versions are fully preserved until they choose.
ANIMATION: Appear conflict markers in the terminal one line at a time (Fade), then Wipe in each resolution step.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'origin' is just a nickname Git uses for the remote URL, saving you from typing the full GitHub link every time. Show git remote -v to prove the connection now exists.
STUDENT QUESTIONS: "Why is it called origin specifically?" — It's just a convention, not a required name — origin is simply the default name Git suggests for your primary remote.
COMMON MISCONCEPTIONS: Students sometimes think adding a remote automatically uploads anything — clarify this step only creates the connection; nothing transfers until git push.
ANIMATION: Float In each node of the chain left-to-right, then Zoom in on the terminal commands below.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creating a GitHub account live if anyone doesn't have one, then create a real repository together and push the my-first-repo project from Slide 12 into it.
STUDENT QUESTIONS: "Public or private repository — which should I choose?" — Public is fine and encouraged for learning/portfolio projects; private is for anything sensitive or work-related.
TROUBLESHOOTING TIPS: If push fails with an authentication error, note that GitHub no longer accepts plain passwords over HTTPS — they'll need a Personal Access Token or SSH key (mention this is covered in the appendix).
ANIMATION: Appear each numbered step card left-to-right (Fade, staggered).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Clone = download a copy of a repo you already have permission to work on directly. Fork = make your own independent copy of someone else's repo first, then clone THAT copy to work on it.
STUDENT QUESTIONS: "Do I need to fork my own company's repos?" — No, if you're already a collaborator with write access, clone directly; forking is for outside contributors.
COMMON MISCONCEPTIONS: Beginners often fork when they should just clone, creating unnecessary duplicate repos under their own account — clarify the access-based distinction clearly.
ANIMATION: Appear both cards side by side (Fade), then Float In each command pill.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push sends your local commits up to GitHub. pull brings remote changes down AND merges them automatically. fetch downloads changes but lets you review before merging — the 'safer' version of pull.
STUDENT QUESTIONS: "Should I always pull before I push?" — Yes, it's a strong habit — pulling first avoids conflicts caused by an outdated local copy.
TROUBLESHOOTING TIPS: A rejected push almost always means the remote has commits you don't have locally yet — the fix is git pull, then push again.
ANIMATION: Appear both computer/GitHub boxes, then draw the push and pull arrows with Motion Paths, then Wipe in the three command rows.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 Pull Request (PR) is a formal request to merge your branch into main, opened on GitHub, where teammates can comment, suggest changes, and approve before anything touches the shared codebase.
STUDENT QUESTIONS: "Do I need a Pull Request for my own solo projects?" — Not strictly required, but it's still good practice to build the habit for when you join a team.
COMMON MISCONCEPTIONS: Students sometimes think a Pull Request itself moves code — clarify it's a review/discussion wrapper around a merge, not a separate transfer mechanism.
ANIMATION: Float In each flow-chain step left-to-right, then Appear each 'why it matters' bullet, then Zoom on the analogy box.</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Every item on this slide is just a plain text file — which is exactly why Git works so well for infrastructure. Your entire AWS environment can be defined in Terraform files, version-controlled the same way as any other project.
STUDENT QUESTIONS: "Isn't infrastructure something you click together in the AWS Console instead?" — You can, but Infrastructure as Code (storing it in Git) makes it repeatable, reviewable, and safely revertible — a core DevOps practice.
TALKING POINTS: This slide connects directly to what's coming later in the bootcamp — Terraform and CI/CD both assume a Git-based workflow as a prerequisite.
ANIMATION: Appear each card in a staggered grid (Fade).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These six habits separate a beginner's repo from a professional one. Spend extra time on .gitignore and secrets — it directly prevents one of the most damaging real-world mistakes (leaking AWS credentials on GitHub).
STUDENT QUESTIONS: "What typically goes in a .gitignore file?" — Things like .env files, AWS credentials, node_modules/, compiled files, and OS-generated files like .DS_Store.
COMMON MISCONCEPTIONS: Students think deleting a secret from a later commit removes it from history — clarify that old commits still contain it; prevention (.gitignore from the start) is the real fix.
ANIMATION: Appear each practice card in a staggered grid (Fade, 0.15s stagger).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Transition into the full end-to-end lab. Explain that every command used today gets reused here in one connected flow, mirroring a real engineer's daily workflow.
STUDENT QUESTIONS: "What if I fall behind?" — Encourage raising a hand immediately; also remind them the terminal is very forgiving — mistakes here rarely break anything permanently.
TALKING POINTS: If time allows, pair students up so one can push while the other clones on a separate machine or account — it makes the remote sync concept click much faster.
ANIMATION: Fade in title, Float In subtitle.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students through this exact sequence step by step, confirming each output before moving to the next line. This reuses every command from earlier in the lesson in one connected flow.
STUDENT QUESTIONS: "What does the -c flag do in git switch -c?" — It creates the branch AND switches to it in one step, instead of running two separate commands.
TROUBLESHOOTING TIPS: If git commit fails citing missing identity, they need to complete step 2 (git config) first — a very common early snag.
EXPECTED OUTPUTS: Step 3 should print “Initialized empty Git repository”; step 5 should print a summary like “1 file changed, 1 insertion(+)”.
ANIMATION: Wipe in each step row top-to-bottom as you demonstrate it live.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Continue the guided lab into the GitHub half. Step 10 requires students to actually create a repository on github.com first — pause and make sure everyone has done that before running the remote add command.
STUDENT QUESTIONS: "Why clone on a 'second machine' in step 12?" — It simulates a teammate joining the project, proving the full round-trip: push from one place, pull from another.
TROUBLESHOOTING TIPS: Authentication failures on push are extremely common — walk through generating a Personal Access Token (Settings → Developer Settings → Personal Access Tokens) as the fix for HTTPS pushes.
EXPECTED OUTPUTS: Step 11 should show branch tracking info like “branch 'main' set up to track 'origin/main'”; step 12's clone should recreate the full project folder with all files present.
ANIMATION: Wipe in each step row top-to-bottom; Fade in the Personal Access Token tip box at the end.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a realistic day: an engineer clones the shared infra repo, creates a branch to add a new S3 bucket in Terraform, commits and pushes, opens a PR, a teammate reviews it, then it merges to main — which is often wired to automatically apply the change via CI/CD.
STUDENT QUESTIONS: "Does merging to main actually change real AWS resources?" — In many real setups yes, via an automated pipeline — which is exactly why the PR review step matters so much for infrastructure code.
TALKING POINTS: Connect this directly back to Day 3's networking concepts and forward to future Terraform/CI-CD days — Git is the connective tissue across the whole bootcamp.
ANIMATION: Motion Path animates a 'commit' dot traveling left-to-right through the whole chain.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Ask if anyone has already made one of these mistakes on their own — normalizing it early builds confidence. Spend the most time on 'Committing Secrets' since it has real security consequences.
STUDENT QUESTIONS: "If I accidentally commit a secret, is my push undone if I catch it fast?" — Only if it hasn't been pushed yet; once pushed, treat that secret as permanently exposed and rotate/revoke it immediately, even if later removed from history.
TROUBLESHOOTING TIPS: Recommend a .gitignore file from the very first commit of every project, before any secrets can accidentally get staged.
ANIMATION: Appear each mistake card in a staggered grid (Fade).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Recap the six big ideas quickly, letting students call out what they remember before you reveal each line.
STUDENT QUESTIONS: None expected — this is a consolidation slide.
TALKING POINTS: Reinforce that everything from here forward in the bootcamp — Terraform, CI/CD, automation — assumes this Git workflow as a baseline skill.
ANIMATION: Appear each summary row top-to-bottom (Fade, staggered).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students 2-3 minutes to answer individually or in pairs before revealing answers later.
STUDENT QUESTIONS: None expected — this is a knowledge check.
TROUBLESHOOTING TIPS: If several students miss the same question, briefly revisit that slide before continuing rather than only covering it in the answer key.
ANIMATION: Appear each question top-to-bottom (Fade, staggered).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Continue the same quiz flow, focusing on branching and remote sync concepts. Question 9's pull vs. fetch distinction is usually the trickiest for beginners.
STUDENT QUESTIONS: None expected.
TROUBLESHOOTING TIPS: If the group is shaky on merge conflicts, do a 60-second live re-demo rather than only re-explaining verbally.
ANIMATION: Appear each question top-to-bottom (Fade, staggered).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Wrap up the quiz with the most 'real job' oriented questions. Question 15 (leaked secrets) is worth discussing as a group — it's a genuinely common and serious real-world incident.
STUDENT QUESTIONS: None expected.
EXPECTED ANSWERS: For Q15, the expected answer is: immediately rotate/revoke the exposed credential, then clean the repo history — removal alone is not sufficient since the secret was already exposed.
ANIMATION: Appear each question top-to-bottom (Fade, staggered).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Reveal answers a few at a time, briefly re-explaining any that a lot of students got wrong. Keep tone encouraging — this is a checkpoint, not a graded exam.
STUDENT QUESTIONS: Expect the most debate on Q7 (merge conflicts) and Q15 (leaked secrets) — both are worth a short group discussion.
TROUBLESHOOTING TIPS: If most of the class missed the same question, that's useful signal to revisit that specific slide briefly before moving to homework.
ANIMATION: Appear each answer in a staggered grid (Fade).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Frame homework as reinforcement, not new material — all three tasks reuse commands from today's lesson.
STUDENT QUESTIONS: "Do I need a real project to practice on?" — No, any small text-based folder works fine for practicing the workflow.
TALKING POINTS: Encourage students to bring their portfolio repo link to the next session — it becomes the foundation they'll add Terraform and CI/CD projects to later in the bootcamp.
ANIMATION: Appear each homework card left-to-right (Fade).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Introduce the appendix as take-home reference material — not new teaching content, but a resource to revisit anytime over the coming weeks.
TALKING POINTS: Suggest students screenshot or print these pages for quick access during future labs and homework.
ANIMATION: Fade in title, Float In subtitle.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 this as the single-page reference summarizing every core local Git command from today.
TALKING POINTS: Recommend keeping this open in a second tab or printed for the next few sessions until commands feel automatic.
ANIMATION: Appear the grid in a staggered reveal (Fade).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covers the GitHub-specific side — clone/fork, remotes, and the platform features (Issues, Actions, tokens) students will grow into as they use GitHub more.
TALKING POINTS: Mention Actions briefly as a forward pointer to the bootcamp's future CI/CD content — it's built directly on top of what they learned today.
ANIMATION: Appear each card in a staggered grid (Fade).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 both workflows as laminated-card material — the exact sequence students can follow step-by-step any time they're unsure what to do next.
TALKING POINTS: Point out these two workflows together cover the vast majority of a working engineer's daily Git usage.
ANIMATION: Appear both reference cards side by side (Fade).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the reference material with small quality-of-life shortcuts that make the terminal faster and less error-prone day to day.
TALKING POINTS: Demonstrate Tab-completion live one more time if there's time — it's the single highest-value habit for beginners to build early.
ANIMATION: Appear each card in a staggered grid (Fade), then Zoom on the closing tip.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with genuine encouragement — Git has a real learning curve, and finishing this session means students now have the exact workflow used by professional engineering teams every day.
STUDENT QUESTIONS: "What if I still mix up commands?" — Completely normal; remind them of the cheat sheets and that daily repetition in upcoming Terraform/CI-CD sessions will cement it.
TALKING POINTS: Thank students for their engagement and remind them where to find recorded materials or slides for review, plus their homework repo link for next session.
ANIMATION: Zoom in on the Git logo, then Fade in the closing message.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4.png"/><Relationship Id="rId7"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4.png"/><Relationship Id="rId4" Type="http://schemas.openxmlformats.org/officeDocument/2006/relationships/image" Target="../media/image4.png"/><Relationship Id="rId9" Type="http://schemas.openxmlformats.org/officeDocument/2006/relationships/image" Target="../media/image18.png"/></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7955280" y="0"/>
            <a:ext cx="4233672" cy="6858000"/>
          </a:xfrm>
          <a:prstGeom prst="rect">
            <a:avLst/>
          </a:prstGeom>
          <a:solidFill>
            <a:srgbClr val="161E2D"/>
          </a:solidFill>
          <a:ln/>
        </p:spPr>
      </p:sp>
      <p:sp>
        <p:nvSpPr>
          <p:cNvPr id="3" name="Shape 1"/>
          <p:cNvSpPr/>
          <p:nvPr/>
        </p:nvSpPr>
        <p:spPr>
          <a:xfrm>
            <a:off x="0" y="0"/>
            <a:ext cx="201168" cy="6858000"/>
          </a:xfrm>
          <a:prstGeom prst="rect">
            <a:avLst/>
          </a:prstGeom>
          <a:solidFill>
            <a:srgbClr val="FF9900"/>
          </a:solidFill>
          <a:ln/>
        </p:spPr>
      </p:sp>
      <p:sp>
        <p:nvSpPr>
          <p:cNvPr id="4" name="Text 2"/>
          <p:cNvSpPr/>
          <p:nvPr/>
        </p:nvSpPr>
        <p:spPr>
          <a:xfrm>
            <a:off x="822960" y="1280160"/>
            <a:ext cx="6400800" cy="365760"/>
          </a:xfrm>
          <a:prstGeom prst="rect">
            <a:avLst/>
          </a:prstGeom>
          <a:noFill/>
          <a:ln/>
        </p:spPr>
        <p:txBody>
          <a:bodyPr wrap="square"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CLOUD ENGINEERING BOOTCAMP  ·  DAY 4</a:t>
            </a:r>
            <a:endParaRPr lang="en-US" sz="1300" dirty="0"/>
          </a:p>
        </p:txBody>
      </p:sp>
      <p:sp>
        <p:nvSpPr>
          <p:cNvPr id="5" name="Text 3"/>
          <p:cNvSpPr/>
          <p:nvPr/>
        </p:nvSpPr>
        <p:spPr>
          <a:xfrm>
            <a:off x="822960" y="1737360"/>
            <a:ext cx="6675120" cy="1188720"/>
          </a:xfrm>
          <a:prstGeom prst="rect">
            <a:avLst/>
          </a:prstGeom>
          <a:noFill/>
          <a:ln/>
        </p:spPr>
        <p:txBody>
          <a:bodyPr wrap="square" rtlCol="0" anchor="ctr"/>
          <a:lstStyle/>
          <a:p>
            <a:pPr marL="0" indent="0">
              <a:buNone/>
            </a:pPr>
            <a:r>
              <a:rPr lang="en-US" sz="3800" b="1" dirty="0">
                <a:solidFill>
                  <a:srgbClr val="FFFFFF"/>
                </a:solidFill>
                <a:latin typeface="Arial" pitchFamily="34" charset="0"/>
                <a:ea typeface="Arial" pitchFamily="34" charset="-122"/>
                <a:cs typeface="Arial" pitchFamily="34" charset="-120"/>
              </a:rPr>
              <a:t>Git &amp; GitHub Fundamentals</a:t>
            </a:r>
            <a:endParaRPr lang="en-US" sz="3800" dirty="0"/>
          </a:p>
        </p:txBody>
      </p:sp>
      <p:sp>
        <p:nvSpPr>
          <p:cNvPr id="6" name="Text 4"/>
          <p:cNvSpPr/>
          <p:nvPr/>
        </p:nvSpPr>
        <p:spPr>
          <a:xfrm>
            <a:off x="822960" y="2971800"/>
            <a:ext cx="6309360" cy="822960"/>
          </a:xfrm>
          <a:prstGeom prst="rect">
            <a:avLst/>
          </a:prstGeom>
          <a:noFill/>
          <a:ln/>
        </p:spPr>
        <p:txBody>
          <a:bodyPr wrap="square" rtlCol="0" anchor="ctr"/>
          <a:lstStyle/>
          <a:p>
            <a:pPr marL="0" indent="0">
              <a:buNone/>
            </a:pPr>
            <a:r>
              <a:rPr lang="en-US" sz="1400" i="1" dirty="0">
                <a:solidFill>
                  <a:srgbClr val="C7D1D9"/>
                </a:solidFill>
                <a:latin typeface="Calibri" pitchFamily="34" charset="0"/>
                <a:ea typeface="Calibri" pitchFamily="34" charset="-122"/>
                <a:cs typeface="Calibri" pitchFamily="34" charset="-120"/>
              </a:rPr>
              <a:t>Track every change, collaborate with confidence, and ship infrastructure the way real engineering teams do.</a:t>
            </a:r>
            <a:endParaRPr lang="en-US" sz="1400" dirty="0"/>
          </a:p>
        </p:txBody>
      </p:sp>
      <p:sp>
        <p:nvSpPr>
          <p:cNvPr id="7" name="Text 5"/>
          <p:cNvSpPr/>
          <p:nvPr/>
        </p:nvSpPr>
        <p:spPr>
          <a:xfrm>
            <a:off x="822960" y="4114800"/>
            <a:ext cx="1828800" cy="274320"/>
          </a:xfrm>
          <a:prstGeom prst="rect">
            <a:avLst/>
          </a:prstGeom>
          <a:noFill/>
          <a:ln/>
        </p:spPr>
        <p:txBody>
          <a:bodyPr wrap="square" rtlCol="0" anchor="ctr"/>
          <a:lstStyle/>
          <a:p>
            <a:pPr marL="0" indent="0">
              <a:buNone/>
            </a:pPr>
            <a:r>
              <a:rPr lang="en-US" sz="1000" b="1" kern="0" spc="200" dirty="0">
                <a:solidFill>
                  <a:srgbClr val="FF9900"/>
                </a:solidFill>
                <a:latin typeface="Calibri" pitchFamily="34" charset="0"/>
                <a:ea typeface="Calibri" pitchFamily="34" charset="-122"/>
                <a:cs typeface="Calibri" pitchFamily="34" charset="-120"/>
              </a:rPr>
              <a:t>DURATION</a:t>
            </a:r>
            <a:endParaRPr lang="en-US" sz="1000" dirty="0"/>
          </a:p>
        </p:txBody>
      </p:sp>
      <p:sp>
        <p:nvSpPr>
          <p:cNvPr id="8" name="Text 6"/>
          <p:cNvSpPr/>
          <p:nvPr/>
        </p:nvSpPr>
        <p:spPr>
          <a:xfrm>
            <a:off x="822960" y="4370832"/>
            <a:ext cx="274320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3 hours</a:t>
            </a:r>
            <a:endParaRPr lang="en-US" sz="1600" dirty="0"/>
          </a:p>
        </p:txBody>
      </p:sp>
      <p:sp>
        <p:nvSpPr>
          <p:cNvPr id="9" name="Text 7"/>
          <p:cNvSpPr/>
          <p:nvPr/>
        </p:nvSpPr>
        <p:spPr>
          <a:xfrm>
            <a:off x="822960" y="4846320"/>
            <a:ext cx="1828800" cy="274320"/>
          </a:xfrm>
          <a:prstGeom prst="rect">
            <a:avLst/>
          </a:prstGeom>
          <a:noFill/>
          <a:ln/>
        </p:spPr>
        <p:txBody>
          <a:bodyPr wrap="square" rtlCol="0" anchor="ctr"/>
          <a:lstStyle/>
          <a:p>
            <a:pPr marL="0" indent="0">
              <a:buNone/>
            </a:pPr>
            <a:r>
              <a:rPr lang="en-US" sz="1000" b="1" kern="0" spc="200" dirty="0">
                <a:solidFill>
                  <a:srgbClr val="FF9900"/>
                </a:solidFill>
                <a:latin typeface="Calibri" pitchFamily="34" charset="0"/>
                <a:ea typeface="Calibri" pitchFamily="34" charset="-122"/>
                <a:cs typeface="Calibri" pitchFamily="34" charset="-120"/>
              </a:rPr>
              <a:t>PREREQUISITES</a:t>
            </a:r>
            <a:endParaRPr lang="en-US" sz="1000" dirty="0"/>
          </a:p>
        </p:txBody>
      </p:sp>
      <p:sp>
        <p:nvSpPr>
          <p:cNvPr id="10" name="Text 8"/>
          <p:cNvSpPr/>
          <p:nvPr/>
        </p:nvSpPr>
        <p:spPr>
          <a:xfrm>
            <a:off x="822960" y="5102352"/>
            <a:ext cx="502920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Day 1–3: Computers, Linux CLI, and Networking</a:t>
            </a:r>
            <a:endParaRPr lang="en-US" sz="1400" dirty="0"/>
          </a:p>
        </p:txBody>
      </p:sp>
      <p:sp>
        <p:nvSpPr>
          <p:cNvPr id="11" name="Shape 9"/>
          <p:cNvSpPr/>
          <p:nvPr/>
        </p:nvSpPr>
        <p:spPr>
          <a:xfrm>
            <a:off x="8823960" y="2194560"/>
            <a:ext cx="2468880" cy="2468880"/>
          </a:xfrm>
          <a:prstGeom prst="ellipse">
            <a:avLst/>
          </a:prstGeom>
          <a:solidFill>
            <a:srgbClr val="1E2A38"/>
          </a:solidFill>
          <a:ln/>
        </p:spPr>
      </p:sp>
      <p:pic>
        <p:nvPicPr>
          <p:cNvPr id="12" name="Image 0" descr="/home/claude/ppt4/icon_gitalt_o.png"/>
          <p:cNvPicPr>
            <a:picLocks noChangeAspect="1"/>
          </p:cNvPicPr>
          <p:nvPr/>
        </p:nvPicPr>
        <p:blipFill>
          <a:blip r:embed="rId3"/>
          <a:stretch>
            <a:fillRect/>
          </a:stretch>
        </p:blipFill>
        <p:spPr>
          <a:xfrm>
            <a:off x="9416491" y="2787091"/>
            <a:ext cx="1283818" cy="1283818"/>
          </a:xfrm>
          <a:prstGeom prst="rect">
            <a:avLst/>
          </a:prstGeom>
        </p:spPr>
      </p:pic>
      <p:sp>
        <p:nvSpPr>
          <p:cNvPr id="13" name="Shape 10"/>
          <p:cNvSpPr/>
          <p:nvPr/>
        </p:nvSpPr>
        <p:spPr>
          <a:xfrm>
            <a:off x="8366760" y="1737360"/>
            <a:ext cx="3383280" cy="3383280"/>
          </a:xfrm>
          <a:prstGeom prst="ellipse">
            <a:avLst/>
          </a:prstGeom>
          <a:ln w="19050">
            <a:solidFill>
              <a:srgbClr val="FF9900"/>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Learning Objectives</a:t>
            </a:r>
            <a:endParaRPr lang="en-US" sz="2800" dirty="0"/>
          </a:p>
        </p:txBody>
      </p:sp>
      <p:sp>
        <p:nvSpPr>
          <p:cNvPr id="4" name="Text 2"/>
          <p:cNvSpPr/>
          <p:nvPr/>
        </p:nvSpPr>
        <p:spPr>
          <a:xfrm>
            <a:off x="548640" y="1188720"/>
            <a:ext cx="8229600" cy="365760"/>
          </a:xfrm>
          <a:prstGeom prst="rect">
            <a:avLst/>
          </a:prstGeom>
          <a:noFill/>
          <a:ln/>
        </p:spPr>
        <p:txBody>
          <a:bodyPr wrap="square" rtlCol="0" anchor="ctr"/>
          <a:lstStyle/>
          <a:p>
            <a:pPr marL="0" indent="0">
              <a:buNone/>
            </a:pPr>
            <a:r>
              <a:rPr lang="en-US" sz="1400" i="1" dirty="0">
                <a:solidFill>
                  <a:srgbClr val="5A6B75"/>
                </a:solidFill>
                <a:latin typeface="Calibri" pitchFamily="34" charset="0"/>
                <a:ea typeface="Calibri" pitchFamily="34" charset="-122"/>
                <a:cs typeface="Calibri" pitchFamily="34" charset="-120"/>
              </a:rPr>
              <a:t>By the end of today, you will be able to:</a:t>
            </a:r>
            <a:endParaRPr lang="en-US" sz="1400" dirty="0"/>
          </a:p>
        </p:txBody>
      </p:sp>
      <p:sp>
        <p:nvSpPr>
          <p:cNvPr id="5" name="Shape 3"/>
          <p:cNvSpPr/>
          <p:nvPr/>
        </p:nvSpPr>
        <p:spPr>
          <a:xfrm>
            <a:off x="548640" y="1737360"/>
            <a:ext cx="3520440" cy="2011680"/>
          </a:xfrm>
          <a:prstGeom prst="roundRect">
            <a:avLst>
              <a:gd name="adj" fmla="val 4545"/>
            </a:avLst>
          </a:prstGeom>
          <a:solidFill>
            <a:srgbClr val="FFFFFF"/>
          </a:solidFill>
          <a:ln w="12700">
            <a:solidFill>
              <a:srgbClr val="D9DCE1"/>
            </a:solidFill>
            <a:prstDash val="solid"/>
          </a:ln>
        </p:spPr>
      </p:sp>
      <p:sp>
        <p:nvSpPr>
          <p:cNvPr id="6" name="Shape 4"/>
          <p:cNvSpPr/>
          <p:nvPr/>
        </p:nvSpPr>
        <p:spPr>
          <a:xfrm>
            <a:off x="754380" y="1943100"/>
            <a:ext cx="777240" cy="777240"/>
          </a:xfrm>
          <a:prstGeom prst="ellipse">
            <a:avLst/>
          </a:prstGeom>
          <a:solidFill>
            <a:srgbClr val="FFF3DE"/>
          </a:solidFill>
          <a:ln/>
        </p:spPr>
      </p:sp>
      <p:pic>
        <p:nvPicPr>
          <p:cNvPr id="7" name="Image 0" descr="/home/claude/ppt4/icon_history_d.png"/>
          <p:cNvPicPr>
            <a:picLocks noChangeAspect="1"/>
          </p:cNvPicPr>
          <p:nvPr/>
        </p:nvPicPr>
        <p:blipFill>
          <a:blip r:embed="rId3"/>
          <a:stretch>
            <a:fillRect/>
          </a:stretch>
        </p:blipFill>
        <p:spPr>
          <a:xfrm>
            <a:off x="940918" y="2129638"/>
            <a:ext cx="404165" cy="404165"/>
          </a:xfrm>
          <a:prstGeom prst="rect">
            <a:avLst/>
          </a:prstGeom>
        </p:spPr>
      </p:pic>
      <p:sp>
        <p:nvSpPr>
          <p:cNvPr id="8" name="Text 5"/>
          <p:cNvSpPr/>
          <p:nvPr/>
        </p:nvSpPr>
        <p:spPr>
          <a:xfrm>
            <a:off x="777240" y="278892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Explain version control and why Git exists</a:t>
            </a:r>
            <a:endParaRPr lang="en-US" sz="1250" dirty="0"/>
          </a:p>
        </p:txBody>
      </p:sp>
      <p:sp>
        <p:nvSpPr>
          <p:cNvPr id="9" name="Shape 6"/>
          <p:cNvSpPr/>
          <p:nvPr/>
        </p:nvSpPr>
        <p:spPr>
          <a:xfrm>
            <a:off x="4270248" y="1737360"/>
            <a:ext cx="3520440" cy="2011680"/>
          </a:xfrm>
          <a:prstGeom prst="roundRect">
            <a:avLst>
              <a:gd name="adj" fmla="val 4545"/>
            </a:avLst>
          </a:prstGeom>
          <a:solidFill>
            <a:srgbClr val="FFFFFF"/>
          </a:solidFill>
          <a:ln w="12700">
            <a:solidFill>
              <a:srgbClr val="D9DCE1"/>
            </a:solidFill>
            <a:prstDash val="solid"/>
          </a:ln>
        </p:spPr>
      </p:sp>
      <p:sp>
        <p:nvSpPr>
          <p:cNvPr id="10" name="Shape 7"/>
          <p:cNvSpPr/>
          <p:nvPr/>
        </p:nvSpPr>
        <p:spPr>
          <a:xfrm>
            <a:off x="4475988" y="1943100"/>
            <a:ext cx="777240" cy="777240"/>
          </a:xfrm>
          <a:prstGeom prst="ellipse">
            <a:avLst/>
          </a:prstGeom>
          <a:solidFill>
            <a:srgbClr val="FFF3DE"/>
          </a:solidFill>
          <a:ln/>
        </p:spPr>
      </p:sp>
      <p:pic>
        <p:nvPicPr>
          <p:cNvPr id="11" name="Image 1" descr="/home/claude/ppt4/icon_save_d.png"/>
          <p:cNvPicPr>
            <a:picLocks noChangeAspect="1"/>
          </p:cNvPicPr>
          <p:nvPr/>
        </p:nvPicPr>
        <p:blipFill>
          <a:blip r:embed="rId4"/>
          <a:stretch>
            <a:fillRect/>
          </a:stretch>
        </p:blipFill>
        <p:spPr>
          <a:xfrm>
            <a:off x="4662526" y="2129638"/>
            <a:ext cx="404165" cy="404165"/>
          </a:xfrm>
          <a:prstGeom prst="rect">
            <a:avLst/>
          </a:prstGeom>
        </p:spPr>
      </p:pic>
      <p:sp>
        <p:nvSpPr>
          <p:cNvPr id="12" name="Text 8"/>
          <p:cNvSpPr/>
          <p:nvPr/>
        </p:nvSpPr>
        <p:spPr>
          <a:xfrm>
            <a:off x="4498848" y="278892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Create repositories, stage, and commit changes</a:t>
            </a:r>
            <a:endParaRPr lang="en-US" sz="1250" dirty="0"/>
          </a:p>
        </p:txBody>
      </p:sp>
      <p:sp>
        <p:nvSpPr>
          <p:cNvPr id="13" name="Shape 9"/>
          <p:cNvSpPr/>
          <p:nvPr/>
        </p:nvSpPr>
        <p:spPr>
          <a:xfrm>
            <a:off x="7991856" y="1737360"/>
            <a:ext cx="3520440" cy="2011680"/>
          </a:xfrm>
          <a:prstGeom prst="roundRect">
            <a:avLst>
              <a:gd name="adj" fmla="val 4545"/>
            </a:avLst>
          </a:prstGeom>
          <a:solidFill>
            <a:srgbClr val="FFFFFF"/>
          </a:solidFill>
          <a:ln w="12700">
            <a:solidFill>
              <a:srgbClr val="D9DCE1"/>
            </a:solidFill>
            <a:prstDash val="solid"/>
          </a:ln>
        </p:spPr>
      </p:sp>
      <p:sp>
        <p:nvSpPr>
          <p:cNvPr id="14" name="Shape 10"/>
          <p:cNvSpPr/>
          <p:nvPr/>
        </p:nvSpPr>
        <p:spPr>
          <a:xfrm>
            <a:off x="8197596" y="1943100"/>
            <a:ext cx="777240" cy="777240"/>
          </a:xfrm>
          <a:prstGeom prst="ellipse">
            <a:avLst/>
          </a:prstGeom>
          <a:solidFill>
            <a:srgbClr val="FFF3DE"/>
          </a:solidFill>
          <a:ln/>
        </p:spPr>
      </p:sp>
      <p:pic>
        <p:nvPicPr>
          <p:cNvPr id="15" name="Image 2" descr="/home/claude/ppt4/icon_codebranch_d.png"/>
          <p:cNvPicPr>
            <a:picLocks noChangeAspect="1"/>
          </p:cNvPicPr>
          <p:nvPr/>
        </p:nvPicPr>
        <p:blipFill>
          <a:blip r:embed="rId5"/>
          <a:stretch>
            <a:fillRect/>
          </a:stretch>
        </p:blipFill>
        <p:spPr>
          <a:xfrm>
            <a:off x="8384134" y="2129638"/>
            <a:ext cx="404165" cy="404165"/>
          </a:xfrm>
          <a:prstGeom prst="rect">
            <a:avLst/>
          </a:prstGeom>
        </p:spPr>
      </p:pic>
      <p:sp>
        <p:nvSpPr>
          <p:cNvPr id="16" name="Text 11"/>
          <p:cNvSpPr/>
          <p:nvPr/>
        </p:nvSpPr>
        <p:spPr>
          <a:xfrm>
            <a:off x="8220456" y="278892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Create, switch, and merge branches</a:t>
            </a:r>
            <a:endParaRPr lang="en-US" sz="1250" dirty="0"/>
          </a:p>
        </p:txBody>
      </p:sp>
      <p:sp>
        <p:nvSpPr>
          <p:cNvPr id="17" name="Shape 12"/>
          <p:cNvSpPr/>
          <p:nvPr/>
        </p:nvSpPr>
        <p:spPr>
          <a:xfrm>
            <a:off x="548640" y="3977640"/>
            <a:ext cx="3520440" cy="2011680"/>
          </a:xfrm>
          <a:prstGeom prst="roundRect">
            <a:avLst>
              <a:gd name="adj" fmla="val 4545"/>
            </a:avLst>
          </a:prstGeom>
          <a:solidFill>
            <a:srgbClr val="FFFFFF"/>
          </a:solidFill>
          <a:ln w="12700">
            <a:solidFill>
              <a:srgbClr val="D9DCE1"/>
            </a:solidFill>
            <a:prstDash val="solid"/>
          </a:ln>
        </p:spPr>
      </p:sp>
      <p:sp>
        <p:nvSpPr>
          <p:cNvPr id="18" name="Shape 13"/>
          <p:cNvSpPr/>
          <p:nvPr/>
        </p:nvSpPr>
        <p:spPr>
          <a:xfrm>
            <a:off x="754380" y="4183380"/>
            <a:ext cx="777240" cy="777240"/>
          </a:xfrm>
          <a:prstGeom prst="ellipse">
            <a:avLst/>
          </a:prstGeom>
          <a:solidFill>
            <a:srgbClr val="FFF3DE"/>
          </a:solidFill>
          <a:ln/>
        </p:spPr>
      </p:sp>
      <p:pic>
        <p:nvPicPr>
          <p:cNvPr id="19" name="Image 3" descr="/home/claude/ppt4/icon_exclamationcircle_d.png"/>
          <p:cNvPicPr>
            <a:picLocks noChangeAspect="1"/>
          </p:cNvPicPr>
          <p:nvPr/>
        </p:nvPicPr>
        <p:blipFill>
          <a:blip r:embed="rId6"/>
          <a:stretch>
            <a:fillRect/>
          </a:stretch>
        </p:blipFill>
        <p:spPr>
          <a:xfrm>
            <a:off x="940918" y="4369918"/>
            <a:ext cx="404165" cy="404165"/>
          </a:xfrm>
          <a:prstGeom prst="rect">
            <a:avLst/>
          </a:prstGeom>
        </p:spPr>
      </p:pic>
      <p:sp>
        <p:nvSpPr>
          <p:cNvPr id="20" name="Text 14"/>
          <p:cNvSpPr/>
          <p:nvPr/>
        </p:nvSpPr>
        <p:spPr>
          <a:xfrm>
            <a:off x="777240" y="502920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Resolve a simple merge conflict</a:t>
            </a:r>
            <a:endParaRPr lang="en-US" sz="1250" dirty="0"/>
          </a:p>
        </p:txBody>
      </p:sp>
      <p:sp>
        <p:nvSpPr>
          <p:cNvPr id="21" name="Shape 15"/>
          <p:cNvSpPr/>
          <p:nvPr/>
        </p:nvSpPr>
        <p:spPr>
          <a:xfrm>
            <a:off x="4270248" y="3977640"/>
            <a:ext cx="3520440" cy="2011680"/>
          </a:xfrm>
          <a:prstGeom prst="roundRect">
            <a:avLst>
              <a:gd name="adj" fmla="val 4545"/>
            </a:avLst>
          </a:prstGeom>
          <a:solidFill>
            <a:srgbClr val="FFFFFF"/>
          </a:solidFill>
          <a:ln w="12700">
            <a:solidFill>
              <a:srgbClr val="D9DCE1"/>
            </a:solidFill>
            <a:prstDash val="solid"/>
          </a:ln>
        </p:spPr>
      </p:sp>
      <p:sp>
        <p:nvSpPr>
          <p:cNvPr id="22" name="Shape 16"/>
          <p:cNvSpPr/>
          <p:nvPr/>
        </p:nvSpPr>
        <p:spPr>
          <a:xfrm>
            <a:off x="4475988" y="4183380"/>
            <a:ext cx="777240" cy="777240"/>
          </a:xfrm>
          <a:prstGeom prst="ellipse">
            <a:avLst/>
          </a:prstGeom>
          <a:solidFill>
            <a:srgbClr val="FFF3DE"/>
          </a:solidFill>
          <a:ln/>
        </p:spPr>
      </p:sp>
      <p:pic>
        <p:nvPicPr>
          <p:cNvPr id="23" name="Image 4" descr="/home/claude/ppt4/icon_github_d.png"/>
          <p:cNvPicPr>
            <a:picLocks noChangeAspect="1"/>
          </p:cNvPicPr>
          <p:nvPr/>
        </p:nvPicPr>
        <p:blipFill>
          <a:blip r:embed="rId7"/>
          <a:stretch>
            <a:fillRect/>
          </a:stretch>
        </p:blipFill>
        <p:spPr>
          <a:xfrm>
            <a:off x="4662526" y="4369918"/>
            <a:ext cx="404165" cy="404165"/>
          </a:xfrm>
          <a:prstGeom prst="rect">
            <a:avLst/>
          </a:prstGeom>
        </p:spPr>
      </p:pic>
      <p:sp>
        <p:nvSpPr>
          <p:cNvPr id="24" name="Text 17"/>
          <p:cNvSpPr/>
          <p:nvPr/>
        </p:nvSpPr>
        <p:spPr>
          <a:xfrm>
            <a:off x="4498848" y="502920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Push, pull, and clone with GitHub</a:t>
            </a:r>
            <a:endParaRPr lang="en-US" sz="1250" dirty="0"/>
          </a:p>
        </p:txBody>
      </p:sp>
      <p:sp>
        <p:nvSpPr>
          <p:cNvPr id="25" name="Shape 18"/>
          <p:cNvSpPr/>
          <p:nvPr/>
        </p:nvSpPr>
        <p:spPr>
          <a:xfrm>
            <a:off x="7991856" y="3977640"/>
            <a:ext cx="3520440" cy="2011680"/>
          </a:xfrm>
          <a:prstGeom prst="roundRect">
            <a:avLst>
              <a:gd name="adj" fmla="val 4545"/>
            </a:avLst>
          </a:prstGeom>
          <a:solidFill>
            <a:srgbClr val="FFFFFF"/>
          </a:solidFill>
          <a:ln w="12700">
            <a:solidFill>
              <a:srgbClr val="D9DCE1"/>
            </a:solidFill>
            <a:prstDash val="solid"/>
          </a:ln>
        </p:spPr>
      </p:sp>
      <p:sp>
        <p:nvSpPr>
          <p:cNvPr id="26" name="Shape 19"/>
          <p:cNvSpPr/>
          <p:nvPr/>
        </p:nvSpPr>
        <p:spPr>
          <a:xfrm>
            <a:off x="8197596" y="4183380"/>
            <a:ext cx="777240" cy="777240"/>
          </a:xfrm>
          <a:prstGeom prst="ellipse">
            <a:avLst/>
          </a:prstGeom>
          <a:solidFill>
            <a:srgbClr val="FFF3DE"/>
          </a:solidFill>
          <a:ln/>
        </p:spPr>
      </p:sp>
      <p:pic>
        <p:nvPicPr>
          <p:cNvPr id="27" name="Image 5" descr="/home/claude/ppt4/icon_clipboardcheck_d.png"/>
          <p:cNvPicPr>
            <a:picLocks noChangeAspect="1"/>
          </p:cNvPicPr>
          <p:nvPr/>
        </p:nvPicPr>
        <p:blipFill>
          <a:blip r:embed="rId8"/>
          <a:stretch>
            <a:fillRect/>
          </a:stretch>
        </p:blipFill>
        <p:spPr>
          <a:xfrm>
            <a:off x="8384134" y="4369918"/>
            <a:ext cx="404165" cy="404165"/>
          </a:xfrm>
          <a:prstGeom prst="rect">
            <a:avLst/>
          </a:prstGeom>
        </p:spPr>
      </p:pic>
      <p:sp>
        <p:nvSpPr>
          <p:cNvPr id="28" name="Text 20"/>
          <p:cNvSpPr/>
          <p:nvPr/>
        </p:nvSpPr>
        <p:spPr>
          <a:xfrm>
            <a:off x="8220456" y="5029200"/>
            <a:ext cx="3063240" cy="868680"/>
          </a:xfrm>
          <a:prstGeom prst="rect">
            <a:avLst/>
          </a:prstGeom>
          <a:noFill/>
          <a:ln/>
        </p:spPr>
        <p:txBody>
          <a:bodyPr wrap="square" rtlCol="0" anchor="t"/>
          <a:lstStyle/>
          <a:p>
            <a:pPr marL="0" indent="0">
              <a:buNone/>
            </a:pPr>
            <a:r>
              <a:rPr lang="en-US" sz="1250" dirty="0">
                <a:solidFill>
                  <a:srgbClr val="16191F"/>
                </a:solidFill>
                <a:latin typeface="Calibri" pitchFamily="34" charset="0"/>
                <a:ea typeface="Calibri" pitchFamily="34" charset="-122"/>
                <a:cs typeface="Calibri" pitchFamily="34" charset="-120"/>
              </a:rPr>
              <a:t>Understand Pull Requests and code review</a:t>
            </a:r>
            <a:endParaRPr lang="en-US" sz="1250" dirty="0"/>
          </a:p>
        </p:txBody>
      </p:sp>
      <p:sp>
        <p:nvSpPr>
          <p:cNvPr id="29" name="Text 21"/>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0" name="Text 22"/>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Today's Agenda</a:t>
            </a:r>
            <a:endParaRPr lang="en-US" sz="2800" dirty="0"/>
          </a:p>
        </p:txBody>
      </p:sp>
      <p:sp>
        <p:nvSpPr>
          <p:cNvPr id="4" name="Shape 2"/>
          <p:cNvSpPr/>
          <p:nvPr/>
        </p:nvSpPr>
        <p:spPr>
          <a:xfrm>
            <a:off x="548640" y="1417320"/>
            <a:ext cx="11091672" cy="530352"/>
          </a:xfrm>
          <a:prstGeom prst="roundRect">
            <a:avLst>
              <a:gd name="adj" fmla="val 12069"/>
            </a:avLst>
          </a:prstGeom>
          <a:solidFill>
            <a:srgbClr val="FFFFFF"/>
          </a:solidFill>
          <a:ln w="12700">
            <a:solidFill>
              <a:srgbClr val="D9DCE1"/>
            </a:solidFill>
            <a:prstDash val="solid"/>
          </a:ln>
        </p:spPr>
      </p:sp>
      <p:sp>
        <p:nvSpPr>
          <p:cNvPr id="5" name="Shape 3"/>
          <p:cNvSpPr/>
          <p:nvPr/>
        </p:nvSpPr>
        <p:spPr>
          <a:xfrm>
            <a:off x="777240" y="1481328"/>
            <a:ext cx="402336" cy="402336"/>
          </a:xfrm>
          <a:prstGeom prst="ellipse">
            <a:avLst/>
          </a:prstGeom>
          <a:solidFill>
            <a:srgbClr val="FF9900"/>
          </a:solidFill>
          <a:ln/>
        </p:spPr>
      </p:sp>
      <p:sp>
        <p:nvSpPr>
          <p:cNvPr id="6" name="Text 4"/>
          <p:cNvSpPr/>
          <p:nvPr/>
        </p:nvSpPr>
        <p:spPr>
          <a:xfrm>
            <a:off x="777240" y="1481328"/>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17320" y="1417320"/>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Why Version Control? Git &amp; GitHub Basics</a:t>
            </a:r>
            <a:endParaRPr lang="en-US" sz="1500" dirty="0"/>
          </a:p>
        </p:txBody>
      </p:sp>
      <p:sp>
        <p:nvSpPr>
          <p:cNvPr id="8" name="Shape 6"/>
          <p:cNvSpPr/>
          <p:nvPr/>
        </p:nvSpPr>
        <p:spPr>
          <a:xfrm>
            <a:off x="548640" y="2039112"/>
            <a:ext cx="11091672" cy="530352"/>
          </a:xfrm>
          <a:prstGeom prst="roundRect">
            <a:avLst>
              <a:gd name="adj" fmla="val 12069"/>
            </a:avLst>
          </a:prstGeom>
          <a:solidFill>
            <a:srgbClr val="FFFFFF"/>
          </a:solidFill>
          <a:ln w="12700">
            <a:solidFill>
              <a:srgbClr val="D9DCE1"/>
            </a:solidFill>
            <a:prstDash val="solid"/>
          </a:ln>
        </p:spPr>
      </p:sp>
      <p:sp>
        <p:nvSpPr>
          <p:cNvPr id="9" name="Shape 7"/>
          <p:cNvSpPr/>
          <p:nvPr/>
        </p:nvSpPr>
        <p:spPr>
          <a:xfrm>
            <a:off x="777240" y="2103120"/>
            <a:ext cx="402336" cy="402336"/>
          </a:xfrm>
          <a:prstGeom prst="ellipse">
            <a:avLst/>
          </a:prstGeom>
          <a:solidFill>
            <a:srgbClr val="232F3E"/>
          </a:solidFill>
          <a:ln/>
        </p:spPr>
      </p:sp>
      <p:sp>
        <p:nvSpPr>
          <p:cNvPr id="10" name="Text 8"/>
          <p:cNvSpPr/>
          <p:nvPr/>
        </p:nvSpPr>
        <p:spPr>
          <a:xfrm>
            <a:off x="777240" y="2103120"/>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417320" y="2039112"/>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Installing &amp; Configuring Git</a:t>
            </a:r>
            <a:endParaRPr lang="en-US" sz="1500" dirty="0"/>
          </a:p>
        </p:txBody>
      </p:sp>
      <p:sp>
        <p:nvSpPr>
          <p:cNvPr id="12" name="Shape 10"/>
          <p:cNvSpPr/>
          <p:nvPr/>
        </p:nvSpPr>
        <p:spPr>
          <a:xfrm>
            <a:off x="548640" y="2660904"/>
            <a:ext cx="11091672" cy="530352"/>
          </a:xfrm>
          <a:prstGeom prst="roundRect">
            <a:avLst>
              <a:gd name="adj" fmla="val 12069"/>
            </a:avLst>
          </a:prstGeom>
          <a:solidFill>
            <a:srgbClr val="FFFFFF"/>
          </a:solidFill>
          <a:ln w="12700">
            <a:solidFill>
              <a:srgbClr val="D9DCE1"/>
            </a:solidFill>
            <a:prstDash val="solid"/>
          </a:ln>
        </p:spPr>
      </p:sp>
      <p:sp>
        <p:nvSpPr>
          <p:cNvPr id="13" name="Shape 11"/>
          <p:cNvSpPr/>
          <p:nvPr/>
        </p:nvSpPr>
        <p:spPr>
          <a:xfrm>
            <a:off x="777240" y="2724912"/>
            <a:ext cx="402336" cy="402336"/>
          </a:xfrm>
          <a:prstGeom prst="ellipse">
            <a:avLst/>
          </a:prstGeom>
          <a:solidFill>
            <a:srgbClr val="FF9900"/>
          </a:solidFill>
          <a:ln/>
        </p:spPr>
      </p:sp>
      <p:sp>
        <p:nvSpPr>
          <p:cNvPr id="14" name="Text 12"/>
          <p:cNvSpPr/>
          <p:nvPr/>
        </p:nvSpPr>
        <p:spPr>
          <a:xfrm>
            <a:off x="777240" y="2724912"/>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417320" y="2660904"/>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Repositories, Staging &amp; Commits</a:t>
            </a:r>
            <a:endParaRPr lang="en-US" sz="1500" dirty="0"/>
          </a:p>
        </p:txBody>
      </p:sp>
      <p:sp>
        <p:nvSpPr>
          <p:cNvPr id="16" name="Shape 14"/>
          <p:cNvSpPr/>
          <p:nvPr/>
        </p:nvSpPr>
        <p:spPr>
          <a:xfrm>
            <a:off x="548640" y="3282696"/>
            <a:ext cx="11091672" cy="530352"/>
          </a:xfrm>
          <a:prstGeom prst="roundRect">
            <a:avLst>
              <a:gd name="adj" fmla="val 12069"/>
            </a:avLst>
          </a:prstGeom>
          <a:solidFill>
            <a:srgbClr val="FFFFFF"/>
          </a:solidFill>
          <a:ln w="12700">
            <a:solidFill>
              <a:srgbClr val="D9DCE1"/>
            </a:solidFill>
            <a:prstDash val="solid"/>
          </a:ln>
        </p:spPr>
      </p:sp>
      <p:sp>
        <p:nvSpPr>
          <p:cNvPr id="17" name="Shape 15"/>
          <p:cNvSpPr/>
          <p:nvPr/>
        </p:nvSpPr>
        <p:spPr>
          <a:xfrm>
            <a:off x="777240" y="3346704"/>
            <a:ext cx="402336" cy="402336"/>
          </a:xfrm>
          <a:prstGeom prst="ellipse">
            <a:avLst/>
          </a:prstGeom>
          <a:solidFill>
            <a:srgbClr val="232F3E"/>
          </a:solidFill>
          <a:ln/>
        </p:spPr>
      </p:sp>
      <p:sp>
        <p:nvSpPr>
          <p:cNvPr id="18" name="Text 16"/>
          <p:cNvSpPr/>
          <p:nvPr/>
        </p:nvSpPr>
        <p:spPr>
          <a:xfrm>
            <a:off x="777240" y="3346704"/>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417320" y="3282696"/>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Branching &amp; Merge Conflicts</a:t>
            </a:r>
            <a:endParaRPr lang="en-US" sz="1500" dirty="0"/>
          </a:p>
        </p:txBody>
      </p:sp>
      <p:sp>
        <p:nvSpPr>
          <p:cNvPr id="20" name="Shape 18"/>
          <p:cNvSpPr/>
          <p:nvPr/>
        </p:nvSpPr>
        <p:spPr>
          <a:xfrm>
            <a:off x="548640" y="3904488"/>
            <a:ext cx="11091672" cy="530352"/>
          </a:xfrm>
          <a:prstGeom prst="roundRect">
            <a:avLst>
              <a:gd name="adj" fmla="val 12069"/>
            </a:avLst>
          </a:prstGeom>
          <a:solidFill>
            <a:srgbClr val="FFFFFF"/>
          </a:solidFill>
          <a:ln w="12700">
            <a:solidFill>
              <a:srgbClr val="D9DCE1"/>
            </a:solidFill>
            <a:prstDash val="solid"/>
          </a:ln>
        </p:spPr>
      </p:sp>
      <p:sp>
        <p:nvSpPr>
          <p:cNvPr id="21" name="Shape 19"/>
          <p:cNvSpPr/>
          <p:nvPr/>
        </p:nvSpPr>
        <p:spPr>
          <a:xfrm>
            <a:off x="777240" y="3968496"/>
            <a:ext cx="402336" cy="402336"/>
          </a:xfrm>
          <a:prstGeom prst="ellipse">
            <a:avLst/>
          </a:prstGeom>
          <a:solidFill>
            <a:srgbClr val="FF9900"/>
          </a:solidFill>
          <a:ln/>
        </p:spPr>
      </p:sp>
      <p:sp>
        <p:nvSpPr>
          <p:cNvPr id="22" name="Text 20"/>
          <p:cNvSpPr/>
          <p:nvPr/>
        </p:nvSpPr>
        <p:spPr>
          <a:xfrm>
            <a:off x="777240" y="3968496"/>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1417320" y="3904488"/>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GitHub: Remotes, Push, Pull &amp; Clone</a:t>
            </a:r>
            <a:endParaRPr lang="en-US" sz="1500" dirty="0"/>
          </a:p>
        </p:txBody>
      </p:sp>
      <p:sp>
        <p:nvSpPr>
          <p:cNvPr id="24" name="Shape 22"/>
          <p:cNvSpPr/>
          <p:nvPr/>
        </p:nvSpPr>
        <p:spPr>
          <a:xfrm>
            <a:off x="548640" y="4526280"/>
            <a:ext cx="11091672" cy="530352"/>
          </a:xfrm>
          <a:prstGeom prst="roundRect">
            <a:avLst>
              <a:gd name="adj" fmla="val 12069"/>
            </a:avLst>
          </a:prstGeom>
          <a:solidFill>
            <a:srgbClr val="FFFFFF"/>
          </a:solidFill>
          <a:ln w="12700">
            <a:solidFill>
              <a:srgbClr val="D9DCE1"/>
            </a:solidFill>
            <a:prstDash val="solid"/>
          </a:ln>
        </p:spPr>
      </p:sp>
      <p:sp>
        <p:nvSpPr>
          <p:cNvPr id="25" name="Shape 23"/>
          <p:cNvSpPr/>
          <p:nvPr/>
        </p:nvSpPr>
        <p:spPr>
          <a:xfrm>
            <a:off x="777240" y="4590288"/>
            <a:ext cx="402336" cy="402336"/>
          </a:xfrm>
          <a:prstGeom prst="ellipse">
            <a:avLst/>
          </a:prstGeom>
          <a:solidFill>
            <a:srgbClr val="232F3E"/>
          </a:solidFill>
          <a:ln/>
        </p:spPr>
      </p:sp>
      <p:sp>
        <p:nvSpPr>
          <p:cNvPr id="26" name="Text 24"/>
          <p:cNvSpPr/>
          <p:nvPr/>
        </p:nvSpPr>
        <p:spPr>
          <a:xfrm>
            <a:off x="777240" y="4590288"/>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1417320" y="4526280"/>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Pull Requests &amp; Team Collaboration</a:t>
            </a:r>
            <a:endParaRPr lang="en-US" sz="1500" dirty="0"/>
          </a:p>
        </p:txBody>
      </p:sp>
      <p:sp>
        <p:nvSpPr>
          <p:cNvPr id="28" name="Shape 26"/>
          <p:cNvSpPr/>
          <p:nvPr/>
        </p:nvSpPr>
        <p:spPr>
          <a:xfrm>
            <a:off x="548640" y="5148072"/>
            <a:ext cx="11091672" cy="530352"/>
          </a:xfrm>
          <a:prstGeom prst="roundRect">
            <a:avLst>
              <a:gd name="adj" fmla="val 12069"/>
            </a:avLst>
          </a:prstGeom>
          <a:solidFill>
            <a:srgbClr val="FFFFFF"/>
          </a:solidFill>
          <a:ln w="12700">
            <a:solidFill>
              <a:srgbClr val="D9DCE1"/>
            </a:solidFill>
            <a:prstDash val="solid"/>
          </a:ln>
        </p:spPr>
      </p:sp>
      <p:sp>
        <p:nvSpPr>
          <p:cNvPr id="29" name="Shape 27"/>
          <p:cNvSpPr/>
          <p:nvPr/>
        </p:nvSpPr>
        <p:spPr>
          <a:xfrm>
            <a:off x="777240" y="5212080"/>
            <a:ext cx="402336" cy="402336"/>
          </a:xfrm>
          <a:prstGeom prst="ellipse">
            <a:avLst/>
          </a:prstGeom>
          <a:solidFill>
            <a:srgbClr val="FF9900"/>
          </a:solidFill>
          <a:ln/>
        </p:spPr>
      </p:sp>
      <p:sp>
        <p:nvSpPr>
          <p:cNvPr id="30" name="Text 28"/>
          <p:cNvSpPr/>
          <p:nvPr/>
        </p:nvSpPr>
        <p:spPr>
          <a:xfrm>
            <a:off x="777240" y="5212080"/>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1" name="Text 29"/>
          <p:cNvSpPr/>
          <p:nvPr/>
        </p:nvSpPr>
        <p:spPr>
          <a:xfrm>
            <a:off x="1417320" y="5148072"/>
            <a:ext cx="8686800" cy="530352"/>
          </a:xfrm>
          <a:prstGeom prst="rect">
            <a:avLst/>
          </a:prstGeom>
          <a:noFill/>
          <a:ln/>
        </p:spPr>
        <p:txBody>
          <a:bodyPr wrap="square" rtlCol="0" anchor="ctr"/>
          <a:lstStyle/>
          <a:p>
            <a:pPr marL="0" indent="0">
              <a:buNone/>
            </a:pPr>
            <a:r>
              <a:rPr lang="en-US" sz="1500" dirty="0">
                <a:solidFill>
                  <a:srgbClr val="16191F"/>
                </a:solidFill>
                <a:latin typeface="Calibri" pitchFamily="34" charset="0"/>
                <a:ea typeface="Calibri" pitchFamily="34" charset="-122"/>
                <a:cs typeface="Calibri" pitchFamily="34" charset="-120"/>
              </a:rPr>
              <a:t>Hands-On Lab &amp; Quiz</a:t>
            </a:r>
            <a:endParaRPr lang="en-US" sz="1500" dirty="0"/>
          </a:p>
        </p:txBody>
      </p:sp>
      <p:sp>
        <p:nvSpPr>
          <p:cNvPr id="32" name="Text 30"/>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3" name="Text 31"/>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Text 1"/>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ICEBREAKER</a:t>
            </a:r>
            <a:endParaRPr lang="en-US" sz="1200" dirty="0"/>
          </a:p>
        </p:txBody>
      </p:sp>
      <p:sp>
        <p:nvSpPr>
          <p:cNvPr id="4" name="Text 2"/>
          <p:cNvSpPr/>
          <p:nvPr/>
        </p:nvSpPr>
        <p:spPr>
          <a:xfrm>
            <a:off x="822960" y="1097280"/>
            <a:ext cx="7315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Let's Warm Up</a:t>
            </a:r>
            <a:endParaRPr lang="en-US" sz="3000" dirty="0"/>
          </a:p>
        </p:txBody>
      </p:sp>
      <p:sp>
        <p:nvSpPr>
          <p:cNvPr id="5" name="Shape 3"/>
          <p:cNvSpPr/>
          <p:nvPr/>
        </p:nvSpPr>
        <p:spPr>
          <a:xfrm>
            <a:off x="1188720" y="2286000"/>
            <a:ext cx="9784080" cy="2194560"/>
          </a:xfrm>
          <a:prstGeom prst="roundRect">
            <a:avLst>
              <a:gd name="adj" fmla="val 5833"/>
            </a:avLst>
          </a:prstGeom>
          <a:solidFill>
            <a:srgbClr val="161E2D"/>
          </a:solidFill>
          <a:ln w="19050">
            <a:solidFill>
              <a:srgbClr val="FF9900"/>
            </a:solidFill>
            <a:prstDash val="solid"/>
          </a:ln>
        </p:spPr>
      </p:sp>
      <p:sp>
        <p:nvSpPr>
          <p:cNvPr id="6" name="Shape 4"/>
          <p:cNvSpPr/>
          <p:nvPr/>
        </p:nvSpPr>
        <p:spPr>
          <a:xfrm>
            <a:off x="1874520" y="2788920"/>
            <a:ext cx="1188720" cy="1188720"/>
          </a:xfrm>
          <a:prstGeom prst="ellipse">
            <a:avLst/>
          </a:prstGeom>
          <a:solidFill>
            <a:srgbClr val="2E3B4E"/>
          </a:solidFill>
          <a:ln/>
        </p:spPr>
      </p:sp>
      <p:pic>
        <p:nvPicPr>
          <p:cNvPr id="7" name="Image 0" descr="/home/claude/ppt4/icon_commentdots_w.png"/>
          <p:cNvPicPr>
            <a:picLocks noChangeAspect="1"/>
          </p:cNvPicPr>
          <p:nvPr/>
        </p:nvPicPr>
        <p:blipFill>
          <a:blip r:embed="rId3"/>
          <a:stretch>
            <a:fillRect/>
          </a:stretch>
        </p:blipFill>
        <p:spPr>
          <a:xfrm>
            <a:off x="2159813" y="3074213"/>
            <a:ext cx="618134" cy="618134"/>
          </a:xfrm>
          <a:prstGeom prst="rect">
            <a:avLst/>
          </a:prstGeom>
        </p:spPr>
      </p:pic>
      <p:sp>
        <p:nvSpPr>
          <p:cNvPr id="8" name="Text 5"/>
          <p:cNvSpPr/>
          <p:nvPr/>
        </p:nvSpPr>
        <p:spPr>
          <a:xfrm>
            <a:off x="3383280" y="2743200"/>
            <a:ext cx="7223760" cy="1280160"/>
          </a:xfrm>
          <a:prstGeom prst="rect">
            <a:avLst/>
          </a:prstGeom>
          <a:noFill/>
          <a:ln/>
        </p:spPr>
        <p:txBody>
          <a:bodyPr wrap="square" rtlCol="0" anchor="ctr"/>
          <a:lstStyle/>
          <a:p>
            <a:pPr marL="0" indent="0">
              <a:buNone/>
            </a:pPr>
            <a:r>
              <a:rPr lang="en-US" sz="2200" b="1" i="1" dirty="0">
                <a:solidFill>
                  <a:srgbClr val="FFFFFF"/>
                </a:solidFill>
                <a:latin typeface="Arial" pitchFamily="34" charset="0"/>
                <a:ea typeface="Arial" pitchFamily="34" charset="-122"/>
                <a:cs typeface="Arial" pitchFamily="34" charset="-120"/>
              </a:rPr>
              <a:t>“What happens if you accidentally delete your project?”</a:t>
            </a:r>
            <a:endParaRPr lang="en-US" sz="2200" dirty="0"/>
          </a:p>
        </p:txBody>
      </p:sp>
      <p:sp>
        <p:nvSpPr>
          <p:cNvPr id="9" name="Text 6"/>
          <p:cNvSpPr/>
          <p:nvPr/>
        </p:nvSpPr>
        <p:spPr>
          <a:xfrm>
            <a:off x="1188720" y="4754880"/>
            <a:ext cx="9784080" cy="457200"/>
          </a:xfrm>
          <a:prstGeom prst="rect">
            <a:avLst/>
          </a:prstGeom>
          <a:noFill/>
          <a:ln/>
        </p:spPr>
        <p:txBody>
          <a:bodyPr wrap="square" rtlCol="0" anchor="ctr"/>
          <a:lstStyle/>
          <a:p>
            <a:pPr marL="0" indent="0" algn="ctr">
              <a:buNone/>
            </a:pPr>
            <a:r>
              <a:rPr lang="en-US" sz="1350" dirty="0">
                <a:solidFill>
                  <a:srgbClr val="C7D1D9"/>
                </a:solidFill>
                <a:latin typeface="Calibri" pitchFamily="34" charset="0"/>
                <a:ea typeface="Calibri" pitchFamily="34" charset="-122"/>
                <a:cs typeface="Calibri" pitchFamily="34" charset="-120"/>
              </a:rPr>
              <a:t>No backup?  ·  Cloud sync?  ·  A friend's copy?  ·  “I'd just... start over”</a:t>
            </a:r>
            <a:endParaRPr lang="en-US" sz="1350" dirty="0"/>
          </a:p>
        </p:txBody>
      </p:sp>
      <p:sp>
        <p:nvSpPr>
          <p:cNvPr id="10" name="Text 7"/>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11" name="Text 8"/>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WHY VERSION CONTROL?</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Life Without Version Control</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Recognize the everyday problems Git was built to solve.</a:t>
            </a:r>
            <a:endParaRPr lang="en-US" sz="1250" dirty="0"/>
          </a:p>
        </p:txBody>
      </p:sp>
      <p:sp>
        <p:nvSpPr>
          <p:cNvPr id="6" name="Shape 4"/>
          <p:cNvSpPr/>
          <p:nvPr/>
        </p:nvSpPr>
        <p:spPr>
          <a:xfrm>
            <a:off x="790956" y="1828800"/>
            <a:ext cx="2514600" cy="1554480"/>
          </a:xfrm>
          <a:prstGeom prst="roundRect">
            <a:avLst>
              <a:gd name="adj" fmla="val 5294"/>
            </a:avLst>
          </a:prstGeom>
          <a:solidFill>
            <a:srgbClr val="FFFFFF"/>
          </a:solidFill>
          <a:ln w="12700">
            <a:solidFill>
              <a:srgbClr val="E5533D"/>
            </a:solidFill>
            <a:prstDash val="solid"/>
          </a:ln>
        </p:spPr>
      </p:sp>
      <p:sp>
        <p:nvSpPr>
          <p:cNvPr id="7" name="Shape 5"/>
          <p:cNvSpPr/>
          <p:nvPr/>
        </p:nvSpPr>
        <p:spPr>
          <a:xfrm>
            <a:off x="1705356" y="2034540"/>
            <a:ext cx="685800" cy="685800"/>
          </a:xfrm>
          <a:prstGeom prst="ellipse">
            <a:avLst/>
          </a:prstGeom>
          <a:solidFill>
            <a:srgbClr val="FBEAE5"/>
          </a:solidFill>
          <a:ln/>
        </p:spPr>
      </p:sp>
      <p:pic>
        <p:nvPicPr>
          <p:cNvPr id="8" name="Image 0" descr="/home/claude/ppt4/icon_trashalt_d.png"/>
          <p:cNvPicPr>
            <a:picLocks noChangeAspect="1"/>
          </p:cNvPicPr>
          <p:nvPr/>
        </p:nvPicPr>
        <p:blipFill>
          <a:blip r:embed="rId3"/>
          <a:stretch>
            <a:fillRect/>
          </a:stretch>
        </p:blipFill>
        <p:spPr>
          <a:xfrm>
            <a:off x="1869948" y="2199132"/>
            <a:ext cx="356616" cy="356616"/>
          </a:xfrm>
          <a:prstGeom prst="rect">
            <a:avLst/>
          </a:prstGeom>
        </p:spPr>
      </p:pic>
      <p:sp>
        <p:nvSpPr>
          <p:cNvPr id="9" name="Text 6"/>
          <p:cNvSpPr/>
          <p:nvPr/>
        </p:nvSpPr>
        <p:spPr>
          <a:xfrm>
            <a:off x="882396" y="2880360"/>
            <a:ext cx="2331720" cy="365760"/>
          </a:xfrm>
          <a:prstGeom prst="rect">
            <a:avLst/>
          </a:prstGeom>
          <a:noFill/>
          <a:ln/>
        </p:spPr>
        <p:txBody>
          <a:bodyPr wrap="square" rtlCol="0" anchor="ctr"/>
          <a:lstStyle/>
          <a:p>
            <a:pPr marL="0" indent="0" algn="ctr">
              <a:buNone/>
            </a:pPr>
            <a:r>
              <a:rPr lang="en-US" sz="1200" b="1" dirty="0">
                <a:solidFill>
                  <a:srgbClr val="232F3E"/>
                </a:solidFill>
                <a:latin typeface="Calibri" pitchFamily="34" charset="0"/>
                <a:ea typeface="Calibri" pitchFamily="34" charset="-122"/>
                <a:cs typeface="Calibri" pitchFamily="34" charset="-120"/>
              </a:rPr>
              <a:t>Losing Files</a:t>
            </a:r>
            <a:endParaRPr lang="en-US" sz="1200" dirty="0"/>
          </a:p>
        </p:txBody>
      </p:sp>
      <p:sp>
        <p:nvSpPr>
          <p:cNvPr id="10" name="Shape 7"/>
          <p:cNvSpPr/>
          <p:nvPr/>
        </p:nvSpPr>
        <p:spPr>
          <a:xfrm>
            <a:off x="3488436" y="1828800"/>
            <a:ext cx="2514600" cy="1554480"/>
          </a:xfrm>
          <a:prstGeom prst="roundRect">
            <a:avLst>
              <a:gd name="adj" fmla="val 5294"/>
            </a:avLst>
          </a:prstGeom>
          <a:solidFill>
            <a:srgbClr val="FFFFFF"/>
          </a:solidFill>
          <a:ln w="12700">
            <a:solidFill>
              <a:srgbClr val="E5533D"/>
            </a:solidFill>
            <a:prstDash val="solid"/>
          </a:ln>
        </p:spPr>
      </p:sp>
      <p:sp>
        <p:nvSpPr>
          <p:cNvPr id="11" name="Shape 8"/>
          <p:cNvSpPr/>
          <p:nvPr/>
        </p:nvSpPr>
        <p:spPr>
          <a:xfrm>
            <a:off x="4402836" y="2034540"/>
            <a:ext cx="685800" cy="685800"/>
          </a:xfrm>
          <a:prstGeom prst="ellipse">
            <a:avLst/>
          </a:prstGeom>
          <a:solidFill>
            <a:srgbClr val="FBEAE5"/>
          </a:solidFill>
          <a:ln/>
        </p:spPr>
      </p:sp>
      <p:pic>
        <p:nvPicPr>
          <p:cNvPr id="12" name="Image 1" descr="/home/claude/ppt4/icon_copy_d.png"/>
          <p:cNvPicPr>
            <a:picLocks noChangeAspect="1"/>
          </p:cNvPicPr>
          <p:nvPr/>
        </p:nvPicPr>
        <p:blipFill>
          <a:blip r:embed="rId4"/>
          <a:stretch>
            <a:fillRect/>
          </a:stretch>
        </p:blipFill>
        <p:spPr>
          <a:xfrm>
            <a:off x="4567428" y="2199132"/>
            <a:ext cx="356616" cy="356616"/>
          </a:xfrm>
          <a:prstGeom prst="rect">
            <a:avLst/>
          </a:prstGeom>
        </p:spPr>
      </p:pic>
      <p:sp>
        <p:nvSpPr>
          <p:cNvPr id="13" name="Text 9"/>
          <p:cNvSpPr/>
          <p:nvPr/>
        </p:nvSpPr>
        <p:spPr>
          <a:xfrm>
            <a:off x="3579876" y="2880360"/>
            <a:ext cx="2331720" cy="365760"/>
          </a:xfrm>
          <a:prstGeom prst="rect">
            <a:avLst/>
          </a:prstGeom>
          <a:noFill/>
          <a:ln/>
        </p:spPr>
        <p:txBody>
          <a:bodyPr wrap="square" rtlCol="0" anchor="ctr"/>
          <a:lstStyle/>
          <a:p>
            <a:pPr marL="0" indent="0" algn="ctr">
              <a:buNone/>
            </a:pPr>
            <a:r>
              <a:rPr lang="en-US" sz="1200" b="1" dirty="0">
                <a:solidFill>
                  <a:srgbClr val="232F3E"/>
                </a:solidFill>
                <a:latin typeface="Calibri" pitchFamily="34" charset="0"/>
                <a:ea typeface="Calibri" pitchFamily="34" charset="-122"/>
                <a:cs typeface="Calibri" pitchFamily="34" charset="-120"/>
              </a:rPr>
              <a:t>Multiple Copies</a:t>
            </a:r>
            <a:endParaRPr lang="en-US" sz="1200" dirty="0"/>
          </a:p>
        </p:txBody>
      </p:sp>
      <p:sp>
        <p:nvSpPr>
          <p:cNvPr id="14" name="Shape 10"/>
          <p:cNvSpPr/>
          <p:nvPr/>
        </p:nvSpPr>
        <p:spPr>
          <a:xfrm>
            <a:off x="6185916" y="1828800"/>
            <a:ext cx="2514600" cy="1554480"/>
          </a:xfrm>
          <a:prstGeom prst="roundRect">
            <a:avLst>
              <a:gd name="adj" fmla="val 5294"/>
            </a:avLst>
          </a:prstGeom>
          <a:solidFill>
            <a:srgbClr val="FFFFFF"/>
          </a:solidFill>
          <a:ln w="12700">
            <a:solidFill>
              <a:srgbClr val="E5533D"/>
            </a:solidFill>
            <a:prstDash val="solid"/>
          </a:ln>
        </p:spPr>
      </p:sp>
      <p:sp>
        <p:nvSpPr>
          <p:cNvPr id="15" name="Shape 11"/>
          <p:cNvSpPr/>
          <p:nvPr/>
        </p:nvSpPr>
        <p:spPr>
          <a:xfrm>
            <a:off x="7100316" y="2034540"/>
            <a:ext cx="685800" cy="685800"/>
          </a:xfrm>
          <a:prstGeom prst="ellipse">
            <a:avLst/>
          </a:prstGeom>
          <a:solidFill>
            <a:srgbClr val="FBEAE5"/>
          </a:solidFill>
          <a:ln/>
        </p:spPr>
      </p:sp>
      <p:pic>
        <p:nvPicPr>
          <p:cNvPr id="16" name="Image 2" descr="/home/claude/ppt4/icon_history_d.png"/>
          <p:cNvPicPr>
            <a:picLocks noChangeAspect="1"/>
          </p:cNvPicPr>
          <p:nvPr/>
        </p:nvPicPr>
        <p:blipFill>
          <a:blip r:embed="rId5"/>
          <a:stretch>
            <a:fillRect/>
          </a:stretch>
        </p:blipFill>
        <p:spPr>
          <a:xfrm>
            <a:off x="7264908" y="2199132"/>
            <a:ext cx="356616" cy="356616"/>
          </a:xfrm>
          <a:prstGeom prst="rect">
            <a:avLst/>
          </a:prstGeom>
        </p:spPr>
      </p:pic>
      <p:sp>
        <p:nvSpPr>
          <p:cNvPr id="17" name="Text 12"/>
          <p:cNvSpPr/>
          <p:nvPr/>
        </p:nvSpPr>
        <p:spPr>
          <a:xfrm>
            <a:off x="6277356" y="2880360"/>
            <a:ext cx="2331720" cy="365760"/>
          </a:xfrm>
          <a:prstGeom prst="rect">
            <a:avLst/>
          </a:prstGeom>
          <a:noFill/>
          <a:ln/>
        </p:spPr>
        <p:txBody>
          <a:bodyPr wrap="square" rtlCol="0" anchor="ctr"/>
          <a:lstStyle/>
          <a:p>
            <a:pPr marL="0" indent="0" algn="ctr">
              <a:buNone/>
            </a:pPr>
            <a:r>
              <a:rPr lang="en-US" sz="1200" b="1" dirty="0">
                <a:solidFill>
                  <a:srgbClr val="232F3E"/>
                </a:solidFill>
                <a:latin typeface="Calibri" pitchFamily="34" charset="0"/>
                <a:ea typeface="Calibri" pitchFamily="34" charset="-122"/>
                <a:cs typeface="Calibri" pitchFamily="34" charset="-120"/>
              </a:rPr>
              <a:t>No History</a:t>
            </a:r>
            <a:endParaRPr lang="en-US" sz="1200" dirty="0"/>
          </a:p>
        </p:txBody>
      </p:sp>
      <p:sp>
        <p:nvSpPr>
          <p:cNvPr id="18" name="Shape 13"/>
          <p:cNvSpPr/>
          <p:nvPr/>
        </p:nvSpPr>
        <p:spPr>
          <a:xfrm>
            <a:off x="8883396" y="1828800"/>
            <a:ext cx="2514600" cy="1554480"/>
          </a:xfrm>
          <a:prstGeom prst="roundRect">
            <a:avLst>
              <a:gd name="adj" fmla="val 5294"/>
            </a:avLst>
          </a:prstGeom>
          <a:solidFill>
            <a:srgbClr val="FFFFFF"/>
          </a:solidFill>
          <a:ln w="12700">
            <a:solidFill>
              <a:srgbClr val="E5533D"/>
            </a:solidFill>
            <a:prstDash val="solid"/>
          </a:ln>
        </p:spPr>
      </p:sp>
      <p:sp>
        <p:nvSpPr>
          <p:cNvPr id="19" name="Shape 14"/>
          <p:cNvSpPr/>
          <p:nvPr/>
        </p:nvSpPr>
        <p:spPr>
          <a:xfrm>
            <a:off x="9797796" y="2034540"/>
            <a:ext cx="685800" cy="685800"/>
          </a:xfrm>
          <a:prstGeom prst="ellipse">
            <a:avLst/>
          </a:prstGeom>
          <a:solidFill>
            <a:srgbClr val="FBEAE5"/>
          </a:solidFill>
          <a:ln/>
        </p:spPr>
      </p:sp>
      <p:pic>
        <p:nvPicPr>
          <p:cNvPr id="20" name="Image 3" descr="/home/claude/ppt4/icon_exclamationcircle_d.png"/>
          <p:cNvPicPr>
            <a:picLocks noChangeAspect="1"/>
          </p:cNvPicPr>
          <p:nvPr/>
        </p:nvPicPr>
        <p:blipFill>
          <a:blip r:embed="rId6"/>
          <a:stretch>
            <a:fillRect/>
          </a:stretch>
        </p:blipFill>
        <p:spPr>
          <a:xfrm>
            <a:off x="9962388" y="2199132"/>
            <a:ext cx="356616" cy="356616"/>
          </a:xfrm>
          <a:prstGeom prst="rect">
            <a:avLst/>
          </a:prstGeom>
        </p:spPr>
      </p:pic>
      <p:sp>
        <p:nvSpPr>
          <p:cNvPr id="21" name="Text 15"/>
          <p:cNvSpPr/>
          <p:nvPr/>
        </p:nvSpPr>
        <p:spPr>
          <a:xfrm>
            <a:off x="8974836" y="2880360"/>
            <a:ext cx="2331720" cy="365760"/>
          </a:xfrm>
          <a:prstGeom prst="rect">
            <a:avLst/>
          </a:prstGeom>
          <a:noFill/>
          <a:ln/>
        </p:spPr>
        <p:txBody>
          <a:bodyPr wrap="square" rtlCol="0" anchor="ctr"/>
          <a:lstStyle/>
          <a:p>
            <a:pPr marL="0" indent="0" algn="ctr">
              <a:buNone/>
            </a:pPr>
            <a:r>
              <a:rPr lang="en-US" sz="1200" b="1" dirty="0">
                <a:solidFill>
                  <a:srgbClr val="232F3E"/>
                </a:solidFill>
                <a:latin typeface="Calibri" pitchFamily="34" charset="0"/>
                <a:ea typeface="Calibri" pitchFamily="34" charset="-122"/>
                <a:cs typeface="Calibri" pitchFamily="34" charset="-120"/>
              </a:rPr>
              <a:t>Team Conflicts</a:t>
            </a:r>
            <a:endParaRPr lang="en-US" sz="1200" dirty="0"/>
          </a:p>
        </p:txBody>
      </p:sp>
      <p:sp>
        <p:nvSpPr>
          <p:cNvPr id="22" name="Shape 16"/>
          <p:cNvSpPr/>
          <p:nvPr/>
        </p:nvSpPr>
        <p:spPr>
          <a:xfrm>
            <a:off x="1371600" y="3611880"/>
            <a:ext cx="9418320" cy="2377440"/>
          </a:xfrm>
          <a:prstGeom prst="roundRect">
            <a:avLst>
              <a:gd name="adj" fmla="val 3846"/>
            </a:avLst>
          </a:prstGeom>
          <a:solidFill>
            <a:srgbClr val="232F3E"/>
          </a:solidFill>
          <a:ln/>
        </p:spPr>
      </p:sp>
      <p:sp>
        <p:nvSpPr>
          <p:cNvPr id="23" name="Text 17"/>
          <p:cNvSpPr/>
          <p:nvPr/>
        </p:nvSpPr>
        <p:spPr>
          <a:xfrm>
            <a:off x="1737360" y="3794760"/>
            <a:ext cx="7315200" cy="320040"/>
          </a:xfrm>
          <a:prstGeom prst="rect">
            <a:avLst/>
          </a:prstGeom>
          <a:noFill/>
          <a:ln/>
        </p:spPr>
        <p:txBody>
          <a:bodyPr wrap="square" rtlCol="0" anchor="ctr"/>
          <a:lstStyle/>
          <a:p>
            <a:pPr marL="0" indent="0">
              <a:buNone/>
            </a:pPr>
            <a:r>
              <a:rPr lang="en-US" sz="1100" b="1" kern="0" spc="150" dirty="0">
                <a:solidFill>
                  <a:srgbClr val="FF9900"/>
                </a:solidFill>
                <a:latin typeface="Calibri" pitchFamily="34" charset="0"/>
                <a:ea typeface="Calibri" pitchFamily="34" charset="-122"/>
                <a:cs typeface="Calibri" pitchFamily="34" charset="-120"/>
              </a:rPr>
              <a:t>A FAMILIAR NIGHTMARE</a:t>
            </a:r>
            <a:endParaRPr lang="en-US" sz="1100" dirty="0"/>
          </a:p>
        </p:txBody>
      </p:sp>
      <p:sp>
        <p:nvSpPr>
          <p:cNvPr id="24" name="Shape 18"/>
          <p:cNvSpPr/>
          <p:nvPr/>
        </p:nvSpPr>
        <p:spPr>
          <a:xfrm>
            <a:off x="1737360" y="4160520"/>
            <a:ext cx="4754880" cy="320040"/>
          </a:xfrm>
          <a:prstGeom prst="roundRect">
            <a:avLst>
              <a:gd name="adj" fmla="val 14286"/>
            </a:avLst>
          </a:prstGeom>
          <a:solidFill>
            <a:srgbClr val="161E2D"/>
          </a:solidFill>
          <a:ln/>
        </p:spPr>
      </p:sp>
      <p:sp>
        <p:nvSpPr>
          <p:cNvPr id="25" name="Text 19"/>
          <p:cNvSpPr/>
          <p:nvPr/>
        </p:nvSpPr>
        <p:spPr>
          <a:xfrm>
            <a:off x="1920240" y="4160520"/>
            <a:ext cx="4480560" cy="320040"/>
          </a:xfrm>
          <a:prstGeom prst="rect">
            <a:avLst/>
          </a:prstGeom>
          <a:noFill/>
          <a:ln/>
        </p:spPr>
        <p:txBody>
          <a:bodyPr wrap="square" rtlCol="0" anchor="ctr"/>
          <a:lstStyle/>
          <a:p>
            <a:pPr marL="0" indent="0">
              <a:buNone/>
            </a:pPr>
            <a:r>
              <a:rPr lang="en-US" sz="1200" dirty="0">
                <a:solidFill>
                  <a:srgbClr val="C7D1D9"/>
                </a:solidFill>
                <a:latin typeface="Consolas" pitchFamily="34" charset="0"/>
                <a:ea typeface="Consolas" pitchFamily="34" charset="-122"/>
                <a:cs typeface="Consolas" pitchFamily="34" charset="-120"/>
              </a:rPr>
              <a:t>Project_v1.zip</a:t>
            </a:r>
            <a:endParaRPr lang="en-US" sz="1200" dirty="0"/>
          </a:p>
        </p:txBody>
      </p:sp>
      <p:sp>
        <p:nvSpPr>
          <p:cNvPr id="26" name="Shape 20"/>
          <p:cNvSpPr/>
          <p:nvPr/>
        </p:nvSpPr>
        <p:spPr>
          <a:xfrm>
            <a:off x="1874520" y="4526280"/>
            <a:ext cx="4754880" cy="320040"/>
          </a:xfrm>
          <a:prstGeom prst="roundRect">
            <a:avLst>
              <a:gd name="adj" fmla="val 14286"/>
            </a:avLst>
          </a:prstGeom>
          <a:solidFill>
            <a:srgbClr val="161E2D"/>
          </a:solidFill>
          <a:ln/>
        </p:spPr>
      </p:sp>
      <p:sp>
        <p:nvSpPr>
          <p:cNvPr id="27" name="Text 21"/>
          <p:cNvSpPr/>
          <p:nvPr/>
        </p:nvSpPr>
        <p:spPr>
          <a:xfrm>
            <a:off x="2057400" y="4526280"/>
            <a:ext cx="4480560" cy="320040"/>
          </a:xfrm>
          <a:prstGeom prst="rect">
            <a:avLst/>
          </a:prstGeom>
          <a:noFill/>
          <a:ln/>
        </p:spPr>
        <p:txBody>
          <a:bodyPr wrap="square" rtlCol="0" anchor="ctr"/>
          <a:lstStyle/>
          <a:p>
            <a:pPr marL="0" indent="0">
              <a:buNone/>
            </a:pPr>
            <a:r>
              <a:rPr lang="en-US" sz="1200" dirty="0">
                <a:solidFill>
                  <a:srgbClr val="C7D1D9"/>
                </a:solidFill>
                <a:latin typeface="Consolas" pitchFamily="34" charset="0"/>
                <a:ea typeface="Consolas" pitchFamily="34" charset="-122"/>
                <a:cs typeface="Consolas" pitchFamily="34" charset="-120"/>
              </a:rPr>
              <a:t>Project_v2.zip</a:t>
            </a:r>
            <a:endParaRPr lang="en-US" sz="1200" dirty="0"/>
          </a:p>
        </p:txBody>
      </p:sp>
      <p:sp>
        <p:nvSpPr>
          <p:cNvPr id="28" name="Shape 22"/>
          <p:cNvSpPr/>
          <p:nvPr/>
        </p:nvSpPr>
        <p:spPr>
          <a:xfrm>
            <a:off x="2011680" y="4892040"/>
            <a:ext cx="4754880" cy="320040"/>
          </a:xfrm>
          <a:prstGeom prst="roundRect">
            <a:avLst>
              <a:gd name="adj" fmla="val 14286"/>
            </a:avLst>
          </a:prstGeom>
          <a:solidFill>
            <a:srgbClr val="161E2D"/>
          </a:solidFill>
          <a:ln/>
        </p:spPr>
      </p:sp>
      <p:sp>
        <p:nvSpPr>
          <p:cNvPr id="29" name="Text 23"/>
          <p:cNvSpPr/>
          <p:nvPr/>
        </p:nvSpPr>
        <p:spPr>
          <a:xfrm>
            <a:off x="2194560" y="4892040"/>
            <a:ext cx="4480560" cy="320040"/>
          </a:xfrm>
          <a:prstGeom prst="rect">
            <a:avLst/>
          </a:prstGeom>
          <a:noFill/>
          <a:ln/>
        </p:spPr>
        <p:txBody>
          <a:bodyPr wrap="square" rtlCol="0" anchor="ctr"/>
          <a:lstStyle/>
          <a:p>
            <a:pPr marL="0" indent="0">
              <a:buNone/>
            </a:pPr>
            <a:r>
              <a:rPr lang="en-US" sz="1200" dirty="0">
                <a:solidFill>
                  <a:srgbClr val="C7D1D9"/>
                </a:solidFill>
                <a:latin typeface="Consolas" pitchFamily="34" charset="0"/>
                <a:ea typeface="Consolas" pitchFamily="34" charset="-122"/>
                <a:cs typeface="Consolas" pitchFamily="34" charset="-120"/>
              </a:rPr>
              <a:t>Project_Final.zip</a:t>
            </a:r>
            <a:endParaRPr lang="en-US" sz="1200" dirty="0"/>
          </a:p>
        </p:txBody>
      </p:sp>
      <p:sp>
        <p:nvSpPr>
          <p:cNvPr id="30" name="Shape 24"/>
          <p:cNvSpPr/>
          <p:nvPr/>
        </p:nvSpPr>
        <p:spPr>
          <a:xfrm>
            <a:off x="2148840" y="5257800"/>
            <a:ext cx="4754880" cy="320040"/>
          </a:xfrm>
          <a:prstGeom prst="roundRect">
            <a:avLst>
              <a:gd name="adj" fmla="val 14286"/>
            </a:avLst>
          </a:prstGeom>
          <a:solidFill>
            <a:srgbClr val="161E2D"/>
          </a:solidFill>
          <a:ln/>
        </p:spPr>
      </p:sp>
      <p:sp>
        <p:nvSpPr>
          <p:cNvPr id="31" name="Text 25"/>
          <p:cNvSpPr/>
          <p:nvPr/>
        </p:nvSpPr>
        <p:spPr>
          <a:xfrm>
            <a:off x="2331720" y="5257800"/>
            <a:ext cx="4480560" cy="320040"/>
          </a:xfrm>
          <a:prstGeom prst="rect">
            <a:avLst/>
          </a:prstGeom>
          <a:noFill/>
          <a:ln/>
        </p:spPr>
        <p:txBody>
          <a:bodyPr wrap="square" rtlCol="0" anchor="ctr"/>
          <a:lstStyle/>
          <a:p>
            <a:pPr marL="0" indent="0">
              <a:buNone/>
            </a:pPr>
            <a:r>
              <a:rPr lang="en-US" sz="1200" dirty="0">
                <a:solidFill>
                  <a:srgbClr val="C7D1D9"/>
                </a:solidFill>
                <a:latin typeface="Consolas" pitchFamily="34" charset="0"/>
                <a:ea typeface="Consolas" pitchFamily="34" charset="-122"/>
                <a:cs typeface="Consolas" pitchFamily="34" charset="-120"/>
              </a:rPr>
              <a:t>Project_Final_Final.zip</a:t>
            </a:r>
            <a:endParaRPr lang="en-US" sz="1200" dirty="0"/>
          </a:p>
        </p:txBody>
      </p:sp>
      <p:sp>
        <p:nvSpPr>
          <p:cNvPr id="32" name="Shape 26"/>
          <p:cNvSpPr/>
          <p:nvPr/>
        </p:nvSpPr>
        <p:spPr>
          <a:xfrm>
            <a:off x="2286000" y="5623560"/>
            <a:ext cx="4754880" cy="320040"/>
          </a:xfrm>
          <a:prstGeom prst="roundRect">
            <a:avLst>
              <a:gd name="adj" fmla="val 14286"/>
            </a:avLst>
          </a:prstGeom>
          <a:solidFill>
            <a:srgbClr val="FF9900"/>
          </a:solidFill>
          <a:ln/>
        </p:spPr>
      </p:sp>
      <p:sp>
        <p:nvSpPr>
          <p:cNvPr id="33" name="Text 27"/>
          <p:cNvSpPr/>
          <p:nvPr/>
        </p:nvSpPr>
        <p:spPr>
          <a:xfrm>
            <a:off x="2468880" y="5623560"/>
            <a:ext cx="4480560" cy="320040"/>
          </a:xfrm>
          <a:prstGeom prst="rect">
            <a:avLst/>
          </a:prstGeom>
          <a:noFill/>
          <a:ln/>
        </p:spPr>
        <p:txBody>
          <a:bodyPr wrap="square" rtlCol="0" anchor="ctr"/>
          <a:lstStyle/>
          <a:p>
            <a:pPr marL="0" indent="0">
              <a:buNone/>
            </a:pPr>
            <a:r>
              <a:rPr lang="en-US" sz="1200" dirty="0">
                <a:solidFill>
                  <a:srgbClr val="232F3E"/>
                </a:solidFill>
                <a:latin typeface="Consolas" pitchFamily="34" charset="0"/>
                <a:ea typeface="Consolas" pitchFamily="34" charset="-122"/>
                <a:cs typeface="Consolas" pitchFamily="34" charset="-120"/>
              </a:rPr>
              <a:t>Project_Final_REAL.zip</a:t>
            </a:r>
            <a:endParaRPr lang="en-US" sz="1200" dirty="0"/>
          </a:p>
        </p:txBody>
      </p:sp>
      <p:sp>
        <p:nvSpPr>
          <p:cNvPr id="34" name="Text 28"/>
          <p:cNvSpPr/>
          <p:nvPr/>
        </p:nvSpPr>
        <p:spPr>
          <a:xfrm>
            <a:off x="6949440" y="4480560"/>
            <a:ext cx="3566160" cy="1280160"/>
          </a:xfrm>
          <a:prstGeom prst="rect">
            <a:avLst/>
          </a:prstGeom>
          <a:noFill/>
          <a:ln/>
        </p:spPr>
        <p:txBody>
          <a:bodyPr wrap="square" rtlCol="0" anchor="t"/>
          <a:lstStyle/>
          <a:p>
            <a:pPr marL="0" indent="0">
              <a:buNone/>
            </a:pPr>
            <a:r>
              <a:rPr lang="en-US" sz="1250" i="1" dirty="0">
                <a:solidFill>
                  <a:srgbClr val="C7D1D9"/>
                </a:solidFill>
                <a:latin typeface="Calibri" pitchFamily="34" charset="0"/>
                <a:ea typeface="Calibri" pitchFamily="34" charset="-122"/>
                <a:cs typeface="Calibri" pitchFamily="34" charset="-120"/>
              </a:rPr>
              <a:t>Sound familiar? Git replaces this entire mess with one clean, trackable history.</a:t>
            </a:r>
            <a:endParaRPr lang="en-US" sz="1250" dirty="0"/>
          </a:p>
        </p:txBody>
      </p:sp>
      <p:sp>
        <p:nvSpPr>
          <p:cNvPr id="35" name="Text 29"/>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6" name="Text 30"/>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WHY VERSION CONTROL?</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What Is Git?</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Understand Git as a distributed version control system built on snapshots.</a:t>
            </a:r>
            <a:endParaRPr lang="en-US" sz="1250" dirty="0"/>
          </a:p>
        </p:txBody>
      </p:sp>
      <p:sp>
        <p:nvSpPr>
          <p:cNvPr id="6" name="Shape 4"/>
          <p:cNvSpPr/>
          <p:nvPr/>
        </p:nvSpPr>
        <p:spPr>
          <a:xfrm>
            <a:off x="548640" y="1874520"/>
            <a:ext cx="5577840" cy="3566160"/>
          </a:xfrm>
          <a:prstGeom prst="roundRect">
            <a:avLst>
              <a:gd name="adj" fmla="val 2564"/>
            </a:avLst>
          </a:prstGeom>
          <a:solidFill>
            <a:srgbClr val="FFFFFF"/>
          </a:solidFill>
          <a:ln w="12700">
            <a:solidFill>
              <a:srgbClr val="D9DCE1"/>
            </a:solidFill>
            <a:prstDash val="solid"/>
          </a:ln>
        </p:spPr>
      </p:sp>
      <p:sp>
        <p:nvSpPr>
          <p:cNvPr id="7" name="Text 5"/>
          <p:cNvSpPr/>
          <p:nvPr/>
        </p:nvSpPr>
        <p:spPr>
          <a:xfrm>
            <a:off x="868680" y="2103120"/>
            <a:ext cx="5029200" cy="1005840"/>
          </a:xfrm>
          <a:prstGeom prst="rect">
            <a:avLst/>
          </a:prstGeom>
          <a:noFill/>
          <a:ln/>
        </p:spPr>
        <p:txBody>
          <a:bodyPr wrap="square" rtlCol="0" anchor="t"/>
          <a:lstStyle/>
          <a:p>
            <a:pPr marL="0" indent="0">
              <a:buNone/>
            </a:pPr>
            <a:r>
              <a:rPr lang="en-US" sz="1400" dirty="0">
                <a:solidFill>
                  <a:srgbClr val="16191F"/>
                </a:solidFill>
                <a:latin typeface="Calibri" pitchFamily="34" charset="0"/>
                <a:ea typeface="Calibri" pitchFamily="34" charset="-122"/>
                <a:cs typeface="Calibri" pitchFamily="34" charset="-120"/>
              </a:rPr>
              <a:t>Git is a distributed version control system — it records snapshots of your project over time inside a repository.</a:t>
            </a:r>
            <a:endParaRPr lang="en-US" sz="1400" dirty="0"/>
          </a:p>
        </p:txBody>
      </p:sp>
      <p:sp>
        <p:nvSpPr>
          <p:cNvPr id="8" name="Shape 6"/>
          <p:cNvSpPr/>
          <p:nvPr/>
        </p:nvSpPr>
        <p:spPr>
          <a:xfrm>
            <a:off x="868680" y="3246120"/>
            <a:ext cx="118872" cy="118872"/>
          </a:xfrm>
          <a:prstGeom prst="ellipse">
            <a:avLst/>
          </a:prstGeom>
          <a:solidFill>
            <a:srgbClr val="FF9900"/>
          </a:solidFill>
          <a:ln/>
        </p:spPr>
      </p:sp>
      <p:sp>
        <p:nvSpPr>
          <p:cNvPr id="9" name="Text 7"/>
          <p:cNvSpPr/>
          <p:nvPr/>
        </p:nvSpPr>
        <p:spPr>
          <a:xfrm>
            <a:off x="1097280" y="3108960"/>
            <a:ext cx="4754880" cy="365760"/>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Tracks every change, forever</a:t>
            </a:r>
            <a:endParaRPr lang="en-US" sz="1250" dirty="0"/>
          </a:p>
        </p:txBody>
      </p:sp>
      <p:sp>
        <p:nvSpPr>
          <p:cNvPr id="10" name="Shape 8"/>
          <p:cNvSpPr/>
          <p:nvPr/>
        </p:nvSpPr>
        <p:spPr>
          <a:xfrm>
            <a:off x="868680" y="3611880"/>
            <a:ext cx="118872" cy="118872"/>
          </a:xfrm>
          <a:prstGeom prst="ellipse">
            <a:avLst/>
          </a:prstGeom>
          <a:solidFill>
            <a:srgbClr val="FF9900"/>
          </a:solidFill>
          <a:ln/>
        </p:spPr>
      </p:sp>
      <p:sp>
        <p:nvSpPr>
          <p:cNvPr id="11" name="Text 9"/>
          <p:cNvSpPr/>
          <p:nvPr/>
        </p:nvSpPr>
        <p:spPr>
          <a:xfrm>
            <a:off x="1097280" y="3474720"/>
            <a:ext cx="4754880" cy="365760"/>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Works fully offline (local-first)</a:t>
            </a:r>
            <a:endParaRPr lang="en-US" sz="1250" dirty="0"/>
          </a:p>
        </p:txBody>
      </p:sp>
      <p:sp>
        <p:nvSpPr>
          <p:cNvPr id="12" name="Shape 10"/>
          <p:cNvSpPr/>
          <p:nvPr/>
        </p:nvSpPr>
        <p:spPr>
          <a:xfrm>
            <a:off x="868680" y="3977640"/>
            <a:ext cx="118872" cy="118872"/>
          </a:xfrm>
          <a:prstGeom prst="ellipse">
            <a:avLst/>
          </a:prstGeom>
          <a:solidFill>
            <a:srgbClr val="FF9900"/>
          </a:solidFill>
          <a:ln/>
        </p:spPr>
      </p:sp>
      <p:sp>
        <p:nvSpPr>
          <p:cNvPr id="13" name="Text 11"/>
          <p:cNvSpPr/>
          <p:nvPr/>
        </p:nvSpPr>
        <p:spPr>
          <a:xfrm>
            <a:off x="1097280" y="3840480"/>
            <a:ext cx="4754880" cy="365760"/>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Every teammate has a full copy of the history</a:t>
            </a:r>
            <a:endParaRPr lang="en-US" sz="1250" dirty="0"/>
          </a:p>
        </p:txBody>
      </p:sp>
      <p:sp>
        <p:nvSpPr>
          <p:cNvPr id="14" name="Shape 12"/>
          <p:cNvSpPr/>
          <p:nvPr/>
        </p:nvSpPr>
        <p:spPr>
          <a:xfrm>
            <a:off x="868680" y="4663440"/>
            <a:ext cx="4937760" cy="566928"/>
          </a:xfrm>
          <a:prstGeom prst="roundRect">
            <a:avLst>
              <a:gd name="adj" fmla="val 12903"/>
            </a:avLst>
          </a:prstGeom>
          <a:solidFill>
            <a:srgbClr val="FFFFFF"/>
          </a:solidFill>
          <a:ln w="15875">
            <a:solidFill>
              <a:srgbClr val="FF9900"/>
            </a:solidFill>
            <a:prstDash val="solid"/>
          </a:ln>
        </p:spPr>
      </p:sp>
      <p:sp>
        <p:nvSpPr>
          <p:cNvPr id="15" name="Text 13"/>
          <p:cNvSpPr/>
          <p:nvPr/>
        </p:nvSpPr>
        <p:spPr>
          <a:xfrm>
            <a:off x="1097280" y="4663440"/>
            <a:ext cx="4480560" cy="566928"/>
          </a:xfrm>
          <a:prstGeom prst="rect">
            <a:avLst/>
          </a:prstGeom>
          <a:noFill/>
          <a:ln/>
        </p:spPr>
        <p:txBody>
          <a:bodyPr wrap="square" rtlCol="0" anchor="ctr"/>
          <a:lstStyle/>
          <a:p>
            <a:pPr marL="0" indent="0">
              <a:buNone/>
            </a:pPr>
            <a:r>
              <a:rPr lang="en-US" sz="1100" b="1" i="1" dirty="0">
                <a:solidFill>
                  <a:srgbClr val="B36B00"/>
                </a:solidFill>
                <a:latin typeface="Calibri" pitchFamily="34" charset="0"/>
                <a:ea typeface="Calibri" pitchFamily="34" charset="-122"/>
                <a:cs typeface="Calibri" pitchFamily="34" charset="-120"/>
              </a:rPr>
              <a:t>REAL-WORLD ANALOGY:  </a:t>
            </a:r>
            <a:r>
              <a:rPr lang="en-US" sz="1100" i="1" dirty="0">
                <a:solidFill>
                  <a:srgbClr val="16191F"/>
                </a:solidFill>
                <a:latin typeface="Calibri" pitchFamily="34" charset="0"/>
                <a:ea typeface="Calibri" pitchFamily="34" charset="-122"/>
                <a:cs typeface="Calibri" pitchFamily="34" charset="-120"/>
              </a:rPr>
              <a:t>Like a video game's save-point system — you can always return to any earlier save.</a:t>
            </a:r>
            <a:endParaRPr lang="en-US" sz="1100" dirty="0"/>
          </a:p>
        </p:txBody>
      </p:sp>
      <p:sp>
        <p:nvSpPr>
          <p:cNvPr id="16" name="Shape 14"/>
          <p:cNvSpPr/>
          <p:nvPr/>
        </p:nvSpPr>
        <p:spPr>
          <a:xfrm>
            <a:off x="7772400" y="2286000"/>
            <a:ext cx="2560320" cy="2560320"/>
          </a:xfrm>
          <a:prstGeom prst="ellipse">
            <a:avLst/>
          </a:prstGeom>
          <a:solidFill>
            <a:srgbClr val="FFFFFF"/>
          </a:solidFill>
          <a:ln/>
        </p:spPr>
      </p:sp>
      <p:pic>
        <p:nvPicPr>
          <p:cNvPr id="17" name="Image 0" descr="/home/claude/ppt4/icon_gitalt_o.png"/>
          <p:cNvPicPr>
            <a:picLocks noChangeAspect="1"/>
          </p:cNvPicPr>
          <p:nvPr/>
        </p:nvPicPr>
        <p:blipFill>
          <a:blip r:embed="rId3"/>
          <a:stretch>
            <a:fillRect/>
          </a:stretch>
        </p:blipFill>
        <p:spPr>
          <a:xfrm>
            <a:off x="8386877" y="2900477"/>
            <a:ext cx="1331366" cy="1331366"/>
          </a:xfrm>
          <a:prstGeom prst="rect">
            <a:avLst/>
          </a:prstGeom>
        </p:spPr>
      </p:pic>
      <p:sp>
        <p:nvSpPr>
          <p:cNvPr id="18" name="Shape 15"/>
          <p:cNvSpPr/>
          <p:nvPr/>
        </p:nvSpPr>
        <p:spPr>
          <a:xfrm>
            <a:off x="7589520" y="2103120"/>
            <a:ext cx="2926080" cy="2926080"/>
          </a:xfrm>
          <a:prstGeom prst="ellipse">
            <a:avLst/>
          </a:prstGeom>
          <a:ln w="15875">
            <a:solidFill>
              <a:srgbClr val="232F3E"/>
            </a:solidFill>
            <a:prstDash val="dash"/>
          </a:ln>
        </p:spPr>
      </p:sp>
      <p:sp>
        <p:nvSpPr>
          <p:cNvPr id="19" name="Text 16"/>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0" name="Text 17"/>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WHY VERSION CONTROL?</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What Is GitHub?</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Distinguish Git (the tool) from GitHub (the cloud platform built around it).</a:t>
            </a:r>
            <a:endParaRPr lang="en-US" sz="1250" dirty="0"/>
          </a:p>
        </p:txBody>
      </p:sp>
      <p:sp>
        <p:nvSpPr>
          <p:cNvPr id="6" name="Shape 4"/>
          <p:cNvSpPr/>
          <p:nvPr/>
        </p:nvSpPr>
        <p:spPr>
          <a:xfrm>
            <a:off x="763524" y="1965960"/>
            <a:ext cx="2514600" cy="1828800"/>
          </a:xfrm>
          <a:prstGeom prst="roundRect">
            <a:avLst>
              <a:gd name="adj" fmla="val 5000"/>
            </a:avLst>
          </a:prstGeom>
          <a:solidFill>
            <a:srgbClr val="161E2D"/>
          </a:solidFill>
          <a:ln/>
        </p:spPr>
      </p:sp>
      <p:sp>
        <p:nvSpPr>
          <p:cNvPr id="7" name="Shape 5"/>
          <p:cNvSpPr/>
          <p:nvPr/>
        </p:nvSpPr>
        <p:spPr>
          <a:xfrm>
            <a:off x="1632204" y="2171700"/>
            <a:ext cx="777240" cy="777240"/>
          </a:xfrm>
          <a:prstGeom prst="ellipse">
            <a:avLst/>
          </a:prstGeom>
          <a:solidFill>
            <a:srgbClr val="2E3B4E"/>
          </a:solidFill>
          <a:ln/>
        </p:spPr>
      </p:sp>
      <p:pic>
        <p:nvPicPr>
          <p:cNvPr id="8" name="Image 0" descr="/home/claude/ppt4/icon_clouduploadalt_w.png"/>
          <p:cNvPicPr>
            <a:picLocks noChangeAspect="1"/>
          </p:cNvPicPr>
          <p:nvPr/>
        </p:nvPicPr>
        <p:blipFill>
          <a:blip r:embed="rId3"/>
          <a:stretch>
            <a:fillRect/>
          </a:stretch>
        </p:blipFill>
        <p:spPr>
          <a:xfrm>
            <a:off x="1818742" y="2358238"/>
            <a:ext cx="404165" cy="404165"/>
          </a:xfrm>
          <a:prstGeom prst="rect">
            <a:avLst/>
          </a:prstGeom>
        </p:spPr>
      </p:pic>
      <p:sp>
        <p:nvSpPr>
          <p:cNvPr id="9" name="Text 6"/>
          <p:cNvSpPr/>
          <p:nvPr/>
        </p:nvSpPr>
        <p:spPr>
          <a:xfrm>
            <a:off x="854964" y="3108960"/>
            <a:ext cx="23317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Cloud Hosting</a:t>
            </a:r>
            <a:endParaRPr lang="en-US" sz="1300" dirty="0"/>
          </a:p>
        </p:txBody>
      </p:sp>
      <p:sp>
        <p:nvSpPr>
          <p:cNvPr id="10" name="Text 7"/>
          <p:cNvSpPr/>
          <p:nvPr/>
        </p:nvSpPr>
        <p:spPr>
          <a:xfrm>
            <a:off x="900684" y="3429000"/>
            <a:ext cx="2240280" cy="365760"/>
          </a:xfrm>
          <a:prstGeom prst="rect">
            <a:avLst/>
          </a:prstGeom>
          <a:noFill/>
          <a:ln/>
        </p:spPr>
        <p:txBody>
          <a:bodyPr wrap="square" rtlCol="0" anchor="ctr"/>
          <a:lstStyle/>
          <a:p>
            <a:pPr marL="0" indent="0" algn="ctr">
              <a:buNone/>
            </a:pPr>
            <a:r>
              <a:rPr lang="en-US" sz="1050" dirty="0">
                <a:solidFill>
                  <a:srgbClr val="AEB9C2"/>
                </a:solidFill>
                <a:latin typeface="Calibri" pitchFamily="34" charset="0"/>
                <a:ea typeface="Calibri" pitchFamily="34" charset="-122"/>
                <a:cs typeface="Calibri" pitchFamily="34" charset="-120"/>
              </a:rPr>
              <a:t>Stores your repositories online</a:t>
            </a:r>
            <a:endParaRPr lang="en-US" sz="1050" dirty="0"/>
          </a:p>
        </p:txBody>
      </p:sp>
      <p:sp>
        <p:nvSpPr>
          <p:cNvPr id="11" name="Shape 8"/>
          <p:cNvSpPr/>
          <p:nvPr/>
        </p:nvSpPr>
        <p:spPr>
          <a:xfrm>
            <a:off x="3479292" y="1965960"/>
            <a:ext cx="2514600" cy="1828800"/>
          </a:xfrm>
          <a:prstGeom prst="roundRect">
            <a:avLst>
              <a:gd name="adj" fmla="val 5000"/>
            </a:avLst>
          </a:prstGeom>
          <a:solidFill>
            <a:srgbClr val="161E2D"/>
          </a:solidFill>
          <a:ln/>
        </p:spPr>
      </p:sp>
      <p:sp>
        <p:nvSpPr>
          <p:cNvPr id="12" name="Shape 9"/>
          <p:cNvSpPr/>
          <p:nvPr/>
        </p:nvSpPr>
        <p:spPr>
          <a:xfrm>
            <a:off x="4347972" y="2171700"/>
            <a:ext cx="777240" cy="777240"/>
          </a:xfrm>
          <a:prstGeom prst="ellipse">
            <a:avLst/>
          </a:prstGeom>
          <a:solidFill>
            <a:srgbClr val="2E3B4E"/>
          </a:solidFill>
          <a:ln/>
        </p:spPr>
      </p:sp>
      <p:pic>
        <p:nvPicPr>
          <p:cNvPr id="13" name="Image 1" descr="/home/claude/ppt4/icon_userfriends_w.png"/>
          <p:cNvPicPr>
            <a:picLocks noChangeAspect="1"/>
          </p:cNvPicPr>
          <p:nvPr/>
        </p:nvPicPr>
        <p:blipFill>
          <a:blip r:embed="rId4"/>
          <a:stretch>
            <a:fillRect/>
          </a:stretch>
        </p:blipFill>
        <p:spPr>
          <a:xfrm>
            <a:off x="4534510" y="2358238"/>
            <a:ext cx="404165" cy="404165"/>
          </a:xfrm>
          <a:prstGeom prst="rect">
            <a:avLst/>
          </a:prstGeom>
        </p:spPr>
      </p:pic>
      <p:sp>
        <p:nvSpPr>
          <p:cNvPr id="14" name="Text 10"/>
          <p:cNvSpPr/>
          <p:nvPr/>
        </p:nvSpPr>
        <p:spPr>
          <a:xfrm>
            <a:off x="3570732" y="3108960"/>
            <a:ext cx="23317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Collaboration</a:t>
            </a:r>
            <a:endParaRPr lang="en-US" sz="1300" dirty="0"/>
          </a:p>
        </p:txBody>
      </p:sp>
      <p:sp>
        <p:nvSpPr>
          <p:cNvPr id="15" name="Text 11"/>
          <p:cNvSpPr/>
          <p:nvPr/>
        </p:nvSpPr>
        <p:spPr>
          <a:xfrm>
            <a:off x="3616452" y="3429000"/>
            <a:ext cx="2240280" cy="365760"/>
          </a:xfrm>
          <a:prstGeom prst="rect">
            <a:avLst/>
          </a:prstGeom>
          <a:noFill/>
          <a:ln/>
        </p:spPr>
        <p:txBody>
          <a:bodyPr wrap="square" rtlCol="0" anchor="ctr"/>
          <a:lstStyle/>
          <a:p>
            <a:pPr marL="0" indent="0" algn="ctr">
              <a:buNone/>
            </a:pPr>
            <a:r>
              <a:rPr lang="en-US" sz="1050" dirty="0">
                <a:solidFill>
                  <a:srgbClr val="AEB9C2"/>
                </a:solidFill>
                <a:latin typeface="Calibri" pitchFamily="34" charset="0"/>
                <a:ea typeface="Calibri" pitchFamily="34" charset="-122"/>
                <a:cs typeface="Calibri" pitchFamily="34" charset="-120"/>
              </a:rPr>
              <a:t>Teams work on the same code together</a:t>
            </a:r>
            <a:endParaRPr lang="en-US" sz="1050" dirty="0"/>
          </a:p>
        </p:txBody>
      </p:sp>
      <p:sp>
        <p:nvSpPr>
          <p:cNvPr id="16" name="Shape 12"/>
          <p:cNvSpPr/>
          <p:nvPr/>
        </p:nvSpPr>
        <p:spPr>
          <a:xfrm>
            <a:off x="6195060" y="1965960"/>
            <a:ext cx="2514600" cy="1828800"/>
          </a:xfrm>
          <a:prstGeom prst="roundRect">
            <a:avLst>
              <a:gd name="adj" fmla="val 5000"/>
            </a:avLst>
          </a:prstGeom>
          <a:solidFill>
            <a:srgbClr val="161E2D"/>
          </a:solidFill>
          <a:ln/>
        </p:spPr>
      </p:sp>
      <p:sp>
        <p:nvSpPr>
          <p:cNvPr id="17" name="Shape 13"/>
          <p:cNvSpPr/>
          <p:nvPr/>
        </p:nvSpPr>
        <p:spPr>
          <a:xfrm>
            <a:off x="7063740" y="2171700"/>
            <a:ext cx="777240" cy="777240"/>
          </a:xfrm>
          <a:prstGeom prst="ellipse">
            <a:avLst/>
          </a:prstGeom>
          <a:solidFill>
            <a:srgbClr val="2E3B4E"/>
          </a:solidFill>
          <a:ln/>
        </p:spPr>
      </p:sp>
      <p:pic>
        <p:nvPicPr>
          <p:cNvPr id="18" name="Image 2" descr="/home/claude/ppt4/icon_user_w.png"/>
          <p:cNvPicPr>
            <a:picLocks noChangeAspect="1"/>
          </p:cNvPicPr>
          <p:nvPr/>
        </p:nvPicPr>
        <p:blipFill>
          <a:blip r:embed="rId5"/>
          <a:stretch>
            <a:fillRect/>
          </a:stretch>
        </p:blipFill>
        <p:spPr>
          <a:xfrm>
            <a:off x="7250278" y="2358238"/>
            <a:ext cx="404165" cy="404165"/>
          </a:xfrm>
          <a:prstGeom prst="rect">
            <a:avLst/>
          </a:prstGeom>
        </p:spPr>
      </p:pic>
      <p:sp>
        <p:nvSpPr>
          <p:cNvPr id="19" name="Text 14"/>
          <p:cNvSpPr/>
          <p:nvPr/>
        </p:nvSpPr>
        <p:spPr>
          <a:xfrm>
            <a:off x="6286500" y="3108960"/>
            <a:ext cx="23317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Portfolio</a:t>
            </a:r>
            <a:endParaRPr lang="en-US" sz="1300" dirty="0"/>
          </a:p>
        </p:txBody>
      </p:sp>
      <p:sp>
        <p:nvSpPr>
          <p:cNvPr id="20" name="Text 15"/>
          <p:cNvSpPr/>
          <p:nvPr/>
        </p:nvSpPr>
        <p:spPr>
          <a:xfrm>
            <a:off x="6332220" y="3429000"/>
            <a:ext cx="2240280" cy="365760"/>
          </a:xfrm>
          <a:prstGeom prst="rect">
            <a:avLst/>
          </a:prstGeom>
          <a:noFill/>
          <a:ln/>
        </p:spPr>
        <p:txBody>
          <a:bodyPr wrap="square" rtlCol="0" anchor="ctr"/>
          <a:lstStyle/>
          <a:p>
            <a:pPr marL="0" indent="0" algn="ctr">
              <a:buNone/>
            </a:pPr>
            <a:r>
              <a:rPr lang="en-US" sz="1050" dirty="0">
                <a:solidFill>
                  <a:srgbClr val="AEB9C2"/>
                </a:solidFill>
                <a:latin typeface="Calibri" pitchFamily="34" charset="0"/>
                <a:ea typeface="Calibri" pitchFamily="34" charset="-122"/>
                <a:cs typeface="Calibri" pitchFamily="34" charset="-120"/>
              </a:rPr>
              <a:t>Public profile of your projects</a:t>
            </a:r>
            <a:endParaRPr lang="en-US" sz="1050" dirty="0"/>
          </a:p>
        </p:txBody>
      </p:sp>
      <p:sp>
        <p:nvSpPr>
          <p:cNvPr id="21" name="Shape 16"/>
          <p:cNvSpPr/>
          <p:nvPr/>
        </p:nvSpPr>
        <p:spPr>
          <a:xfrm>
            <a:off x="8910828" y="1965960"/>
            <a:ext cx="2514600" cy="1828800"/>
          </a:xfrm>
          <a:prstGeom prst="roundRect">
            <a:avLst>
              <a:gd name="adj" fmla="val 5000"/>
            </a:avLst>
          </a:prstGeom>
          <a:solidFill>
            <a:srgbClr val="161E2D"/>
          </a:solidFill>
          <a:ln/>
        </p:spPr>
      </p:sp>
      <p:sp>
        <p:nvSpPr>
          <p:cNvPr id="22" name="Shape 17"/>
          <p:cNvSpPr/>
          <p:nvPr/>
        </p:nvSpPr>
        <p:spPr>
          <a:xfrm>
            <a:off x="9779508" y="2171700"/>
            <a:ext cx="777240" cy="777240"/>
          </a:xfrm>
          <a:prstGeom prst="ellipse">
            <a:avLst/>
          </a:prstGeom>
          <a:solidFill>
            <a:srgbClr val="2E3B4E"/>
          </a:solidFill>
          <a:ln/>
        </p:spPr>
      </p:sp>
      <p:pic>
        <p:nvPicPr>
          <p:cNvPr id="23" name="Image 3" descr="/home/claude/ppt4/icon_globe_w.png"/>
          <p:cNvPicPr>
            <a:picLocks noChangeAspect="1"/>
          </p:cNvPicPr>
          <p:nvPr/>
        </p:nvPicPr>
        <p:blipFill>
          <a:blip r:embed="rId6"/>
          <a:stretch>
            <a:fillRect/>
          </a:stretch>
        </p:blipFill>
        <p:spPr>
          <a:xfrm>
            <a:off x="9966046" y="2358238"/>
            <a:ext cx="404165" cy="404165"/>
          </a:xfrm>
          <a:prstGeom prst="rect">
            <a:avLst/>
          </a:prstGeom>
        </p:spPr>
      </p:pic>
      <p:sp>
        <p:nvSpPr>
          <p:cNvPr id="24" name="Text 18"/>
          <p:cNvSpPr/>
          <p:nvPr/>
        </p:nvSpPr>
        <p:spPr>
          <a:xfrm>
            <a:off x="9002268" y="3108960"/>
            <a:ext cx="23317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Open Source</a:t>
            </a:r>
            <a:endParaRPr lang="en-US" sz="1300" dirty="0"/>
          </a:p>
        </p:txBody>
      </p:sp>
      <p:sp>
        <p:nvSpPr>
          <p:cNvPr id="25" name="Text 19"/>
          <p:cNvSpPr/>
          <p:nvPr/>
        </p:nvSpPr>
        <p:spPr>
          <a:xfrm>
            <a:off x="9047988" y="3429000"/>
            <a:ext cx="2240280" cy="365760"/>
          </a:xfrm>
          <a:prstGeom prst="rect">
            <a:avLst/>
          </a:prstGeom>
          <a:noFill/>
          <a:ln/>
        </p:spPr>
        <p:txBody>
          <a:bodyPr wrap="square" rtlCol="0" anchor="ctr"/>
          <a:lstStyle/>
          <a:p>
            <a:pPr marL="0" indent="0" algn="ctr">
              <a:buNone/>
            </a:pPr>
            <a:r>
              <a:rPr lang="en-US" sz="1050" dirty="0">
                <a:solidFill>
                  <a:srgbClr val="AEB9C2"/>
                </a:solidFill>
                <a:latin typeface="Calibri" pitchFamily="34" charset="0"/>
                <a:ea typeface="Calibri" pitchFamily="34" charset="-122"/>
                <a:cs typeface="Calibri" pitchFamily="34" charset="-120"/>
              </a:rPr>
              <a:t>Millions of public projects to explore</a:t>
            </a:r>
            <a:endParaRPr lang="en-US" sz="1050" dirty="0"/>
          </a:p>
        </p:txBody>
      </p:sp>
      <p:sp>
        <p:nvSpPr>
          <p:cNvPr id="26" name="Shape 20"/>
          <p:cNvSpPr/>
          <p:nvPr/>
        </p:nvSpPr>
        <p:spPr>
          <a:xfrm>
            <a:off x="1371600" y="4160520"/>
            <a:ext cx="9418320" cy="777240"/>
          </a:xfrm>
          <a:prstGeom prst="roundRect">
            <a:avLst>
              <a:gd name="adj" fmla="val 11765"/>
            </a:avLst>
          </a:prstGeom>
          <a:solidFill>
            <a:srgbClr val="FF9900"/>
          </a:solidFill>
          <a:ln/>
        </p:spPr>
      </p:sp>
      <p:sp>
        <p:nvSpPr>
          <p:cNvPr id="27" name="Text 21"/>
          <p:cNvSpPr/>
          <p:nvPr/>
        </p:nvSpPr>
        <p:spPr>
          <a:xfrm>
            <a:off x="1645920" y="4160520"/>
            <a:ext cx="8869680" cy="777240"/>
          </a:xfrm>
          <a:prstGeom prst="rect">
            <a:avLst/>
          </a:prstGeom>
          <a:noFill/>
          <a:ln/>
        </p:spPr>
        <p:txBody>
          <a:bodyPr wrap="square" rtlCol="0" anchor="ctr"/>
          <a:lstStyle/>
          <a:p>
            <a:pPr marL="0" indent="0">
              <a:buNone/>
            </a:pPr>
            <a:r>
              <a:rPr lang="en-US" sz="1350" b="1" dirty="0">
                <a:solidFill>
                  <a:srgbClr val="232F3E"/>
                </a:solidFill>
                <a:latin typeface="Calibri" pitchFamily="34" charset="0"/>
                <a:ea typeface="Calibri" pitchFamily="34" charset="-122"/>
                <a:cs typeface="Calibri" pitchFamily="34" charset="-120"/>
              </a:rPr>
              <a:t>Git</a:t>
            </a:r>
            <a:r>
              <a:rPr lang="en-US" sz="1350" dirty="0">
                <a:solidFill>
                  <a:srgbClr val="232F3E"/>
                </a:solidFill>
                <a:latin typeface="Calibri" pitchFamily="34" charset="0"/>
                <a:ea typeface="Calibri" pitchFamily="34" charset="-122"/>
                <a:cs typeface="Calibri" pitchFamily="34" charset="-120"/>
              </a:rPr>
              <a:t> = the tool that runs on your computer.   </a:t>
            </a:r>
            <a:r>
              <a:rPr lang="en-US" sz="1350" b="1" dirty="0">
                <a:solidFill>
                  <a:srgbClr val="232F3E"/>
                </a:solidFill>
                <a:latin typeface="Calibri" pitchFamily="34" charset="0"/>
                <a:ea typeface="Calibri" pitchFamily="34" charset="-122"/>
                <a:cs typeface="Calibri" pitchFamily="34" charset="-120"/>
              </a:rPr>
              <a:t>GitHub</a:t>
            </a:r>
            <a:r>
              <a:rPr lang="en-US" sz="1350" dirty="0">
                <a:solidFill>
                  <a:srgbClr val="232F3E"/>
                </a:solidFill>
                <a:latin typeface="Calibri" pitchFamily="34" charset="0"/>
                <a:ea typeface="Calibri" pitchFamily="34" charset="-122"/>
                <a:cs typeface="Calibri" pitchFamily="34" charset="-120"/>
              </a:rPr>
              <a:t> = a website that hosts Git repositories in the cloud.</a:t>
            </a:r>
            <a:endParaRPr lang="en-US" sz="1350" dirty="0"/>
          </a:p>
        </p:txBody>
      </p:sp>
      <p:sp>
        <p:nvSpPr>
          <p:cNvPr id="28" name="Text 2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29" name="Text 2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GETTING SET UP</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Installing Git</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Get Git running on your machine, whatever OS you use.</a:t>
            </a:r>
            <a:endParaRPr lang="en-US" sz="1250" dirty="0"/>
          </a:p>
        </p:txBody>
      </p:sp>
      <p:sp>
        <p:nvSpPr>
          <p:cNvPr id="6" name="Shape 4"/>
          <p:cNvSpPr/>
          <p:nvPr/>
        </p:nvSpPr>
        <p:spPr>
          <a:xfrm>
            <a:off x="763524" y="1920240"/>
            <a:ext cx="3383280" cy="1920240"/>
          </a:xfrm>
          <a:prstGeom prst="roundRect">
            <a:avLst>
              <a:gd name="adj" fmla="val 4762"/>
            </a:avLst>
          </a:prstGeom>
          <a:solidFill>
            <a:srgbClr val="FFFFFF"/>
          </a:solidFill>
          <a:ln w="12700">
            <a:solidFill>
              <a:srgbClr val="D9DCE1"/>
            </a:solidFill>
            <a:prstDash val="solid"/>
          </a:ln>
        </p:spPr>
      </p:sp>
      <p:sp>
        <p:nvSpPr>
          <p:cNvPr id="7" name="Shape 5"/>
          <p:cNvSpPr/>
          <p:nvPr/>
        </p:nvSpPr>
        <p:spPr>
          <a:xfrm>
            <a:off x="2043684" y="2148840"/>
            <a:ext cx="822960" cy="822960"/>
          </a:xfrm>
          <a:prstGeom prst="ellipse">
            <a:avLst/>
          </a:prstGeom>
          <a:solidFill>
            <a:srgbClr val="FFF3DE"/>
          </a:solidFill>
          <a:ln/>
        </p:spPr>
      </p:sp>
      <p:pic>
        <p:nvPicPr>
          <p:cNvPr id="8" name="Image 0" descr="/home/claude/ppt4/icon_windows_d.png"/>
          <p:cNvPicPr>
            <a:picLocks noChangeAspect="1"/>
          </p:cNvPicPr>
          <p:nvPr/>
        </p:nvPicPr>
        <p:blipFill>
          <a:blip r:embed="rId3"/>
          <a:stretch>
            <a:fillRect/>
          </a:stretch>
        </p:blipFill>
        <p:spPr>
          <a:xfrm>
            <a:off x="2241194" y="2346350"/>
            <a:ext cx="427939" cy="427939"/>
          </a:xfrm>
          <a:prstGeom prst="rect">
            <a:avLst/>
          </a:prstGeom>
        </p:spPr>
      </p:pic>
      <p:sp>
        <p:nvSpPr>
          <p:cNvPr id="9" name="Text 6"/>
          <p:cNvSpPr/>
          <p:nvPr/>
        </p:nvSpPr>
        <p:spPr>
          <a:xfrm>
            <a:off x="763524" y="3108960"/>
            <a:ext cx="3383280" cy="320040"/>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Windows</a:t>
            </a:r>
            <a:endParaRPr lang="en-US" sz="1400" dirty="0"/>
          </a:p>
        </p:txBody>
      </p:sp>
      <p:sp>
        <p:nvSpPr>
          <p:cNvPr id="10" name="Text 7"/>
          <p:cNvSpPr/>
          <p:nvPr/>
        </p:nvSpPr>
        <p:spPr>
          <a:xfrm>
            <a:off x="946404" y="3429000"/>
            <a:ext cx="3017520" cy="457200"/>
          </a:xfrm>
          <a:prstGeom prst="rect">
            <a:avLst/>
          </a:prstGeom>
          <a:noFill/>
          <a:ln/>
        </p:spPr>
        <p:txBody>
          <a:bodyPr wrap="square" rtlCol="0" anchor="ctr"/>
          <a:lstStyle/>
          <a:p>
            <a:pPr marL="0" indent="0" algn="ctr">
              <a:buNone/>
            </a:pPr>
            <a:r>
              <a:rPr lang="en-US" sz="1000" dirty="0">
                <a:solidFill>
                  <a:srgbClr val="5A6B75"/>
                </a:solidFill>
                <a:latin typeface="Calibri" pitchFamily="34" charset="0"/>
                <a:ea typeface="Calibri" pitchFamily="34" charset="-122"/>
                <a:cs typeface="Calibri" pitchFamily="34" charset="-120"/>
              </a:rPr>
              <a:t>Download Git for Windows from git-scm.com</a:t>
            </a:r>
            <a:endParaRPr lang="en-US" sz="1000" dirty="0"/>
          </a:p>
        </p:txBody>
      </p:sp>
      <p:sp>
        <p:nvSpPr>
          <p:cNvPr id="11" name="Shape 8"/>
          <p:cNvSpPr/>
          <p:nvPr/>
        </p:nvSpPr>
        <p:spPr>
          <a:xfrm>
            <a:off x="4402836" y="1920240"/>
            <a:ext cx="3383280" cy="1920240"/>
          </a:xfrm>
          <a:prstGeom prst="roundRect">
            <a:avLst>
              <a:gd name="adj" fmla="val 4762"/>
            </a:avLst>
          </a:prstGeom>
          <a:solidFill>
            <a:srgbClr val="FFFFFF"/>
          </a:solidFill>
          <a:ln w="12700">
            <a:solidFill>
              <a:srgbClr val="D9DCE1"/>
            </a:solidFill>
            <a:prstDash val="solid"/>
          </a:ln>
        </p:spPr>
      </p:sp>
      <p:sp>
        <p:nvSpPr>
          <p:cNvPr id="12" name="Shape 9"/>
          <p:cNvSpPr/>
          <p:nvPr/>
        </p:nvSpPr>
        <p:spPr>
          <a:xfrm>
            <a:off x="5682996" y="2148840"/>
            <a:ext cx="822960" cy="822960"/>
          </a:xfrm>
          <a:prstGeom prst="ellipse">
            <a:avLst/>
          </a:prstGeom>
          <a:solidFill>
            <a:srgbClr val="FFF3DE"/>
          </a:solidFill>
          <a:ln/>
        </p:spPr>
      </p:sp>
      <p:pic>
        <p:nvPicPr>
          <p:cNvPr id="13" name="Image 1" descr="/home/claude/ppt4/icon_apple_d.png"/>
          <p:cNvPicPr>
            <a:picLocks noChangeAspect="1"/>
          </p:cNvPicPr>
          <p:nvPr/>
        </p:nvPicPr>
        <p:blipFill>
          <a:blip r:embed="rId4"/>
          <a:stretch>
            <a:fillRect/>
          </a:stretch>
        </p:blipFill>
        <p:spPr>
          <a:xfrm>
            <a:off x="5880506" y="2346350"/>
            <a:ext cx="427939" cy="427939"/>
          </a:xfrm>
          <a:prstGeom prst="rect">
            <a:avLst/>
          </a:prstGeom>
        </p:spPr>
      </p:pic>
      <p:sp>
        <p:nvSpPr>
          <p:cNvPr id="14" name="Text 10"/>
          <p:cNvSpPr/>
          <p:nvPr/>
        </p:nvSpPr>
        <p:spPr>
          <a:xfrm>
            <a:off x="4402836" y="3108960"/>
            <a:ext cx="3383280" cy="320040"/>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macOS</a:t>
            </a:r>
            <a:endParaRPr lang="en-US" sz="1400" dirty="0"/>
          </a:p>
        </p:txBody>
      </p:sp>
      <p:sp>
        <p:nvSpPr>
          <p:cNvPr id="15" name="Text 11"/>
          <p:cNvSpPr/>
          <p:nvPr/>
        </p:nvSpPr>
        <p:spPr>
          <a:xfrm>
            <a:off x="4585716" y="3429000"/>
            <a:ext cx="3017520" cy="457200"/>
          </a:xfrm>
          <a:prstGeom prst="rect">
            <a:avLst/>
          </a:prstGeom>
          <a:noFill/>
          <a:ln/>
        </p:spPr>
        <p:txBody>
          <a:bodyPr wrap="square" rtlCol="0" anchor="ctr"/>
          <a:lstStyle/>
          <a:p>
            <a:pPr marL="0" indent="0" algn="ctr">
              <a:buNone/>
            </a:pPr>
            <a:r>
              <a:rPr lang="en-US" sz="1000" dirty="0">
                <a:solidFill>
                  <a:srgbClr val="5A6B75"/>
                </a:solidFill>
                <a:latin typeface="Calibri" pitchFamily="34" charset="0"/>
                <a:ea typeface="Calibri" pitchFamily="34" charset="-122"/>
                <a:cs typeface="Calibri" pitchFamily="34" charset="-120"/>
              </a:rPr>
              <a:t>Run: xcode-select --install (or use Homebrew)</a:t>
            </a:r>
            <a:endParaRPr lang="en-US" sz="1000" dirty="0"/>
          </a:p>
        </p:txBody>
      </p:sp>
      <p:sp>
        <p:nvSpPr>
          <p:cNvPr id="16" name="Shape 12"/>
          <p:cNvSpPr/>
          <p:nvPr/>
        </p:nvSpPr>
        <p:spPr>
          <a:xfrm>
            <a:off x="8042148" y="1920240"/>
            <a:ext cx="3383280" cy="1920240"/>
          </a:xfrm>
          <a:prstGeom prst="roundRect">
            <a:avLst>
              <a:gd name="adj" fmla="val 4762"/>
            </a:avLst>
          </a:prstGeom>
          <a:solidFill>
            <a:srgbClr val="FFFFFF"/>
          </a:solidFill>
          <a:ln w="12700">
            <a:solidFill>
              <a:srgbClr val="D9DCE1"/>
            </a:solidFill>
            <a:prstDash val="solid"/>
          </a:ln>
        </p:spPr>
      </p:sp>
      <p:sp>
        <p:nvSpPr>
          <p:cNvPr id="17" name="Shape 13"/>
          <p:cNvSpPr/>
          <p:nvPr/>
        </p:nvSpPr>
        <p:spPr>
          <a:xfrm>
            <a:off x="9322308" y="2148840"/>
            <a:ext cx="822960" cy="822960"/>
          </a:xfrm>
          <a:prstGeom prst="ellipse">
            <a:avLst/>
          </a:prstGeom>
          <a:solidFill>
            <a:srgbClr val="FFF3DE"/>
          </a:solidFill>
          <a:ln/>
        </p:spPr>
      </p:sp>
      <p:pic>
        <p:nvPicPr>
          <p:cNvPr id="18" name="Image 2" descr="/home/claude/ppt4/icon_linux_d.png"/>
          <p:cNvPicPr>
            <a:picLocks noChangeAspect="1"/>
          </p:cNvPicPr>
          <p:nvPr/>
        </p:nvPicPr>
        <p:blipFill>
          <a:blip r:embed="rId5"/>
          <a:stretch>
            <a:fillRect/>
          </a:stretch>
        </p:blipFill>
        <p:spPr>
          <a:xfrm>
            <a:off x="9519818" y="2346350"/>
            <a:ext cx="427939" cy="427939"/>
          </a:xfrm>
          <a:prstGeom prst="rect">
            <a:avLst/>
          </a:prstGeom>
        </p:spPr>
      </p:pic>
      <p:sp>
        <p:nvSpPr>
          <p:cNvPr id="19" name="Text 14"/>
          <p:cNvSpPr/>
          <p:nvPr/>
        </p:nvSpPr>
        <p:spPr>
          <a:xfrm>
            <a:off x="8042148" y="3108960"/>
            <a:ext cx="3383280" cy="320040"/>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Linux</a:t>
            </a:r>
            <a:endParaRPr lang="en-US" sz="1400" dirty="0"/>
          </a:p>
        </p:txBody>
      </p:sp>
      <p:sp>
        <p:nvSpPr>
          <p:cNvPr id="20" name="Text 15"/>
          <p:cNvSpPr/>
          <p:nvPr/>
        </p:nvSpPr>
        <p:spPr>
          <a:xfrm>
            <a:off x="8225028" y="3429000"/>
            <a:ext cx="3017520" cy="457200"/>
          </a:xfrm>
          <a:prstGeom prst="rect">
            <a:avLst/>
          </a:prstGeom>
          <a:noFill/>
          <a:ln/>
        </p:spPr>
        <p:txBody>
          <a:bodyPr wrap="square" rtlCol="0" anchor="ctr"/>
          <a:lstStyle/>
          <a:p>
            <a:pPr marL="0" indent="0" algn="ctr">
              <a:buNone/>
            </a:pPr>
            <a:r>
              <a:rPr lang="en-US" sz="1000" dirty="0">
                <a:solidFill>
                  <a:srgbClr val="5A6B75"/>
                </a:solidFill>
                <a:latin typeface="Calibri" pitchFamily="34" charset="0"/>
                <a:ea typeface="Calibri" pitchFamily="34" charset="-122"/>
                <a:cs typeface="Calibri" pitchFamily="34" charset="-120"/>
              </a:rPr>
              <a:t>Run: sudo apt install git (Debian/Ubuntu)</a:t>
            </a:r>
            <a:endParaRPr lang="en-US" sz="1000" dirty="0"/>
          </a:p>
        </p:txBody>
      </p:sp>
      <p:sp>
        <p:nvSpPr>
          <p:cNvPr id="21" name="Shape 16"/>
          <p:cNvSpPr/>
          <p:nvPr/>
        </p:nvSpPr>
        <p:spPr>
          <a:xfrm>
            <a:off x="2436876" y="4160520"/>
            <a:ext cx="7315200" cy="1463040"/>
          </a:xfrm>
          <a:prstGeom prst="roundRect">
            <a:avLst>
              <a:gd name="adj" fmla="val 5625"/>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22" name="Shape 17"/>
          <p:cNvSpPr/>
          <p:nvPr/>
        </p:nvSpPr>
        <p:spPr>
          <a:xfrm>
            <a:off x="2436876" y="4160520"/>
            <a:ext cx="7315200" cy="320040"/>
          </a:xfrm>
          <a:prstGeom prst="roundRect">
            <a:avLst>
              <a:gd name="adj" fmla="val 25714"/>
            </a:avLst>
          </a:prstGeom>
          <a:solidFill>
            <a:srgbClr val="1B2430"/>
          </a:solidFill>
          <a:ln/>
        </p:spPr>
      </p:sp>
      <p:sp>
        <p:nvSpPr>
          <p:cNvPr id="23" name="Shape 18"/>
          <p:cNvSpPr/>
          <p:nvPr/>
        </p:nvSpPr>
        <p:spPr>
          <a:xfrm>
            <a:off x="2436876" y="4315968"/>
            <a:ext cx="7315200" cy="164592"/>
          </a:xfrm>
          <a:prstGeom prst="rect">
            <a:avLst/>
          </a:prstGeom>
          <a:solidFill>
            <a:srgbClr val="1B2430"/>
          </a:solidFill>
          <a:ln/>
        </p:spPr>
      </p:sp>
      <p:sp>
        <p:nvSpPr>
          <p:cNvPr id="24" name="Shape 19"/>
          <p:cNvSpPr/>
          <p:nvPr/>
        </p:nvSpPr>
        <p:spPr>
          <a:xfrm>
            <a:off x="2601468" y="4265676"/>
            <a:ext cx="118872" cy="118872"/>
          </a:xfrm>
          <a:prstGeom prst="ellipse">
            <a:avLst/>
          </a:prstGeom>
          <a:solidFill>
            <a:srgbClr val="E5533D"/>
          </a:solidFill>
          <a:ln/>
        </p:spPr>
      </p:sp>
      <p:sp>
        <p:nvSpPr>
          <p:cNvPr id="25" name="Shape 20"/>
          <p:cNvSpPr/>
          <p:nvPr/>
        </p:nvSpPr>
        <p:spPr>
          <a:xfrm>
            <a:off x="2820924" y="4265676"/>
            <a:ext cx="118872" cy="118872"/>
          </a:xfrm>
          <a:prstGeom prst="ellipse">
            <a:avLst/>
          </a:prstGeom>
          <a:solidFill>
            <a:srgbClr val="F2C511"/>
          </a:solidFill>
          <a:ln/>
        </p:spPr>
      </p:sp>
      <p:sp>
        <p:nvSpPr>
          <p:cNvPr id="26" name="Shape 21"/>
          <p:cNvSpPr/>
          <p:nvPr/>
        </p:nvSpPr>
        <p:spPr>
          <a:xfrm>
            <a:off x="3040380" y="4265676"/>
            <a:ext cx="118872" cy="118872"/>
          </a:xfrm>
          <a:prstGeom prst="ellipse">
            <a:avLst/>
          </a:prstGeom>
          <a:solidFill>
            <a:srgbClr val="2AC940"/>
          </a:solidFill>
          <a:ln/>
        </p:spPr>
      </p:sp>
      <p:sp>
        <p:nvSpPr>
          <p:cNvPr id="27" name="Text 22"/>
          <p:cNvSpPr/>
          <p:nvPr/>
        </p:nvSpPr>
        <p:spPr>
          <a:xfrm>
            <a:off x="3259836" y="4160520"/>
            <a:ext cx="630936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Verify Installation</a:t>
            </a:r>
            <a:endParaRPr lang="en-US" sz="1000" dirty="0"/>
          </a:p>
        </p:txBody>
      </p:sp>
      <p:sp>
        <p:nvSpPr>
          <p:cNvPr id="28" name="Text 23"/>
          <p:cNvSpPr/>
          <p:nvPr/>
        </p:nvSpPr>
        <p:spPr>
          <a:xfrm>
            <a:off x="2711196" y="4617720"/>
            <a:ext cx="67665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--version</a:t>
            </a:r>
            <a:endParaRPr lang="en-US" sz="1200" dirty="0"/>
          </a:p>
        </p:txBody>
      </p:sp>
      <p:sp>
        <p:nvSpPr>
          <p:cNvPr id="29" name="Text 24"/>
          <p:cNvSpPr/>
          <p:nvPr/>
        </p:nvSpPr>
        <p:spPr>
          <a:xfrm>
            <a:off x="2711196" y="4910328"/>
            <a:ext cx="6766560" cy="292608"/>
          </a:xfrm>
          <a:prstGeom prst="rect">
            <a:avLst/>
          </a:prstGeom>
          <a:noFill/>
          <a:ln/>
        </p:spPr>
        <p:txBody>
          <a:bodyPr wrap="square" rtlCol="0" anchor="t"/>
          <a:lstStyle/>
          <a:p>
            <a:pPr marL="0" indent="0">
              <a:buNone/>
            </a:pPr>
            <a:r>
              <a:rPr lang="en-US" sz="1200" dirty="0">
                <a:solidFill>
                  <a:srgbClr val="AEB9C2"/>
                </a:solidFill>
                <a:latin typeface="Consolas" pitchFamily="34" charset="0"/>
                <a:ea typeface="Consolas" pitchFamily="34" charset="-122"/>
                <a:cs typeface="Consolas" pitchFamily="34" charset="-120"/>
              </a:rPr>
              <a:t>git version 2.43.0</a:t>
            </a:r>
            <a:endParaRPr lang="en-US" sz="1200" dirty="0"/>
          </a:p>
        </p:txBody>
      </p:sp>
      <p:sp>
        <p:nvSpPr>
          <p:cNvPr id="30" name="Text 25"/>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1" name="Text 26"/>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GETTING SET UP</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 Configuration</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Tell Git who you are — every commit is signed with this identity.</a:t>
            </a:r>
            <a:endParaRPr lang="en-US" sz="1250" dirty="0"/>
          </a:p>
        </p:txBody>
      </p:sp>
      <p:sp>
        <p:nvSpPr>
          <p:cNvPr id="6" name="Shape 4"/>
          <p:cNvSpPr/>
          <p:nvPr/>
        </p:nvSpPr>
        <p:spPr>
          <a:xfrm>
            <a:off x="548640" y="1828800"/>
            <a:ext cx="5760720" cy="1828800"/>
          </a:xfrm>
          <a:prstGeom prst="roundRect">
            <a:avLst>
              <a:gd name="adj" fmla="val 4500"/>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7" name="Shape 5"/>
          <p:cNvSpPr/>
          <p:nvPr/>
        </p:nvSpPr>
        <p:spPr>
          <a:xfrm>
            <a:off x="548640" y="1828800"/>
            <a:ext cx="5760720" cy="320040"/>
          </a:xfrm>
          <a:prstGeom prst="roundRect">
            <a:avLst>
              <a:gd name="adj" fmla="val 25714"/>
            </a:avLst>
          </a:prstGeom>
          <a:solidFill>
            <a:srgbClr val="1B2430"/>
          </a:solidFill>
          <a:ln/>
        </p:spPr>
      </p:sp>
      <p:sp>
        <p:nvSpPr>
          <p:cNvPr id="8" name="Shape 6"/>
          <p:cNvSpPr/>
          <p:nvPr/>
        </p:nvSpPr>
        <p:spPr>
          <a:xfrm>
            <a:off x="548640" y="1984248"/>
            <a:ext cx="5760720" cy="164592"/>
          </a:xfrm>
          <a:prstGeom prst="rect">
            <a:avLst/>
          </a:prstGeom>
          <a:solidFill>
            <a:srgbClr val="1B2430"/>
          </a:solidFill>
          <a:ln/>
        </p:spPr>
      </p:sp>
      <p:sp>
        <p:nvSpPr>
          <p:cNvPr id="9" name="Shape 7"/>
          <p:cNvSpPr/>
          <p:nvPr/>
        </p:nvSpPr>
        <p:spPr>
          <a:xfrm>
            <a:off x="713232" y="1933956"/>
            <a:ext cx="118872" cy="118872"/>
          </a:xfrm>
          <a:prstGeom prst="ellipse">
            <a:avLst/>
          </a:prstGeom>
          <a:solidFill>
            <a:srgbClr val="E5533D"/>
          </a:solidFill>
          <a:ln/>
        </p:spPr>
      </p:sp>
      <p:sp>
        <p:nvSpPr>
          <p:cNvPr id="10" name="Shape 8"/>
          <p:cNvSpPr/>
          <p:nvPr/>
        </p:nvSpPr>
        <p:spPr>
          <a:xfrm>
            <a:off x="932688" y="1933956"/>
            <a:ext cx="118872" cy="118872"/>
          </a:xfrm>
          <a:prstGeom prst="ellipse">
            <a:avLst/>
          </a:prstGeom>
          <a:solidFill>
            <a:srgbClr val="F2C511"/>
          </a:solidFill>
          <a:ln/>
        </p:spPr>
      </p:sp>
      <p:sp>
        <p:nvSpPr>
          <p:cNvPr id="11" name="Shape 9"/>
          <p:cNvSpPr/>
          <p:nvPr/>
        </p:nvSpPr>
        <p:spPr>
          <a:xfrm>
            <a:off x="1152144" y="1933956"/>
            <a:ext cx="118872" cy="118872"/>
          </a:xfrm>
          <a:prstGeom prst="ellipse">
            <a:avLst/>
          </a:prstGeom>
          <a:solidFill>
            <a:srgbClr val="2AC940"/>
          </a:solidFill>
          <a:ln/>
        </p:spPr>
      </p:sp>
      <p:sp>
        <p:nvSpPr>
          <p:cNvPr id="12" name="Text 10"/>
          <p:cNvSpPr/>
          <p:nvPr/>
        </p:nvSpPr>
        <p:spPr>
          <a:xfrm>
            <a:off x="1371600" y="1828800"/>
            <a:ext cx="475488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user@cloud:~/project</a:t>
            </a:r>
            <a:endParaRPr lang="en-US" sz="1000" dirty="0"/>
          </a:p>
        </p:txBody>
      </p:sp>
      <p:sp>
        <p:nvSpPr>
          <p:cNvPr id="13" name="Text 11"/>
          <p:cNvSpPr/>
          <p:nvPr/>
        </p:nvSpPr>
        <p:spPr>
          <a:xfrm>
            <a:off x="822960" y="2286000"/>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config --global user.name "Alex Rivera"</a:t>
            </a:r>
            <a:endParaRPr lang="en-US" sz="1200" dirty="0"/>
          </a:p>
        </p:txBody>
      </p:sp>
      <p:sp>
        <p:nvSpPr>
          <p:cNvPr id="14" name="Text 12"/>
          <p:cNvSpPr/>
          <p:nvPr/>
        </p:nvSpPr>
        <p:spPr>
          <a:xfrm>
            <a:off x="822960" y="2578608"/>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config --global user.email "alex@example.com"</a:t>
            </a:r>
            <a:endParaRPr lang="en-US" sz="1200" dirty="0"/>
          </a:p>
        </p:txBody>
      </p:sp>
      <p:sp>
        <p:nvSpPr>
          <p:cNvPr id="15" name="Shape 13"/>
          <p:cNvSpPr/>
          <p:nvPr/>
        </p:nvSpPr>
        <p:spPr>
          <a:xfrm>
            <a:off x="6629400" y="1828800"/>
            <a:ext cx="4937760" cy="1828800"/>
          </a:xfrm>
          <a:prstGeom prst="roundRect">
            <a:avLst>
              <a:gd name="adj" fmla="val 5000"/>
            </a:avLst>
          </a:prstGeom>
          <a:solidFill>
            <a:srgbClr val="FFFFFF"/>
          </a:solidFill>
          <a:ln w="12700">
            <a:solidFill>
              <a:srgbClr val="D9DCE1"/>
            </a:solidFill>
            <a:prstDash val="solid"/>
          </a:ln>
        </p:spPr>
      </p:sp>
      <p:sp>
        <p:nvSpPr>
          <p:cNvPr id="16" name="Text 14"/>
          <p:cNvSpPr/>
          <p:nvPr/>
        </p:nvSpPr>
        <p:spPr>
          <a:xfrm>
            <a:off x="6858000" y="2011680"/>
            <a:ext cx="4480560" cy="320040"/>
          </a:xfrm>
          <a:prstGeom prst="rect">
            <a:avLst/>
          </a:prstGeom>
          <a:noFill/>
          <a:ln/>
        </p:spPr>
        <p:txBody>
          <a:bodyPr wrap="square" rtlCol="0" anchor="ctr"/>
          <a:lstStyle/>
          <a:p>
            <a:pPr marL="0" indent="0">
              <a:buNone/>
            </a:pPr>
            <a:r>
              <a:rPr lang="en-US" sz="1100" b="1" kern="0" spc="150" dirty="0">
                <a:solidFill>
                  <a:srgbClr val="FF9900"/>
                </a:solidFill>
                <a:latin typeface="Calibri" pitchFamily="34" charset="0"/>
                <a:ea typeface="Calibri" pitchFamily="34" charset="-122"/>
                <a:cs typeface="Calibri" pitchFamily="34" charset="-120"/>
              </a:rPr>
              <a:t>WHY IT MATTERS</a:t>
            </a:r>
            <a:endParaRPr lang="en-US" sz="1100" dirty="0"/>
          </a:p>
        </p:txBody>
      </p:sp>
      <p:sp>
        <p:nvSpPr>
          <p:cNvPr id="17" name="Text 15"/>
          <p:cNvSpPr/>
          <p:nvPr/>
        </p:nvSpPr>
        <p:spPr>
          <a:xfrm>
            <a:off x="6858000" y="2377440"/>
            <a:ext cx="4480560" cy="1097280"/>
          </a:xfrm>
          <a:prstGeom prst="rect">
            <a:avLst/>
          </a:prstGeom>
          <a:noFill/>
          <a:ln/>
        </p:spPr>
        <p:txBody>
          <a:bodyPr wrap="square" rtlCol="0" anchor="t"/>
          <a:lstStyle/>
          <a:p>
            <a:pPr marL="0" indent="0">
              <a:buNone/>
            </a:pPr>
            <a:r>
              <a:rPr lang="en-US" sz="1200" dirty="0">
                <a:solidFill>
                  <a:srgbClr val="16191F"/>
                </a:solidFill>
                <a:latin typeface="Calibri" pitchFamily="34" charset="0"/>
                <a:ea typeface="Calibri" pitchFamily="34" charset="-122"/>
                <a:cs typeface="Calibri" pitchFamily="34" charset="-120"/>
              </a:rPr>
              <a:t>This name and email get permanently attached to every commit you make — it's how your team knows who changed what.</a:t>
            </a:r>
            <a:endParaRPr lang="en-US" sz="1200" dirty="0"/>
          </a:p>
        </p:txBody>
      </p:sp>
      <p:sp>
        <p:nvSpPr>
          <p:cNvPr id="18" name="Shape 16"/>
          <p:cNvSpPr/>
          <p:nvPr/>
        </p:nvSpPr>
        <p:spPr>
          <a:xfrm>
            <a:off x="548640" y="3931920"/>
            <a:ext cx="11091672" cy="566928"/>
          </a:xfrm>
          <a:prstGeom prst="roundRect">
            <a:avLst>
              <a:gd name="adj" fmla="val 12903"/>
            </a:avLst>
          </a:prstGeom>
          <a:solidFill>
            <a:srgbClr val="FFFFFF"/>
          </a:solidFill>
          <a:ln w="15875">
            <a:solidFill>
              <a:srgbClr val="FF9900"/>
            </a:solidFill>
            <a:prstDash val="solid"/>
          </a:ln>
        </p:spPr>
      </p:sp>
      <p:sp>
        <p:nvSpPr>
          <p:cNvPr id="19" name="Text 17"/>
          <p:cNvSpPr/>
          <p:nvPr/>
        </p:nvSpPr>
        <p:spPr>
          <a:xfrm>
            <a:off x="777240" y="3931920"/>
            <a:ext cx="10634472" cy="566928"/>
          </a:xfrm>
          <a:prstGeom prst="rect">
            <a:avLst/>
          </a:prstGeom>
          <a:noFill/>
          <a:ln/>
        </p:spPr>
        <p:txBody>
          <a:bodyPr wrap="square" rtlCol="0" anchor="ctr"/>
          <a:lstStyle/>
          <a:p>
            <a:pPr marL="0" indent="0">
              <a:buNone/>
            </a:pPr>
            <a:r>
              <a:rPr lang="en-US" sz="1100" b="1" i="1" dirty="0">
                <a:solidFill>
                  <a:srgbClr val="B36B00"/>
                </a:solidFill>
                <a:latin typeface="Calibri" pitchFamily="34" charset="0"/>
                <a:ea typeface="Calibri" pitchFamily="34" charset="-122"/>
                <a:cs typeface="Calibri" pitchFamily="34" charset="-120"/>
              </a:rPr>
              <a:t>REAL-WORLD ANALOGY:  </a:t>
            </a:r>
            <a:r>
              <a:rPr lang="en-US" sz="1100" i="1" dirty="0">
                <a:solidFill>
                  <a:srgbClr val="16191F"/>
                </a:solidFill>
                <a:latin typeface="Calibri" pitchFamily="34" charset="0"/>
                <a:ea typeface="Calibri" pitchFamily="34" charset="-122"/>
                <a:cs typeface="Calibri" pitchFamily="34" charset="-120"/>
              </a:rPr>
              <a:t>Like signing your name on a shared whiteboard — everyone can see exactly who wrote what, and when.</a:t>
            </a:r>
            <a:endParaRPr lang="en-US" sz="1100" dirty="0"/>
          </a:p>
        </p:txBody>
      </p:sp>
      <p:sp>
        <p:nvSpPr>
          <p:cNvPr id="20" name="Shape 18"/>
          <p:cNvSpPr/>
          <p:nvPr/>
        </p:nvSpPr>
        <p:spPr>
          <a:xfrm>
            <a:off x="548640" y="4663440"/>
            <a:ext cx="11091672" cy="566928"/>
          </a:xfrm>
          <a:prstGeom prst="roundRect">
            <a:avLst>
              <a:gd name="adj" fmla="val 12903"/>
            </a:avLst>
          </a:prstGeom>
          <a:solidFill>
            <a:srgbClr val="232F3E"/>
          </a:solidFill>
          <a:ln/>
        </p:spPr>
      </p:sp>
      <p:sp>
        <p:nvSpPr>
          <p:cNvPr id="21" name="Shape 19"/>
          <p:cNvSpPr/>
          <p:nvPr/>
        </p:nvSpPr>
        <p:spPr>
          <a:xfrm>
            <a:off x="704088" y="4718304"/>
            <a:ext cx="457200" cy="457200"/>
          </a:xfrm>
          <a:prstGeom prst="ellipse">
            <a:avLst/>
          </a:prstGeom>
          <a:solidFill>
            <a:srgbClr val="33455B"/>
          </a:solidFill>
          <a:ln/>
        </p:spPr>
      </p:sp>
      <p:pic>
        <p:nvPicPr>
          <p:cNvPr id="22" name="Image 0" descr="/home/claude/ppt4/icon_lightbulb_o.png"/>
          <p:cNvPicPr>
            <a:picLocks noChangeAspect="1"/>
          </p:cNvPicPr>
          <p:nvPr/>
        </p:nvPicPr>
        <p:blipFill>
          <a:blip r:embed="rId3"/>
          <a:stretch>
            <a:fillRect/>
          </a:stretch>
        </p:blipFill>
        <p:spPr>
          <a:xfrm>
            <a:off x="813816" y="4828032"/>
            <a:ext cx="237744" cy="237744"/>
          </a:xfrm>
          <a:prstGeom prst="rect">
            <a:avLst/>
          </a:prstGeom>
        </p:spPr>
      </p:pic>
      <p:sp>
        <p:nvSpPr>
          <p:cNvPr id="23" name="Text 20"/>
          <p:cNvSpPr/>
          <p:nvPr/>
        </p:nvSpPr>
        <p:spPr>
          <a:xfrm>
            <a:off x="1234440" y="466344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Use the same email here that you'll use for your GitHub account — it links your commits to your GitHub profile automatically.</a:t>
            </a:r>
            <a:endParaRPr lang="en-US" sz="1100" dirty="0"/>
          </a:p>
        </p:txBody>
      </p:sp>
      <p:sp>
        <p:nvSpPr>
          <p:cNvPr id="24" name="Text 21"/>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5" name="Text 22"/>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REPOSITORY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The Git Workflow</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See the four stages a file passes through as you save your work.</a:t>
            </a:r>
            <a:endParaRPr lang="en-US" sz="1250" dirty="0"/>
          </a:p>
        </p:txBody>
      </p:sp>
      <p:sp>
        <p:nvSpPr>
          <p:cNvPr id="6" name="Shape 4"/>
          <p:cNvSpPr/>
          <p:nvPr/>
        </p:nvSpPr>
        <p:spPr>
          <a:xfrm>
            <a:off x="1888236" y="1783080"/>
            <a:ext cx="8412480" cy="960120"/>
          </a:xfrm>
          <a:prstGeom prst="roundRect">
            <a:avLst>
              <a:gd name="adj" fmla="val 8571"/>
            </a:avLst>
          </a:prstGeom>
          <a:solidFill>
            <a:srgbClr val="FFFFFF"/>
          </a:solidFill>
          <a:ln w="12700">
            <a:solidFill>
              <a:srgbClr val="D9DCE1"/>
            </a:solidFill>
            <a:prstDash val="solid"/>
          </a:ln>
        </p:spPr>
      </p:sp>
      <p:sp>
        <p:nvSpPr>
          <p:cNvPr id="7" name="Shape 5"/>
          <p:cNvSpPr/>
          <p:nvPr/>
        </p:nvSpPr>
        <p:spPr>
          <a:xfrm>
            <a:off x="1888236" y="1783080"/>
            <a:ext cx="128016" cy="960120"/>
          </a:xfrm>
          <a:prstGeom prst="rect">
            <a:avLst/>
          </a:prstGeom>
          <a:solidFill>
            <a:srgbClr val="FF9900"/>
          </a:solidFill>
          <a:ln/>
        </p:spPr>
      </p:sp>
      <p:sp>
        <p:nvSpPr>
          <p:cNvPr id="8" name="Shape 6"/>
          <p:cNvSpPr/>
          <p:nvPr/>
        </p:nvSpPr>
        <p:spPr>
          <a:xfrm>
            <a:off x="2382012" y="1933956"/>
            <a:ext cx="658368" cy="658368"/>
          </a:xfrm>
          <a:prstGeom prst="ellipse">
            <a:avLst/>
          </a:prstGeom>
          <a:solidFill>
            <a:srgbClr val="FFF3DE"/>
          </a:solidFill>
          <a:ln/>
        </p:spPr>
      </p:sp>
      <p:pic>
        <p:nvPicPr>
          <p:cNvPr id="9" name="Image 0" descr="/home/claude/ppt4/icon_folder_d.png"/>
          <p:cNvPicPr>
            <a:picLocks noChangeAspect="1"/>
          </p:cNvPicPr>
          <p:nvPr/>
        </p:nvPicPr>
        <p:blipFill>
          <a:blip r:embed="rId3"/>
          <a:stretch>
            <a:fillRect/>
          </a:stretch>
        </p:blipFill>
        <p:spPr>
          <a:xfrm>
            <a:off x="2540020" y="2091964"/>
            <a:ext cx="342351" cy="342351"/>
          </a:xfrm>
          <a:prstGeom prst="rect">
            <a:avLst/>
          </a:prstGeom>
        </p:spPr>
      </p:pic>
      <p:sp>
        <p:nvSpPr>
          <p:cNvPr id="10" name="Text 7"/>
          <p:cNvSpPr/>
          <p:nvPr/>
        </p:nvSpPr>
        <p:spPr>
          <a:xfrm>
            <a:off x="3168396" y="1911096"/>
            <a:ext cx="3657600" cy="365760"/>
          </a:xfrm>
          <a:prstGeom prst="rect">
            <a:avLst/>
          </a:prstGeom>
          <a:noFill/>
          <a:ln/>
        </p:spPr>
        <p:txBody>
          <a:bodyPr wrap="square" rtlCol="0" anchor="ctr"/>
          <a:lstStyle/>
          <a:p>
            <a:pPr marL="0" indent="0">
              <a:buNone/>
            </a:pPr>
            <a:r>
              <a:rPr lang="en-US" sz="1500" b="1" dirty="0">
                <a:solidFill>
                  <a:srgbClr val="232F3E"/>
                </a:solidFill>
                <a:latin typeface="Arial" pitchFamily="34" charset="0"/>
                <a:ea typeface="Arial" pitchFamily="34" charset="-122"/>
                <a:cs typeface="Arial" pitchFamily="34" charset="-120"/>
              </a:rPr>
              <a:t>Working Directory</a:t>
            </a:r>
            <a:endParaRPr lang="en-US" sz="1500" dirty="0"/>
          </a:p>
        </p:txBody>
      </p:sp>
      <p:sp>
        <p:nvSpPr>
          <p:cNvPr id="11" name="Text 8"/>
          <p:cNvSpPr/>
          <p:nvPr/>
        </p:nvSpPr>
        <p:spPr>
          <a:xfrm>
            <a:off x="3168396" y="2286000"/>
            <a:ext cx="6949440" cy="36576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Where you edit files</a:t>
            </a:r>
            <a:endParaRPr lang="en-US" sz="1150" dirty="0"/>
          </a:p>
        </p:txBody>
      </p:sp>
      <p:sp>
        <p:nvSpPr>
          <p:cNvPr id="12" name="Shape 9"/>
          <p:cNvSpPr/>
          <p:nvPr/>
        </p:nvSpPr>
        <p:spPr>
          <a:xfrm>
            <a:off x="10483596" y="2098548"/>
            <a:ext cx="1554480" cy="329184"/>
          </a:xfrm>
          <a:prstGeom prst="roundRect">
            <a:avLst>
              <a:gd name="adj" fmla="val 50000"/>
            </a:avLst>
          </a:prstGeom>
          <a:solidFill>
            <a:srgbClr val="232F3E"/>
          </a:solidFill>
          <a:ln/>
        </p:spPr>
      </p:sp>
      <p:sp>
        <p:nvSpPr>
          <p:cNvPr id="13" name="Text 10"/>
          <p:cNvSpPr/>
          <p:nvPr/>
        </p:nvSpPr>
        <p:spPr>
          <a:xfrm>
            <a:off x="10483596" y="2098548"/>
            <a:ext cx="1554480" cy="329184"/>
          </a:xfrm>
          <a:prstGeom prst="rect">
            <a:avLst/>
          </a:prstGeom>
          <a:noFill/>
          <a:ln/>
        </p:spPr>
        <p:txBody>
          <a:bodyPr wrap="square" rtlCol="0" anchor="ctr"/>
          <a:lstStyle/>
          <a:p>
            <a:pPr marL="0" indent="0" algn="ctr">
              <a:buNone/>
            </a:pPr>
            <a:r>
              <a:rPr lang="en-US" sz="1000" b="1" dirty="0">
                <a:solidFill>
                  <a:srgbClr val="FF9900"/>
                </a:solidFill>
                <a:latin typeface="Consolas" pitchFamily="34" charset="0"/>
                <a:ea typeface="Consolas" pitchFamily="34" charset="-122"/>
                <a:cs typeface="Consolas" pitchFamily="34" charset="-120"/>
              </a:rPr>
              <a:t>git add</a:t>
            </a:r>
            <a:endParaRPr lang="en-US" sz="1000" dirty="0"/>
          </a:p>
        </p:txBody>
      </p:sp>
      <p:sp>
        <p:nvSpPr>
          <p:cNvPr id="14" name="Text 11"/>
          <p:cNvSpPr/>
          <p:nvPr/>
        </p:nvSpPr>
        <p:spPr>
          <a:xfrm>
            <a:off x="5820156" y="2743200"/>
            <a:ext cx="548640" cy="182880"/>
          </a:xfrm>
          <a:prstGeom prst="rect">
            <a:avLst/>
          </a:prstGeom>
          <a:noFill/>
          <a:ln/>
        </p:spPr>
        <p:txBody>
          <a:bodyPr wrap="square" rtlCol="0" anchor="ctr"/>
          <a:lstStyle/>
          <a:p>
            <a:pPr marL="0" indent="0" algn="ctr">
              <a:buNone/>
            </a:pPr>
            <a:r>
              <a:rPr lang="en-US" sz="1500" b="1" dirty="0">
                <a:solidFill>
                  <a:srgbClr val="FF9900"/>
                </a:solidFill>
                <a:latin typeface="Calibri" pitchFamily="34" charset="0"/>
                <a:ea typeface="Calibri" pitchFamily="34" charset="-122"/>
                <a:cs typeface="Calibri" pitchFamily="34" charset="-120"/>
              </a:rPr>
              <a:t>↓</a:t>
            </a:r>
            <a:endParaRPr lang="en-US" sz="1500" dirty="0"/>
          </a:p>
        </p:txBody>
      </p:sp>
      <p:sp>
        <p:nvSpPr>
          <p:cNvPr id="15" name="Shape 12"/>
          <p:cNvSpPr/>
          <p:nvPr/>
        </p:nvSpPr>
        <p:spPr>
          <a:xfrm>
            <a:off x="1888236" y="2926080"/>
            <a:ext cx="8412480" cy="960120"/>
          </a:xfrm>
          <a:prstGeom prst="roundRect">
            <a:avLst>
              <a:gd name="adj" fmla="val 8571"/>
            </a:avLst>
          </a:prstGeom>
          <a:solidFill>
            <a:srgbClr val="FFFFFF"/>
          </a:solidFill>
          <a:ln w="12700">
            <a:solidFill>
              <a:srgbClr val="D9DCE1"/>
            </a:solidFill>
            <a:prstDash val="solid"/>
          </a:ln>
        </p:spPr>
      </p:sp>
      <p:sp>
        <p:nvSpPr>
          <p:cNvPr id="16" name="Shape 13"/>
          <p:cNvSpPr/>
          <p:nvPr/>
        </p:nvSpPr>
        <p:spPr>
          <a:xfrm>
            <a:off x="1888236" y="2926080"/>
            <a:ext cx="128016" cy="960120"/>
          </a:xfrm>
          <a:prstGeom prst="rect">
            <a:avLst/>
          </a:prstGeom>
          <a:solidFill>
            <a:srgbClr val="FF9900"/>
          </a:solidFill>
          <a:ln/>
        </p:spPr>
      </p:sp>
      <p:sp>
        <p:nvSpPr>
          <p:cNvPr id="17" name="Shape 14"/>
          <p:cNvSpPr/>
          <p:nvPr/>
        </p:nvSpPr>
        <p:spPr>
          <a:xfrm>
            <a:off x="2382012" y="3076956"/>
            <a:ext cx="658368" cy="658368"/>
          </a:xfrm>
          <a:prstGeom prst="ellipse">
            <a:avLst/>
          </a:prstGeom>
          <a:solidFill>
            <a:srgbClr val="FFF3DE"/>
          </a:solidFill>
          <a:ln/>
        </p:spPr>
      </p:sp>
      <p:pic>
        <p:nvPicPr>
          <p:cNvPr id="18" name="Image 1" descr="/home/claude/ppt4/icon_clipboardcheck_d.png"/>
          <p:cNvPicPr>
            <a:picLocks noChangeAspect="1"/>
          </p:cNvPicPr>
          <p:nvPr/>
        </p:nvPicPr>
        <p:blipFill>
          <a:blip r:embed="rId4"/>
          <a:stretch>
            <a:fillRect/>
          </a:stretch>
        </p:blipFill>
        <p:spPr>
          <a:xfrm>
            <a:off x="2540020" y="3234964"/>
            <a:ext cx="342351" cy="342351"/>
          </a:xfrm>
          <a:prstGeom prst="rect">
            <a:avLst/>
          </a:prstGeom>
        </p:spPr>
      </p:pic>
      <p:sp>
        <p:nvSpPr>
          <p:cNvPr id="19" name="Text 15"/>
          <p:cNvSpPr/>
          <p:nvPr/>
        </p:nvSpPr>
        <p:spPr>
          <a:xfrm>
            <a:off x="3168396" y="3054096"/>
            <a:ext cx="3657600" cy="365760"/>
          </a:xfrm>
          <a:prstGeom prst="rect">
            <a:avLst/>
          </a:prstGeom>
          <a:noFill/>
          <a:ln/>
        </p:spPr>
        <p:txBody>
          <a:bodyPr wrap="square" rtlCol="0" anchor="ctr"/>
          <a:lstStyle/>
          <a:p>
            <a:pPr marL="0" indent="0">
              <a:buNone/>
            </a:pPr>
            <a:r>
              <a:rPr lang="en-US" sz="1500" b="1" dirty="0">
                <a:solidFill>
                  <a:srgbClr val="232F3E"/>
                </a:solidFill>
                <a:latin typeface="Arial" pitchFamily="34" charset="0"/>
                <a:ea typeface="Arial" pitchFamily="34" charset="-122"/>
                <a:cs typeface="Arial" pitchFamily="34" charset="-120"/>
              </a:rPr>
              <a:t>Staging Area</a:t>
            </a:r>
            <a:endParaRPr lang="en-US" sz="1500" dirty="0"/>
          </a:p>
        </p:txBody>
      </p:sp>
      <p:sp>
        <p:nvSpPr>
          <p:cNvPr id="20" name="Text 16"/>
          <p:cNvSpPr/>
          <p:nvPr/>
        </p:nvSpPr>
        <p:spPr>
          <a:xfrm>
            <a:off x="3168396" y="3429000"/>
            <a:ext cx="6949440" cy="36576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Files marked “ready”</a:t>
            </a:r>
            <a:endParaRPr lang="en-US" sz="1150" dirty="0"/>
          </a:p>
        </p:txBody>
      </p:sp>
      <p:sp>
        <p:nvSpPr>
          <p:cNvPr id="21" name="Shape 17"/>
          <p:cNvSpPr/>
          <p:nvPr/>
        </p:nvSpPr>
        <p:spPr>
          <a:xfrm>
            <a:off x="10483596" y="3241548"/>
            <a:ext cx="1554480" cy="329184"/>
          </a:xfrm>
          <a:prstGeom prst="roundRect">
            <a:avLst>
              <a:gd name="adj" fmla="val 50000"/>
            </a:avLst>
          </a:prstGeom>
          <a:solidFill>
            <a:srgbClr val="232F3E"/>
          </a:solidFill>
          <a:ln/>
        </p:spPr>
      </p:sp>
      <p:sp>
        <p:nvSpPr>
          <p:cNvPr id="22" name="Text 18"/>
          <p:cNvSpPr/>
          <p:nvPr/>
        </p:nvSpPr>
        <p:spPr>
          <a:xfrm>
            <a:off x="10483596" y="3241548"/>
            <a:ext cx="1554480" cy="329184"/>
          </a:xfrm>
          <a:prstGeom prst="rect">
            <a:avLst/>
          </a:prstGeom>
          <a:noFill/>
          <a:ln/>
        </p:spPr>
        <p:txBody>
          <a:bodyPr wrap="square" rtlCol="0" anchor="ctr"/>
          <a:lstStyle/>
          <a:p>
            <a:pPr marL="0" indent="0" algn="ctr">
              <a:buNone/>
            </a:pPr>
            <a:r>
              <a:rPr lang="en-US" sz="1000" b="1" dirty="0">
                <a:solidFill>
                  <a:srgbClr val="FF9900"/>
                </a:solidFill>
                <a:latin typeface="Consolas" pitchFamily="34" charset="0"/>
                <a:ea typeface="Consolas" pitchFamily="34" charset="-122"/>
                <a:cs typeface="Consolas" pitchFamily="34" charset="-120"/>
              </a:rPr>
              <a:t>git commit</a:t>
            </a:r>
            <a:endParaRPr lang="en-US" sz="1000" dirty="0"/>
          </a:p>
        </p:txBody>
      </p:sp>
      <p:sp>
        <p:nvSpPr>
          <p:cNvPr id="23" name="Text 19"/>
          <p:cNvSpPr/>
          <p:nvPr/>
        </p:nvSpPr>
        <p:spPr>
          <a:xfrm>
            <a:off x="5820156" y="3886200"/>
            <a:ext cx="548640" cy="182880"/>
          </a:xfrm>
          <a:prstGeom prst="rect">
            <a:avLst/>
          </a:prstGeom>
          <a:noFill/>
          <a:ln/>
        </p:spPr>
        <p:txBody>
          <a:bodyPr wrap="square" rtlCol="0" anchor="ctr"/>
          <a:lstStyle/>
          <a:p>
            <a:pPr marL="0" indent="0" algn="ctr">
              <a:buNone/>
            </a:pPr>
            <a:r>
              <a:rPr lang="en-US" sz="1500" b="1" dirty="0">
                <a:solidFill>
                  <a:srgbClr val="FF9900"/>
                </a:solidFill>
                <a:latin typeface="Calibri" pitchFamily="34" charset="0"/>
                <a:ea typeface="Calibri" pitchFamily="34" charset="-122"/>
                <a:cs typeface="Calibri" pitchFamily="34" charset="-120"/>
              </a:rPr>
              <a:t>↓</a:t>
            </a:r>
            <a:endParaRPr lang="en-US" sz="1500" dirty="0"/>
          </a:p>
        </p:txBody>
      </p:sp>
      <p:sp>
        <p:nvSpPr>
          <p:cNvPr id="24" name="Shape 20"/>
          <p:cNvSpPr/>
          <p:nvPr/>
        </p:nvSpPr>
        <p:spPr>
          <a:xfrm>
            <a:off x="1888236" y="4069080"/>
            <a:ext cx="8412480" cy="960120"/>
          </a:xfrm>
          <a:prstGeom prst="roundRect">
            <a:avLst>
              <a:gd name="adj" fmla="val 8571"/>
            </a:avLst>
          </a:prstGeom>
          <a:solidFill>
            <a:srgbClr val="FFFFFF"/>
          </a:solidFill>
          <a:ln w="12700">
            <a:solidFill>
              <a:srgbClr val="D9DCE1"/>
            </a:solidFill>
            <a:prstDash val="solid"/>
          </a:ln>
        </p:spPr>
      </p:sp>
      <p:sp>
        <p:nvSpPr>
          <p:cNvPr id="25" name="Shape 21"/>
          <p:cNvSpPr/>
          <p:nvPr/>
        </p:nvSpPr>
        <p:spPr>
          <a:xfrm>
            <a:off x="1888236" y="4069080"/>
            <a:ext cx="128016" cy="960120"/>
          </a:xfrm>
          <a:prstGeom prst="rect">
            <a:avLst/>
          </a:prstGeom>
          <a:solidFill>
            <a:srgbClr val="FF9900"/>
          </a:solidFill>
          <a:ln/>
        </p:spPr>
      </p:sp>
      <p:sp>
        <p:nvSpPr>
          <p:cNvPr id="26" name="Shape 22"/>
          <p:cNvSpPr/>
          <p:nvPr/>
        </p:nvSpPr>
        <p:spPr>
          <a:xfrm>
            <a:off x="2382012" y="4219956"/>
            <a:ext cx="658368" cy="658368"/>
          </a:xfrm>
          <a:prstGeom prst="ellipse">
            <a:avLst/>
          </a:prstGeom>
          <a:solidFill>
            <a:srgbClr val="FFF3DE"/>
          </a:solidFill>
          <a:ln/>
        </p:spPr>
      </p:sp>
      <p:pic>
        <p:nvPicPr>
          <p:cNvPr id="27" name="Image 2" descr="/home/claude/ppt4/icon_save_d.png"/>
          <p:cNvPicPr>
            <a:picLocks noChangeAspect="1"/>
          </p:cNvPicPr>
          <p:nvPr/>
        </p:nvPicPr>
        <p:blipFill>
          <a:blip r:embed="rId5"/>
          <a:stretch>
            <a:fillRect/>
          </a:stretch>
        </p:blipFill>
        <p:spPr>
          <a:xfrm>
            <a:off x="2540020" y="4377964"/>
            <a:ext cx="342351" cy="342351"/>
          </a:xfrm>
          <a:prstGeom prst="rect">
            <a:avLst/>
          </a:prstGeom>
        </p:spPr>
      </p:pic>
      <p:sp>
        <p:nvSpPr>
          <p:cNvPr id="28" name="Text 23"/>
          <p:cNvSpPr/>
          <p:nvPr/>
        </p:nvSpPr>
        <p:spPr>
          <a:xfrm>
            <a:off x="3168396" y="4197096"/>
            <a:ext cx="3657600" cy="365760"/>
          </a:xfrm>
          <a:prstGeom prst="rect">
            <a:avLst/>
          </a:prstGeom>
          <a:noFill/>
          <a:ln/>
        </p:spPr>
        <p:txBody>
          <a:bodyPr wrap="square" rtlCol="0" anchor="ctr"/>
          <a:lstStyle/>
          <a:p>
            <a:pPr marL="0" indent="0">
              <a:buNone/>
            </a:pPr>
            <a:r>
              <a:rPr lang="en-US" sz="1500" b="1" dirty="0">
                <a:solidFill>
                  <a:srgbClr val="232F3E"/>
                </a:solidFill>
                <a:latin typeface="Arial" pitchFamily="34" charset="0"/>
                <a:ea typeface="Arial" pitchFamily="34" charset="-122"/>
                <a:cs typeface="Arial" pitchFamily="34" charset="-120"/>
              </a:rPr>
              <a:t>Local Repository</a:t>
            </a:r>
            <a:endParaRPr lang="en-US" sz="1500" dirty="0"/>
          </a:p>
        </p:txBody>
      </p:sp>
      <p:sp>
        <p:nvSpPr>
          <p:cNvPr id="29" name="Text 24"/>
          <p:cNvSpPr/>
          <p:nvPr/>
        </p:nvSpPr>
        <p:spPr>
          <a:xfrm>
            <a:off x="3168396" y="4572000"/>
            <a:ext cx="6949440" cy="36576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Committed, permanent history</a:t>
            </a:r>
            <a:endParaRPr lang="en-US" sz="1150" dirty="0"/>
          </a:p>
        </p:txBody>
      </p:sp>
      <p:sp>
        <p:nvSpPr>
          <p:cNvPr id="30" name="Shape 25"/>
          <p:cNvSpPr/>
          <p:nvPr/>
        </p:nvSpPr>
        <p:spPr>
          <a:xfrm>
            <a:off x="10483596" y="4384548"/>
            <a:ext cx="1554480" cy="329184"/>
          </a:xfrm>
          <a:prstGeom prst="roundRect">
            <a:avLst>
              <a:gd name="adj" fmla="val 50000"/>
            </a:avLst>
          </a:prstGeom>
          <a:solidFill>
            <a:srgbClr val="232F3E"/>
          </a:solidFill>
          <a:ln/>
        </p:spPr>
      </p:sp>
      <p:sp>
        <p:nvSpPr>
          <p:cNvPr id="31" name="Text 26"/>
          <p:cNvSpPr/>
          <p:nvPr/>
        </p:nvSpPr>
        <p:spPr>
          <a:xfrm>
            <a:off x="10483596" y="4384548"/>
            <a:ext cx="1554480" cy="329184"/>
          </a:xfrm>
          <a:prstGeom prst="rect">
            <a:avLst/>
          </a:prstGeom>
          <a:noFill/>
          <a:ln/>
        </p:spPr>
        <p:txBody>
          <a:bodyPr wrap="square" rtlCol="0" anchor="ctr"/>
          <a:lstStyle/>
          <a:p>
            <a:pPr marL="0" indent="0" algn="ctr">
              <a:buNone/>
            </a:pPr>
            <a:r>
              <a:rPr lang="en-US" sz="1000" b="1" dirty="0">
                <a:solidFill>
                  <a:srgbClr val="FF9900"/>
                </a:solidFill>
                <a:latin typeface="Consolas" pitchFamily="34" charset="0"/>
                <a:ea typeface="Consolas" pitchFamily="34" charset="-122"/>
                <a:cs typeface="Consolas" pitchFamily="34" charset="-120"/>
              </a:rPr>
              <a:t>git push</a:t>
            </a:r>
            <a:endParaRPr lang="en-US" sz="1000" dirty="0"/>
          </a:p>
        </p:txBody>
      </p:sp>
      <p:sp>
        <p:nvSpPr>
          <p:cNvPr id="32" name="Text 27"/>
          <p:cNvSpPr/>
          <p:nvPr/>
        </p:nvSpPr>
        <p:spPr>
          <a:xfrm>
            <a:off x="5820156" y="5029200"/>
            <a:ext cx="548640" cy="182880"/>
          </a:xfrm>
          <a:prstGeom prst="rect">
            <a:avLst/>
          </a:prstGeom>
          <a:noFill/>
          <a:ln/>
        </p:spPr>
        <p:txBody>
          <a:bodyPr wrap="square" rtlCol="0" anchor="ctr"/>
          <a:lstStyle/>
          <a:p>
            <a:pPr marL="0" indent="0" algn="ctr">
              <a:buNone/>
            </a:pPr>
            <a:r>
              <a:rPr lang="en-US" sz="1500" b="1" dirty="0">
                <a:solidFill>
                  <a:srgbClr val="FF9900"/>
                </a:solidFill>
                <a:latin typeface="Calibri" pitchFamily="34" charset="0"/>
                <a:ea typeface="Calibri" pitchFamily="34" charset="-122"/>
                <a:cs typeface="Calibri" pitchFamily="34" charset="-120"/>
              </a:rPr>
              <a:t>↓</a:t>
            </a:r>
            <a:endParaRPr lang="en-US" sz="1500" dirty="0"/>
          </a:p>
        </p:txBody>
      </p:sp>
      <p:sp>
        <p:nvSpPr>
          <p:cNvPr id="33" name="Shape 28"/>
          <p:cNvSpPr/>
          <p:nvPr/>
        </p:nvSpPr>
        <p:spPr>
          <a:xfrm>
            <a:off x="1888236" y="5212080"/>
            <a:ext cx="8412480" cy="960120"/>
          </a:xfrm>
          <a:prstGeom prst="roundRect">
            <a:avLst>
              <a:gd name="adj" fmla="val 8571"/>
            </a:avLst>
          </a:prstGeom>
          <a:solidFill>
            <a:srgbClr val="FFFFFF"/>
          </a:solidFill>
          <a:ln w="12700">
            <a:solidFill>
              <a:srgbClr val="D9DCE1"/>
            </a:solidFill>
            <a:prstDash val="solid"/>
          </a:ln>
        </p:spPr>
      </p:sp>
      <p:sp>
        <p:nvSpPr>
          <p:cNvPr id="34" name="Shape 29"/>
          <p:cNvSpPr/>
          <p:nvPr/>
        </p:nvSpPr>
        <p:spPr>
          <a:xfrm>
            <a:off x="1888236" y="5212080"/>
            <a:ext cx="128016" cy="960120"/>
          </a:xfrm>
          <a:prstGeom prst="rect">
            <a:avLst/>
          </a:prstGeom>
          <a:solidFill>
            <a:srgbClr val="6E40C9"/>
          </a:solidFill>
          <a:ln/>
        </p:spPr>
      </p:sp>
      <p:sp>
        <p:nvSpPr>
          <p:cNvPr id="35" name="Shape 30"/>
          <p:cNvSpPr/>
          <p:nvPr/>
        </p:nvSpPr>
        <p:spPr>
          <a:xfrm>
            <a:off x="2382012" y="5362956"/>
            <a:ext cx="658368" cy="658368"/>
          </a:xfrm>
          <a:prstGeom prst="ellipse">
            <a:avLst/>
          </a:prstGeom>
          <a:solidFill>
            <a:srgbClr val="FFF3DE"/>
          </a:solidFill>
          <a:ln/>
        </p:spPr>
      </p:sp>
      <p:pic>
        <p:nvPicPr>
          <p:cNvPr id="36" name="Image 3" descr="/home/claude/ppt4/icon_github_d.png"/>
          <p:cNvPicPr>
            <a:picLocks noChangeAspect="1"/>
          </p:cNvPicPr>
          <p:nvPr/>
        </p:nvPicPr>
        <p:blipFill>
          <a:blip r:embed="rId6"/>
          <a:stretch>
            <a:fillRect/>
          </a:stretch>
        </p:blipFill>
        <p:spPr>
          <a:xfrm>
            <a:off x="2540020" y="5520964"/>
            <a:ext cx="342351" cy="342351"/>
          </a:xfrm>
          <a:prstGeom prst="rect">
            <a:avLst/>
          </a:prstGeom>
        </p:spPr>
      </p:pic>
      <p:sp>
        <p:nvSpPr>
          <p:cNvPr id="37" name="Text 31"/>
          <p:cNvSpPr/>
          <p:nvPr/>
        </p:nvSpPr>
        <p:spPr>
          <a:xfrm>
            <a:off x="3168396" y="5340096"/>
            <a:ext cx="3657600" cy="365760"/>
          </a:xfrm>
          <a:prstGeom prst="rect">
            <a:avLst/>
          </a:prstGeom>
          <a:noFill/>
          <a:ln/>
        </p:spPr>
        <p:txBody>
          <a:bodyPr wrap="square" rtlCol="0" anchor="ctr"/>
          <a:lstStyle/>
          <a:p>
            <a:pPr marL="0" indent="0">
              <a:buNone/>
            </a:pPr>
            <a:r>
              <a:rPr lang="en-US" sz="1500" b="1" dirty="0">
                <a:solidFill>
                  <a:srgbClr val="232F3E"/>
                </a:solidFill>
                <a:latin typeface="Arial" pitchFamily="34" charset="0"/>
                <a:ea typeface="Arial" pitchFamily="34" charset="-122"/>
                <a:cs typeface="Arial" pitchFamily="34" charset="-120"/>
              </a:rPr>
              <a:t>Remote Repository</a:t>
            </a:r>
            <a:endParaRPr lang="en-US" sz="1500" dirty="0"/>
          </a:p>
        </p:txBody>
      </p:sp>
      <p:sp>
        <p:nvSpPr>
          <p:cNvPr id="38" name="Text 32"/>
          <p:cNvSpPr/>
          <p:nvPr/>
        </p:nvSpPr>
        <p:spPr>
          <a:xfrm>
            <a:off x="3168396" y="5715000"/>
            <a:ext cx="6949440" cy="36576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Synced to GitHub</a:t>
            </a:r>
            <a:endParaRPr lang="en-US" sz="1150" dirty="0"/>
          </a:p>
        </p:txBody>
      </p:sp>
      <p:sp>
        <p:nvSpPr>
          <p:cNvPr id="39" name="Text 33"/>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40" name="Text 34"/>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REPOSITORY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Essential Git Commands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Six commands you'll type constantly, starting today.</a:t>
            </a:r>
            <a:endParaRPr lang="en-US" sz="1250" dirty="0"/>
          </a:p>
        </p:txBody>
      </p:sp>
      <p:sp>
        <p:nvSpPr>
          <p:cNvPr id="6" name="Shape 4"/>
          <p:cNvSpPr/>
          <p:nvPr/>
        </p:nvSpPr>
        <p:spPr>
          <a:xfrm>
            <a:off x="548640" y="1828800"/>
            <a:ext cx="5760720" cy="3200400"/>
          </a:xfrm>
          <a:prstGeom prst="roundRect">
            <a:avLst>
              <a:gd name="adj" fmla="val 2571"/>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7" name="Shape 5"/>
          <p:cNvSpPr/>
          <p:nvPr/>
        </p:nvSpPr>
        <p:spPr>
          <a:xfrm>
            <a:off x="548640" y="1828800"/>
            <a:ext cx="5760720" cy="320040"/>
          </a:xfrm>
          <a:prstGeom prst="roundRect">
            <a:avLst>
              <a:gd name="adj" fmla="val 25714"/>
            </a:avLst>
          </a:prstGeom>
          <a:solidFill>
            <a:srgbClr val="1B2430"/>
          </a:solidFill>
          <a:ln/>
        </p:spPr>
      </p:sp>
      <p:sp>
        <p:nvSpPr>
          <p:cNvPr id="8" name="Shape 6"/>
          <p:cNvSpPr/>
          <p:nvPr/>
        </p:nvSpPr>
        <p:spPr>
          <a:xfrm>
            <a:off x="548640" y="1984248"/>
            <a:ext cx="5760720" cy="164592"/>
          </a:xfrm>
          <a:prstGeom prst="rect">
            <a:avLst/>
          </a:prstGeom>
          <a:solidFill>
            <a:srgbClr val="1B2430"/>
          </a:solidFill>
          <a:ln/>
        </p:spPr>
      </p:sp>
      <p:sp>
        <p:nvSpPr>
          <p:cNvPr id="9" name="Shape 7"/>
          <p:cNvSpPr/>
          <p:nvPr/>
        </p:nvSpPr>
        <p:spPr>
          <a:xfrm>
            <a:off x="713232" y="1933956"/>
            <a:ext cx="118872" cy="118872"/>
          </a:xfrm>
          <a:prstGeom prst="ellipse">
            <a:avLst/>
          </a:prstGeom>
          <a:solidFill>
            <a:srgbClr val="E5533D"/>
          </a:solidFill>
          <a:ln/>
        </p:spPr>
      </p:sp>
      <p:sp>
        <p:nvSpPr>
          <p:cNvPr id="10" name="Shape 8"/>
          <p:cNvSpPr/>
          <p:nvPr/>
        </p:nvSpPr>
        <p:spPr>
          <a:xfrm>
            <a:off x="932688" y="1933956"/>
            <a:ext cx="118872" cy="118872"/>
          </a:xfrm>
          <a:prstGeom prst="ellipse">
            <a:avLst/>
          </a:prstGeom>
          <a:solidFill>
            <a:srgbClr val="F2C511"/>
          </a:solidFill>
          <a:ln/>
        </p:spPr>
      </p:sp>
      <p:sp>
        <p:nvSpPr>
          <p:cNvPr id="11" name="Shape 9"/>
          <p:cNvSpPr/>
          <p:nvPr/>
        </p:nvSpPr>
        <p:spPr>
          <a:xfrm>
            <a:off x="1152144" y="1933956"/>
            <a:ext cx="118872" cy="118872"/>
          </a:xfrm>
          <a:prstGeom prst="ellipse">
            <a:avLst/>
          </a:prstGeom>
          <a:solidFill>
            <a:srgbClr val="2AC940"/>
          </a:solidFill>
          <a:ln/>
        </p:spPr>
      </p:sp>
      <p:sp>
        <p:nvSpPr>
          <p:cNvPr id="12" name="Text 10"/>
          <p:cNvSpPr/>
          <p:nvPr/>
        </p:nvSpPr>
        <p:spPr>
          <a:xfrm>
            <a:off x="1371600" y="1828800"/>
            <a:ext cx="475488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user@cloud:~/project</a:t>
            </a:r>
            <a:endParaRPr lang="en-US" sz="1000" dirty="0"/>
          </a:p>
        </p:txBody>
      </p:sp>
      <p:sp>
        <p:nvSpPr>
          <p:cNvPr id="13" name="Text 11"/>
          <p:cNvSpPr/>
          <p:nvPr/>
        </p:nvSpPr>
        <p:spPr>
          <a:xfrm>
            <a:off x="822960" y="2286000"/>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init</a:t>
            </a:r>
            <a:endParaRPr lang="en-US" sz="1200" dirty="0"/>
          </a:p>
        </p:txBody>
      </p:sp>
      <p:sp>
        <p:nvSpPr>
          <p:cNvPr id="14" name="Text 12"/>
          <p:cNvSpPr/>
          <p:nvPr/>
        </p:nvSpPr>
        <p:spPr>
          <a:xfrm>
            <a:off x="822960" y="2578608"/>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(starts tracking this folder)</a:t>
            </a:r>
            <a:endParaRPr lang="en-US" sz="1200" dirty="0"/>
          </a:p>
        </p:txBody>
      </p:sp>
      <p:sp>
        <p:nvSpPr>
          <p:cNvPr id="15" name="Text 13"/>
          <p:cNvSpPr/>
          <p:nvPr/>
        </p:nvSpPr>
        <p:spPr>
          <a:xfrm>
            <a:off x="822960" y="2871216"/>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status</a:t>
            </a:r>
            <a:endParaRPr lang="en-US" sz="1200" dirty="0"/>
          </a:p>
        </p:txBody>
      </p:sp>
      <p:sp>
        <p:nvSpPr>
          <p:cNvPr id="16" name="Text 14"/>
          <p:cNvSpPr/>
          <p:nvPr/>
        </p:nvSpPr>
        <p:spPr>
          <a:xfrm>
            <a:off x="822960" y="3163824"/>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(shows what's changed)</a:t>
            </a:r>
            <a:endParaRPr lang="en-US" sz="1200" dirty="0"/>
          </a:p>
        </p:txBody>
      </p:sp>
      <p:sp>
        <p:nvSpPr>
          <p:cNvPr id="17" name="Text 15"/>
          <p:cNvSpPr/>
          <p:nvPr/>
        </p:nvSpPr>
        <p:spPr>
          <a:xfrm>
            <a:off x="822960" y="3456432"/>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add file.txt</a:t>
            </a:r>
            <a:endParaRPr lang="en-US" sz="1200" dirty="0"/>
          </a:p>
        </p:txBody>
      </p:sp>
      <p:sp>
        <p:nvSpPr>
          <p:cNvPr id="18" name="Text 16"/>
          <p:cNvSpPr/>
          <p:nvPr/>
        </p:nvSpPr>
        <p:spPr>
          <a:xfrm>
            <a:off x="822960" y="3749040"/>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commit -m "Add file"</a:t>
            </a:r>
            <a:endParaRPr lang="en-US" sz="1200" dirty="0"/>
          </a:p>
        </p:txBody>
      </p:sp>
      <p:sp>
        <p:nvSpPr>
          <p:cNvPr id="19" name="Text 17"/>
          <p:cNvSpPr/>
          <p:nvPr/>
        </p:nvSpPr>
        <p:spPr>
          <a:xfrm>
            <a:off x="822960" y="4041648"/>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log</a:t>
            </a:r>
            <a:endParaRPr lang="en-US" sz="1200" dirty="0"/>
          </a:p>
        </p:txBody>
      </p:sp>
      <p:sp>
        <p:nvSpPr>
          <p:cNvPr id="20" name="Text 18"/>
          <p:cNvSpPr/>
          <p:nvPr/>
        </p:nvSpPr>
        <p:spPr>
          <a:xfrm>
            <a:off x="822960" y="4334256"/>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diff</a:t>
            </a:r>
            <a:endParaRPr lang="en-US" sz="1200" dirty="0"/>
          </a:p>
        </p:txBody>
      </p:sp>
      <p:sp>
        <p:nvSpPr>
          <p:cNvPr id="21" name="Text 19"/>
          <p:cNvSpPr/>
          <p:nvPr/>
        </p:nvSpPr>
        <p:spPr>
          <a:xfrm>
            <a:off x="6629400" y="1828800"/>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init</a:t>
            </a:r>
            <a:endParaRPr lang="en-US" sz="1300" dirty="0"/>
          </a:p>
        </p:txBody>
      </p:sp>
      <p:sp>
        <p:nvSpPr>
          <p:cNvPr id="22" name="Text 20"/>
          <p:cNvSpPr/>
          <p:nvPr/>
        </p:nvSpPr>
        <p:spPr>
          <a:xfrm>
            <a:off x="6629400" y="2084832"/>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Turn a folder into a Git repository</a:t>
            </a:r>
            <a:endParaRPr lang="en-US" sz="1100" dirty="0"/>
          </a:p>
        </p:txBody>
      </p:sp>
      <p:sp>
        <p:nvSpPr>
          <p:cNvPr id="23" name="Text 21"/>
          <p:cNvSpPr/>
          <p:nvPr/>
        </p:nvSpPr>
        <p:spPr>
          <a:xfrm>
            <a:off x="6629400" y="2359152"/>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status</a:t>
            </a:r>
            <a:endParaRPr lang="en-US" sz="1300" dirty="0"/>
          </a:p>
        </p:txBody>
      </p:sp>
      <p:sp>
        <p:nvSpPr>
          <p:cNvPr id="24" name="Text 22"/>
          <p:cNvSpPr/>
          <p:nvPr/>
        </p:nvSpPr>
        <p:spPr>
          <a:xfrm>
            <a:off x="6629400" y="2615184"/>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See what's changed right now</a:t>
            </a:r>
            <a:endParaRPr lang="en-US" sz="1100" dirty="0"/>
          </a:p>
        </p:txBody>
      </p:sp>
      <p:sp>
        <p:nvSpPr>
          <p:cNvPr id="25" name="Text 23"/>
          <p:cNvSpPr/>
          <p:nvPr/>
        </p:nvSpPr>
        <p:spPr>
          <a:xfrm>
            <a:off x="6629400" y="2889504"/>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add</a:t>
            </a:r>
            <a:endParaRPr lang="en-US" sz="1300" dirty="0"/>
          </a:p>
        </p:txBody>
      </p:sp>
      <p:sp>
        <p:nvSpPr>
          <p:cNvPr id="26" name="Text 24"/>
          <p:cNvSpPr/>
          <p:nvPr/>
        </p:nvSpPr>
        <p:spPr>
          <a:xfrm>
            <a:off x="6629400" y="3145536"/>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Stage a file for the next commit</a:t>
            </a:r>
            <a:endParaRPr lang="en-US" sz="1100" dirty="0"/>
          </a:p>
        </p:txBody>
      </p:sp>
      <p:sp>
        <p:nvSpPr>
          <p:cNvPr id="27" name="Text 25"/>
          <p:cNvSpPr/>
          <p:nvPr/>
        </p:nvSpPr>
        <p:spPr>
          <a:xfrm>
            <a:off x="6629400" y="3419856"/>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commit</a:t>
            </a:r>
            <a:endParaRPr lang="en-US" sz="1300" dirty="0"/>
          </a:p>
        </p:txBody>
      </p:sp>
      <p:sp>
        <p:nvSpPr>
          <p:cNvPr id="28" name="Text 26"/>
          <p:cNvSpPr/>
          <p:nvPr/>
        </p:nvSpPr>
        <p:spPr>
          <a:xfrm>
            <a:off x="6629400" y="3675888"/>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Save a permanent snapshot</a:t>
            </a:r>
            <a:endParaRPr lang="en-US" sz="1100" dirty="0"/>
          </a:p>
        </p:txBody>
      </p:sp>
      <p:sp>
        <p:nvSpPr>
          <p:cNvPr id="29" name="Text 27"/>
          <p:cNvSpPr/>
          <p:nvPr/>
        </p:nvSpPr>
        <p:spPr>
          <a:xfrm>
            <a:off x="6629400" y="3950208"/>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log</a:t>
            </a:r>
            <a:endParaRPr lang="en-US" sz="1300" dirty="0"/>
          </a:p>
        </p:txBody>
      </p:sp>
      <p:sp>
        <p:nvSpPr>
          <p:cNvPr id="30" name="Text 28"/>
          <p:cNvSpPr/>
          <p:nvPr/>
        </p:nvSpPr>
        <p:spPr>
          <a:xfrm>
            <a:off x="6629400" y="4206240"/>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View commit history</a:t>
            </a:r>
            <a:endParaRPr lang="en-US" sz="1100" dirty="0"/>
          </a:p>
        </p:txBody>
      </p:sp>
      <p:sp>
        <p:nvSpPr>
          <p:cNvPr id="31" name="Text 29"/>
          <p:cNvSpPr/>
          <p:nvPr/>
        </p:nvSpPr>
        <p:spPr>
          <a:xfrm>
            <a:off x="6629400" y="4480560"/>
            <a:ext cx="4937760" cy="274320"/>
          </a:xfrm>
          <a:prstGeom prst="rect">
            <a:avLst/>
          </a:prstGeom>
          <a:noFill/>
          <a:ln/>
        </p:spPr>
        <p:txBody>
          <a:bodyPr wrap="square" rtlCol="0" anchor="ctr"/>
          <a:lstStyle/>
          <a:p>
            <a:pPr marL="0" indent="0">
              <a:buNone/>
            </a:pPr>
            <a:r>
              <a:rPr lang="en-US" sz="1300" b="1" dirty="0">
                <a:solidFill>
                  <a:srgbClr val="232F3E"/>
                </a:solidFill>
                <a:latin typeface="Consolas" pitchFamily="34" charset="0"/>
                <a:ea typeface="Consolas" pitchFamily="34" charset="-122"/>
                <a:cs typeface="Consolas" pitchFamily="34" charset="-120"/>
              </a:rPr>
              <a:t>git diff</a:t>
            </a:r>
            <a:endParaRPr lang="en-US" sz="1300" dirty="0"/>
          </a:p>
        </p:txBody>
      </p:sp>
      <p:sp>
        <p:nvSpPr>
          <p:cNvPr id="32" name="Text 30"/>
          <p:cNvSpPr/>
          <p:nvPr/>
        </p:nvSpPr>
        <p:spPr>
          <a:xfrm>
            <a:off x="6629400" y="4736592"/>
            <a:ext cx="4937760" cy="292608"/>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See exact line-by-line changes</a:t>
            </a:r>
            <a:endParaRPr lang="en-US" sz="1100" dirty="0"/>
          </a:p>
        </p:txBody>
      </p:sp>
      <p:sp>
        <p:nvSpPr>
          <p:cNvPr id="33" name="Text 31"/>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4" name="Text 32"/>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REPOSITORY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First Repository — Guided Lab</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Create your very first Git repository from scratch.</a:t>
            </a:r>
            <a:endParaRPr lang="en-US" sz="1250" dirty="0"/>
          </a:p>
        </p:txBody>
      </p:sp>
      <p:sp>
        <p:nvSpPr>
          <p:cNvPr id="6" name="Shape 4"/>
          <p:cNvSpPr/>
          <p:nvPr/>
        </p:nvSpPr>
        <p:spPr>
          <a:xfrm>
            <a:off x="1522476" y="1828800"/>
            <a:ext cx="9144000" cy="3383280"/>
          </a:xfrm>
          <a:prstGeom prst="roundRect">
            <a:avLst>
              <a:gd name="adj" fmla="val 2432"/>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7" name="Shape 5"/>
          <p:cNvSpPr/>
          <p:nvPr/>
        </p:nvSpPr>
        <p:spPr>
          <a:xfrm>
            <a:off x="1522476" y="1828800"/>
            <a:ext cx="9144000" cy="320040"/>
          </a:xfrm>
          <a:prstGeom prst="roundRect">
            <a:avLst>
              <a:gd name="adj" fmla="val 25714"/>
            </a:avLst>
          </a:prstGeom>
          <a:solidFill>
            <a:srgbClr val="1B2430"/>
          </a:solidFill>
          <a:ln/>
        </p:spPr>
      </p:sp>
      <p:sp>
        <p:nvSpPr>
          <p:cNvPr id="8" name="Shape 6"/>
          <p:cNvSpPr/>
          <p:nvPr/>
        </p:nvSpPr>
        <p:spPr>
          <a:xfrm>
            <a:off x="1522476" y="1984248"/>
            <a:ext cx="9144000" cy="164592"/>
          </a:xfrm>
          <a:prstGeom prst="rect">
            <a:avLst/>
          </a:prstGeom>
          <a:solidFill>
            <a:srgbClr val="1B2430"/>
          </a:solidFill>
          <a:ln/>
        </p:spPr>
      </p:sp>
      <p:sp>
        <p:nvSpPr>
          <p:cNvPr id="9" name="Shape 7"/>
          <p:cNvSpPr/>
          <p:nvPr/>
        </p:nvSpPr>
        <p:spPr>
          <a:xfrm>
            <a:off x="1687068" y="1933956"/>
            <a:ext cx="118872" cy="118872"/>
          </a:xfrm>
          <a:prstGeom prst="ellipse">
            <a:avLst/>
          </a:prstGeom>
          <a:solidFill>
            <a:srgbClr val="E5533D"/>
          </a:solidFill>
          <a:ln/>
        </p:spPr>
      </p:sp>
      <p:sp>
        <p:nvSpPr>
          <p:cNvPr id="10" name="Shape 8"/>
          <p:cNvSpPr/>
          <p:nvPr/>
        </p:nvSpPr>
        <p:spPr>
          <a:xfrm>
            <a:off x="1906524" y="1933956"/>
            <a:ext cx="118872" cy="118872"/>
          </a:xfrm>
          <a:prstGeom prst="ellipse">
            <a:avLst/>
          </a:prstGeom>
          <a:solidFill>
            <a:srgbClr val="F2C511"/>
          </a:solidFill>
          <a:ln/>
        </p:spPr>
      </p:sp>
      <p:sp>
        <p:nvSpPr>
          <p:cNvPr id="11" name="Shape 9"/>
          <p:cNvSpPr/>
          <p:nvPr/>
        </p:nvSpPr>
        <p:spPr>
          <a:xfrm>
            <a:off x="2125980" y="1933956"/>
            <a:ext cx="118872" cy="118872"/>
          </a:xfrm>
          <a:prstGeom prst="ellipse">
            <a:avLst/>
          </a:prstGeom>
          <a:solidFill>
            <a:srgbClr val="2AC940"/>
          </a:solidFill>
          <a:ln/>
        </p:spPr>
      </p:sp>
      <p:sp>
        <p:nvSpPr>
          <p:cNvPr id="12" name="Text 10"/>
          <p:cNvSpPr/>
          <p:nvPr/>
        </p:nvSpPr>
        <p:spPr>
          <a:xfrm>
            <a:off x="2345436" y="1828800"/>
            <a:ext cx="813816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First Repository Lab</a:t>
            </a:r>
            <a:endParaRPr lang="en-US" sz="1000" dirty="0"/>
          </a:p>
        </p:txBody>
      </p:sp>
      <p:sp>
        <p:nvSpPr>
          <p:cNvPr id="13" name="Text 11"/>
          <p:cNvSpPr/>
          <p:nvPr/>
        </p:nvSpPr>
        <p:spPr>
          <a:xfrm>
            <a:off x="1796796" y="2286000"/>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mkdir my-first-repo &amp;&amp; cd my-first-repo</a:t>
            </a:r>
            <a:endParaRPr lang="en-US" sz="1200" dirty="0"/>
          </a:p>
        </p:txBody>
      </p:sp>
      <p:sp>
        <p:nvSpPr>
          <p:cNvPr id="14" name="Text 12"/>
          <p:cNvSpPr/>
          <p:nvPr/>
        </p:nvSpPr>
        <p:spPr>
          <a:xfrm>
            <a:off x="1796796" y="2578608"/>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init</a:t>
            </a:r>
            <a:endParaRPr lang="en-US" sz="1200" dirty="0"/>
          </a:p>
        </p:txBody>
      </p:sp>
      <p:sp>
        <p:nvSpPr>
          <p:cNvPr id="15" name="Text 13"/>
          <p:cNvSpPr/>
          <p:nvPr/>
        </p:nvSpPr>
        <p:spPr>
          <a:xfrm>
            <a:off x="1796796" y="2871216"/>
            <a:ext cx="8595360" cy="292608"/>
          </a:xfrm>
          <a:prstGeom prst="rect">
            <a:avLst/>
          </a:prstGeom>
          <a:noFill/>
          <a:ln/>
        </p:spPr>
        <p:txBody>
          <a:bodyPr wrap="square" rtlCol="0" anchor="t"/>
          <a:lstStyle/>
          <a:p>
            <a:pPr marL="0" indent="0">
              <a:buNone/>
            </a:pPr>
            <a:r>
              <a:rPr lang="en-US" sz="1200" dirty="0">
                <a:solidFill>
                  <a:srgbClr val="2AC940"/>
                </a:solidFill>
                <a:latin typeface="Consolas" pitchFamily="34" charset="0"/>
                <a:ea typeface="Consolas" pitchFamily="34" charset="-122"/>
                <a:cs typeface="Consolas" pitchFamily="34" charset="-120"/>
              </a:rPr>
              <a:t>Initialized empty Git repository</a:t>
            </a:r>
            <a:endParaRPr lang="en-US" sz="1200" dirty="0"/>
          </a:p>
        </p:txBody>
      </p:sp>
      <p:sp>
        <p:nvSpPr>
          <p:cNvPr id="16" name="Text 14"/>
          <p:cNvSpPr/>
          <p:nvPr/>
        </p:nvSpPr>
        <p:spPr>
          <a:xfrm>
            <a:off x="1796796" y="3163824"/>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echo "# My First Repo" &gt; README.md</a:t>
            </a:r>
            <a:endParaRPr lang="en-US" sz="1200" dirty="0"/>
          </a:p>
        </p:txBody>
      </p:sp>
      <p:sp>
        <p:nvSpPr>
          <p:cNvPr id="17" name="Text 15"/>
          <p:cNvSpPr/>
          <p:nvPr/>
        </p:nvSpPr>
        <p:spPr>
          <a:xfrm>
            <a:off x="1796796" y="3456432"/>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status</a:t>
            </a:r>
            <a:endParaRPr lang="en-US" sz="1200" dirty="0"/>
          </a:p>
        </p:txBody>
      </p:sp>
      <p:sp>
        <p:nvSpPr>
          <p:cNvPr id="18" name="Text 16"/>
          <p:cNvSpPr/>
          <p:nvPr/>
        </p:nvSpPr>
        <p:spPr>
          <a:xfrm>
            <a:off x="1796796" y="3749040"/>
            <a:ext cx="8595360" cy="292608"/>
          </a:xfrm>
          <a:prstGeom prst="rect">
            <a:avLst/>
          </a:prstGeom>
          <a:noFill/>
          <a:ln/>
        </p:spPr>
        <p:txBody>
          <a:bodyPr wrap="square" rtlCol="0" anchor="t"/>
          <a:lstStyle/>
          <a:p>
            <a:pPr marL="0" indent="0">
              <a:buNone/>
            </a:pPr>
            <a:r>
              <a:rPr lang="en-US" sz="1200" dirty="0">
                <a:solidFill>
                  <a:srgbClr val="AEB9C2"/>
                </a:solidFill>
                <a:latin typeface="Consolas" pitchFamily="34" charset="0"/>
                <a:ea typeface="Consolas" pitchFamily="34" charset="-122"/>
                <a:cs typeface="Consolas" pitchFamily="34" charset="-120"/>
              </a:rPr>
              <a:t>Untracked files: README.md</a:t>
            </a:r>
            <a:endParaRPr lang="en-US" sz="1200" dirty="0"/>
          </a:p>
        </p:txBody>
      </p:sp>
      <p:sp>
        <p:nvSpPr>
          <p:cNvPr id="19" name="Text 17"/>
          <p:cNvSpPr/>
          <p:nvPr/>
        </p:nvSpPr>
        <p:spPr>
          <a:xfrm>
            <a:off x="1796796" y="4041648"/>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add README.md</a:t>
            </a:r>
            <a:endParaRPr lang="en-US" sz="1200" dirty="0"/>
          </a:p>
        </p:txBody>
      </p:sp>
      <p:sp>
        <p:nvSpPr>
          <p:cNvPr id="20" name="Text 18"/>
          <p:cNvSpPr/>
          <p:nvPr/>
        </p:nvSpPr>
        <p:spPr>
          <a:xfrm>
            <a:off x="1796796" y="4334256"/>
            <a:ext cx="85953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commit -m "Initial commit"</a:t>
            </a:r>
            <a:endParaRPr lang="en-US" sz="1200" dirty="0"/>
          </a:p>
        </p:txBody>
      </p:sp>
      <p:sp>
        <p:nvSpPr>
          <p:cNvPr id="21" name="Text 19"/>
          <p:cNvSpPr/>
          <p:nvPr/>
        </p:nvSpPr>
        <p:spPr>
          <a:xfrm>
            <a:off x="1796796" y="4626864"/>
            <a:ext cx="8595360" cy="292608"/>
          </a:xfrm>
          <a:prstGeom prst="rect">
            <a:avLst/>
          </a:prstGeom>
          <a:noFill/>
          <a:ln/>
        </p:spPr>
        <p:txBody>
          <a:bodyPr wrap="square" rtlCol="0" anchor="t"/>
          <a:lstStyle/>
          <a:p>
            <a:pPr marL="0" indent="0">
              <a:buNone/>
            </a:pPr>
            <a:r>
              <a:rPr lang="en-US" sz="1200" dirty="0">
                <a:solidFill>
                  <a:srgbClr val="2AC940"/>
                </a:solidFill>
                <a:latin typeface="Consolas" pitchFamily="34" charset="0"/>
                <a:ea typeface="Consolas" pitchFamily="34" charset="-122"/>
                <a:cs typeface="Consolas" pitchFamily="34" charset="-120"/>
              </a:rPr>
              <a:t>1 file changed, 1 insertion(+)</a:t>
            </a:r>
            <a:endParaRPr lang="en-US" sz="1200" dirty="0"/>
          </a:p>
        </p:txBody>
      </p:sp>
      <p:sp>
        <p:nvSpPr>
          <p:cNvPr id="22" name="Text 20"/>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23" name="Text 21"/>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REPOSITORY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Understanding Commits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Write commit messages your future self (and teammates) will thank you for.</a:t>
            </a:r>
            <a:endParaRPr lang="en-US" sz="1250" dirty="0"/>
          </a:p>
        </p:txBody>
      </p:sp>
      <p:sp>
        <p:nvSpPr>
          <p:cNvPr id="6" name="Shape 4"/>
          <p:cNvSpPr/>
          <p:nvPr/>
        </p:nvSpPr>
        <p:spPr>
          <a:xfrm>
            <a:off x="548640" y="1828800"/>
            <a:ext cx="5394960" cy="1737360"/>
          </a:xfrm>
          <a:prstGeom prst="roundRect">
            <a:avLst>
              <a:gd name="adj" fmla="val 5263"/>
            </a:avLst>
          </a:prstGeom>
          <a:solidFill>
            <a:srgbClr val="E9F7EC"/>
          </a:solidFill>
          <a:ln w="15875">
            <a:solidFill>
              <a:srgbClr val="1D8102"/>
            </a:solidFill>
            <a:prstDash val="solid"/>
          </a:ln>
        </p:spPr>
      </p:sp>
      <p:sp>
        <p:nvSpPr>
          <p:cNvPr id="7" name="Shape 5"/>
          <p:cNvSpPr/>
          <p:nvPr/>
        </p:nvSpPr>
        <p:spPr>
          <a:xfrm>
            <a:off x="937260" y="2080260"/>
            <a:ext cx="685800" cy="685800"/>
          </a:xfrm>
          <a:prstGeom prst="ellipse">
            <a:avLst/>
          </a:prstGeom>
          <a:solidFill>
            <a:srgbClr val="D3EFDA"/>
          </a:solidFill>
          <a:ln/>
        </p:spPr>
      </p:sp>
      <p:pic>
        <p:nvPicPr>
          <p:cNvPr id="8" name="Image 0" descr="/home/claude/ppt4/icon_checkcircle_o.png"/>
          <p:cNvPicPr>
            <a:picLocks noChangeAspect="1"/>
          </p:cNvPicPr>
          <p:nvPr/>
        </p:nvPicPr>
        <p:blipFill>
          <a:blip r:embed="rId3"/>
          <a:stretch>
            <a:fillRect/>
          </a:stretch>
        </p:blipFill>
        <p:spPr>
          <a:xfrm>
            <a:off x="1101852" y="2244852"/>
            <a:ext cx="356616" cy="356616"/>
          </a:xfrm>
          <a:prstGeom prst="rect">
            <a:avLst/>
          </a:prstGeom>
        </p:spPr>
      </p:pic>
      <p:sp>
        <p:nvSpPr>
          <p:cNvPr id="9" name="Text 6"/>
          <p:cNvSpPr/>
          <p:nvPr/>
        </p:nvSpPr>
        <p:spPr>
          <a:xfrm>
            <a:off x="1783080" y="2011680"/>
            <a:ext cx="3931920" cy="274320"/>
          </a:xfrm>
          <a:prstGeom prst="rect">
            <a:avLst/>
          </a:prstGeom>
          <a:noFill/>
          <a:ln/>
        </p:spPr>
        <p:txBody>
          <a:bodyPr wrap="square" rtlCol="0" anchor="ctr"/>
          <a:lstStyle/>
          <a:p>
            <a:pPr marL="0" indent="0">
              <a:buNone/>
            </a:pPr>
            <a:r>
              <a:rPr lang="en-US" sz="1050" b="1" kern="0" spc="150" dirty="0">
                <a:solidFill>
                  <a:srgbClr val="1D8102"/>
                </a:solidFill>
                <a:latin typeface="Calibri" pitchFamily="34" charset="0"/>
                <a:ea typeface="Calibri" pitchFamily="34" charset="-122"/>
                <a:cs typeface="Calibri" pitchFamily="34" charset="-120"/>
              </a:rPr>
              <a:t>GOOD</a:t>
            </a:r>
            <a:endParaRPr lang="en-US" sz="1050" dirty="0"/>
          </a:p>
        </p:txBody>
      </p:sp>
      <p:sp>
        <p:nvSpPr>
          <p:cNvPr id="10" name="Text 7"/>
          <p:cNvSpPr/>
          <p:nvPr/>
        </p:nvSpPr>
        <p:spPr>
          <a:xfrm>
            <a:off x="1783080" y="2286000"/>
            <a:ext cx="3931920" cy="640080"/>
          </a:xfrm>
          <a:prstGeom prst="rect">
            <a:avLst/>
          </a:prstGeom>
          <a:noFill/>
          <a:ln/>
        </p:spPr>
        <p:txBody>
          <a:bodyPr wrap="square" rtlCol="0" anchor="t"/>
          <a:lstStyle/>
          <a:p>
            <a:pPr marL="0" indent="0">
              <a:buNone/>
            </a:pPr>
            <a:r>
              <a:rPr lang="en-US" sz="1200" dirty="0">
                <a:solidFill>
                  <a:srgbClr val="16191F"/>
                </a:solidFill>
                <a:latin typeface="Consolas" pitchFamily="34" charset="0"/>
                <a:ea typeface="Consolas" pitchFamily="34" charset="-122"/>
                <a:cs typeface="Consolas" pitchFamily="34" charset="-120"/>
              </a:rPr>
              <a:t>"Fix login redirect bug for expired sessions"</a:t>
            </a:r>
            <a:endParaRPr lang="en-US" sz="1200" dirty="0"/>
          </a:p>
        </p:txBody>
      </p:sp>
      <p:sp>
        <p:nvSpPr>
          <p:cNvPr id="11" name="Text 8"/>
          <p:cNvSpPr/>
          <p:nvPr/>
        </p:nvSpPr>
        <p:spPr>
          <a:xfrm>
            <a:off x="1783080" y="3063240"/>
            <a:ext cx="3931920" cy="365760"/>
          </a:xfrm>
          <a:prstGeom prst="rect">
            <a:avLst/>
          </a:prstGeom>
          <a:noFill/>
          <a:ln/>
        </p:spPr>
        <p:txBody>
          <a:bodyPr wrap="square" rtlCol="0" anchor="ctr"/>
          <a:lstStyle/>
          <a:p>
            <a:pPr marL="0" indent="0">
              <a:buNone/>
            </a:pPr>
            <a:r>
              <a:rPr lang="en-US" sz="1050" i="1" dirty="0">
                <a:solidFill>
                  <a:srgbClr val="5A6B75"/>
                </a:solidFill>
                <a:latin typeface="Calibri" pitchFamily="34" charset="0"/>
                <a:ea typeface="Calibri" pitchFamily="34" charset="-122"/>
                <a:cs typeface="Calibri" pitchFamily="34" charset="-120"/>
              </a:rPr>
              <a:t>Specific, clear, describes the why</a:t>
            </a:r>
            <a:endParaRPr lang="en-US" sz="1050" dirty="0"/>
          </a:p>
        </p:txBody>
      </p:sp>
      <p:sp>
        <p:nvSpPr>
          <p:cNvPr id="12" name="Shape 9"/>
          <p:cNvSpPr/>
          <p:nvPr/>
        </p:nvSpPr>
        <p:spPr>
          <a:xfrm>
            <a:off x="6263640" y="1828800"/>
            <a:ext cx="5394960" cy="1737360"/>
          </a:xfrm>
          <a:prstGeom prst="roundRect">
            <a:avLst>
              <a:gd name="adj" fmla="val 5263"/>
            </a:avLst>
          </a:prstGeom>
          <a:solidFill>
            <a:srgbClr val="FBEAE5"/>
          </a:solidFill>
          <a:ln w="15875">
            <a:solidFill>
              <a:srgbClr val="E5533D"/>
            </a:solidFill>
            <a:prstDash val="solid"/>
          </a:ln>
        </p:spPr>
      </p:sp>
      <p:sp>
        <p:nvSpPr>
          <p:cNvPr id="13" name="Shape 10"/>
          <p:cNvSpPr/>
          <p:nvPr/>
        </p:nvSpPr>
        <p:spPr>
          <a:xfrm>
            <a:off x="6652260" y="2080260"/>
            <a:ext cx="685800" cy="685800"/>
          </a:xfrm>
          <a:prstGeom prst="ellipse">
            <a:avLst/>
          </a:prstGeom>
          <a:solidFill>
            <a:srgbClr val="F6D2C7"/>
          </a:solidFill>
          <a:ln/>
        </p:spPr>
      </p:sp>
      <p:pic>
        <p:nvPicPr>
          <p:cNvPr id="14" name="Image 1" descr="/home/claude/ppt4/icon_exclamationtriangle_o.png"/>
          <p:cNvPicPr>
            <a:picLocks noChangeAspect="1"/>
          </p:cNvPicPr>
          <p:nvPr/>
        </p:nvPicPr>
        <p:blipFill>
          <a:blip r:embed="rId4"/>
          <a:stretch>
            <a:fillRect/>
          </a:stretch>
        </p:blipFill>
        <p:spPr>
          <a:xfrm>
            <a:off x="6816852" y="2244852"/>
            <a:ext cx="356616" cy="356616"/>
          </a:xfrm>
          <a:prstGeom prst="rect">
            <a:avLst/>
          </a:prstGeom>
        </p:spPr>
      </p:pic>
      <p:sp>
        <p:nvSpPr>
          <p:cNvPr id="15" name="Text 11"/>
          <p:cNvSpPr/>
          <p:nvPr/>
        </p:nvSpPr>
        <p:spPr>
          <a:xfrm>
            <a:off x="7498080" y="2011680"/>
            <a:ext cx="3931920" cy="274320"/>
          </a:xfrm>
          <a:prstGeom prst="rect">
            <a:avLst/>
          </a:prstGeom>
          <a:noFill/>
          <a:ln/>
        </p:spPr>
        <p:txBody>
          <a:bodyPr wrap="square" rtlCol="0" anchor="ctr"/>
          <a:lstStyle/>
          <a:p>
            <a:pPr marL="0" indent="0">
              <a:buNone/>
            </a:pPr>
            <a:r>
              <a:rPr lang="en-US" sz="1050" b="1" kern="0" spc="150" dirty="0">
                <a:solidFill>
                  <a:srgbClr val="C0392B"/>
                </a:solidFill>
                <a:latin typeface="Calibri" pitchFamily="34" charset="0"/>
                <a:ea typeface="Calibri" pitchFamily="34" charset="-122"/>
                <a:cs typeface="Calibri" pitchFamily="34" charset="-120"/>
              </a:rPr>
              <a:t>BAD</a:t>
            </a:r>
            <a:endParaRPr lang="en-US" sz="1050" dirty="0"/>
          </a:p>
        </p:txBody>
      </p:sp>
      <p:sp>
        <p:nvSpPr>
          <p:cNvPr id="16" name="Text 12"/>
          <p:cNvSpPr/>
          <p:nvPr/>
        </p:nvSpPr>
        <p:spPr>
          <a:xfrm>
            <a:off x="7498080" y="2286000"/>
            <a:ext cx="3931920" cy="640080"/>
          </a:xfrm>
          <a:prstGeom prst="rect">
            <a:avLst/>
          </a:prstGeom>
          <a:noFill/>
          <a:ln/>
        </p:spPr>
        <p:txBody>
          <a:bodyPr wrap="square" rtlCol="0" anchor="t"/>
          <a:lstStyle/>
          <a:p>
            <a:pPr marL="0" indent="0">
              <a:buNone/>
            </a:pPr>
            <a:r>
              <a:rPr lang="en-US" sz="1200" dirty="0">
                <a:solidFill>
                  <a:srgbClr val="16191F"/>
                </a:solidFill>
                <a:latin typeface="Consolas" pitchFamily="34" charset="0"/>
                <a:ea typeface="Consolas" pitchFamily="34" charset="-122"/>
                <a:cs typeface="Consolas" pitchFamily="34" charset="-120"/>
              </a:rPr>
              <a:t>"fixed stuff" / "asdf" / "final version 2"</a:t>
            </a:r>
            <a:endParaRPr lang="en-US" sz="1200" dirty="0"/>
          </a:p>
        </p:txBody>
      </p:sp>
      <p:sp>
        <p:nvSpPr>
          <p:cNvPr id="17" name="Text 13"/>
          <p:cNvSpPr/>
          <p:nvPr/>
        </p:nvSpPr>
        <p:spPr>
          <a:xfrm>
            <a:off x="7498080" y="3063240"/>
            <a:ext cx="3931920" cy="365760"/>
          </a:xfrm>
          <a:prstGeom prst="rect">
            <a:avLst/>
          </a:prstGeom>
          <a:noFill/>
          <a:ln/>
        </p:spPr>
        <p:txBody>
          <a:bodyPr wrap="square" rtlCol="0" anchor="ctr"/>
          <a:lstStyle/>
          <a:p>
            <a:pPr marL="0" indent="0">
              <a:buNone/>
            </a:pPr>
            <a:r>
              <a:rPr lang="en-US" sz="1050" i="1" dirty="0">
                <a:solidFill>
                  <a:srgbClr val="5A6B75"/>
                </a:solidFill>
                <a:latin typeface="Calibri" pitchFamily="34" charset="0"/>
                <a:ea typeface="Calibri" pitchFamily="34" charset="-122"/>
                <a:cs typeface="Calibri" pitchFamily="34" charset="-120"/>
              </a:rPr>
              <a:t>Vague — tells you nothing later</a:t>
            </a:r>
            <a:endParaRPr lang="en-US" sz="1050" dirty="0"/>
          </a:p>
        </p:txBody>
      </p:sp>
      <p:sp>
        <p:nvSpPr>
          <p:cNvPr id="18" name="Shape 14"/>
          <p:cNvSpPr/>
          <p:nvPr/>
        </p:nvSpPr>
        <p:spPr>
          <a:xfrm>
            <a:off x="548640" y="3794760"/>
            <a:ext cx="11091672" cy="566928"/>
          </a:xfrm>
          <a:prstGeom prst="roundRect">
            <a:avLst>
              <a:gd name="adj" fmla="val 12903"/>
            </a:avLst>
          </a:prstGeom>
          <a:solidFill>
            <a:srgbClr val="FFFFFF"/>
          </a:solidFill>
          <a:ln w="15875">
            <a:solidFill>
              <a:srgbClr val="FF9900"/>
            </a:solidFill>
            <a:prstDash val="solid"/>
          </a:ln>
        </p:spPr>
      </p:sp>
      <p:sp>
        <p:nvSpPr>
          <p:cNvPr id="19" name="Text 15"/>
          <p:cNvSpPr/>
          <p:nvPr/>
        </p:nvSpPr>
        <p:spPr>
          <a:xfrm>
            <a:off x="777240" y="3794760"/>
            <a:ext cx="10634472" cy="566928"/>
          </a:xfrm>
          <a:prstGeom prst="rect">
            <a:avLst/>
          </a:prstGeom>
          <a:noFill/>
          <a:ln/>
        </p:spPr>
        <p:txBody>
          <a:bodyPr wrap="square" rtlCol="0" anchor="ctr"/>
          <a:lstStyle/>
          <a:p>
            <a:pPr marL="0" indent="0">
              <a:buNone/>
            </a:pPr>
            <a:r>
              <a:rPr lang="en-US" sz="1100" b="1" i="1" dirty="0">
                <a:solidFill>
                  <a:srgbClr val="B36B00"/>
                </a:solidFill>
                <a:latin typeface="Calibri" pitchFamily="34" charset="0"/>
                <a:ea typeface="Calibri" pitchFamily="34" charset="-122"/>
                <a:cs typeface="Calibri" pitchFamily="34" charset="-120"/>
              </a:rPr>
              <a:t>REAL-WORLD ANALOGY:  </a:t>
            </a:r>
            <a:r>
              <a:rPr lang="en-US" sz="1100" i="1" dirty="0">
                <a:solidFill>
                  <a:srgbClr val="16191F"/>
                </a:solidFill>
                <a:latin typeface="Calibri" pitchFamily="34" charset="0"/>
                <a:ea typeface="Calibri" pitchFamily="34" charset="-122"/>
                <a:cs typeface="Calibri" pitchFamily="34" charset="-120"/>
              </a:rPr>
              <a:t>A commit is like a diary entry with a photo attached — the message is the caption explaining what changed and why.</a:t>
            </a:r>
            <a:endParaRPr lang="en-US" sz="1100" dirty="0"/>
          </a:p>
        </p:txBody>
      </p:sp>
      <p:sp>
        <p:nvSpPr>
          <p:cNvPr id="20" name="Shape 16"/>
          <p:cNvSpPr/>
          <p:nvPr/>
        </p:nvSpPr>
        <p:spPr>
          <a:xfrm>
            <a:off x="548640" y="4526280"/>
            <a:ext cx="11091672" cy="566928"/>
          </a:xfrm>
          <a:prstGeom prst="roundRect">
            <a:avLst>
              <a:gd name="adj" fmla="val 12903"/>
            </a:avLst>
          </a:prstGeom>
          <a:solidFill>
            <a:srgbClr val="232F3E"/>
          </a:solidFill>
          <a:ln/>
        </p:spPr>
      </p:sp>
      <p:sp>
        <p:nvSpPr>
          <p:cNvPr id="21" name="Shape 17"/>
          <p:cNvSpPr/>
          <p:nvPr/>
        </p:nvSpPr>
        <p:spPr>
          <a:xfrm>
            <a:off x="704088" y="4581144"/>
            <a:ext cx="457200" cy="457200"/>
          </a:xfrm>
          <a:prstGeom prst="ellipse">
            <a:avLst/>
          </a:prstGeom>
          <a:solidFill>
            <a:srgbClr val="33455B"/>
          </a:solidFill>
          <a:ln/>
        </p:spPr>
      </p:sp>
      <p:pic>
        <p:nvPicPr>
          <p:cNvPr id="22" name="Image 2" descr="/home/claude/ppt4/icon_lightbulb_o.png"/>
          <p:cNvPicPr>
            <a:picLocks noChangeAspect="1"/>
          </p:cNvPicPr>
          <p:nvPr/>
        </p:nvPicPr>
        <p:blipFill>
          <a:blip r:embed="rId5"/>
          <a:stretch>
            <a:fillRect/>
          </a:stretch>
        </p:blipFill>
        <p:spPr>
          <a:xfrm>
            <a:off x="813816" y="4690872"/>
            <a:ext cx="237744" cy="237744"/>
          </a:xfrm>
          <a:prstGeom prst="rect">
            <a:avLst/>
          </a:prstGeom>
        </p:spPr>
      </p:pic>
      <p:sp>
        <p:nvSpPr>
          <p:cNvPr id="23" name="Text 18"/>
          <p:cNvSpPr/>
          <p:nvPr/>
        </p:nvSpPr>
        <p:spPr>
          <a:xfrm>
            <a:off x="1234440" y="452628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Write commit messages in the present tense, e.g. “Add login validation”, not “Added” or “Adding” — it's the Git community standard.</a:t>
            </a:r>
            <a:endParaRPr lang="en-US" sz="1100" dirty="0"/>
          </a:p>
        </p:txBody>
      </p:sp>
      <p:sp>
        <p:nvSpPr>
          <p:cNvPr id="24" name="Text 19"/>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5" name="Text 20"/>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 Branching</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Understand how branches let you experiment without touching working code.</a:t>
            </a:r>
            <a:endParaRPr lang="en-US" sz="1250" dirty="0"/>
          </a:p>
        </p:txBody>
      </p:sp>
      <p:sp>
        <p:nvSpPr>
          <p:cNvPr id="6" name="Shape 4"/>
          <p:cNvSpPr/>
          <p:nvPr/>
        </p:nvSpPr>
        <p:spPr>
          <a:xfrm>
            <a:off x="1097280" y="2834640"/>
            <a:ext cx="9966960" cy="0"/>
          </a:xfrm>
          <a:prstGeom prst="line">
            <a:avLst/>
          </a:prstGeom>
          <a:noFill/>
          <a:ln w="38100">
            <a:solidFill>
              <a:srgbClr val="232F3E"/>
            </a:solidFill>
            <a:prstDash val="solid"/>
          </a:ln>
        </p:spPr>
      </p:sp>
      <p:sp>
        <p:nvSpPr>
          <p:cNvPr id="7" name="Text 5"/>
          <p:cNvSpPr/>
          <p:nvPr/>
        </p:nvSpPr>
        <p:spPr>
          <a:xfrm>
            <a:off x="457200" y="2670048"/>
            <a:ext cx="548640" cy="329184"/>
          </a:xfrm>
          <a:prstGeom prst="rect">
            <a:avLst/>
          </a:prstGeom>
          <a:noFill/>
          <a:ln/>
        </p:spPr>
        <p:txBody>
          <a:bodyPr wrap="square" rtlCol="0" anchor="ctr"/>
          <a:lstStyle/>
          <a:p>
            <a:pPr marL="0" indent="0">
              <a:buNone/>
            </a:pPr>
            <a:r>
              <a:rPr lang="en-US" sz="1200" b="1" dirty="0">
                <a:solidFill>
                  <a:srgbClr val="232F3E"/>
                </a:solidFill>
                <a:latin typeface="Consolas" pitchFamily="34" charset="0"/>
                <a:ea typeface="Consolas" pitchFamily="34" charset="-122"/>
                <a:cs typeface="Consolas" pitchFamily="34" charset="-120"/>
              </a:rPr>
              <a:t>main</a:t>
            </a:r>
            <a:endParaRPr lang="en-US" sz="1200" dirty="0"/>
          </a:p>
        </p:txBody>
      </p:sp>
      <p:sp>
        <p:nvSpPr>
          <p:cNvPr id="8" name="Shape 6"/>
          <p:cNvSpPr/>
          <p:nvPr/>
        </p:nvSpPr>
        <p:spPr>
          <a:xfrm>
            <a:off x="1709928" y="2715768"/>
            <a:ext cx="237744" cy="237744"/>
          </a:xfrm>
          <a:prstGeom prst="ellipse">
            <a:avLst/>
          </a:prstGeom>
          <a:solidFill>
            <a:srgbClr val="232F3E"/>
          </a:solidFill>
          <a:ln w="19050">
            <a:solidFill>
              <a:srgbClr val="FFFFFF"/>
            </a:solidFill>
            <a:prstDash val="solid"/>
          </a:ln>
        </p:spPr>
      </p:sp>
      <p:sp>
        <p:nvSpPr>
          <p:cNvPr id="9" name="Shape 7"/>
          <p:cNvSpPr/>
          <p:nvPr/>
        </p:nvSpPr>
        <p:spPr>
          <a:xfrm>
            <a:off x="3538728" y="2715768"/>
            <a:ext cx="237744" cy="237744"/>
          </a:xfrm>
          <a:prstGeom prst="ellipse">
            <a:avLst/>
          </a:prstGeom>
          <a:solidFill>
            <a:srgbClr val="232F3E"/>
          </a:solidFill>
          <a:ln w="19050">
            <a:solidFill>
              <a:srgbClr val="FFFFFF"/>
            </a:solidFill>
            <a:prstDash val="solid"/>
          </a:ln>
        </p:spPr>
      </p:sp>
      <p:sp>
        <p:nvSpPr>
          <p:cNvPr id="10" name="Shape 8"/>
          <p:cNvSpPr/>
          <p:nvPr/>
        </p:nvSpPr>
        <p:spPr>
          <a:xfrm>
            <a:off x="8567928" y="2715768"/>
            <a:ext cx="237744" cy="237744"/>
          </a:xfrm>
          <a:prstGeom prst="ellipse">
            <a:avLst/>
          </a:prstGeom>
          <a:solidFill>
            <a:srgbClr val="232F3E"/>
          </a:solidFill>
          <a:ln w="19050">
            <a:solidFill>
              <a:srgbClr val="FFFFFF"/>
            </a:solidFill>
            <a:prstDash val="solid"/>
          </a:ln>
        </p:spPr>
      </p:sp>
      <p:sp>
        <p:nvSpPr>
          <p:cNvPr id="11" name="Shape 9"/>
          <p:cNvSpPr/>
          <p:nvPr/>
        </p:nvSpPr>
        <p:spPr>
          <a:xfrm>
            <a:off x="10396728" y="2715768"/>
            <a:ext cx="237744" cy="237744"/>
          </a:xfrm>
          <a:prstGeom prst="ellipse">
            <a:avLst/>
          </a:prstGeom>
          <a:solidFill>
            <a:srgbClr val="232F3E"/>
          </a:solidFill>
          <a:ln w="19050">
            <a:solidFill>
              <a:srgbClr val="FFFFFF"/>
            </a:solidFill>
            <a:prstDash val="solid"/>
          </a:ln>
        </p:spPr>
      </p:sp>
      <p:sp>
        <p:nvSpPr>
          <p:cNvPr id="12" name="Shape 10"/>
          <p:cNvSpPr/>
          <p:nvPr/>
        </p:nvSpPr>
        <p:spPr>
          <a:xfrm>
            <a:off x="3657600" y="2834640"/>
            <a:ext cx="0" cy="1188720"/>
          </a:xfrm>
          <a:prstGeom prst="line">
            <a:avLst/>
          </a:prstGeom>
          <a:noFill/>
          <a:ln w="25400">
            <a:solidFill>
              <a:srgbClr val="FF9900"/>
            </a:solidFill>
            <a:prstDash val="dash"/>
          </a:ln>
        </p:spPr>
      </p:sp>
      <p:sp>
        <p:nvSpPr>
          <p:cNvPr id="13" name="Shape 11"/>
          <p:cNvSpPr/>
          <p:nvPr/>
        </p:nvSpPr>
        <p:spPr>
          <a:xfrm>
            <a:off x="3657600" y="4023360"/>
            <a:ext cx="4572000" cy="0"/>
          </a:xfrm>
          <a:prstGeom prst="line">
            <a:avLst/>
          </a:prstGeom>
          <a:noFill/>
          <a:ln w="38100">
            <a:solidFill>
              <a:srgbClr val="FF9900"/>
            </a:solidFill>
            <a:prstDash val="solid"/>
          </a:ln>
        </p:spPr>
      </p:sp>
      <p:sp>
        <p:nvSpPr>
          <p:cNvPr id="14" name="Text 12"/>
          <p:cNvSpPr/>
          <p:nvPr/>
        </p:nvSpPr>
        <p:spPr>
          <a:xfrm>
            <a:off x="3749040" y="3657600"/>
            <a:ext cx="2743200" cy="274320"/>
          </a:xfrm>
          <a:prstGeom prst="rect">
            <a:avLst/>
          </a:prstGeom>
          <a:noFill/>
          <a:ln/>
        </p:spPr>
        <p:txBody>
          <a:bodyPr wrap="square" rtlCol="0" anchor="ctr"/>
          <a:lstStyle/>
          <a:p>
            <a:pPr marL="0" indent="0">
              <a:buNone/>
            </a:pPr>
            <a:r>
              <a:rPr lang="en-US" sz="1100" b="1" dirty="0">
                <a:solidFill>
                  <a:srgbClr val="B36B00"/>
                </a:solidFill>
                <a:latin typeface="Consolas" pitchFamily="34" charset="0"/>
                <a:ea typeface="Consolas" pitchFamily="34" charset="-122"/>
                <a:cs typeface="Consolas" pitchFamily="34" charset="-120"/>
              </a:rPr>
              <a:t>feature/login-page</a:t>
            </a:r>
            <a:endParaRPr lang="en-US" sz="1100" dirty="0"/>
          </a:p>
        </p:txBody>
      </p:sp>
      <p:sp>
        <p:nvSpPr>
          <p:cNvPr id="15" name="Shape 13"/>
          <p:cNvSpPr/>
          <p:nvPr/>
        </p:nvSpPr>
        <p:spPr>
          <a:xfrm>
            <a:off x="4910328" y="3904488"/>
            <a:ext cx="237744" cy="237744"/>
          </a:xfrm>
          <a:prstGeom prst="ellipse">
            <a:avLst/>
          </a:prstGeom>
          <a:solidFill>
            <a:srgbClr val="FF9900"/>
          </a:solidFill>
          <a:ln w="19050">
            <a:solidFill>
              <a:srgbClr val="FFFFFF"/>
            </a:solidFill>
            <a:prstDash val="solid"/>
          </a:ln>
        </p:spPr>
      </p:sp>
      <p:sp>
        <p:nvSpPr>
          <p:cNvPr id="16" name="Shape 14"/>
          <p:cNvSpPr/>
          <p:nvPr/>
        </p:nvSpPr>
        <p:spPr>
          <a:xfrm>
            <a:off x="6739128" y="3904488"/>
            <a:ext cx="237744" cy="237744"/>
          </a:xfrm>
          <a:prstGeom prst="ellipse">
            <a:avLst/>
          </a:prstGeom>
          <a:solidFill>
            <a:srgbClr val="FF9900"/>
          </a:solidFill>
          <a:ln w="19050">
            <a:solidFill>
              <a:srgbClr val="FFFFFF"/>
            </a:solidFill>
            <a:prstDash val="solid"/>
          </a:ln>
        </p:spPr>
      </p:sp>
      <p:sp>
        <p:nvSpPr>
          <p:cNvPr id="17" name="Shape 15"/>
          <p:cNvSpPr/>
          <p:nvPr/>
        </p:nvSpPr>
        <p:spPr>
          <a:xfrm>
            <a:off x="8110728" y="3904488"/>
            <a:ext cx="237744" cy="237744"/>
          </a:xfrm>
          <a:prstGeom prst="ellipse">
            <a:avLst/>
          </a:prstGeom>
          <a:solidFill>
            <a:srgbClr val="FF9900"/>
          </a:solidFill>
          <a:ln w="19050">
            <a:solidFill>
              <a:srgbClr val="FFFFFF"/>
            </a:solidFill>
            <a:prstDash val="solid"/>
          </a:ln>
        </p:spPr>
      </p:sp>
      <p:sp>
        <p:nvSpPr>
          <p:cNvPr id="18" name="Shape 16"/>
          <p:cNvSpPr/>
          <p:nvPr/>
        </p:nvSpPr>
        <p:spPr>
          <a:xfrm>
            <a:off x="8229600" y="4023360"/>
            <a:ext cx="0" cy="0"/>
          </a:xfrm>
          <a:prstGeom prst="line">
            <a:avLst/>
          </a:prstGeom>
          <a:noFill/>
          <a:ln w="25400">
            <a:solidFill>
              <a:srgbClr val="FF9900"/>
            </a:solidFill>
            <a:prstDash val="dash"/>
          </a:ln>
        </p:spPr>
      </p:sp>
      <p:sp>
        <p:nvSpPr>
          <p:cNvPr id="19" name="Shape 17"/>
          <p:cNvSpPr/>
          <p:nvPr/>
        </p:nvSpPr>
        <p:spPr>
          <a:xfrm>
            <a:off x="548640" y="4846320"/>
            <a:ext cx="5394960" cy="1371600"/>
          </a:xfrm>
          <a:prstGeom prst="roundRect">
            <a:avLst>
              <a:gd name="adj" fmla="val 6667"/>
            </a:avLst>
          </a:prstGeom>
          <a:solidFill>
            <a:srgbClr val="FFFFFF"/>
          </a:solidFill>
          <a:ln w="12700">
            <a:solidFill>
              <a:srgbClr val="D9DCE1"/>
            </a:solidFill>
            <a:prstDash val="solid"/>
          </a:ln>
        </p:spPr>
      </p:sp>
      <p:sp>
        <p:nvSpPr>
          <p:cNvPr id="20" name="Text 18"/>
          <p:cNvSpPr/>
          <p:nvPr/>
        </p:nvSpPr>
        <p:spPr>
          <a:xfrm>
            <a:off x="822960" y="5029200"/>
            <a:ext cx="4846320" cy="320040"/>
          </a:xfrm>
          <a:prstGeom prst="rect">
            <a:avLst/>
          </a:prstGeom>
          <a:noFill/>
          <a:ln/>
        </p:spPr>
        <p:txBody>
          <a:bodyPr wrap="square" rtlCol="0" anchor="ctr"/>
          <a:lstStyle/>
          <a:p>
            <a:pPr marL="0" indent="0">
              <a:buNone/>
            </a:pPr>
            <a:r>
              <a:rPr lang="en-US" sz="1300" b="1" dirty="0">
                <a:solidFill>
                  <a:srgbClr val="232F3E"/>
                </a:solidFill>
                <a:latin typeface="Arial" pitchFamily="34" charset="0"/>
                <a:ea typeface="Arial" pitchFamily="34" charset="-122"/>
                <a:cs typeface="Arial" pitchFamily="34" charset="-120"/>
              </a:rPr>
              <a:t>main branch</a:t>
            </a:r>
            <a:endParaRPr lang="en-US" sz="1300" dirty="0"/>
          </a:p>
        </p:txBody>
      </p:sp>
      <p:sp>
        <p:nvSpPr>
          <p:cNvPr id="21" name="Text 19"/>
          <p:cNvSpPr/>
          <p:nvPr/>
        </p:nvSpPr>
        <p:spPr>
          <a:xfrm>
            <a:off x="822960" y="5349240"/>
            <a:ext cx="4846320" cy="68580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The stable, always-working version of your project.</a:t>
            </a:r>
            <a:endParaRPr lang="en-US" sz="1100" dirty="0"/>
          </a:p>
        </p:txBody>
      </p:sp>
      <p:sp>
        <p:nvSpPr>
          <p:cNvPr id="22" name="Shape 20"/>
          <p:cNvSpPr/>
          <p:nvPr/>
        </p:nvSpPr>
        <p:spPr>
          <a:xfrm>
            <a:off x="6263640" y="4846320"/>
            <a:ext cx="5394960" cy="1371600"/>
          </a:xfrm>
          <a:prstGeom prst="roundRect">
            <a:avLst>
              <a:gd name="adj" fmla="val 6667"/>
            </a:avLst>
          </a:prstGeom>
          <a:solidFill>
            <a:srgbClr val="FFF3DE"/>
          </a:solidFill>
          <a:ln w="12700">
            <a:solidFill>
              <a:srgbClr val="FF9900"/>
            </a:solidFill>
            <a:prstDash val="solid"/>
          </a:ln>
        </p:spPr>
      </p:sp>
      <p:sp>
        <p:nvSpPr>
          <p:cNvPr id="23" name="Text 21"/>
          <p:cNvSpPr/>
          <p:nvPr/>
        </p:nvSpPr>
        <p:spPr>
          <a:xfrm>
            <a:off x="6537960" y="5029200"/>
            <a:ext cx="4846320" cy="320040"/>
          </a:xfrm>
          <a:prstGeom prst="rect">
            <a:avLst/>
          </a:prstGeom>
          <a:noFill/>
          <a:ln/>
        </p:spPr>
        <p:txBody>
          <a:bodyPr wrap="square" rtlCol="0" anchor="ctr"/>
          <a:lstStyle/>
          <a:p>
            <a:pPr marL="0" indent="0">
              <a:buNone/>
            </a:pPr>
            <a:r>
              <a:rPr lang="en-US" sz="1300" b="1" dirty="0">
                <a:solidFill>
                  <a:srgbClr val="232F3E"/>
                </a:solidFill>
                <a:latin typeface="Arial" pitchFamily="34" charset="0"/>
                <a:ea typeface="Arial" pitchFamily="34" charset="-122"/>
                <a:cs typeface="Arial" pitchFamily="34" charset="-120"/>
              </a:rPr>
              <a:t>feature branch</a:t>
            </a:r>
            <a:endParaRPr lang="en-US" sz="1300" dirty="0"/>
          </a:p>
        </p:txBody>
      </p:sp>
      <p:sp>
        <p:nvSpPr>
          <p:cNvPr id="24" name="Text 22"/>
          <p:cNvSpPr/>
          <p:nvPr/>
        </p:nvSpPr>
        <p:spPr>
          <a:xfrm>
            <a:off x="6537960" y="5349240"/>
            <a:ext cx="4846320" cy="68580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An isolated copy to build or test something new, safely.</a:t>
            </a:r>
            <a:endParaRPr lang="en-US" sz="1100" dirty="0"/>
          </a:p>
        </p:txBody>
      </p:sp>
      <p:sp>
        <p:nvSpPr>
          <p:cNvPr id="25" name="Text 23"/>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6" name="Text 24"/>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Working with Branches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Create, switch between, and merge branches with four commands.</a:t>
            </a:r>
            <a:endParaRPr lang="en-US" sz="1250" dirty="0"/>
          </a:p>
        </p:txBody>
      </p:sp>
      <p:sp>
        <p:nvSpPr>
          <p:cNvPr id="6" name="Shape 4"/>
          <p:cNvSpPr/>
          <p:nvPr/>
        </p:nvSpPr>
        <p:spPr>
          <a:xfrm>
            <a:off x="548640" y="1828800"/>
            <a:ext cx="5760720" cy="3017520"/>
          </a:xfrm>
          <a:prstGeom prst="roundRect">
            <a:avLst>
              <a:gd name="adj" fmla="val 2727"/>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7" name="Shape 5"/>
          <p:cNvSpPr/>
          <p:nvPr/>
        </p:nvSpPr>
        <p:spPr>
          <a:xfrm>
            <a:off x="548640" y="1828800"/>
            <a:ext cx="5760720" cy="320040"/>
          </a:xfrm>
          <a:prstGeom prst="roundRect">
            <a:avLst>
              <a:gd name="adj" fmla="val 25714"/>
            </a:avLst>
          </a:prstGeom>
          <a:solidFill>
            <a:srgbClr val="1B2430"/>
          </a:solidFill>
          <a:ln/>
        </p:spPr>
      </p:sp>
      <p:sp>
        <p:nvSpPr>
          <p:cNvPr id="8" name="Shape 6"/>
          <p:cNvSpPr/>
          <p:nvPr/>
        </p:nvSpPr>
        <p:spPr>
          <a:xfrm>
            <a:off x="548640" y="1984248"/>
            <a:ext cx="5760720" cy="164592"/>
          </a:xfrm>
          <a:prstGeom prst="rect">
            <a:avLst/>
          </a:prstGeom>
          <a:solidFill>
            <a:srgbClr val="1B2430"/>
          </a:solidFill>
          <a:ln/>
        </p:spPr>
      </p:sp>
      <p:sp>
        <p:nvSpPr>
          <p:cNvPr id="9" name="Shape 7"/>
          <p:cNvSpPr/>
          <p:nvPr/>
        </p:nvSpPr>
        <p:spPr>
          <a:xfrm>
            <a:off x="713232" y="1933956"/>
            <a:ext cx="118872" cy="118872"/>
          </a:xfrm>
          <a:prstGeom prst="ellipse">
            <a:avLst/>
          </a:prstGeom>
          <a:solidFill>
            <a:srgbClr val="E5533D"/>
          </a:solidFill>
          <a:ln/>
        </p:spPr>
      </p:sp>
      <p:sp>
        <p:nvSpPr>
          <p:cNvPr id="10" name="Shape 8"/>
          <p:cNvSpPr/>
          <p:nvPr/>
        </p:nvSpPr>
        <p:spPr>
          <a:xfrm>
            <a:off x="932688" y="1933956"/>
            <a:ext cx="118872" cy="118872"/>
          </a:xfrm>
          <a:prstGeom prst="ellipse">
            <a:avLst/>
          </a:prstGeom>
          <a:solidFill>
            <a:srgbClr val="F2C511"/>
          </a:solidFill>
          <a:ln/>
        </p:spPr>
      </p:sp>
      <p:sp>
        <p:nvSpPr>
          <p:cNvPr id="11" name="Shape 9"/>
          <p:cNvSpPr/>
          <p:nvPr/>
        </p:nvSpPr>
        <p:spPr>
          <a:xfrm>
            <a:off x="1152144" y="1933956"/>
            <a:ext cx="118872" cy="118872"/>
          </a:xfrm>
          <a:prstGeom prst="ellipse">
            <a:avLst/>
          </a:prstGeom>
          <a:solidFill>
            <a:srgbClr val="2AC940"/>
          </a:solidFill>
          <a:ln/>
        </p:spPr>
      </p:sp>
      <p:sp>
        <p:nvSpPr>
          <p:cNvPr id="12" name="Text 10"/>
          <p:cNvSpPr/>
          <p:nvPr/>
        </p:nvSpPr>
        <p:spPr>
          <a:xfrm>
            <a:off x="1371600" y="1828800"/>
            <a:ext cx="475488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user@cloud:~/project</a:t>
            </a:r>
            <a:endParaRPr lang="en-US" sz="1000" dirty="0"/>
          </a:p>
        </p:txBody>
      </p:sp>
      <p:sp>
        <p:nvSpPr>
          <p:cNvPr id="13" name="Text 11"/>
          <p:cNvSpPr/>
          <p:nvPr/>
        </p:nvSpPr>
        <p:spPr>
          <a:xfrm>
            <a:off x="822960" y="2286000"/>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branch feature/login</a:t>
            </a:r>
            <a:endParaRPr lang="en-US" sz="1200" dirty="0"/>
          </a:p>
        </p:txBody>
      </p:sp>
      <p:sp>
        <p:nvSpPr>
          <p:cNvPr id="14" name="Text 12"/>
          <p:cNvSpPr/>
          <p:nvPr/>
        </p:nvSpPr>
        <p:spPr>
          <a:xfrm>
            <a:off x="822960" y="2578608"/>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(creates a new branch)</a:t>
            </a:r>
            <a:endParaRPr lang="en-US" sz="1200" dirty="0"/>
          </a:p>
        </p:txBody>
      </p:sp>
      <p:sp>
        <p:nvSpPr>
          <p:cNvPr id="15" name="Text 13"/>
          <p:cNvSpPr/>
          <p:nvPr/>
        </p:nvSpPr>
        <p:spPr>
          <a:xfrm>
            <a:off x="822960" y="2871216"/>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switch feature/login</a:t>
            </a:r>
            <a:endParaRPr lang="en-US" sz="1200" dirty="0"/>
          </a:p>
        </p:txBody>
      </p:sp>
      <p:sp>
        <p:nvSpPr>
          <p:cNvPr id="16" name="Text 14"/>
          <p:cNvSpPr/>
          <p:nvPr/>
        </p:nvSpPr>
        <p:spPr>
          <a:xfrm>
            <a:off x="822960" y="3163824"/>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(moves you onto that branch)</a:t>
            </a:r>
            <a:endParaRPr lang="en-US" sz="1200" dirty="0"/>
          </a:p>
        </p:txBody>
      </p:sp>
      <p:sp>
        <p:nvSpPr>
          <p:cNvPr id="17" name="Text 15"/>
          <p:cNvSpPr/>
          <p:nvPr/>
        </p:nvSpPr>
        <p:spPr>
          <a:xfrm>
            <a:off x="822960" y="3456432"/>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checkout main</a:t>
            </a:r>
            <a:endParaRPr lang="en-US" sz="1200" dirty="0"/>
          </a:p>
        </p:txBody>
      </p:sp>
      <p:sp>
        <p:nvSpPr>
          <p:cNvPr id="18" name="Text 16"/>
          <p:cNvSpPr/>
          <p:nvPr/>
        </p:nvSpPr>
        <p:spPr>
          <a:xfrm>
            <a:off x="822960" y="3749040"/>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(older way to switch branches)</a:t>
            </a:r>
            <a:endParaRPr lang="en-US" sz="1200" dirty="0"/>
          </a:p>
        </p:txBody>
      </p:sp>
      <p:sp>
        <p:nvSpPr>
          <p:cNvPr id="19" name="Text 17"/>
          <p:cNvSpPr/>
          <p:nvPr/>
        </p:nvSpPr>
        <p:spPr>
          <a:xfrm>
            <a:off x="822960" y="4041648"/>
            <a:ext cx="521208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merge feature/login</a:t>
            </a:r>
            <a:endParaRPr lang="en-US" sz="1200" dirty="0"/>
          </a:p>
        </p:txBody>
      </p:sp>
      <p:sp>
        <p:nvSpPr>
          <p:cNvPr id="20" name="Text 18"/>
          <p:cNvSpPr/>
          <p:nvPr/>
        </p:nvSpPr>
        <p:spPr>
          <a:xfrm>
            <a:off x="822960" y="4334256"/>
            <a:ext cx="5212080" cy="292608"/>
          </a:xfrm>
          <a:prstGeom prst="rect">
            <a:avLst/>
          </a:prstGeom>
          <a:noFill/>
          <a:ln/>
        </p:spPr>
        <p:txBody>
          <a:bodyPr wrap="square" rtlCol="0" anchor="t"/>
          <a:lstStyle/>
          <a:p>
            <a:pPr marL="0" indent="0">
              <a:buNone/>
            </a:pPr>
            <a:r>
              <a:rPr lang="en-US" sz="1200" dirty="0">
                <a:solidFill>
                  <a:srgbClr val="6B7785"/>
                </a:solidFill>
                <a:latin typeface="Consolas" pitchFamily="34" charset="0"/>
                <a:ea typeface="Consolas" pitchFamily="34" charset="-122"/>
                <a:cs typeface="Consolas" pitchFamily="34" charset="-120"/>
              </a:rPr>
              <a:t>  (brings changes back into main)</a:t>
            </a:r>
            <a:endParaRPr lang="en-US" sz="1200" dirty="0"/>
          </a:p>
        </p:txBody>
      </p:sp>
      <p:sp>
        <p:nvSpPr>
          <p:cNvPr id="21" name="Text 19"/>
          <p:cNvSpPr/>
          <p:nvPr/>
        </p:nvSpPr>
        <p:spPr>
          <a:xfrm>
            <a:off x="6629400" y="1874520"/>
            <a:ext cx="4937760" cy="292608"/>
          </a:xfrm>
          <a:prstGeom prst="rect">
            <a:avLst/>
          </a:prstGeom>
          <a:noFill/>
          <a:ln/>
        </p:spPr>
        <p:txBody>
          <a:bodyPr wrap="square" rtlCol="0" anchor="ctr"/>
          <a:lstStyle/>
          <a:p>
            <a:pPr marL="0" indent="0">
              <a:buNone/>
            </a:pPr>
            <a:r>
              <a:rPr lang="en-US" sz="1350" b="1" dirty="0">
                <a:solidFill>
                  <a:srgbClr val="232F3E"/>
                </a:solidFill>
                <a:latin typeface="Consolas" pitchFamily="34" charset="0"/>
                <a:ea typeface="Consolas" pitchFamily="34" charset="-122"/>
                <a:cs typeface="Consolas" pitchFamily="34" charset="-120"/>
              </a:rPr>
              <a:t>git branch</a:t>
            </a:r>
            <a:endParaRPr lang="en-US" sz="1350" dirty="0"/>
          </a:p>
        </p:txBody>
      </p:sp>
      <p:sp>
        <p:nvSpPr>
          <p:cNvPr id="22" name="Text 20"/>
          <p:cNvSpPr/>
          <p:nvPr/>
        </p:nvSpPr>
        <p:spPr>
          <a:xfrm>
            <a:off x="6629400" y="2167128"/>
            <a:ext cx="4937760" cy="384048"/>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List or create branches</a:t>
            </a:r>
            <a:endParaRPr lang="en-US" sz="1150" dirty="0"/>
          </a:p>
        </p:txBody>
      </p:sp>
      <p:sp>
        <p:nvSpPr>
          <p:cNvPr id="23" name="Text 21"/>
          <p:cNvSpPr/>
          <p:nvPr/>
        </p:nvSpPr>
        <p:spPr>
          <a:xfrm>
            <a:off x="6629400" y="2624328"/>
            <a:ext cx="4937760" cy="292608"/>
          </a:xfrm>
          <a:prstGeom prst="rect">
            <a:avLst/>
          </a:prstGeom>
          <a:noFill/>
          <a:ln/>
        </p:spPr>
        <p:txBody>
          <a:bodyPr wrap="square" rtlCol="0" anchor="ctr"/>
          <a:lstStyle/>
          <a:p>
            <a:pPr marL="0" indent="0">
              <a:buNone/>
            </a:pPr>
            <a:r>
              <a:rPr lang="en-US" sz="1350" b="1" dirty="0">
                <a:solidFill>
                  <a:srgbClr val="232F3E"/>
                </a:solidFill>
                <a:latin typeface="Consolas" pitchFamily="34" charset="0"/>
                <a:ea typeface="Consolas" pitchFamily="34" charset="-122"/>
                <a:cs typeface="Consolas" pitchFamily="34" charset="-120"/>
              </a:rPr>
              <a:t>git switch</a:t>
            </a:r>
            <a:endParaRPr lang="en-US" sz="1350" dirty="0"/>
          </a:p>
        </p:txBody>
      </p:sp>
      <p:sp>
        <p:nvSpPr>
          <p:cNvPr id="24" name="Text 22"/>
          <p:cNvSpPr/>
          <p:nvPr/>
        </p:nvSpPr>
        <p:spPr>
          <a:xfrm>
            <a:off x="6629400" y="2916936"/>
            <a:ext cx="4937760" cy="384048"/>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Move to a different branch (modern)</a:t>
            </a:r>
            <a:endParaRPr lang="en-US" sz="1150" dirty="0"/>
          </a:p>
        </p:txBody>
      </p:sp>
      <p:sp>
        <p:nvSpPr>
          <p:cNvPr id="25" name="Text 23"/>
          <p:cNvSpPr/>
          <p:nvPr/>
        </p:nvSpPr>
        <p:spPr>
          <a:xfrm>
            <a:off x="6629400" y="3374136"/>
            <a:ext cx="4937760" cy="292608"/>
          </a:xfrm>
          <a:prstGeom prst="rect">
            <a:avLst/>
          </a:prstGeom>
          <a:noFill/>
          <a:ln/>
        </p:spPr>
        <p:txBody>
          <a:bodyPr wrap="square" rtlCol="0" anchor="ctr"/>
          <a:lstStyle/>
          <a:p>
            <a:pPr marL="0" indent="0">
              <a:buNone/>
            </a:pPr>
            <a:r>
              <a:rPr lang="en-US" sz="1350" b="1" dirty="0">
                <a:solidFill>
                  <a:srgbClr val="232F3E"/>
                </a:solidFill>
                <a:latin typeface="Consolas" pitchFamily="34" charset="0"/>
                <a:ea typeface="Consolas" pitchFamily="34" charset="-122"/>
                <a:cs typeface="Consolas" pitchFamily="34" charset="-120"/>
              </a:rPr>
              <a:t>git checkout</a:t>
            </a:r>
            <a:endParaRPr lang="en-US" sz="1350" dirty="0"/>
          </a:p>
        </p:txBody>
      </p:sp>
      <p:sp>
        <p:nvSpPr>
          <p:cNvPr id="26" name="Text 24"/>
          <p:cNvSpPr/>
          <p:nvPr/>
        </p:nvSpPr>
        <p:spPr>
          <a:xfrm>
            <a:off x="6629400" y="3666744"/>
            <a:ext cx="4937760" cy="384048"/>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Switch branches (classic / also restores files)</a:t>
            </a:r>
            <a:endParaRPr lang="en-US" sz="1150" dirty="0"/>
          </a:p>
        </p:txBody>
      </p:sp>
      <p:sp>
        <p:nvSpPr>
          <p:cNvPr id="27" name="Text 25"/>
          <p:cNvSpPr/>
          <p:nvPr/>
        </p:nvSpPr>
        <p:spPr>
          <a:xfrm>
            <a:off x="6629400" y="4123944"/>
            <a:ext cx="4937760" cy="292608"/>
          </a:xfrm>
          <a:prstGeom prst="rect">
            <a:avLst/>
          </a:prstGeom>
          <a:noFill/>
          <a:ln/>
        </p:spPr>
        <p:txBody>
          <a:bodyPr wrap="square" rtlCol="0" anchor="ctr"/>
          <a:lstStyle/>
          <a:p>
            <a:pPr marL="0" indent="0">
              <a:buNone/>
            </a:pPr>
            <a:r>
              <a:rPr lang="en-US" sz="1350" b="1" dirty="0">
                <a:solidFill>
                  <a:srgbClr val="232F3E"/>
                </a:solidFill>
                <a:latin typeface="Consolas" pitchFamily="34" charset="0"/>
                <a:ea typeface="Consolas" pitchFamily="34" charset="-122"/>
                <a:cs typeface="Consolas" pitchFamily="34" charset="-120"/>
              </a:rPr>
              <a:t>git merge</a:t>
            </a:r>
            <a:endParaRPr lang="en-US" sz="1350" dirty="0"/>
          </a:p>
        </p:txBody>
      </p:sp>
      <p:sp>
        <p:nvSpPr>
          <p:cNvPr id="28" name="Text 26"/>
          <p:cNvSpPr/>
          <p:nvPr/>
        </p:nvSpPr>
        <p:spPr>
          <a:xfrm>
            <a:off x="6629400" y="4416552"/>
            <a:ext cx="4937760" cy="384048"/>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Combine another branch into the current one</a:t>
            </a:r>
            <a:endParaRPr lang="en-US" sz="1150" dirty="0"/>
          </a:p>
        </p:txBody>
      </p:sp>
      <p:sp>
        <p:nvSpPr>
          <p:cNvPr id="29" name="Text 27"/>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0" name="Text 28"/>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Merge Conflicts</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Understand why conflicts happen and resolve one step by step.</a:t>
            </a:r>
            <a:endParaRPr lang="en-US" sz="1250" dirty="0"/>
          </a:p>
        </p:txBody>
      </p:sp>
      <p:sp>
        <p:nvSpPr>
          <p:cNvPr id="6" name="Shape 4"/>
          <p:cNvSpPr/>
          <p:nvPr/>
        </p:nvSpPr>
        <p:spPr>
          <a:xfrm>
            <a:off x="548640" y="1828800"/>
            <a:ext cx="5394960" cy="1463040"/>
          </a:xfrm>
          <a:prstGeom prst="roundRect">
            <a:avLst>
              <a:gd name="adj" fmla="val 6250"/>
            </a:avLst>
          </a:prstGeom>
          <a:solidFill>
            <a:srgbClr val="161E2D"/>
          </a:solidFill>
          <a:ln/>
        </p:spPr>
      </p:sp>
      <p:sp>
        <p:nvSpPr>
          <p:cNvPr id="7" name="Shape 5"/>
          <p:cNvSpPr/>
          <p:nvPr/>
        </p:nvSpPr>
        <p:spPr>
          <a:xfrm>
            <a:off x="937260" y="2217420"/>
            <a:ext cx="685800" cy="685800"/>
          </a:xfrm>
          <a:prstGeom prst="ellipse">
            <a:avLst/>
          </a:prstGeom>
          <a:solidFill>
            <a:srgbClr val="3A2A26"/>
          </a:solidFill>
          <a:ln/>
        </p:spPr>
      </p:sp>
      <p:pic>
        <p:nvPicPr>
          <p:cNvPr id="8" name="Image 0" descr="/home/claude/ppt4/icon_exclamationcircle_o.png"/>
          <p:cNvPicPr>
            <a:picLocks noChangeAspect="1"/>
          </p:cNvPicPr>
          <p:nvPr/>
        </p:nvPicPr>
        <p:blipFill>
          <a:blip r:embed="rId3"/>
          <a:stretch>
            <a:fillRect/>
          </a:stretch>
        </p:blipFill>
        <p:spPr>
          <a:xfrm>
            <a:off x="1101852" y="2382012"/>
            <a:ext cx="356616" cy="356616"/>
          </a:xfrm>
          <a:prstGeom prst="rect">
            <a:avLst/>
          </a:prstGeom>
        </p:spPr>
      </p:pic>
      <p:sp>
        <p:nvSpPr>
          <p:cNvPr id="9" name="Text 6"/>
          <p:cNvSpPr/>
          <p:nvPr/>
        </p:nvSpPr>
        <p:spPr>
          <a:xfrm>
            <a:off x="1783080" y="2057400"/>
            <a:ext cx="393192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Why they happen</a:t>
            </a:r>
            <a:endParaRPr lang="en-US" sz="1400" dirty="0"/>
          </a:p>
        </p:txBody>
      </p:sp>
      <p:sp>
        <p:nvSpPr>
          <p:cNvPr id="10" name="Text 7"/>
          <p:cNvSpPr/>
          <p:nvPr/>
        </p:nvSpPr>
        <p:spPr>
          <a:xfrm>
            <a:off x="1783080" y="2423160"/>
            <a:ext cx="3931920" cy="777240"/>
          </a:xfrm>
          <a:prstGeom prst="rect">
            <a:avLst/>
          </a:prstGeom>
          <a:noFill/>
          <a:ln/>
        </p:spPr>
        <p:txBody>
          <a:bodyPr wrap="square" rtlCol="0" anchor="t"/>
          <a:lstStyle/>
          <a:p>
            <a:pPr marL="0" indent="0">
              <a:buNone/>
            </a:pPr>
            <a:r>
              <a:rPr lang="en-US" sz="1100" dirty="0">
                <a:solidFill>
                  <a:srgbClr val="C7D1D9"/>
                </a:solidFill>
                <a:latin typeface="Calibri" pitchFamily="34" charset="0"/>
                <a:ea typeface="Calibri" pitchFamily="34" charset="-122"/>
                <a:cs typeface="Calibri" pitchFamily="34" charset="-120"/>
              </a:rPr>
              <a:t>Two branches changed the exact same line of the same file, and Git can't decide which version is correct.</a:t>
            </a:r>
            <a:endParaRPr lang="en-US" sz="1100" dirty="0"/>
          </a:p>
        </p:txBody>
      </p:sp>
      <p:sp>
        <p:nvSpPr>
          <p:cNvPr id="11" name="Shape 8"/>
          <p:cNvSpPr/>
          <p:nvPr/>
        </p:nvSpPr>
        <p:spPr>
          <a:xfrm>
            <a:off x="6263640" y="1828800"/>
            <a:ext cx="5394960" cy="3108960"/>
          </a:xfrm>
          <a:prstGeom prst="roundRect">
            <a:avLst>
              <a:gd name="adj" fmla="val 2647"/>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12" name="Shape 9"/>
          <p:cNvSpPr/>
          <p:nvPr/>
        </p:nvSpPr>
        <p:spPr>
          <a:xfrm>
            <a:off x="6263640" y="1828800"/>
            <a:ext cx="5394960" cy="320040"/>
          </a:xfrm>
          <a:prstGeom prst="roundRect">
            <a:avLst>
              <a:gd name="adj" fmla="val 25714"/>
            </a:avLst>
          </a:prstGeom>
          <a:solidFill>
            <a:srgbClr val="1B2430"/>
          </a:solidFill>
          <a:ln/>
        </p:spPr>
      </p:sp>
      <p:sp>
        <p:nvSpPr>
          <p:cNvPr id="13" name="Shape 10"/>
          <p:cNvSpPr/>
          <p:nvPr/>
        </p:nvSpPr>
        <p:spPr>
          <a:xfrm>
            <a:off x="6263640" y="1984248"/>
            <a:ext cx="5394960" cy="164592"/>
          </a:xfrm>
          <a:prstGeom prst="rect">
            <a:avLst/>
          </a:prstGeom>
          <a:solidFill>
            <a:srgbClr val="1B2430"/>
          </a:solidFill>
          <a:ln/>
        </p:spPr>
      </p:sp>
      <p:sp>
        <p:nvSpPr>
          <p:cNvPr id="14" name="Shape 11"/>
          <p:cNvSpPr/>
          <p:nvPr/>
        </p:nvSpPr>
        <p:spPr>
          <a:xfrm>
            <a:off x="6428232" y="1933956"/>
            <a:ext cx="118872" cy="118872"/>
          </a:xfrm>
          <a:prstGeom prst="ellipse">
            <a:avLst/>
          </a:prstGeom>
          <a:solidFill>
            <a:srgbClr val="E5533D"/>
          </a:solidFill>
          <a:ln/>
        </p:spPr>
      </p:sp>
      <p:sp>
        <p:nvSpPr>
          <p:cNvPr id="15" name="Shape 12"/>
          <p:cNvSpPr/>
          <p:nvPr/>
        </p:nvSpPr>
        <p:spPr>
          <a:xfrm>
            <a:off x="6647688" y="1933956"/>
            <a:ext cx="118872" cy="118872"/>
          </a:xfrm>
          <a:prstGeom prst="ellipse">
            <a:avLst/>
          </a:prstGeom>
          <a:solidFill>
            <a:srgbClr val="F2C511"/>
          </a:solidFill>
          <a:ln/>
        </p:spPr>
      </p:sp>
      <p:sp>
        <p:nvSpPr>
          <p:cNvPr id="16" name="Shape 13"/>
          <p:cNvSpPr/>
          <p:nvPr/>
        </p:nvSpPr>
        <p:spPr>
          <a:xfrm>
            <a:off x="6867144" y="1933956"/>
            <a:ext cx="118872" cy="118872"/>
          </a:xfrm>
          <a:prstGeom prst="ellipse">
            <a:avLst/>
          </a:prstGeom>
          <a:solidFill>
            <a:srgbClr val="2AC940"/>
          </a:solidFill>
          <a:ln/>
        </p:spPr>
      </p:sp>
      <p:sp>
        <p:nvSpPr>
          <p:cNvPr id="17" name="Text 14"/>
          <p:cNvSpPr/>
          <p:nvPr/>
        </p:nvSpPr>
        <p:spPr>
          <a:xfrm>
            <a:off x="7086600" y="1828800"/>
            <a:ext cx="438912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index.html — conflict markers</a:t>
            </a:r>
            <a:endParaRPr lang="en-US" sz="1000" dirty="0"/>
          </a:p>
        </p:txBody>
      </p:sp>
      <p:sp>
        <p:nvSpPr>
          <p:cNvPr id="18" name="Text 15"/>
          <p:cNvSpPr/>
          <p:nvPr/>
        </p:nvSpPr>
        <p:spPr>
          <a:xfrm>
            <a:off x="6537960" y="2286000"/>
            <a:ext cx="4846320" cy="292608"/>
          </a:xfrm>
          <a:prstGeom prst="rect">
            <a:avLst/>
          </a:prstGeom>
          <a:noFill/>
          <a:ln/>
        </p:spPr>
        <p:txBody>
          <a:bodyPr wrap="square" rtlCol="0" anchor="t"/>
          <a:lstStyle/>
          <a:p>
            <a:pPr marL="0" indent="0">
              <a:buNone/>
            </a:pPr>
            <a:r>
              <a:rPr lang="en-US" sz="1150" dirty="0">
                <a:solidFill>
                  <a:srgbClr val="E5533D"/>
                </a:solidFill>
                <a:latin typeface="Consolas" pitchFamily="34" charset="0"/>
                <a:ea typeface="Consolas" pitchFamily="34" charset="-122"/>
                <a:cs typeface="Consolas" pitchFamily="34" charset="-120"/>
              </a:rPr>
              <a:t>&lt;&lt;&lt;&lt;&lt;&lt;&lt; HEAD</a:t>
            </a:r>
            <a:endParaRPr lang="en-US" sz="1150" dirty="0"/>
          </a:p>
        </p:txBody>
      </p:sp>
      <p:sp>
        <p:nvSpPr>
          <p:cNvPr id="19" name="Text 16"/>
          <p:cNvSpPr/>
          <p:nvPr/>
        </p:nvSpPr>
        <p:spPr>
          <a:xfrm>
            <a:off x="6537960" y="2578608"/>
            <a:ext cx="4846320" cy="292608"/>
          </a:xfrm>
          <a:prstGeom prst="rect">
            <a:avLst/>
          </a:prstGeom>
          <a:noFill/>
          <a:ln/>
        </p:spPr>
        <p:txBody>
          <a:bodyPr wrap="square" rtlCol="0" anchor="t"/>
          <a:lstStyle/>
          <a:p>
            <a:pPr marL="0" indent="0">
              <a:buNone/>
            </a:pPr>
            <a:r>
              <a:rPr lang="en-US" sz="1150" dirty="0">
                <a:solidFill>
                  <a:srgbClr val="FFFFFF"/>
                </a:solidFill>
                <a:latin typeface="Consolas" pitchFamily="34" charset="0"/>
                <a:ea typeface="Consolas" pitchFamily="34" charset="-122"/>
                <a:cs typeface="Consolas" pitchFamily="34" charset="-120"/>
              </a:rPr>
              <a:t>Welcome to our site!</a:t>
            </a:r>
            <a:endParaRPr lang="en-US" sz="1150" dirty="0"/>
          </a:p>
        </p:txBody>
      </p:sp>
      <p:sp>
        <p:nvSpPr>
          <p:cNvPr id="20" name="Text 17"/>
          <p:cNvSpPr/>
          <p:nvPr/>
        </p:nvSpPr>
        <p:spPr>
          <a:xfrm>
            <a:off x="6537960" y="2871216"/>
            <a:ext cx="4846320" cy="292608"/>
          </a:xfrm>
          <a:prstGeom prst="rect">
            <a:avLst/>
          </a:prstGeom>
          <a:noFill/>
          <a:ln/>
        </p:spPr>
        <p:txBody>
          <a:bodyPr wrap="square" rtlCol="0" anchor="t"/>
          <a:lstStyle/>
          <a:p>
            <a:pPr marL="0" indent="0">
              <a:buNone/>
            </a:pPr>
            <a:r>
              <a:rPr lang="en-US" sz="1150" dirty="0">
                <a:solidFill>
                  <a:srgbClr val="F2C511"/>
                </a:solidFill>
                <a:latin typeface="Consolas" pitchFamily="34" charset="0"/>
                <a:ea typeface="Consolas" pitchFamily="34" charset="-122"/>
                <a:cs typeface="Consolas" pitchFamily="34" charset="-120"/>
              </a:rPr>
              <a:t>=======</a:t>
            </a:r>
            <a:endParaRPr lang="en-US" sz="1150" dirty="0"/>
          </a:p>
        </p:txBody>
      </p:sp>
      <p:sp>
        <p:nvSpPr>
          <p:cNvPr id="21" name="Text 18"/>
          <p:cNvSpPr/>
          <p:nvPr/>
        </p:nvSpPr>
        <p:spPr>
          <a:xfrm>
            <a:off x="6537960" y="3163824"/>
            <a:ext cx="4846320" cy="292608"/>
          </a:xfrm>
          <a:prstGeom prst="rect">
            <a:avLst/>
          </a:prstGeom>
          <a:noFill/>
          <a:ln/>
        </p:spPr>
        <p:txBody>
          <a:bodyPr wrap="square" rtlCol="0" anchor="t"/>
          <a:lstStyle/>
          <a:p>
            <a:pPr marL="0" indent="0">
              <a:buNone/>
            </a:pPr>
            <a:r>
              <a:rPr lang="en-US" sz="1150" dirty="0">
                <a:solidFill>
                  <a:srgbClr val="FFFFFF"/>
                </a:solidFill>
                <a:latin typeface="Consolas" pitchFamily="34" charset="0"/>
                <a:ea typeface="Consolas" pitchFamily="34" charset="-122"/>
                <a:cs typeface="Consolas" pitchFamily="34" charset="-120"/>
              </a:rPr>
              <a:t>Welcome to my site!</a:t>
            </a:r>
            <a:endParaRPr lang="en-US" sz="1150" dirty="0"/>
          </a:p>
        </p:txBody>
      </p:sp>
      <p:sp>
        <p:nvSpPr>
          <p:cNvPr id="22" name="Text 19"/>
          <p:cNvSpPr/>
          <p:nvPr/>
        </p:nvSpPr>
        <p:spPr>
          <a:xfrm>
            <a:off x="6537960" y="3456432"/>
            <a:ext cx="4846320" cy="292608"/>
          </a:xfrm>
          <a:prstGeom prst="rect">
            <a:avLst/>
          </a:prstGeom>
          <a:noFill/>
          <a:ln/>
        </p:spPr>
        <p:txBody>
          <a:bodyPr wrap="square" rtlCol="0" anchor="t"/>
          <a:lstStyle/>
          <a:p>
            <a:pPr marL="0" indent="0">
              <a:buNone/>
            </a:pPr>
            <a:r>
              <a:rPr lang="en-US" sz="1150" dirty="0">
                <a:solidFill>
                  <a:srgbClr val="2AC940"/>
                </a:solidFill>
                <a:latin typeface="Consolas" pitchFamily="34" charset="0"/>
                <a:ea typeface="Consolas" pitchFamily="34" charset="-122"/>
                <a:cs typeface="Consolas" pitchFamily="34" charset="-120"/>
              </a:rPr>
              <a:t>&gt;&gt;&gt;&gt;&gt;&gt;&gt; feature/login</a:t>
            </a:r>
            <a:endParaRPr lang="en-US" sz="1150" dirty="0"/>
          </a:p>
        </p:txBody>
      </p:sp>
      <p:sp>
        <p:nvSpPr>
          <p:cNvPr id="23" name="Text 20"/>
          <p:cNvSpPr/>
          <p:nvPr/>
        </p:nvSpPr>
        <p:spPr>
          <a:xfrm>
            <a:off x="548640" y="3520440"/>
            <a:ext cx="5394960" cy="274320"/>
          </a:xfrm>
          <a:prstGeom prst="rect">
            <a:avLst/>
          </a:prstGeom>
          <a:noFill/>
          <a:ln/>
        </p:spPr>
        <p:txBody>
          <a:bodyPr wrap="square" rtlCol="0" anchor="ctr"/>
          <a:lstStyle/>
          <a:p>
            <a:pPr marL="0" indent="0">
              <a:buNone/>
            </a:pPr>
            <a:r>
              <a:rPr lang="en-US" sz="1050" b="1" kern="0" spc="150" dirty="0">
                <a:solidFill>
                  <a:srgbClr val="FF9900"/>
                </a:solidFill>
                <a:latin typeface="Calibri" pitchFamily="34" charset="0"/>
                <a:ea typeface="Calibri" pitchFamily="34" charset="-122"/>
                <a:cs typeface="Calibri" pitchFamily="34" charset="-120"/>
              </a:rPr>
              <a:t>RESOLUTION STEPS</a:t>
            </a:r>
            <a:endParaRPr lang="en-US" sz="1050" dirty="0"/>
          </a:p>
        </p:txBody>
      </p:sp>
      <p:sp>
        <p:nvSpPr>
          <p:cNvPr id="24" name="Text 21"/>
          <p:cNvSpPr/>
          <p:nvPr/>
        </p:nvSpPr>
        <p:spPr>
          <a:xfrm>
            <a:off x="548640" y="3840480"/>
            <a:ext cx="5394960" cy="347472"/>
          </a:xfrm>
          <a:prstGeom prst="rect">
            <a:avLst/>
          </a:prstGeom>
          <a:noFill/>
          <a:ln/>
        </p:spPr>
        <p:txBody>
          <a:bodyPr wrap="square" rtlCol="0" anchor="ctr"/>
          <a:lstStyle/>
          <a:p>
            <a:pPr marL="0" indent="0">
              <a:buNone/>
            </a:pPr>
            <a:r>
              <a:rPr lang="en-US" sz="1150" dirty="0">
                <a:solidFill>
                  <a:srgbClr val="E9EDF1"/>
                </a:solidFill>
                <a:latin typeface="Calibri" pitchFamily="34" charset="0"/>
                <a:ea typeface="Calibri" pitchFamily="34" charset="-122"/>
                <a:cs typeface="Calibri" pitchFamily="34" charset="-120"/>
              </a:rPr>
              <a:t>1. Open the file &amp; find the &lt;&lt;&lt;&lt; ==== &gt;&gt;&gt;&gt; markers</a:t>
            </a:r>
            <a:endParaRPr lang="en-US" sz="1150" dirty="0"/>
          </a:p>
        </p:txBody>
      </p:sp>
      <p:sp>
        <p:nvSpPr>
          <p:cNvPr id="25" name="Text 22"/>
          <p:cNvSpPr/>
          <p:nvPr/>
        </p:nvSpPr>
        <p:spPr>
          <a:xfrm>
            <a:off x="548640" y="4206240"/>
            <a:ext cx="5394960" cy="347472"/>
          </a:xfrm>
          <a:prstGeom prst="rect">
            <a:avLst/>
          </a:prstGeom>
          <a:noFill/>
          <a:ln/>
        </p:spPr>
        <p:txBody>
          <a:bodyPr wrap="square" rtlCol="0" anchor="ctr"/>
          <a:lstStyle/>
          <a:p>
            <a:pPr marL="0" indent="0">
              <a:buNone/>
            </a:pPr>
            <a:r>
              <a:rPr lang="en-US" sz="1150" dirty="0">
                <a:solidFill>
                  <a:srgbClr val="E9EDF1"/>
                </a:solidFill>
                <a:latin typeface="Calibri" pitchFamily="34" charset="0"/>
                <a:ea typeface="Calibri" pitchFamily="34" charset="-122"/>
                <a:cs typeface="Calibri" pitchFamily="34" charset="-120"/>
              </a:rPr>
              <a:t>2. Decide which lines to keep (or blend both)</a:t>
            </a:r>
            <a:endParaRPr lang="en-US" sz="1150" dirty="0"/>
          </a:p>
        </p:txBody>
      </p:sp>
      <p:sp>
        <p:nvSpPr>
          <p:cNvPr id="26" name="Text 23"/>
          <p:cNvSpPr/>
          <p:nvPr/>
        </p:nvSpPr>
        <p:spPr>
          <a:xfrm>
            <a:off x="548640" y="4572000"/>
            <a:ext cx="5394960" cy="347472"/>
          </a:xfrm>
          <a:prstGeom prst="rect">
            <a:avLst/>
          </a:prstGeom>
          <a:noFill/>
          <a:ln/>
        </p:spPr>
        <p:txBody>
          <a:bodyPr wrap="square" rtlCol="0" anchor="ctr"/>
          <a:lstStyle/>
          <a:p>
            <a:pPr marL="0" indent="0">
              <a:buNone/>
            </a:pPr>
            <a:r>
              <a:rPr lang="en-US" sz="1150" dirty="0">
                <a:solidFill>
                  <a:srgbClr val="E9EDF1"/>
                </a:solidFill>
                <a:latin typeface="Calibri" pitchFamily="34" charset="0"/>
                <a:ea typeface="Calibri" pitchFamily="34" charset="-122"/>
                <a:cs typeface="Calibri" pitchFamily="34" charset="-120"/>
              </a:rPr>
              <a:t>3. Delete the marker lines entirely</a:t>
            </a:r>
            <a:endParaRPr lang="en-US" sz="1150" dirty="0"/>
          </a:p>
        </p:txBody>
      </p:sp>
      <p:sp>
        <p:nvSpPr>
          <p:cNvPr id="27" name="Text 24"/>
          <p:cNvSpPr/>
          <p:nvPr/>
        </p:nvSpPr>
        <p:spPr>
          <a:xfrm>
            <a:off x="548640" y="4937760"/>
            <a:ext cx="5394960" cy="347472"/>
          </a:xfrm>
          <a:prstGeom prst="rect">
            <a:avLst/>
          </a:prstGeom>
          <a:noFill/>
          <a:ln/>
        </p:spPr>
        <p:txBody>
          <a:bodyPr wrap="square" rtlCol="0" anchor="ctr"/>
          <a:lstStyle/>
          <a:p>
            <a:pPr marL="0" indent="0">
              <a:buNone/>
            </a:pPr>
            <a:r>
              <a:rPr lang="en-US" sz="1150" dirty="0">
                <a:solidFill>
                  <a:srgbClr val="E9EDF1"/>
                </a:solidFill>
                <a:latin typeface="Calibri" pitchFamily="34" charset="0"/>
                <a:ea typeface="Calibri" pitchFamily="34" charset="-122"/>
                <a:cs typeface="Calibri" pitchFamily="34" charset="-120"/>
              </a:rPr>
              <a:t>4. git add the file, then git commit</a:t>
            </a:r>
            <a:endParaRPr lang="en-US" sz="1150" dirty="0"/>
          </a:p>
        </p:txBody>
      </p:sp>
      <p:sp>
        <p:nvSpPr>
          <p:cNvPr id="28" name="Shape 25"/>
          <p:cNvSpPr/>
          <p:nvPr/>
        </p:nvSpPr>
        <p:spPr>
          <a:xfrm>
            <a:off x="548640" y="5394960"/>
            <a:ext cx="11091672" cy="566928"/>
          </a:xfrm>
          <a:prstGeom prst="roundRect">
            <a:avLst>
              <a:gd name="adj" fmla="val 12903"/>
            </a:avLst>
          </a:prstGeom>
          <a:solidFill>
            <a:srgbClr val="232F3E"/>
          </a:solidFill>
          <a:ln/>
        </p:spPr>
      </p:sp>
      <p:sp>
        <p:nvSpPr>
          <p:cNvPr id="29" name="Shape 26"/>
          <p:cNvSpPr/>
          <p:nvPr/>
        </p:nvSpPr>
        <p:spPr>
          <a:xfrm>
            <a:off x="704088" y="5449824"/>
            <a:ext cx="457200" cy="457200"/>
          </a:xfrm>
          <a:prstGeom prst="ellipse">
            <a:avLst/>
          </a:prstGeom>
          <a:solidFill>
            <a:srgbClr val="33455B"/>
          </a:solidFill>
          <a:ln/>
        </p:spPr>
      </p:sp>
      <p:pic>
        <p:nvPicPr>
          <p:cNvPr id="30" name="Image 1" descr="/home/claude/ppt4/icon_lightbulb_o.png"/>
          <p:cNvPicPr>
            <a:picLocks noChangeAspect="1"/>
          </p:cNvPicPr>
          <p:nvPr/>
        </p:nvPicPr>
        <p:blipFill>
          <a:blip r:embed="rId4"/>
          <a:stretch>
            <a:fillRect/>
          </a:stretch>
        </p:blipFill>
        <p:spPr>
          <a:xfrm>
            <a:off x="813816" y="5559552"/>
            <a:ext cx="237744" cy="237744"/>
          </a:xfrm>
          <a:prstGeom prst="rect">
            <a:avLst/>
          </a:prstGeom>
        </p:spPr>
      </p:pic>
      <p:sp>
        <p:nvSpPr>
          <p:cNvPr id="31" name="Text 27"/>
          <p:cNvSpPr/>
          <p:nvPr/>
        </p:nvSpPr>
        <p:spPr>
          <a:xfrm>
            <a:off x="1234440" y="539496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Merge conflicts are completely normal, even for senior engineers — they're not a sign something went wrong.</a:t>
            </a:r>
            <a:endParaRPr lang="en-US" sz="1100" dirty="0"/>
          </a:p>
        </p:txBody>
      </p:sp>
      <p:sp>
        <p:nvSpPr>
          <p:cNvPr id="32" name="Text 28"/>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33" name="Text 29"/>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GITHUB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Remote Repositories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Connect your local repository to a copy hosted on GitHub.</a:t>
            </a:r>
            <a:endParaRPr lang="en-US" sz="1250" dirty="0"/>
          </a:p>
        </p:txBody>
      </p:sp>
      <p:sp>
        <p:nvSpPr>
          <p:cNvPr id="6" name="Shape 4"/>
          <p:cNvSpPr/>
          <p:nvPr/>
        </p:nvSpPr>
        <p:spPr>
          <a:xfrm>
            <a:off x="914400" y="2103120"/>
            <a:ext cx="3230880" cy="1554480"/>
          </a:xfrm>
          <a:prstGeom prst="roundRect">
            <a:avLst>
              <a:gd name="adj" fmla="val 5294"/>
            </a:avLst>
          </a:prstGeom>
          <a:solidFill>
            <a:srgbClr val="FFFFFF"/>
          </a:solidFill>
          <a:ln w="12700">
            <a:solidFill>
              <a:srgbClr val="D9DCE1"/>
            </a:solidFill>
            <a:prstDash val="solid"/>
          </a:ln>
        </p:spPr>
      </p:sp>
      <p:sp>
        <p:nvSpPr>
          <p:cNvPr id="7" name="Shape 5"/>
          <p:cNvSpPr/>
          <p:nvPr/>
        </p:nvSpPr>
        <p:spPr>
          <a:xfrm>
            <a:off x="2102358" y="2297430"/>
            <a:ext cx="854964" cy="854964"/>
          </a:xfrm>
          <a:prstGeom prst="ellipse">
            <a:avLst/>
          </a:prstGeom>
          <a:solidFill>
            <a:srgbClr val="FFF3DE"/>
          </a:solidFill>
          <a:ln/>
        </p:spPr>
      </p:sp>
      <p:pic>
        <p:nvPicPr>
          <p:cNvPr id="8" name="Image 0" descr="/home/claude/ppt4/icon_laptop_d.png"/>
          <p:cNvPicPr>
            <a:picLocks noChangeAspect="1"/>
          </p:cNvPicPr>
          <p:nvPr/>
        </p:nvPicPr>
        <p:blipFill>
          <a:blip r:embed="rId3"/>
          <a:stretch>
            <a:fillRect/>
          </a:stretch>
        </p:blipFill>
        <p:spPr>
          <a:xfrm>
            <a:off x="2307549" y="2502621"/>
            <a:ext cx="444581" cy="444581"/>
          </a:xfrm>
          <a:prstGeom prst="rect">
            <a:avLst/>
          </a:prstGeom>
        </p:spPr>
      </p:pic>
      <p:sp>
        <p:nvSpPr>
          <p:cNvPr id="9" name="Text 6"/>
          <p:cNvSpPr/>
          <p:nvPr/>
        </p:nvSpPr>
        <p:spPr>
          <a:xfrm>
            <a:off x="987552" y="3160166"/>
            <a:ext cx="3084576" cy="466344"/>
          </a:xfrm>
          <a:prstGeom prst="rect">
            <a:avLst/>
          </a:prstGeom>
          <a:noFill/>
          <a:ln/>
        </p:spPr>
        <p:txBody>
          <a:bodyPr wrap="square" rtlCol="0" anchor="t"/>
          <a:lstStyle/>
          <a:p>
            <a:pPr marL="0" indent="0" algn="ctr">
              <a:buNone/>
            </a:pPr>
            <a:r>
              <a:rPr lang="en-US" sz="1250" b="1" dirty="0">
                <a:solidFill>
                  <a:srgbClr val="232F3E"/>
                </a:solidFill>
                <a:latin typeface="Calibri" pitchFamily="34" charset="0"/>
                <a:ea typeface="Calibri" pitchFamily="34" charset="-122"/>
                <a:cs typeface="Calibri" pitchFamily="34" charset="-120"/>
              </a:rPr>
              <a:t>Local Repo</a:t>
            </a:r>
            <a:endParaRPr lang="en-US" sz="1250" dirty="0"/>
          </a:p>
          <a:p>
            <a:pPr marL="0" indent="0" algn="ctr">
              <a:buNone/>
            </a:pPr>
            <a:r>
              <a:rPr lang="en-US" sz="1250" b="1" dirty="0">
                <a:solidFill>
                  <a:srgbClr val="232F3E"/>
                </a:solidFill>
                <a:latin typeface="Calibri" pitchFamily="34" charset="0"/>
                <a:ea typeface="Calibri" pitchFamily="34" charset="-122"/>
                <a:cs typeface="Calibri" pitchFamily="34" charset="-120"/>
              </a:rPr>
              <a:t>(your laptop)</a:t>
            </a:r>
            <a:endParaRPr lang="en-US" sz="1250" dirty="0"/>
          </a:p>
        </p:txBody>
      </p:sp>
      <p:sp>
        <p:nvSpPr>
          <p:cNvPr id="10" name="Text 7"/>
          <p:cNvSpPr/>
          <p:nvPr/>
        </p:nvSpPr>
        <p:spPr>
          <a:xfrm>
            <a:off x="4145280" y="2651760"/>
            <a:ext cx="32004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4465320" y="2103120"/>
            <a:ext cx="3230880" cy="1554480"/>
          </a:xfrm>
          <a:prstGeom prst="roundRect">
            <a:avLst>
              <a:gd name="adj" fmla="val 5294"/>
            </a:avLst>
          </a:prstGeom>
          <a:solidFill>
            <a:srgbClr val="FFF3DE"/>
          </a:solidFill>
          <a:ln w="12700">
            <a:solidFill>
              <a:srgbClr val="FF9900"/>
            </a:solidFill>
            <a:prstDash val="solid"/>
          </a:ln>
        </p:spPr>
      </p:sp>
      <p:sp>
        <p:nvSpPr>
          <p:cNvPr id="12" name="Shape 9"/>
          <p:cNvSpPr/>
          <p:nvPr/>
        </p:nvSpPr>
        <p:spPr>
          <a:xfrm>
            <a:off x="5653278" y="2297430"/>
            <a:ext cx="854964" cy="854964"/>
          </a:xfrm>
          <a:prstGeom prst="ellipse">
            <a:avLst/>
          </a:prstGeom>
          <a:solidFill>
            <a:srgbClr val="FFF3DE"/>
          </a:solidFill>
          <a:ln/>
        </p:spPr>
      </p:sp>
      <p:pic>
        <p:nvPicPr>
          <p:cNvPr id="13" name="Image 1" descr="/home/claude/ppt4/icon_route_d.png"/>
          <p:cNvPicPr>
            <a:picLocks noChangeAspect="1"/>
          </p:cNvPicPr>
          <p:nvPr/>
        </p:nvPicPr>
        <p:blipFill>
          <a:blip r:embed="rId4"/>
          <a:stretch>
            <a:fillRect/>
          </a:stretch>
        </p:blipFill>
        <p:spPr>
          <a:xfrm>
            <a:off x="5858469" y="2502621"/>
            <a:ext cx="444581" cy="444581"/>
          </a:xfrm>
          <a:prstGeom prst="rect">
            <a:avLst/>
          </a:prstGeom>
        </p:spPr>
      </p:pic>
      <p:sp>
        <p:nvSpPr>
          <p:cNvPr id="14" name="Text 10"/>
          <p:cNvSpPr/>
          <p:nvPr/>
        </p:nvSpPr>
        <p:spPr>
          <a:xfrm>
            <a:off x="4538472" y="3160166"/>
            <a:ext cx="3084576" cy="466344"/>
          </a:xfrm>
          <a:prstGeom prst="rect">
            <a:avLst/>
          </a:prstGeom>
          <a:noFill/>
          <a:ln/>
        </p:spPr>
        <p:txBody>
          <a:bodyPr wrap="square" rtlCol="0" anchor="t"/>
          <a:lstStyle/>
          <a:p>
            <a:pPr marL="0" indent="0" algn="ctr">
              <a:buNone/>
            </a:pPr>
            <a:r>
              <a:rPr lang="en-US" sz="1250" b="1" dirty="0">
                <a:solidFill>
                  <a:srgbClr val="232F3E"/>
                </a:solidFill>
                <a:latin typeface="Calibri" pitchFamily="34" charset="0"/>
                <a:ea typeface="Calibri" pitchFamily="34" charset="-122"/>
                <a:cs typeface="Calibri" pitchFamily="34" charset="-120"/>
              </a:rPr>
              <a:t>origin</a:t>
            </a:r>
            <a:endParaRPr lang="en-US" sz="1250" dirty="0"/>
          </a:p>
          <a:p>
            <a:pPr marL="0" indent="0" algn="ctr">
              <a:buNone/>
            </a:pPr>
            <a:r>
              <a:rPr lang="en-US" sz="1250" b="1" dirty="0">
                <a:solidFill>
                  <a:srgbClr val="232F3E"/>
                </a:solidFill>
                <a:latin typeface="Calibri" pitchFamily="34" charset="0"/>
                <a:ea typeface="Calibri" pitchFamily="34" charset="-122"/>
                <a:cs typeface="Calibri" pitchFamily="34" charset="-120"/>
              </a:rPr>
              <a:t>(the link)</a:t>
            </a:r>
            <a:endParaRPr lang="en-US" sz="1250" dirty="0"/>
          </a:p>
        </p:txBody>
      </p:sp>
      <p:sp>
        <p:nvSpPr>
          <p:cNvPr id="15" name="Text 11"/>
          <p:cNvSpPr/>
          <p:nvPr/>
        </p:nvSpPr>
        <p:spPr>
          <a:xfrm>
            <a:off x="7696200" y="2651760"/>
            <a:ext cx="32004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8016240" y="2103120"/>
            <a:ext cx="3230880" cy="1554480"/>
          </a:xfrm>
          <a:prstGeom prst="roundRect">
            <a:avLst>
              <a:gd name="adj" fmla="val 5294"/>
            </a:avLst>
          </a:prstGeom>
          <a:solidFill>
            <a:srgbClr val="FFFFFF"/>
          </a:solidFill>
          <a:ln w="12700">
            <a:solidFill>
              <a:srgbClr val="D9DCE1"/>
            </a:solidFill>
            <a:prstDash val="solid"/>
          </a:ln>
        </p:spPr>
      </p:sp>
      <p:sp>
        <p:nvSpPr>
          <p:cNvPr id="17" name="Shape 13"/>
          <p:cNvSpPr/>
          <p:nvPr/>
        </p:nvSpPr>
        <p:spPr>
          <a:xfrm>
            <a:off x="9204198" y="2297430"/>
            <a:ext cx="854964" cy="854964"/>
          </a:xfrm>
          <a:prstGeom prst="ellipse">
            <a:avLst/>
          </a:prstGeom>
          <a:solidFill>
            <a:srgbClr val="FFF3DE"/>
          </a:solidFill>
          <a:ln/>
        </p:spPr>
      </p:sp>
      <p:pic>
        <p:nvPicPr>
          <p:cNvPr id="18" name="Image 2" descr="/home/claude/ppt4/icon_github_d.png"/>
          <p:cNvPicPr>
            <a:picLocks noChangeAspect="1"/>
          </p:cNvPicPr>
          <p:nvPr/>
        </p:nvPicPr>
        <p:blipFill>
          <a:blip r:embed="rId5"/>
          <a:stretch>
            <a:fillRect/>
          </a:stretch>
        </p:blipFill>
        <p:spPr>
          <a:xfrm>
            <a:off x="9409389" y="2502621"/>
            <a:ext cx="444581" cy="444581"/>
          </a:xfrm>
          <a:prstGeom prst="rect">
            <a:avLst/>
          </a:prstGeom>
        </p:spPr>
      </p:pic>
      <p:sp>
        <p:nvSpPr>
          <p:cNvPr id="19" name="Text 14"/>
          <p:cNvSpPr/>
          <p:nvPr/>
        </p:nvSpPr>
        <p:spPr>
          <a:xfrm>
            <a:off x="8089392" y="3160166"/>
            <a:ext cx="3084576" cy="466344"/>
          </a:xfrm>
          <a:prstGeom prst="rect">
            <a:avLst/>
          </a:prstGeom>
          <a:noFill/>
          <a:ln/>
        </p:spPr>
        <p:txBody>
          <a:bodyPr wrap="square" rtlCol="0" anchor="t"/>
          <a:lstStyle/>
          <a:p>
            <a:pPr marL="0" indent="0" algn="ctr">
              <a:buNone/>
            </a:pPr>
            <a:r>
              <a:rPr lang="en-US" sz="1250" b="1" dirty="0">
                <a:solidFill>
                  <a:srgbClr val="232F3E"/>
                </a:solidFill>
                <a:latin typeface="Calibri" pitchFamily="34" charset="0"/>
                <a:ea typeface="Calibri" pitchFamily="34" charset="-122"/>
                <a:cs typeface="Calibri" pitchFamily="34" charset="-120"/>
              </a:rPr>
              <a:t>GitHub Repo</a:t>
            </a:r>
            <a:endParaRPr lang="en-US" sz="1250" dirty="0"/>
          </a:p>
          <a:p>
            <a:pPr marL="0" indent="0" algn="ctr">
              <a:buNone/>
            </a:pPr>
            <a:r>
              <a:rPr lang="en-US" sz="1250" b="1" dirty="0">
                <a:solidFill>
                  <a:srgbClr val="232F3E"/>
                </a:solidFill>
                <a:latin typeface="Calibri" pitchFamily="34" charset="0"/>
                <a:ea typeface="Calibri" pitchFamily="34" charset="-122"/>
                <a:cs typeface="Calibri" pitchFamily="34" charset="-120"/>
              </a:rPr>
              <a:t>(remote)</a:t>
            </a:r>
            <a:endParaRPr lang="en-US" sz="1250" dirty="0"/>
          </a:p>
        </p:txBody>
      </p:sp>
      <p:sp>
        <p:nvSpPr>
          <p:cNvPr id="20" name="Shape 15"/>
          <p:cNvSpPr/>
          <p:nvPr/>
        </p:nvSpPr>
        <p:spPr>
          <a:xfrm>
            <a:off x="1979676" y="4023360"/>
            <a:ext cx="8229600" cy="1371600"/>
          </a:xfrm>
          <a:prstGeom prst="roundRect">
            <a:avLst>
              <a:gd name="adj" fmla="val 6000"/>
            </a:avLst>
          </a:prstGeom>
          <a:solidFill>
            <a:srgbClr val="0F1620"/>
          </a:solidFill>
          <a:ln w="12700">
            <a:solidFill>
              <a:srgbClr val="000000"/>
            </a:solidFill>
            <a:prstDash val="solid"/>
          </a:ln>
          <a:effectLst>
            <a:outerShdw blurRad="127000" dist="50800" dir="5400000" algn="bl" rotWithShape="0">
              <a:srgbClr val="0A0E14">
                <a:alpha val="35000"/>
              </a:srgbClr>
            </a:outerShdw>
          </a:effectLst>
        </p:spPr>
      </p:sp>
      <p:sp>
        <p:nvSpPr>
          <p:cNvPr id="21" name="Shape 16"/>
          <p:cNvSpPr/>
          <p:nvPr/>
        </p:nvSpPr>
        <p:spPr>
          <a:xfrm>
            <a:off x="1979676" y="4023360"/>
            <a:ext cx="8229600" cy="320040"/>
          </a:xfrm>
          <a:prstGeom prst="roundRect">
            <a:avLst>
              <a:gd name="adj" fmla="val 25714"/>
            </a:avLst>
          </a:prstGeom>
          <a:solidFill>
            <a:srgbClr val="1B2430"/>
          </a:solidFill>
          <a:ln/>
        </p:spPr>
      </p:sp>
      <p:sp>
        <p:nvSpPr>
          <p:cNvPr id="22" name="Shape 17"/>
          <p:cNvSpPr/>
          <p:nvPr/>
        </p:nvSpPr>
        <p:spPr>
          <a:xfrm>
            <a:off x="1979676" y="4178808"/>
            <a:ext cx="8229600" cy="164592"/>
          </a:xfrm>
          <a:prstGeom prst="rect">
            <a:avLst/>
          </a:prstGeom>
          <a:solidFill>
            <a:srgbClr val="1B2430"/>
          </a:solidFill>
          <a:ln/>
        </p:spPr>
      </p:sp>
      <p:sp>
        <p:nvSpPr>
          <p:cNvPr id="23" name="Shape 18"/>
          <p:cNvSpPr/>
          <p:nvPr/>
        </p:nvSpPr>
        <p:spPr>
          <a:xfrm>
            <a:off x="2144268" y="4128516"/>
            <a:ext cx="118872" cy="118872"/>
          </a:xfrm>
          <a:prstGeom prst="ellipse">
            <a:avLst/>
          </a:prstGeom>
          <a:solidFill>
            <a:srgbClr val="E5533D"/>
          </a:solidFill>
          <a:ln/>
        </p:spPr>
      </p:sp>
      <p:sp>
        <p:nvSpPr>
          <p:cNvPr id="24" name="Shape 19"/>
          <p:cNvSpPr/>
          <p:nvPr/>
        </p:nvSpPr>
        <p:spPr>
          <a:xfrm>
            <a:off x="2363724" y="4128516"/>
            <a:ext cx="118872" cy="118872"/>
          </a:xfrm>
          <a:prstGeom prst="ellipse">
            <a:avLst/>
          </a:prstGeom>
          <a:solidFill>
            <a:srgbClr val="F2C511"/>
          </a:solidFill>
          <a:ln/>
        </p:spPr>
      </p:sp>
      <p:sp>
        <p:nvSpPr>
          <p:cNvPr id="25" name="Shape 20"/>
          <p:cNvSpPr/>
          <p:nvPr/>
        </p:nvSpPr>
        <p:spPr>
          <a:xfrm>
            <a:off x="2583180" y="4128516"/>
            <a:ext cx="118872" cy="118872"/>
          </a:xfrm>
          <a:prstGeom prst="ellipse">
            <a:avLst/>
          </a:prstGeom>
          <a:solidFill>
            <a:srgbClr val="2AC940"/>
          </a:solidFill>
          <a:ln/>
        </p:spPr>
      </p:sp>
      <p:sp>
        <p:nvSpPr>
          <p:cNvPr id="26" name="Text 21"/>
          <p:cNvSpPr/>
          <p:nvPr/>
        </p:nvSpPr>
        <p:spPr>
          <a:xfrm>
            <a:off x="2802636" y="4023360"/>
            <a:ext cx="7223760" cy="320040"/>
          </a:xfrm>
          <a:prstGeom prst="rect">
            <a:avLst/>
          </a:prstGeom>
          <a:noFill/>
          <a:ln/>
        </p:spPr>
        <p:txBody>
          <a:bodyPr wrap="square" rtlCol="0" anchor="ctr"/>
          <a:lstStyle/>
          <a:p>
            <a:pPr marL="0" indent="0">
              <a:buNone/>
            </a:pPr>
            <a:r>
              <a:rPr lang="en-US" sz="1000" dirty="0">
                <a:solidFill>
                  <a:srgbClr val="8A97A3"/>
                </a:solidFill>
                <a:latin typeface="Consolas" pitchFamily="34" charset="0"/>
                <a:ea typeface="Consolas" pitchFamily="34" charset="-122"/>
                <a:cs typeface="Consolas" pitchFamily="34" charset="-120"/>
              </a:rPr>
              <a:t>user@cloud:~/project</a:t>
            </a:r>
            <a:endParaRPr lang="en-US" sz="1000" dirty="0"/>
          </a:p>
        </p:txBody>
      </p:sp>
      <p:sp>
        <p:nvSpPr>
          <p:cNvPr id="27" name="Text 22"/>
          <p:cNvSpPr/>
          <p:nvPr/>
        </p:nvSpPr>
        <p:spPr>
          <a:xfrm>
            <a:off x="2253996" y="4480560"/>
            <a:ext cx="76809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remote add origin https://github.com/you/my-first-repo.git</a:t>
            </a:r>
            <a:endParaRPr lang="en-US" sz="1200" dirty="0"/>
          </a:p>
        </p:txBody>
      </p:sp>
      <p:sp>
        <p:nvSpPr>
          <p:cNvPr id="28" name="Text 23"/>
          <p:cNvSpPr/>
          <p:nvPr/>
        </p:nvSpPr>
        <p:spPr>
          <a:xfrm>
            <a:off x="2253996" y="4773168"/>
            <a:ext cx="7680960" cy="292608"/>
          </a:xfrm>
          <a:prstGeom prst="rect">
            <a:avLst/>
          </a:prstGeom>
          <a:noFill/>
          <a:ln/>
        </p:spPr>
        <p:txBody>
          <a:bodyPr wrap="square" rtlCol="0" anchor="t"/>
          <a:lstStyle/>
          <a:p>
            <a:pPr marL="0" indent="0">
              <a:buNone/>
            </a:pPr>
            <a:r>
              <a:rPr lang="en-US" sz="1200" b="1" dirty="0">
                <a:solidFill>
                  <a:srgbClr val="2AC940"/>
                </a:solidFill>
                <a:latin typeface="Consolas" pitchFamily="34" charset="0"/>
                <a:ea typeface="Consolas" pitchFamily="34" charset="-122"/>
                <a:cs typeface="Consolas" pitchFamily="34" charset="-120"/>
              </a:rPr>
              <a:t>$ </a:t>
            </a:r>
            <a:r>
              <a:rPr lang="en-US" sz="1200" dirty="0">
                <a:solidFill>
                  <a:srgbClr val="FFFFFF"/>
                </a:solidFill>
                <a:latin typeface="Consolas" pitchFamily="34" charset="0"/>
                <a:ea typeface="Consolas" pitchFamily="34" charset="-122"/>
                <a:cs typeface="Consolas" pitchFamily="34" charset="-120"/>
              </a:rPr>
              <a:t>git remote -v</a:t>
            </a:r>
            <a:endParaRPr lang="en-US" sz="1200" dirty="0"/>
          </a:p>
        </p:txBody>
      </p:sp>
      <p:sp>
        <p:nvSpPr>
          <p:cNvPr id="29" name="Text 24"/>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0" name="Text 25"/>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GITHUB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GitHub Walkthrough</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Create an account, a repository, and push your first project.</a:t>
            </a:r>
            <a:endParaRPr lang="en-US" sz="1250" dirty="0"/>
          </a:p>
        </p:txBody>
      </p:sp>
      <p:sp>
        <p:nvSpPr>
          <p:cNvPr id="6" name="Shape 4"/>
          <p:cNvSpPr/>
          <p:nvPr/>
        </p:nvSpPr>
        <p:spPr>
          <a:xfrm>
            <a:off x="763524" y="2103120"/>
            <a:ext cx="2514600" cy="2377440"/>
          </a:xfrm>
          <a:prstGeom prst="roundRect">
            <a:avLst>
              <a:gd name="adj" fmla="val 3846"/>
            </a:avLst>
          </a:prstGeom>
          <a:solidFill>
            <a:srgbClr val="161E2D"/>
          </a:solidFill>
          <a:ln/>
        </p:spPr>
      </p:sp>
      <p:sp>
        <p:nvSpPr>
          <p:cNvPr id="7" name="Shape 5"/>
          <p:cNvSpPr/>
          <p:nvPr/>
        </p:nvSpPr>
        <p:spPr>
          <a:xfrm>
            <a:off x="1764792" y="2377440"/>
            <a:ext cx="512064" cy="512064"/>
          </a:xfrm>
          <a:prstGeom prst="ellipse">
            <a:avLst/>
          </a:prstGeom>
          <a:solidFill>
            <a:srgbClr val="FF9900"/>
          </a:solidFill>
          <a:ln/>
        </p:spPr>
      </p:sp>
      <p:sp>
        <p:nvSpPr>
          <p:cNvPr id="8" name="Text 6"/>
          <p:cNvSpPr/>
          <p:nvPr/>
        </p:nvSpPr>
        <p:spPr>
          <a:xfrm>
            <a:off x="1764792" y="2377440"/>
            <a:ext cx="512064" cy="512064"/>
          </a:xfrm>
          <a:prstGeom prst="rect">
            <a:avLst/>
          </a:prstGeom>
          <a:noFill/>
          <a:ln/>
        </p:spPr>
        <p:txBody>
          <a:bodyPr wrap="square"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900684" y="3063240"/>
            <a:ext cx="2240280" cy="502920"/>
          </a:xfrm>
          <a:prstGeom prst="rect">
            <a:avLst/>
          </a:prstGeom>
          <a:noFill/>
          <a:ln/>
        </p:spPr>
        <p:txBody>
          <a:bodyPr wrap="square" rtlCol="0" anchor="t"/>
          <a:lstStyle/>
          <a:p>
            <a:pPr marL="0" indent="0" algn="ctr">
              <a:buNone/>
            </a:pPr>
            <a:r>
              <a:rPr lang="en-US" sz="1250" b="1" dirty="0">
                <a:solidFill>
                  <a:srgbClr val="FFFFFF"/>
                </a:solidFill>
                <a:latin typeface="Arial" pitchFamily="34" charset="0"/>
                <a:ea typeface="Arial" pitchFamily="34" charset="-122"/>
                <a:cs typeface="Arial" pitchFamily="34" charset="-120"/>
              </a:rPr>
              <a:t>Create a free account</a:t>
            </a:r>
            <a:endParaRPr lang="en-US" sz="1250" dirty="0"/>
          </a:p>
        </p:txBody>
      </p:sp>
      <p:sp>
        <p:nvSpPr>
          <p:cNvPr id="10" name="Text 8"/>
          <p:cNvSpPr/>
          <p:nvPr/>
        </p:nvSpPr>
        <p:spPr>
          <a:xfrm>
            <a:off x="900684" y="3703320"/>
            <a:ext cx="2240280" cy="640080"/>
          </a:xfrm>
          <a:prstGeom prst="rect">
            <a:avLst/>
          </a:prstGeom>
          <a:noFill/>
          <a:ln/>
        </p:spPr>
        <p:txBody>
          <a:bodyPr wrap="square" rtlCol="0" anchor="t"/>
          <a:lstStyle/>
          <a:p>
            <a:pPr marL="0" indent="0" algn="ctr">
              <a:buNone/>
            </a:pPr>
            <a:r>
              <a:rPr lang="en-US" sz="950" dirty="0">
                <a:solidFill>
                  <a:srgbClr val="AEB9C2"/>
                </a:solidFill>
                <a:latin typeface="Consolas" pitchFamily="34" charset="0"/>
                <a:ea typeface="Consolas" pitchFamily="34" charset="-122"/>
                <a:cs typeface="Consolas" pitchFamily="34" charset="-120"/>
              </a:rPr>
              <a:t>github.com → Sign Up</a:t>
            </a:r>
            <a:endParaRPr lang="en-US" sz="950" dirty="0"/>
          </a:p>
        </p:txBody>
      </p:sp>
      <p:sp>
        <p:nvSpPr>
          <p:cNvPr id="11" name="Shape 9"/>
          <p:cNvSpPr/>
          <p:nvPr/>
        </p:nvSpPr>
        <p:spPr>
          <a:xfrm>
            <a:off x="3479292" y="2103120"/>
            <a:ext cx="2514600" cy="2377440"/>
          </a:xfrm>
          <a:prstGeom prst="roundRect">
            <a:avLst>
              <a:gd name="adj" fmla="val 3846"/>
            </a:avLst>
          </a:prstGeom>
          <a:solidFill>
            <a:srgbClr val="161E2D"/>
          </a:solidFill>
          <a:ln/>
        </p:spPr>
      </p:sp>
      <p:sp>
        <p:nvSpPr>
          <p:cNvPr id="12" name="Shape 10"/>
          <p:cNvSpPr/>
          <p:nvPr/>
        </p:nvSpPr>
        <p:spPr>
          <a:xfrm>
            <a:off x="4480560" y="2377440"/>
            <a:ext cx="512064" cy="512064"/>
          </a:xfrm>
          <a:prstGeom prst="ellipse">
            <a:avLst/>
          </a:prstGeom>
          <a:solidFill>
            <a:srgbClr val="FF9900"/>
          </a:solidFill>
          <a:ln/>
        </p:spPr>
      </p:sp>
      <p:sp>
        <p:nvSpPr>
          <p:cNvPr id="13" name="Text 11"/>
          <p:cNvSpPr/>
          <p:nvPr/>
        </p:nvSpPr>
        <p:spPr>
          <a:xfrm>
            <a:off x="4480560" y="2377440"/>
            <a:ext cx="512064" cy="512064"/>
          </a:xfrm>
          <a:prstGeom prst="rect">
            <a:avLst/>
          </a:prstGeom>
          <a:noFill/>
          <a:ln/>
        </p:spPr>
        <p:txBody>
          <a:bodyPr wrap="square"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3616452" y="3063240"/>
            <a:ext cx="2240280" cy="502920"/>
          </a:xfrm>
          <a:prstGeom prst="rect">
            <a:avLst/>
          </a:prstGeom>
          <a:noFill/>
          <a:ln/>
        </p:spPr>
        <p:txBody>
          <a:bodyPr wrap="square" rtlCol="0" anchor="t"/>
          <a:lstStyle/>
          <a:p>
            <a:pPr marL="0" indent="0" algn="ctr">
              <a:buNone/>
            </a:pPr>
            <a:r>
              <a:rPr lang="en-US" sz="1250" b="1" dirty="0">
                <a:solidFill>
                  <a:srgbClr val="FFFFFF"/>
                </a:solidFill>
                <a:latin typeface="Arial" pitchFamily="34" charset="0"/>
                <a:ea typeface="Arial" pitchFamily="34" charset="-122"/>
                <a:cs typeface="Arial" pitchFamily="34" charset="-120"/>
              </a:rPr>
              <a:t>Create a new repository</a:t>
            </a:r>
            <a:endParaRPr lang="en-US" sz="1250" dirty="0"/>
          </a:p>
        </p:txBody>
      </p:sp>
      <p:sp>
        <p:nvSpPr>
          <p:cNvPr id="15" name="Text 13"/>
          <p:cNvSpPr/>
          <p:nvPr/>
        </p:nvSpPr>
        <p:spPr>
          <a:xfrm>
            <a:off x="3616452" y="3703320"/>
            <a:ext cx="2240280" cy="640080"/>
          </a:xfrm>
          <a:prstGeom prst="rect">
            <a:avLst/>
          </a:prstGeom>
          <a:noFill/>
          <a:ln/>
        </p:spPr>
        <p:txBody>
          <a:bodyPr wrap="square" rtlCol="0" anchor="t"/>
          <a:lstStyle/>
          <a:p>
            <a:pPr marL="0" indent="0" algn="ctr">
              <a:buNone/>
            </a:pPr>
            <a:r>
              <a:rPr lang="en-US" sz="950" dirty="0">
                <a:solidFill>
                  <a:srgbClr val="AEB9C2"/>
                </a:solidFill>
                <a:latin typeface="Consolas" pitchFamily="34" charset="0"/>
                <a:ea typeface="Consolas" pitchFamily="34" charset="-122"/>
                <a:cs typeface="Consolas" pitchFamily="34" charset="-120"/>
              </a:rPr>
              <a:t>Click “New” → name it → Create</a:t>
            </a:r>
            <a:endParaRPr lang="en-US" sz="950" dirty="0"/>
          </a:p>
        </p:txBody>
      </p:sp>
      <p:sp>
        <p:nvSpPr>
          <p:cNvPr id="16" name="Shape 14"/>
          <p:cNvSpPr/>
          <p:nvPr/>
        </p:nvSpPr>
        <p:spPr>
          <a:xfrm>
            <a:off x="6195060" y="2103120"/>
            <a:ext cx="2514600" cy="2377440"/>
          </a:xfrm>
          <a:prstGeom prst="roundRect">
            <a:avLst>
              <a:gd name="adj" fmla="val 3846"/>
            </a:avLst>
          </a:prstGeom>
          <a:solidFill>
            <a:srgbClr val="161E2D"/>
          </a:solidFill>
          <a:ln/>
        </p:spPr>
      </p:sp>
      <p:sp>
        <p:nvSpPr>
          <p:cNvPr id="17" name="Shape 15"/>
          <p:cNvSpPr/>
          <p:nvPr/>
        </p:nvSpPr>
        <p:spPr>
          <a:xfrm>
            <a:off x="7196328" y="2377440"/>
            <a:ext cx="512064" cy="512064"/>
          </a:xfrm>
          <a:prstGeom prst="ellipse">
            <a:avLst/>
          </a:prstGeom>
          <a:solidFill>
            <a:srgbClr val="FF9900"/>
          </a:solidFill>
          <a:ln/>
        </p:spPr>
      </p:sp>
      <p:sp>
        <p:nvSpPr>
          <p:cNvPr id="18" name="Text 16"/>
          <p:cNvSpPr/>
          <p:nvPr/>
        </p:nvSpPr>
        <p:spPr>
          <a:xfrm>
            <a:off x="7196328" y="2377440"/>
            <a:ext cx="512064" cy="512064"/>
          </a:xfrm>
          <a:prstGeom prst="rect">
            <a:avLst/>
          </a:prstGeom>
          <a:noFill/>
          <a:ln/>
        </p:spPr>
        <p:txBody>
          <a:bodyPr wrap="square"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6332220" y="3063240"/>
            <a:ext cx="2240280" cy="502920"/>
          </a:xfrm>
          <a:prstGeom prst="rect">
            <a:avLst/>
          </a:prstGeom>
          <a:noFill/>
          <a:ln/>
        </p:spPr>
        <p:txBody>
          <a:bodyPr wrap="square" rtlCol="0" anchor="t"/>
          <a:lstStyle/>
          <a:p>
            <a:pPr marL="0" indent="0" algn="ctr">
              <a:buNone/>
            </a:pPr>
            <a:r>
              <a:rPr lang="en-US" sz="1250" b="1" dirty="0">
                <a:solidFill>
                  <a:srgbClr val="FFFFFF"/>
                </a:solidFill>
                <a:latin typeface="Arial" pitchFamily="34" charset="0"/>
                <a:ea typeface="Arial" pitchFamily="34" charset="-122"/>
                <a:cs typeface="Arial" pitchFamily="34" charset="-120"/>
              </a:rPr>
              <a:t>Push your project</a:t>
            </a:r>
            <a:endParaRPr lang="en-US" sz="1250" dirty="0"/>
          </a:p>
        </p:txBody>
      </p:sp>
      <p:sp>
        <p:nvSpPr>
          <p:cNvPr id="20" name="Text 18"/>
          <p:cNvSpPr/>
          <p:nvPr/>
        </p:nvSpPr>
        <p:spPr>
          <a:xfrm>
            <a:off x="6332220" y="3703320"/>
            <a:ext cx="2240280" cy="640080"/>
          </a:xfrm>
          <a:prstGeom prst="rect">
            <a:avLst/>
          </a:prstGeom>
          <a:noFill/>
          <a:ln/>
        </p:spPr>
        <p:txBody>
          <a:bodyPr wrap="square" rtlCol="0" anchor="t"/>
          <a:lstStyle/>
          <a:p>
            <a:pPr marL="0" indent="0" algn="ctr">
              <a:buNone/>
            </a:pPr>
            <a:r>
              <a:rPr lang="en-US" sz="950" dirty="0">
                <a:solidFill>
                  <a:srgbClr val="AEB9C2"/>
                </a:solidFill>
                <a:latin typeface="Consolas" pitchFamily="34" charset="0"/>
                <a:ea typeface="Consolas" pitchFamily="34" charset="-122"/>
                <a:cs typeface="Consolas" pitchFamily="34" charset="-120"/>
              </a:rPr>
              <a:t>git push -u origin main</a:t>
            </a:r>
            <a:endParaRPr lang="en-US" sz="950" dirty="0"/>
          </a:p>
        </p:txBody>
      </p:sp>
      <p:sp>
        <p:nvSpPr>
          <p:cNvPr id="21" name="Shape 19"/>
          <p:cNvSpPr/>
          <p:nvPr/>
        </p:nvSpPr>
        <p:spPr>
          <a:xfrm>
            <a:off x="8910828" y="2103120"/>
            <a:ext cx="2514600" cy="2377440"/>
          </a:xfrm>
          <a:prstGeom prst="roundRect">
            <a:avLst>
              <a:gd name="adj" fmla="val 3846"/>
            </a:avLst>
          </a:prstGeom>
          <a:solidFill>
            <a:srgbClr val="161E2D"/>
          </a:solidFill>
          <a:ln/>
        </p:spPr>
      </p:sp>
      <p:sp>
        <p:nvSpPr>
          <p:cNvPr id="22" name="Shape 20"/>
          <p:cNvSpPr/>
          <p:nvPr/>
        </p:nvSpPr>
        <p:spPr>
          <a:xfrm>
            <a:off x="9912096" y="2377440"/>
            <a:ext cx="512064" cy="512064"/>
          </a:xfrm>
          <a:prstGeom prst="ellipse">
            <a:avLst/>
          </a:prstGeom>
          <a:solidFill>
            <a:srgbClr val="FF9900"/>
          </a:solidFill>
          <a:ln/>
        </p:spPr>
      </p:sp>
      <p:sp>
        <p:nvSpPr>
          <p:cNvPr id="23" name="Text 21"/>
          <p:cNvSpPr/>
          <p:nvPr/>
        </p:nvSpPr>
        <p:spPr>
          <a:xfrm>
            <a:off x="9912096" y="2377440"/>
            <a:ext cx="512064" cy="512064"/>
          </a:xfrm>
          <a:prstGeom prst="rect">
            <a:avLst/>
          </a:prstGeom>
          <a:noFill/>
          <a:ln/>
        </p:spPr>
        <p:txBody>
          <a:bodyPr wrap="square"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9047988" y="3063240"/>
            <a:ext cx="2240280" cy="502920"/>
          </a:xfrm>
          <a:prstGeom prst="rect">
            <a:avLst/>
          </a:prstGeom>
          <a:noFill/>
          <a:ln/>
        </p:spPr>
        <p:txBody>
          <a:bodyPr wrap="square" rtlCol="0" anchor="t"/>
          <a:lstStyle/>
          <a:p>
            <a:pPr marL="0" indent="0" algn="ctr">
              <a:buNone/>
            </a:pPr>
            <a:r>
              <a:rPr lang="en-US" sz="1250" b="1" dirty="0">
                <a:solidFill>
                  <a:srgbClr val="FFFFFF"/>
                </a:solidFill>
                <a:latin typeface="Arial" pitchFamily="34" charset="0"/>
                <a:ea typeface="Arial" pitchFamily="34" charset="-122"/>
                <a:cs typeface="Arial" pitchFamily="34" charset="-120"/>
              </a:rPr>
              <a:t>View commit history</a:t>
            </a:r>
            <a:endParaRPr lang="en-US" sz="1250" dirty="0"/>
          </a:p>
        </p:txBody>
      </p:sp>
      <p:sp>
        <p:nvSpPr>
          <p:cNvPr id="25" name="Text 23"/>
          <p:cNvSpPr/>
          <p:nvPr/>
        </p:nvSpPr>
        <p:spPr>
          <a:xfrm>
            <a:off x="9047988" y="3703320"/>
            <a:ext cx="2240280" cy="640080"/>
          </a:xfrm>
          <a:prstGeom prst="rect">
            <a:avLst/>
          </a:prstGeom>
          <a:noFill/>
          <a:ln/>
        </p:spPr>
        <p:txBody>
          <a:bodyPr wrap="square" rtlCol="0" anchor="t"/>
          <a:lstStyle/>
          <a:p>
            <a:pPr marL="0" indent="0" algn="ctr">
              <a:buNone/>
            </a:pPr>
            <a:r>
              <a:rPr lang="en-US" sz="950" dirty="0">
                <a:solidFill>
                  <a:srgbClr val="AEB9C2"/>
                </a:solidFill>
                <a:latin typeface="Consolas" pitchFamily="34" charset="0"/>
                <a:ea typeface="Consolas" pitchFamily="34" charset="-122"/>
                <a:cs typeface="Consolas" pitchFamily="34" charset="-120"/>
              </a:rPr>
              <a:t>Repo page → “Commits” tab</a:t>
            </a:r>
            <a:endParaRPr lang="en-US" sz="950" dirty="0"/>
          </a:p>
        </p:txBody>
      </p:sp>
      <p:sp>
        <p:nvSpPr>
          <p:cNvPr id="26" name="Text 24"/>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27" name="Text 25"/>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GITHUB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Clone vs. Fork</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Know which one to use depending on whether you own the repository.</a:t>
            </a:r>
            <a:endParaRPr lang="en-US" sz="1250" dirty="0"/>
          </a:p>
        </p:txBody>
      </p:sp>
      <p:sp>
        <p:nvSpPr>
          <p:cNvPr id="6" name="Shape 4"/>
          <p:cNvSpPr/>
          <p:nvPr/>
        </p:nvSpPr>
        <p:spPr>
          <a:xfrm>
            <a:off x="548640" y="1874520"/>
            <a:ext cx="5394960" cy="3383280"/>
          </a:xfrm>
          <a:prstGeom prst="roundRect">
            <a:avLst>
              <a:gd name="adj" fmla="val 2703"/>
            </a:avLst>
          </a:prstGeom>
          <a:solidFill>
            <a:srgbClr val="FFFFFF"/>
          </a:solidFill>
          <a:ln w="12700">
            <a:solidFill>
              <a:srgbClr val="D9DCE1"/>
            </a:solidFill>
            <a:prstDash val="solid"/>
          </a:ln>
        </p:spPr>
      </p:sp>
      <p:sp>
        <p:nvSpPr>
          <p:cNvPr id="7" name="Shape 5"/>
          <p:cNvSpPr/>
          <p:nvPr/>
        </p:nvSpPr>
        <p:spPr>
          <a:xfrm>
            <a:off x="2834640" y="2103120"/>
            <a:ext cx="822960" cy="822960"/>
          </a:xfrm>
          <a:prstGeom prst="ellipse">
            <a:avLst/>
          </a:prstGeom>
          <a:solidFill>
            <a:srgbClr val="FFF3DE"/>
          </a:solidFill>
          <a:ln/>
        </p:spPr>
      </p:sp>
      <p:pic>
        <p:nvPicPr>
          <p:cNvPr id="8" name="Image 0" descr="/home/claude/ppt4/icon_clouddownloadalt_d.png"/>
          <p:cNvPicPr>
            <a:picLocks noChangeAspect="1"/>
          </p:cNvPicPr>
          <p:nvPr/>
        </p:nvPicPr>
        <p:blipFill>
          <a:blip r:embed="rId3"/>
          <a:stretch>
            <a:fillRect/>
          </a:stretch>
        </p:blipFill>
        <p:spPr>
          <a:xfrm>
            <a:off x="3032150" y="2300630"/>
            <a:ext cx="427939" cy="427939"/>
          </a:xfrm>
          <a:prstGeom prst="rect">
            <a:avLst/>
          </a:prstGeom>
        </p:spPr>
      </p:pic>
      <p:sp>
        <p:nvSpPr>
          <p:cNvPr id="9" name="Text 6"/>
          <p:cNvSpPr/>
          <p:nvPr/>
        </p:nvSpPr>
        <p:spPr>
          <a:xfrm>
            <a:off x="822960" y="3108960"/>
            <a:ext cx="4846320" cy="365760"/>
          </a:xfrm>
          <a:prstGeom prst="rect">
            <a:avLst/>
          </a:prstGeom>
          <a:noFill/>
          <a:ln/>
        </p:spPr>
        <p:txBody>
          <a:bodyPr wrap="square" rtlCol="0" anchor="ctr"/>
          <a:lstStyle/>
          <a:p>
            <a:pPr marL="0" indent="0" algn="ctr">
              <a:buNone/>
            </a:pPr>
            <a:r>
              <a:rPr lang="en-US" sz="1700" b="1" dirty="0">
                <a:solidFill>
                  <a:srgbClr val="232F3E"/>
                </a:solidFill>
                <a:latin typeface="Arial" pitchFamily="34" charset="0"/>
                <a:ea typeface="Arial" pitchFamily="34" charset="-122"/>
                <a:cs typeface="Arial" pitchFamily="34" charset="-120"/>
              </a:rPr>
              <a:t>Clone</a:t>
            </a:r>
            <a:endParaRPr lang="en-US" sz="1700" dirty="0"/>
          </a:p>
        </p:txBody>
      </p:sp>
      <p:sp>
        <p:nvSpPr>
          <p:cNvPr id="10" name="Text 7"/>
          <p:cNvSpPr/>
          <p:nvPr/>
        </p:nvSpPr>
        <p:spPr>
          <a:xfrm>
            <a:off x="1005840" y="3520440"/>
            <a:ext cx="4480560" cy="822960"/>
          </a:xfrm>
          <a:prstGeom prst="rect">
            <a:avLst/>
          </a:prstGeom>
          <a:noFill/>
          <a:ln/>
        </p:spPr>
        <p:txBody>
          <a:bodyPr wrap="square" rtlCol="0" anchor="ctr"/>
          <a:lstStyle/>
          <a:p>
            <a:pPr marL="0" indent="0" algn="ctr">
              <a:buNone/>
            </a:pPr>
            <a:r>
              <a:rPr lang="en-US" sz="1150" dirty="0">
                <a:solidFill>
                  <a:srgbClr val="5A6B75"/>
                </a:solidFill>
                <a:latin typeface="Calibri" pitchFamily="34" charset="0"/>
                <a:ea typeface="Calibri" pitchFamily="34" charset="-122"/>
                <a:cs typeface="Calibri" pitchFamily="34" charset="-120"/>
              </a:rPr>
              <a:t>Downloads a full copy of a repo you already have access to — usually your own team's project.</a:t>
            </a:r>
            <a:endParaRPr lang="en-US" sz="1150" dirty="0"/>
          </a:p>
        </p:txBody>
      </p:sp>
      <p:sp>
        <p:nvSpPr>
          <p:cNvPr id="11" name="Shape 8"/>
          <p:cNvSpPr/>
          <p:nvPr/>
        </p:nvSpPr>
        <p:spPr>
          <a:xfrm>
            <a:off x="914400" y="4480560"/>
            <a:ext cx="4663440" cy="548640"/>
          </a:xfrm>
          <a:prstGeom prst="roundRect">
            <a:avLst>
              <a:gd name="adj" fmla="val 10000"/>
            </a:avLst>
          </a:prstGeom>
          <a:solidFill>
            <a:srgbClr val="F2F3F3"/>
          </a:solidFill>
          <a:ln/>
        </p:spPr>
      </p:sp>
      <p:sp>
        <p:nvSpPr>
          <p:cNvPr id="12" name="Text 9"/>
          <p:cNvSpPr/>
          <p:nvPr/>
        </p:nvSpPr>
        <p:spPr>
          <a:xfrm>
            <a:off x="914400" y="4480560"/>
            <a:ext cx="4663440" cy="548640"/>
          </a:xfrm>
          <a:prstGeom prst="rect">
            <a:avLst/>
          </a:prstGeom>
          <a:noFill/>
          <a:ln/>
        </p:spPr>
        <p:txBody>
          <a:bodyPr wrap="square" rtlCol="0" anchor="ctr"/>
          <a:lstStyle/>
          <a:p>
            <a:pPr marL="0" indent="0" algn="ctr">
              <a:buNone/>
            </a:pPr>
            <a:r>
              <a:rPr lang="en-US" sz="1200" b="1" dirty="0">
                <a:solidFill>
                  <a:srgbClr val="232F3E"/>
                </a:solidFill>
                <a:latin typeface="Consolas" pitchFamily="34" charset="0"/>
                <a:ea typeface="Consolas" pitchFamily="34" charset="-122"/>
                <a:cs typeface="Consolas" pitchFamily="34" charset="-120"/>
              </a:rPr>
              <a:t>git clone &lt;url&gt;</a:t>
            </a:r>
            <a:endParaRPr lang="en-US" sz="1200" dirty="0"/>
          </a:p>
        </p:txBody>
      </p:sp>
      <p:sp>
        <p:nvSpPr>
          <p:cNvPr id="13" name="Text 10"/>
          <p:cNvSpPr/>
          <p:nvPr/>
        </p:nvSpPr>
        <p:spPr>
          <a:xfrm>
            <a:off x="1005840" y="5120640"/>
            <a:ext cx="4480560" cy="365760"/>
          </a:xfrm>
          <a:prstGeom prst="rect">
            <a:avLst/>
          </a:prstGeom>
          <a:noFill/>
          <a:ln/>
        </p:spPr>
        <p:txBody>
          <a:bodyPr wrap="square" rtlCol="0" anchor="ctr"/>
          <a:lstStyle/>
          <a:p>
            <a:pPr marL="0" indent="0" algn="ctr">
              <a:buNone/>
            </a:pPr>
            <a:r>
              <a:rPr lang="en-US" sz="1050" i="1" dirty="0">
                <a:solidFill>
                  <a:srgbClr val="5A6B75"/>
                </a:solidFill>
                <a:latin typeface="Calibri" pitchFamily="34" charset="0"/>
                <a:ea typeface="Calibri" pitchFamily="34" charset="-122"/>
                <a:cs typeface="Calibri" pitchFamily="34" charset="-120"/>
              </a:rPr>
              <a:t>Use when: you're a collaborator on the project.</a:t>
            </a:r>
            <a:endParaRPr lang="en-US" sz="1050" dirty="0"/>
          </a:p>
        </p:txBody>
      </p:sp>
      <p:sp>
        <p:nvSpPr>
          <p:cNvPr id="14" name="Shape 11"/>
          <p:cNvSpPr/>
          <p:nvPr/>
        </p:nvSpPr>
        <p:spPr>
          <a:xfrm>
            <a:off x="6263640" y="1874520"/>
            <a:ext cx="5394960" cy="3383280"/>
          </a:xfrm>
          <a:prstGeom prst="roundRect">
            <a:avLst>
              <a:gd name="adj" fmla="val 2703"/>
            </a:avLst>
          </a:prstGeom>
          <a:solidFill>
            <a:srgbClr val="FFFFFF"/>
          </a:solidFill>
          <a:ln w="15875">
            <a:solidFill>
              <a:srgbClr val="6E40C9"/>
            </a:solidFill>
            <a:prstDash val="solid"/>
          </a:ln>
        </p:spPr>
      </p:sp>
      <p:sp>
        <p:nvSpPr>
          <p:cNvPr id="15" name="Shape 12"/>
          <p:cNvSpPr/>
          <p:nvPr/>
        </p:nvSpPr>
        <p:spPr>
          <a:xfrm>
            <a:off x="8549640" y="2103120"/>
            <a:ext cx="822960" cy="822960"/>
          </a:xfrm>
          <a:prstGeom prst="ellipse">
            <a:avLst/>
          </a:prstGeom>
          <a:solidFill>
            <a:srgbClr val="F0EBFA"/>
          </a:solidFill>
          <a:ln/>
        </p:spPr>
      </p:sp>
      <p:pic>
        <p:nvPicPr>
          <p:cNvPr id="16" name="Image 1" descr="/home/claude/ppt4/icon_codebranch_d.png"/>
          <p:cNvPicPr>
            <a:picLocks noChangeAspect="1"/>
          </p:cNvPicPr>
          <p:nvPr/>
        </p:nvPicPr>
        <p:blipFill>
          <a:blip r:embed="rId4"/>
          <a:stretch>
            <a:fillRect/>
          </a:stretch>
        </p:blipFill>
        <p:spPr>
          <a:xfrm>
            <a:off x="8747150" y="2300630"/>
            <a:ext cx="427939" cy="427939"/>
          </a:xfrm>
          <a:prstGeom prst="rect">
            <a:avLst/>
          </a:prstGeom>
        </p:spPr>
      </p:pic>
      <p:sp>
        <p:nvSpPr>
          <p:cNvPr id="17" name="Text 13"/>
          <p:cNvSpPr/>
          <p:nvPr/>
        </p:nvSpPr>
        <p:spPr>
          <a:xfrm>
            <a:off x="6537960" y="3108960"/>
            <a:ext cx="4846320" cy="365760"/>
          </a:xfrm>
          <a:prstGeom prst="rect">
            <a:avLst/>
          </a:prstGeom>
          <a:noFill/>
          <a:ln/>
        </p:spPr>
        <p:txBody>
          <a:bodyPr wrap="square" rtlCol="0" anchor="ctr"/>
          <a:lstStyle/>
          <a:p>
            <a:pPr marL="0" indent="0" algn="ctr">
              <a:buNone/>
            </a:pPr>
            <a:r>
              <a:rPr lang="en-US" sz="1700" b="1" dirty="0">
                <a:solidFill>
                  <a:srgbClr val="232F3E"/>
                </a:solidFill>
                <a:latin typeface="Arial" pitchFamily="34" charset="0"/>
                <a:ea typeface="Arial" pitchFamily="34" charset="-122"/>
                <a:cs typeface="Arial" pitchFamily="34" charset="-120"/>
              </a:rPr>
              <a:t>Fork</a:t>
            </a:r>
            <a:endParaRPr lang="en-US" sz="1700" dirty="0"/>
          </a:p>
        </p:txBody>
      </p:sp>
      <p:sp>
        <p:nvSpPr>
          <p:cNvPr id="18" name="Text 14"/>
          <p:cNvSpPr/>
          <p:nvPr/>
        </p:nvSpPr>
        <p:spPr>
          <a:xfrm>
            <a:off x="6720840" y="3520440"/>
            <a:ext cx="4480560" cy="822960"/>
          </a:xfrm>
          <a:prstGeom prst="rect">
            <a:avLst/>
          </a:prstGeom>
          <a:noFill/>
          <a:ln/>
        </p:spPr>
        <p:txBody>
          <a:bodyPr wrap="square" rtlCol="0" anchor="ctr"/>
          <a:lstStyle/>
          <a:p>
            <a:pPr marL="0" indent="0" algn="ctr">
              <a:buNone/>
            </a:pPr>
            <a:r>
              <a:rPr lang="en-US" sz="1150" dirty="0">
                <a:solidFill>
                  <a:srgbClr val="5A6B75"/>
                </a:solidFill>
                <a:latin typeface="Calibri" pitchFamily="34" charset="0"/>
                <a:ea typeface="Calibri" pitchFamily="34" charset="-122"/>
                <a:cs typeface="Calibri" pitchFamily="34" charset="-120"/>
              </a:rPr>
              <a:t>Creates your own copy of someone else's repository, under your account, that you fully control.</a:t>
            </a:r>
            <a:endParaRPr lang="en-US" sz="1150" dirty="0"/>
          </a:p>
        </p:txBody>
      </p:sp>
      <p:sp>
        <p:nvSpPr>
          <p:cNvPr id="19" name="Shape 15"/>
          <p:cNvSpPr/>
          <p:nvPr/>
        </p:nvSpPr>
        <p:spPr>
          <a:xfrm>
            <a:off x="6629400" y="4480560"/>
            <a:ext cx="4663440" cy="548640"/>
          </a:xfrm>
          <a:prstGeom prst="roundRect">
            <a:avLst>
              <a:gd name="adj" fmla="val 10000"/>
            </a:avLst>
          </a:prstGeom>
          <a:solidFill>
            <a:srgbClr val="F2F3F3"/>
          </a:solidFill>
          <a:ln/>
        </p:spPr>
      </p:sp>
      <p:sp>
        <p:nvSpPr>
          <p:cNvPr id="20" name="Text 16"/>
          <p:cNvSpPr/>
          <p:nvPr/>
        </p:nvSpPr>
        <p:spPr>
          <a:xfrm>
            <a:off x="6629400" y="4480560"/>
            <a:ext cx="4663440" cy="548640"/>
          </a:xfrm>
          <a:prstGeom prst="rect">
            <a:avLst/>
          </a:prstGeom>
          <a:noFill/>
          <a:ln/>
        </p:spPr>
        <p:txBody>
          <a:bodyPr wrap="square" rtlCol="0" anchor="ctr"/>
          <a:lstStyle/>
          <a:p>
            <a:pPr marL="0" indent="0" algn="ctr">
              <a:buNone/>
            </a:pPr>
            <a:r>
              <a:rPr lang="en-US" sz="1200" b="1" dirty="0">
                <a:solidFill>
                  <a:srgbClr val="232F3E"/>
                </a:solidFill>
                <a:latin typeface="Consolas" pitchFamily="34" charset="0"/>
                <a:ea typeface="Consolas" pitchFamily="34" charset="-122"/>
                <a:cs typeface="Consolas" pitchFamily="34" charset="-120"/>
              </a:rPr>
              <a:t>Click “Fork” on GitHub</a:t>
            </a:r>
            <a:endParaRPr lang="en-US" sz="1200" dirty="0"/>
          </a:p>
        </p:txBody>
      </p:sp>
      <p:sp>
        <p:nvSpPr>
          <p:cNvPr id="21" name="Text 17"/>
          <p:cNvSpPr/>
          <p:nvPr/>
        </p:nvSpPr>
        <p:spPr>
          <a:xfrm>
            <a:off x="6720840" y="5120640"/>
            <a:ext cx="4480560" cy="365760"/>
          </a:xfrm>
          <a:prstGeom prst="rect">
            <a:avLst/>
          </a:prstGeom>
          <a:noFill/>
          <a:ln/>
        </p:spPr>
        <p:txBody>
          <a:bodyPr wrap="square" rtlCol="0" anchor="ctr"/>
          <a:lstStyle/>
          <a:p>
            <a:pPr marL="0" indent="0" algn="ctr">
              <a:buNone/>
            </a:pPr>
            <a:r>
              <a:rPr lang="en-US" sz="1050" i="1" dirty="0">
                <a:solidFill>
                  <a:srgbClr val="5A6B75"/>
                </a:solidFill>
                <a:latin typeface="Calibri" pitchFamily="34" charset="0"/>
                <a:ea typeface="Calibri" pitchFamily="34" charset="-122"/>
                <a:cs typeface="Calibri" pitchFamily="34" charset="-120"/>
              </a:rPr>
              <a:t>Use when: contributing to open-source you don't own.</a:t>
            </a:r>
            <a:endParaRPr lang="en-US" sz="1050" dirty="0"/>
          </a:p>
        </p:txBody>
      </p:sp>
      <p:sp>
        <p:nvSpPr>
          <p:cNvPr id="22" name="Text 18"/>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3" name="Text 19"/>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GITHUB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Push and Pull</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Keep your local and remote repositories in sync.</a:t>
            </a:r>
            <a:endParaRPr lang="en-US" sz="1250" dirty="0"/>
          </a:p>
        </p:txBody>
      </p:sp>
      <p:sp>
        <p:nvSpPr>
          <p:cNvPr id="6" name="Shape 4"/>
          <p:cNvSpPr/>
          <p:nvPr/>
        </p:nvSpPr>
        <p:spPr>
          <a:xfrm>
            <a:off x="1371600" y="1828800"/>
            <a:ext cx="3657600" cy="1554480"/>
          </a:xfrm>
          <a:prstGeom prst="roundRect">
            <a:avLst>
              <a:gd name="adj" fmla="val 5882"/>
            </a:avLst>
          </a:prstGeom>
          <a:solidFill>
            <a:srgbClr val="FFFFFF"/>
          </a:solidFill>
          <a:ln w="12700">
            <a:solidFill>
              <a:srgbClr val="D9DCE1"/>
            </a:solidFill>
            <a:prstDash val="solid"/>
          </a:ln>
        </p:spPr>
      </p:sp>
      <p:sp>
        <p:nvSpPr>
          <p:cNvPr id="7" name="Shape 5"/>
          <p:cNvSpPr/>
          <p:nvPr/>
        </p:nvSpPr>
        <p:spPr>
          <a:xfrm>
            <a:off x="2857500" y="2080260"/>
            <a:ext cx="685800" cy="685800"/>
          </a:xfrm>
          <a:prstGeom prst="ellipse">
            <a:avLst/>
          </a:prstGeom>
          <a:solidFill>
            <a:srgbClr val="FFF3DE"/>
          </a:solidFill>
          <a:ln/>
        </p:spPr>
      </p:sp>
      <p:pic>
        <p:nvPicPr>
          <p:cNvPr id="8" name="Image 0" descr="/home/claude/ppt4/icon_laptop_d.png"/>
          <p:cNvPicPr>
            <a:picLocks noChangeAspect="1"/>
          </p:cNvPicPr>
          <p:nvPr/>
        </p:nvPicPr>
        <p:blipFill>
          <a:blip r:embed="rId3"/>
          <a:stretch>
            <a:fillRect/>
          </a:stretch>
        </p:blipFill>
        <p:spPr>
          <a:xfrm>
            <a:off x="3022092" y="2244852"/>
            <a:ext cx="356616" cy="356616"/>
          </a:xfrm>
          <a:prstGeom prst="rect">
            <a:avLst/>
          </a:prstGeom>
        </p:spPr>
      </p:pic>
      <p:sp>
        <p:nvSpPr>
          <p:cNvPr id="9" name="Text 6"/>
          <p:cNvSpPr/>
          <p:nvPr/>
        </p:nvSpPr>
        <p:spPr>
          <a:xfrm>
            <a:off x="1371600" y="2971800"/>
            <a:ext cx="3657600" cy="365760"/>
          </a:xfrm>
          <a:prstGeom prst="rect">
            <a:avLst/>
          </a:prstGeom>
          <a:noFill/>
          <a:ln/>
        </p:spPr>
        <p:txBody>
          <a:bodyPr wrap="square" rtlCol="0" anchor="ctr"/>
          <a:lstStyle/>
          <a:p>
            <a:pPr marL="0" indent="0" algn="ctr">
              <a:buNone/>
            </a:pPr>
            <a:r>
              <a:rPr lang="en-US" sz="1300" b="1" dirty="0">
                <a:solidFill>
                  <a:srgbClr val="232F3E"/>
                </a:solidFill>
                <a:latin typeface="Arial" pitchFamily="34" charset="0"/>
                <a:ea typeface="Arial" pitchFamily="34" charset="-122"/>
                <a:cs typeface="Arial" pitchFamily="34" charset="-120"/>
              </a:rPr>
              <a:t>Your Computer</a:t>
            </a:r>
            <a:endParaRPr lang="en-US" sz="1300" dirty="0"/>
          </a:p>
        </p:txBody>
      </p:sp>
      <p:sp>
        <p:nvSpPr>
          <p:cNvPr id="10" name="Shape 7"/>
          <p:cNvSpPr/>
          <p:nvPr/>
        </p:nvSpPr>
        <p:spPr>
          <a:xfrm>
            <a:off x="7178040" y="1828800"/>
            <a:ext cx="3657600" cy="1554480"/>
          </a:xfrm>
          <a:prstGeom prst="roundRect">
            <a:avLst>
              <a:gd name="adj" fmla="val 5882"/>
            </a:avLst>
          </a:prstGeom>
          <a:solidFill>
            <a:srgbClr val="FFFFFF"/>
          </a:solidFill>
          <a:ln w="12700">
            <a:solidFill>
              <a:srgbClr val="D9DCE1"/>
            </a:solidFill>
            <a:prstDash val="solid"/>
          </a:ln>
        </p:spPr>
      </p:sp>
      <p:sp>
        <p:nvSpPr>
          <p:cNvPr id="11" name="Shape 8"/>
          <p:cNvSpPr/>
          <p:nvPr/>
        </p:nvSpPr>
        <p:spPr>
          <a:xfrm>
            <a:off x="8663940" y="2080260"/>
            <a:ext cx="685800" cy="685800"/>
          </a:xfrm>
          <a:prstGeom prst="ellipse">
            <a:avLst/>
          </a:prstGeom>
          <a:solidFill>
            <a:srgbClr val="F0EBFA"/>
          </a:solidFill>
          <a:ln/>
        </p:spPr>
      </p:sp>
      <p:pic>
        <p:nvPicPr>
          <p:cNvPr id="12" name="Image 1" descr="/home/claude/ppt4/icon_github_d.png"/>
          <p:cNvPicPr>
            <a:picLocks noChangeAspect="1"/>
          </p:cNvPicPr>
          <p:nvPr/>
        </p:nvPicPr>
        <p:blipFill>
          <a:blip r:embed="rId4"/>
          <a:stretch>
            <a:fillRect/>
          </a:stretch>
        </p:blipFill>
        <p:spPr>
          <a:xfrm>
            <a:off x="8828532" y="2244852"/>
            <a:ext cx="356616" cy="356616"/>
          </a:xfrm>
          <a:prstGeom prst="rect">
            <a:avLst/>
          </a:prstGeom>
        </p:spPr>
      </p:pic>
      <p:sp>
        <p:nvSpPr>
          <p:cNvPr id="13" name="Text 9"/>
          <p:cNvSpPr/>
          <p:nvPr/>
        </p:nvSpPr>
        <p:spPr>
          <a:xfrm>
            <a:off x="7178040" y="2971800"/>
            <a:ext cx="3657600" cy="365760"/>
          </a:xfrm>
          <a:prstGeom prst="rect">
            <a:avLst/>
          </a:prstGeom>
          <a:noFill/>
          <a:ln/>
        </p:spPr>
        <p:txBody>
          <a:bodyPr wrap="square" rtlCol="0" anchor="ctr"/>
          <a:lstStyle/>
          <a:p>
            <a:pPr marL="0" indent="0" algn="ctr">
              <a:buNone/>
            </a:pPr>
            <a:r>
              <a:rPr lang="en-US" sz="1300" b="1" dirty="0">
                <a:solidFill>
                  <a:srgbClr val="232F3E"/>
                </a:solidFill>
                <a:latin typeface="Arial" pitchFamily="34" charset="0"/>
                <a:ea typeface="Arial" pitchFamily="34" charset="-122"/>
                <a:cs typeface="Arial" pitchFamily="34" charset="-120"/>
              </a:rPr>
              <a:t>GitHub</a:t>
            </a:r>
            <a:endParaRPr lang="en-US" sz="1300" dirty="0"/>
          </a:p>
        </p:txBody>
      </p:sp>
      <p:sp>
        <p:nvSpPr>
          <p:cNvPr id="14" name="Text 10"/>
          <p:cNvSpPr/>
          <p:nvPr/>
        </p:nvSpPr>
        <p:spPr>
          <a:xfrm>
            <a:off x="5074920" y="1965960"/>
            <a:ext cx="2011680" cy="365760"/>
          </a:xfrm>
          <a:prstGeom prst="rect">
            <a:avLst/>
          </a:prstGeom>
          <a:noFill/>
          <a:ln/>
        </p:spPr>
        <p:txBody>
          <a:bodyPr wrap="square" rtlCol="0" anchor="ctr"/>
          <a:lstStyle/>
          <a:p>
            <a:pPr marL="0" indent="0" algn="ctr">
              <a:buNone/>
            </a:pPr>
            <a:r>
              <a:rPr lang="en-US" sz="1300" b="1" dirty="0">
                <a:solidFill>
                  <a:srgbClr val="FF9900"/>
                </a:solidFill>
                <a:latin typeface="Consolas" pitchFamily="34" charset="0"/>
                <a:ea typeface="Consolas" pitchFamily="34" charset="-122"/>
                <a:cs typeface="Consolas" pitchFamily="34" charset="-120"/>
              </a:rPr>
              <a:t>push →</a:t>
            </a:r>
            <a:endParaRPr lang="en-US" sz="1300" dirty="0"/>
          </a:p>
        </p:txBody>
      </p:sp>
      <p:sp>
        <p:nvSpPr>
          <p:cNvPr id="15" name="Shape 11"/>
          <p:cNvSpPr/>
          <p:nvPr/>
        </p:nvSpPr>
        <p:spPr>
          <a:xfrm>
            <a:off x="5029200" y="2148840"/>
            <a:ext cx="2103120" cy="0"/>
          </a:xfrm>
          <a:prstGeom prst="line">
            <a:avLst/>
          </a:prstGeom>
          <a:noFill/>
          <a:ln w="31750">
            <a:solidFill>
              <a:srgbClr val="FF9900"/>
            </a:solidFill>
            <a:prstDash val="solid"/>
          </a:ln>
        </p:spPr>
      </p:sp>
      <p:sp>
        <p:nvSpPr>
          <p:cNvPr id="16" name="Text 12"/>
          <p:cNvSpPr/>
          <p:nvPr/>
        </p:nvSpPr>
        <p:spPr>
          <a:xfrm>
            <a:off x="5074920" y="2880360"/>
            <a:ext cx="2011680" cy="365760"/>
          </a:xfrm>
          <a:prstGeom prst="rect">
            <a:avLst/>
          </a:prstGeom>
          <a:noFill/>
          <a:ln/>
        </p:spPr>
        <p:txBody>
          <a:bodyPr wrap="square" rtlCol="0" anchor="ctr"/>
          <a:lstStyle/>
          <a:p>
            <a:pPr marL="0" indent="0" algn="ctr">
              <a:buNone/>
            </a:pPr>
            <a:r>
              <a:rPr lang="en-US" sz="1250" b="1" dirty="0">
                <a:solidFill>
                  <a:srgbClr val="232F3E"/>
                </a:solidFill>
                <a:latin typeface="Consolas" pitchFamily="34" charset="0"/>
                <a:ea typeface="Consolas" pitchFamily="34" charset="-122"/>
                <a:cs typeface="Consolas" pitchFamily="34" charset="-120"/>
              </a:rPr>
              <a:t>← pull / fetch</a:t>
            </a:r>
            <a:endParaRPr lang="en-US" sz="1250" dirty="0"/>
          </a:p>
        </p:txBody>
      </p:sp>
      <p:sp>
        <p:nvSpPr>
          <p:cNvPr id="17" name="Shape 13"/>
          <p:cNvSpPr/>
          <p:nvPr/>
        </p:nvSpPr>
        <p:spPr>
          <a:xfrm>
            <a:off x="5029200" y="3063240"/>
            <a:ext cx="2103120" cy="0"/>
          </a:xfrm>
          <a:prstGeom prst="line">
            <a:avLst/>
          </a:prstGeom>
          <a:noFill/>
          <a:ln w="31750">
            <a:solidFill>
              <a:srgbClr val="232F3E"/>
            </a:solidFill>
            <a:prstDash val="solid"/>
          </a:ln>
        </p:spPr>
      </p:sp>
      <p:sp>
        <p:nvSpPr>
          <p:cNvPr id="18" name="Shape 14"/>
          <p:cNvSpPr/>
          <p:nvPr/>
        </p:nvSpPr>
        <p:spPr>
          <a:xfrm>
            <a:off x="548640" y="3794760"/>
            <a:ext cx="11091672" cy="621792"/>
          </a:xfrm>
          <a:prstGeom prst="roundRect">
            <a:avLst>
              <a:gd name="adj" fmla="val 10294"/>
            </a:avLst>
          </a:prstGeom>
          <a:solidFill>
            <a:srgbClr val="FFFFFF"/>
          </a:solidFill>
          <a:ln w="12700">
            <a:solidFill>
              <a:srgbClr val="D9DCE1"/>
            </a:solidFill>
            <a:prstDash val="solid"/>
          </a:ln>
        </p:spPr>
      </p:sp>
      <p:sp>
        <p:nvSpPr>
          <p:cNvPr id="19" name="Text 15"/>
          <p:cNvSpPr/>
          <p:nvPr/>
        </p:nvSpPr>
        <p:spPr>
          <a:xfrm>
            <a:off x="822960" y="3794760"/>
            <a:ext cx="2286000" cy="621792"/>
          </a:xfrm>
          <a:prstGeom prst="rect">
            <a:avLst/>
          </a:prstGeom>
          <a:noFill/>
          <a:ln/>
        </p:spPr>
        <p:txBody>
          <a:bodyPr wrap="square" rtlCol="0" anchor="ctr"/>
          <a:lstStyle/>
          <a:p>
            <a:pPr marL="0" indent="0">
              <a:buNone/>
            </a:pPr>
            <a:r>
              <a:rPr lang="en-US" sz="1400" b="1" dirty="0">
                <a:solidFill>
                  <a:srgbClr val="FF9900"/>
                </a:solidFill>
                <a:latin typeface="Consolas" pitchFamily="34" charset="0"/>
                <a:ea typeface="Consolas" pitchFamily="34" charset="-122"/>
                <a:cs typeface="Consolas" pitchFamily="34" charset="-120"/>
              </a:rPr>
              <a:t>git push</a:t>
            </a:r>
            <a:endParaRPr lang="en-US" sz="1400" dirty="0"/>
          </a:p>
        </p:txBody>
      </p:sp>
      <p:sp>
        <p:nvSpPr>
          <p:cNvPr id="20" name="Text 16"/>
          <p:cNvSpPr/>
          <p:nvPr/>
        </p:nvSpPr>
        <p:spPr>
          <a:xfrm>
            <a:off x="3200400" y="3794760"/>
            <a:ext cx="8412480" cy="621792"/>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Upload your local commits to GitHub</a:t>
            </a:r>
            <a:endParaRPr lang="en-US" sz="1250" dirty="0"/>
          </a:p>
        </p:txBody>
      </p:sp>
      <p:sp>
        <p:nvSpPr>
          <p:cNvPr id="21" name="Shape 17"/>
          <p:cNvSpPr/>
          <p:nvPr/>
        </p:nvSpPr>
        <p:spPr>
          <a:xfrm>
            <a:off x="548640" y="4526280"/>
            <a:ext cx="11091672" cy="621792"/>
          </a:xfrm>
          <a:prstGeom prst="roundRect">
            <a:avLst>
              <a:gd name="adj" fmla="val 10294"/>
            </a:avLst>
          </a:prstGeom>
          <a:solidFill>
            <a:srgbClr val="FFFFFF"/>
          </a:solidFill>
          <a:ln w="12700">
            <a:solidFill>
              <a:srgbClr val="D9DCE1"/>
            </a:solidFill>
            <a:prstDash val="solid"/>
          </a:ln>
        </p:spPr>
      </p:sp>
      <p:sp>
        <p:nvSpPr>
          <p:cNvPr id="22" name="Text 18"/>
          <p:cNvSpPr/>
          <p:nvPr/>
        </p:nvSpPr>
        <p:spPr>
          <a:xfrm>
            <a:off x="822960" y="4526280"/>
            <a:ext cx="2286000" cy="621792"/>
          </a:xfrm>
          <a:prstGeom prst="rect">
            <a:avLst/>
          </a:prstGeom>
          <a:noFill/>
          <a:ln/>
        </p:spPr>
        <p:txBody>
          <a:bodyPr wrap="square" rtlCol="0" anchor="ctr"/>
          <a:lstStyle/>
          <a:p>
            <a:pPr marL="0" indent="0">
              <a:buNone/>
            </a:pPr>
            <a:r>
              <a:rPr lang="en-US" sz="1400" b="1" dirty="0">
                <a:solidFill>
                  <a:srgbClr val="FF9900"/>
                </a:solidFill>
                <a:latin typeface="Consolas" pitchFamily="34" charset="0"/>
                <a:ea typeface="Consolas" pitchFamily="34" charset="-122"/>
                <a:cs typeface="Consolas" pitchFamily="34" charset="-120"/>
              </a:rPr>
              <a:t>git pull</a:t>
            </a:r>
            <a:endParaRPr lang="en-US" sz="1400" dirty="0"/>
          </a:p>
        </p:txBody>
      </p:sp>
      <p:sp>
        <p:nvSpPr>
          <p:cNvPr id="23" name="Text 19"/>
          <p:cNvSpPr/>
          <p:nvPr/>
        </p:nvSpPr>
        <p:spPr>
          <a:xfrm>
            <a:off x="3200400" y="4526280"/>
            <a:ext cx="8412480" cy="621792"/>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Download &amp; merge remote changes into your local branch</a:t>
            </a:r>
            <a:endParaRPr lang="en-US" sz="1250" dirty="0"/>
          </a:p>
        </p:txBody>
      </p:sp>
      <p:sp>
        <p:nvSpPr>
          <p:cNvPr id="24" name="Shape 20"/>
          <p:cNvSpPr/>
          <p:nvPr/>
        </p:nvSpPr>
        <p:spPr>
          <a:xfrm>
            <a:off x="548640" y="5257800"/>
            <a:ext cx="11091672" cy="621792"/>
          </a:xfrm>
          <a:prstGeom prst="roundRect">
            <a:avLst>
              <a:gd name="adj" fmla="val 10294"/>
            </a:avLst>
          </a:prstGeom>
          <a:solidFill>
            <a:srgbClr val="FFFFFF"/>
          </a:solidFill>
          <a:ln w="12700">
            <a:solidFill>
              <a:srgbClr val="D9DCE1"/>
            </a:solidFill>
            <a:prstDash val="solid"/>
          </a:ln>
        </p:spPr>
      </p:sp>
      <p:sp>
        <p:nvSpPr>
          <p:cNvPr id="25" name="Text 21"/>
          <p:cNvSpPr/>
          <p:nvPr/>
        </p:nvSpPr>
        <p:spPr>
          <a:xfrm>
            <a:off x="822960" y="5257800"/>
            <a:ext cx="2286000" cy="621792"/>
          </a:xfrm>
          <a:prstGeom prst="rect">
            <a:avLst/>
          </a:prstGeom>
          <a:noFill/>
          <a:ln/>
        </p:spPr>
        <p:txBody>
          <a:bodyPr wrap="square" rtlCol="0" anchor="ctr"/>
          <a:lstStyle/>
          <a:p>
            <a:pPr marL="0" indent="0">
              <a:buNone/>
            </a:pPr>
            <a:r>
              <a:rPr lang="en-US" sz="1400" b="1" dirty="0">
                <a:solidFill>
                  <a:srgbClr val="FF9900"/>
                </a:solidFill>
                <a:latin typeface="Consolas" pitchFamily="34" charset="0"/>
                <a:ea typeface="Consolas" pitchFamily="34" charset="-122"/>
                <a:cs typeface="Consolas" pitchFamily="34" charset="-120"/>
              </a:rPr>
              <a:t>git fetch</a:t>
            </a:r>
            <a:endParaRPr lang="en-US" sz="1400" dirty="0"/>
          </a:p>
        </p:txBody>
      </p:sp>
      <p:sp>
        <p:nvSpPr>
          <p:cNvPr id="26" name="Text 22"/>
          <p:cNvSpPr/>
          <p:nvPr/>
        </p:nvSpPr>
        <p:spPr>
          <a:xfrm>
            <a:off x="3200400" y="5257800"/>
            <a:ext cx="8412480" cy="621792"/>
          </a:xfrm>
          <a:prstGeom prst="rect">
            <a:avLst/>
          </a:prstGeom>
          <a:noFill/>
          <a:ln/>
        </p:spPr>
        <p:txBody>
          <a:bodyPr wrap="square" rtlCol="0" anchor="ctr"/>
          <a:lstStyle/>
          <a:p>
            <a:pPr marL="0" indent="0">
              <a:buNone/>
            </a:pPr>
            <a:r>
              <a:rPr lang="en-US" sz="1250" dirty="0">
                <a:solidFill>
                  <a:srgbClr val="16191F"/>
                </a:solidFill>
                <a:latin typeface="Calibri" pitchFamily="34" charset="0"/>
                <a:ea typeface="Calibri" pitchFamily="34" charset="-122"/>
                <a:cs typeface="Calibri" pitchFamily="34" charset="-120"/>
              </a:rPr>
              <a:t>Download remote changes without merging yet</a:t>
            </a:r>
            <a:endParaRPr lang="en-US" sz="1250" dirty="0"/>
          </a:p>
        </p:txBody>
      </p:sp>
      <p:sp>
        <p:nvSpPr>
          <p:cNvPr id="27" name="Text 23"/>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8" name="Text 24"/>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GITHUB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Pull Requests</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Understand how teams review and approve code before it merges.</a:t>
            </a:r>
            <a:endParaRPr lang="en-US" sz="1250" dirty="0"/>
          </a:p>
        </p:txBody>
      </p:sp>
      <p:sp>
        <p:nvSpPr>
          <p:cNvPr id="6" name="Shape 4"/>
          <p:cNvSpPr/>
          <p:nvPr/>
        </p:nvSpPr>
        <p:spPr>
          <a:xfrm>
            <a:off x="548640" y="2011680"/>
            <a:ext cx="2532888" cy="1554480"/>
          </a:xfrm>
          <a:prstGeom prst="roundRect">
            <a:avLst>
              <a:gd name="adj" fmla="val 5294"/>
            </a:avLst>
          </a:prstGeom>
          <a:solidFill>
            <a:srgbClr val="161E2D"/>
          </a:solidFill>
          <a:ln w="12700">
            <a:solidFill>
              <a:srgbClr val="161E2D"/>
            </a:solidFill>
            <a:prstDash val="solid"/>
          </a:ln>
        </p:spPr>
      </p:sp>
      <p:sp>
        <p:nvSpPr>
          <p:cNvPr id="7" name="Shape 5"/>
          <p:cNvSpPr/>
          <p:nvPr/>
        </p:nvSpPr>
        <p:spPr>
          <a:xfrm>
            <a:off x="1387602" y="2205990"/>
            <a:ext cx="854964" cy="854964"/>
          </a:xfrm>
          <a:prstGeom prst="ellipse">
            <a:avLst/>
          </a:prstGeom>
          <a:solidFill>
            <a:srgbClr val="FFF3DE"/>
          </a:solidFill>
          <a:ln/>
        </p:spPr>
      </p:sp>
      <p:pic>
        <p:nvPicPr>
          <p:cNvPr id="8" name="Image 0" descr="/home/claude/ppt4/icon_clouduploadalt_w.png"/>
          <p:cNvPicPr>
            <a:picLocks noChangeAspect="1"/>
          </p:cNvPicPr>
          <p:nvPr/>
        </p:nvPicPr>
        <p:blipFill>
          <a:blip r:embed="rId3"/>
          <a:stretch>
            <a:fillRect/>
          </a:stretch>
        </p:blipFill>
        <p:spPr>
          <a:xfrm>
            <a:off x="1592793" y="2411181"/>
            <a:ext cx="444581" cy="444581"/>
          </a:xfrm>
          <a:prstGeom prst="rect">
            <a:avLst/>
          </a:prstGeom>
        </p:spPr>
      </p:pic>
      <p:sp>
        <p:nvSpPr>
          <p:cNvPr id="9" name="Text 6"/>
          <p:cNvSpPr/>
          <p:nvPr/>
        </p:nvSpPr>
        <p:spPr>
          <a:xfrm>
            <a:off x="621792" y="3068726"/>
            <a:ext cx="2386584" cy="466344"/>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Push a branch</a:t>
            </a:r>
            <a:endParaRPr lang="en-US" sz="1200" dirty="0"/>
          </a:p>
        </p:txBody>
      </p:sp>
      <p:sp>
        <p:nvSpPr>
          <p:cNvPr id="10" name="Text 7"/>
          <p:cNvSpPr/>
          <p:nvPr/>
        </p:nvSpPr>
        <p:spPr>
          <a:xfrm>
            <a:off x="3081528" y="2560320"/>
            <a:ext cx="32004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401568" y="2011680"/>
            <a:ext cx="2532888" cy="1554480"/>
          </a:xfrm>
          <a:prstGeom prst="roundRect">
            <a:avLst>
              <a:gd name="adj" fmla="val 5294"/>
            </a:avLst>
          </a:prstGeom>
          <a:solidFill>
            <a:srgbClr val="161E2D"/>
          </a:solidFill>
          <a:ln w="12700">
            <a:solidFill>
              <a:srgbClr val="161E2D"/>
            </a:solidFill>
            <a:prstDash val="solid"/>
          </a:ln>
        </p:spPr>
      </p:sp>
      <p:sp>
        <p:nvSpPr>
          <p:cNvPr id="12" name="Shape 9"/>
          <p:cNvSpPr/>
          <p:nvPr/>
        </p:nvSpPr>
        <p:spPr>
          <a:xfrm>
            <a:off x="4240530" y="2205990"/>
            <a:ext cx="854964" cy="854964"/>
          </a:xfrm>
          <a:prstGeom prst="ellipse">
            <a:avLst/>
          </a:prstGeom>
          <a:solidFill>
            <a:srgbClr val="FFF3DE"/>
          </a:solidFill>
          <a:ln/>
        </p:spPr>
      </p:sp>
      <p:pic>
        <p:nvPicPr>
          <p:cNvPr id="13" name="Image 1" descr="/home/claude/ppt4/icon_codebranch_w.png"/>
          <p:cNvPicPr>
            <a:picLocks noChangeAspect="1"/>
          </p:cNvPicPr>
          <p:nvPr/>
        </p:nvPicPr>
        <p:blipFill>
          <a:blip r:embed="rId4"/>
          <a:stretch>
            <a:fillRect/>
          </a:stretch>
        </p:blipFill>
        <p:spPr>
          <a:xfrm>
            <a:off x="4445721" y="2411181"/>
            <a:ext cx="444581" cy="444581"/>
          </a:xfrm>
          <a:prstGeom prst="rect">
            <a:avLst/>
          </a:prstGeom>
        </p:spPr>
      </p:pic>
      <p:sp>
        <p:nvSpPr>
          <p:cNvPr id="14" name="Text 10"/>
          <p:cNvSpPr/>
          <p:nvPr/>
        </p:nvSpPr>
        <p:spPr>
          <a:xfrm>
            <a:off x="3474720" y="3068726"/>
            <a:ext cx="2386584" cy="466344"/>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Open a Pull Request</a:t>
            </a:r>
            <a:endParaRPr lang="en-US" sz="1200" dirty="0"/>
          </a:p>
        </p:txBody>
      </p:sp>
      <p:sp>
        <p:nvSpPr>
          <p:cNvPr id="15" name="Text 11"/>
          <p:cNvSpPr/>
          <p:nvPr/>
        </p:nvSpPr>
        <p:spPr>
          <a:xfrm>
            <a:off x="5934456" y="2560320"/>
            <a:ext cx="32004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6254496" y="2011680"/>
            <a:ext cx="2532888" cy="1554480"/>
          </a:xfrm>
          <a:prstGeom prst="roundRect">
            <a:avLst>
              <a:gd name="adj" fmla="val 5294"/>
            </a:avLst>
          </a:prstGeom>
          <a:solidFill>
            <a:srgbClr val="161E2D"/>
          </a:solidFill>
          <a:ln w="12700">
            <a:solidFill>
              <a:srgbClr val="161E2D"/>
            </a:solidFill>
            <a:prstDash val="solid"/>
          </a:ln>
        </p:spPr>
      </p:sp>
      <p:sp>
        <p:nvSpPr>
          <p:cNvPr id="17" name="Shape 13"/>
          <p:cNvSpPr/>
          <p:nvPr/>
        </p:nvSpPr>
        <p:spPr>
          <a:xfrm>
            <a:off x="7093458" y="2205990"/>
            <a:ext cx="854964" cy="854964"/>
          </a:xfrm>
          <a:prstGeom prst="ellipse">
            <a:avLst/>
          </a:prstGeom>
          <a:solidFill>
            <a:srgbClr val="FFF3DE"/>
          </a:solidFill>
          <a:ln/>
        </p:spPr>
      </p:sp>
      <p:pic>
        <p:nvPicPr>
          <p:cNvPr id="18" name="Image 2" descr="/home/claude/ppt4/icon_userfriends_w.png"/>
          <p:cNvPicPr>
            <a:picLocks noChangeAspect="1"/>
          </p:cNvPicPr>
          <p:nvPr/>
        </p:nvPicPr>
        <p:blipFill>
          <a:blip r:embed="rId5"/>
          <a:stretch>
            <a:fillRect/>
          </a:stretch>
        </p:blipFill>
        <p:spPr>
          <a:xfrm>
            <a:off x="7298649" y="2411181"/>
            <a:ext cx="444581" cy="444581"/>
          </a:xfrm>
          <a:prstGeom prst="rect">
            <a:avLst/>
          </a:prstGeom>
        </p:spPr>
      </p:pic>
      <p:sp>
        <p:nvSpPr>
          <p:cNvPr id="19" name="Text 14"/>
          <p:cNvSpPr/>
          <p:nvPr/>
        </p:nvSpPr>
        <p:spPr>
          <a:xfrm>
            <a:off x="6327648" y="3068726"/>
            <a:ext cx="2386584" cy="466344"/>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Team reviews code</a:t>
            </a:r>
            <a:endParaRPr lang="en-US" sz="1200" dirty="0"/>
          </a:p>
        </p:txBody>
      </p:sp>
      <p:sp>
        <p:nvSpPr>
          <p:cNvPr id="20" name="Text 15"/>
          <p:cNvSpPr/>
          <p:nvPr/>
        </p:nvSpPr>
        <p:spPr>
          <a:xfrm>
            <a:off x="8787384" y="2560320"/>
            <a:ext cx="32004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1" name="Shape 16"/>
          <p:cNvSpPr/>
          <p:nvPr/>
        </p:nvSpPr>
        <p:spPr>
          <a:xfrm>
            <a:off x="9107424" y="2011680"/>
            <a:ext cx="2532888" cy="1554480"/>
          </a:xfrm>
          <a:prstGeom prst="roundRect">
            <a:avLst>
              <a:gd name="adj" fmla="val 5294"/>
            </a:avLst>
          </a:prstGeom>
          <a:solidFill>
            <a:srgbClr val="161E2D"/>
          </a:solidFill>
          <a:ln w="12700">
            <a:solidFill>
              <a:srgbClr val="161E2D"/>
            </a:solidFill>
            <a:prstDash val="solid"/>
          </a:ln>
        </p:spPr>
      </p:sp>
      <p:sp>
        <p:nvSpPr>
          <p:cNvPr id="22" name="Shape 17"/>
          <p:cNvSpPr/>
          <p:nvPr/>
        </p:nvSpPr>
        <p:spPr>
          <a:xfrm>
            <a:off x="9946386" y="2205990"/>
            <a:ext cx="854964" cy="854964"/>
          </a:xfrm>
          <a:prstGeom prst="ellipse">
            <a:avLst/>
          </a:prstGeom>
          <a:solidFill>
            <a:srgbClr val="FFF3DE"/>
          </a:solidFill>
          <a:ln/>
        </p:spPr>
      </p:sp>
      <p:pic>
        <p:nvPicPr>
          <p:cNvPr id="23" name="Image 3" descr="/home/claude/ppt4/icon_checkcircle_w.png"/>
          <p:cNvPicPr>
            <a:picLocks noChangeAspect="1"/>
          </p:cNvPicPr>
          <p:nvPr/>
        </p:nvPicPr>
        <p:blipFill>
          <a:blip r:embed="rId6"/>
          <a:stretch>
            <a:fillRect/>
          </a:stretch>
        </p:blipFill>
        <p:spPr>
          <a:xfrm>
            <a:off x="10151577" y="2411181"/>
            <a:ext cx="444581" cy="444581"/>
          </a:xfrm>
          <a:prstGeom prst="rect">
            <a:avLst/>
          </a:prstGeom>
        </p:spPr>
      </p:pic>
      <p:sp>
        <p:nvSpPr>
          <p:cNvPr id="24" name="Text 18"/>
          <p:cNvSpPr/>
          <p:nvPr/>
        </p:nvSpPr>
        <p:spPr>
          <a:xfrm>
            <a:off x="9180576" y="3068726"/>
            <a:ext cx="2386584" cy="466344"/>
          </a:xfrm>
          <a:prstGeom prst="rect">
            <a:avLst/>
          </a:prstGeom>
          <a:noFill/>
          <a:ln/>
        </p:spPr>
        <p:txBody>
          <a:bodyPr wrap="square"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Merge into main</a:t>
            </a:r>
            <a:endParaRPr lang="en-US" sz="1200" dirty="0"/>
          </a:p>
        </p:txBody>
      </p:sp>
      <p:sp>
        <p:nvSpPr>
          <p:cNvPr id="25" name="Shape 19"/>
          <p:cNvSpPr/>
          <p:nvPr/>
        </p:nvSpPr>
        <p:spPr>
          <a:xfrm>
            <a:off x="1097280" y="4069080"/>
            <a:ext cx="128016" cy="128016"/>
          </a:xfrm>
          <a:prstGeom prst="ellipse">
            <a:avLst/>
          </a:prstGeom>
          <a:solidFill>
            <a:srgbClr val="FF9900"/>
          </a:solidFill>
          <a:ln/>
        </p:spPr>
      </p:sp>
      <p:sp>
        <p:nvSpPr>
          <p:cNvPr id="26" name="Text 20"/>
          <p:cNvSpPr/>
          <p:nvPr/>
        </p:nvSpPr>
        <p:spPr>
          <a:xfrm>
            <a:off x="1371600" y="4023360"/>
            <a:ext cx="8686800" cy="365760"/>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Catches bugs before they reach main</a:t>
            </a:r>
            <a:endParaRPr lang="en-US" sz="1350" dirty="0"/>
          </a:p>
        </p:txBody>
      </p:sp>
      <p:sp>
        <p:nvSpPr>
          <p:cNvPr id="27" name="Shape 21"/>
          <p:cNvSpPr/>
          <p:nvPr/>
        </p:nvSpPr>
        <p:spPr>
          <a:xfrm>
            <a:off x="1097280" y="4526280"/>
            <a:ext cx="128016" cy="128016"/>
          </a:xfrm>
          <a:prstGeom prst="ellipse">
            <a:avLst/>
          </a:prstGeom>
          <a:solidFill>
            <a:srgbClr val="FF9900"/>
          </a:solidFill>
          <a:ln/>
        </p:spPr>
      </p:sp>
      <p:sp>
        <p:nvSpPr>
          <p:cNvPr id="28" name="Text 22"/>
          <p:cNvSpPr/>
          <p:nvPr/>
        </p:nvSpPr>
        <p:spPr>
          <a:xfrm>
            <a:off x="1371600" y="4480560"/>
            <a:ext cx="8686800" cy="365760"/>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Shares knowledge across the team</a:t>
            </a:r>
            <a:endParaRPr lang="en-US" sz="1350" dirty="0"/>
          </a:p>
        </p:txBody>
      </p:sp>
      <p:sp>
        <p:nvSpPr>
          <p:cNvPr id="29" name="Shape 23"/>
          <p:cNvSpPr/>
          <p:nvPr/>
        </p:nvSpPr>
        <p:spPr>
          <a:xfrm>
            <a:off x="1097280" y="4983480"/>
            <a:ext cx="128016" cy="128016"/>
          </a:xfrm>
          <a:prstGeom prst="ellipse">
            <a:avLst/>
          </a:prstGeom>
          <a:solidFill>
            <a:srgbClr val="FF9900"/>
          </a:solidFill>
          <a:ln/>
        </p:spPr>
      </p:sp>
      <p:sp>
        <p:nvSpPr>
          <p:cNvPr id="30" name="Text 24"/>
          <p:cNvSpPr/>
          <p:nvPr/>
        </p:nvSpPr>
        <p:spPr>
          <a:xfrm>
            <a:off x="1371600" y="4937760"/>
            <a:ext cx="8686800" cy="365760"/>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Creates a documented discussion trail</a:t>
            </a:r>
            <a:endParaRPr lang="en-US" sz="1350" dirty="0"/>
          </a:p>
        </p:txBody>
      </p:sp>
      <p:sp>
        <p:nvSpPr>
          <p:cNvPr id="31" name="Shape 25"/>
          <p:cNvSpPr/>
          <p:nvPr/>
        </p:nvSpPr>
        <p:spPr>
          <a:xfrm>
            <a:off x="548640" y="5532120"/>
            <a:ext cx="11091672" cy="566928"/>
          </a:xfrm>
          <a:prstGeom prst="roundRect">
            <a:avLst>
              <a:gd name="adj" fmla="val 12903"/>
            </a:avLst>
          </a:prstGeom>
          <a:solidFill>
            <a:srgbClr val="FFFFFF"/>
          </a:solidFill>
          <a:ln w="15875">
            <a:solidFill>
              <a:srgbClr val="FF9900"/>
            </a:solidFill>
            <a:prstDash val="solid"/>
          </a:ln>
        </p:spPr>
      </p:sp>
      <p:sp>
        <p:nvSpPr>
          <p:cNvPr id="32" name="Text 26"/>
          <p:cNvSpPr/>
          <p:nvPr/>
        </p:nvSpPr>
        <p:spPr>
          <a:xfrm>
            <a:off x="777240" y="5532120"/>
            <a:ext cx="10634472" cy="566928"/>
          </a:xfrm>
          <a:prstGeom prst="rect">
            <a:avLst/>
          </a:prstGeom>
          <a:noFill/>
          <a:ln/>
        </p:spPr>
        <p:txBody>
          <a:bodyPr wrap="square" rtlCol="0" anchor="ctr"/>
          <a:lstStyle/>
          <a:p>
            <a:pPr marL="0" indent="0">
              <a:buNone/>
            </a:pPr>
            <a:r>
              <a:rPr lang="en-US" sz="1100" b="1" i="1" dirty="0">
                <a:solidFill>
                  <a:srgbClr val="B36B00"/>
                </a:solidFill>
                <a:latin typeface="Calibri" pitchFamily="34" charset="0"/>
                <a:ea typeface="Calibri" pitchFamily="34" charset="-122"/>
                <a:cs typeface="Calibri" pitchFamily="34" charset="-120"/>
              </a:rPr>
              <a:t>REAL-WORLD ANALOGY:  </a:t>
            </a:r>
            <a:r>
              <a:rPr lang="en-US" sz="1100" i="1" dirty="0">
                <a:solidFill>
                  <a:srgbClr val="16191F"/>
                </a:solidFill>
                <a:latin typeface="Calibri" pitchFamily="34" charset="0"/>
                <a:ea typeface="Calibri" pitchFamily="34" charset="-122"/>
                <a:cs typeface="Calibri" pitchFamily="34" charset="-120"/>
              </a:rPr>
              <a:t>Like submitting a manuscript to an editor before it's published — a second set of eyes catches what you might miss.</a:t>
            </a:r>
            <a:endParaRPr lang="en-US" sz="1100" dirty="0"/>
          </a:p>
        </p:txBody>
      </p:sp>
      <p:sp>
        <p:nvSpPr>
          <p:cNvPr id="33" name="Text 27"/>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34" name="Text 28"/>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WHY THIS MATTERS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GitHub for Cloud Engineers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B36B00"/>
                </a:solidFill>
                <a:latin typeface="Calibri" pitchFamily="34" charset="0"/>
                <a:ea typeface="Calibri" pitchFamily="34" charset="-122"/>
                <a:cs typeface="Calibri" pitchFamily="34" charset="-120"/>
              </a:rPr>
              <a:t>OBJECTIVE:  </a:t>
            </a:r>
            <a:r>
              <a:rPr lang="en-US" sz="1250" dirty="0">
                <a:solidFill>
                  <a:srgbClr val="16191F"/>
                </a:solidFill>
                <a:latin typeface="Calibri" pitchFamily="34" charset="0"/>
                <a:ea typeface="Calibri" pitchFamily="34" charset="-122"/>
                <a:cs typeface="Calibri" pitchFamily="34" charset="-120"/>
              </a:rPr>
              <a:t>See exactly what cloud engineers store in Git, every single day.</a:t>
            </a:r>
            <a:endParaRPr lang="en-US" sz="1250" dirty="0"/>
          </a:p>
        </p:txBody>
      </p:sp>
      <p:sp>
        <p:nvSpPr>
          <p:cNvPr id="6" name="Shape 4"/>
          <p:cNvSpPr/>
          <p:nvPr/>
        </p:nvSpPr>
        <p:spPr>
          <a:xfrm>
            <a:off x="548640" y="1737360"/>
            <a:ext cx="3520440" cy="1600200"/>
          </a:xfrm>
          <a:prstGeom prst="roundRect">
            <a:avLst>
              <a:gd name="adj" fmla="val 5714"/>
            </a:avLst>
          </a:prstGeom>
          <a:solidFill>
            <a:srgbClr val="FFFFFF"/>
          </a:solidFill>
          <a:ln w="12700">
            <a:solidFill>
              <a:srgbClr val="D9DCE1"/>
            </a:solidFill>
            <a:prstDash val="solid"/>
          </a:ln>
        </p:spPr>
      </p:sp>
      <p:sp>
        <p:nvSpPr>
          <p:cNvPr id="7" name="Shape 5"/>
          <p:cNvSpPr/>
          <p:nvPr/>
        </p:nvSpPr>
        <p:spPr>
          <a:xfrm>
            <a:off x="800100" y="2148840"/>
            <a:ext cx="777240" cy="777240"/>
          </a:xfrm>
          <a:prstGeom prst="ellipse">
            <a:avLst/>
          </a:prstGeom>
          <a:solidFill>
            <a:srgbClr val="FFF3DE"/>
          </a:solidFill>
          <a:ln/>
        </p:spPr>
      </p:sp>
      <p:pic>
        <p:nvPicPr>
          <p:cNvPr id="8" name="Image 0" descr="/home/claude/ppt4/icon_layergroup_d.png"/>
          <p:cNvPicPr>
            <a:picLocks noChangeAspect="1"/>
          </p:cNvPicPr>
          <p:nvPr/>
        </p:nvPicPr>
        <p:blipFill>
          <a:blip r:embed="rId3"/>
          <a:stretch>
            <a:fillRect/>
          </a:stretch>
        </p:blipFill>
        <p:spPr>
          <a:xfrm>
            <a:off x="986638" y="2335378"/>
            <a:ext cx="404165" cy="404165"/>
          </a:xfrm>
          <a:prstGeom prst="rect">
            <a:avLst/>
          </a:prstGeom>
        </p:spPr>
      </p:pic>
      <p:sp>
        <p:nvSpPr>
          <p:cNvPr id="9" name="Text 6"/>
          <p:cNvSpPr/>
          <p:nvPr/>
        </p:nvSpPr>
        <p:spPr>
          <a:xfrm>
            <a:off x="1737360" y="1737360"/>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Terraform</a:t>
            </a:r>
            <a:endParaRPr lang="en-US" sz="1400" dirty="0"/>
          </a:p>
        </p:txBody>
      </p:sp>
      <p:sp>
        <p:nvSpPr>
          <p:cNvPr id="10" name="Shape 7"/>
          <p:cNvSpPr/>
          <p:nvPr/>
        </p:nvSpPr>
        <p:spPr>
          <a:xfrm>
            <a:off x="4270248" y="1737360"/>
            <a:ext cx="3520440" cy="1600200"/>
          </a:xfrm>
          <a:prstGeom prst="roundRect">
            <a:avLst>
              <a:gd name="adj" fmla="val 5714"/>
            </a:avLst>
          </a:prstGeom>
          <a:solidFill>
            <a:srgbClr val="FFFFFF"/>
          </a:solidFill>
          <a:ln w="12700">
            <a:solidFill>
              <a:srgbClr val="D9DCE1"/>
            </a:solidFill>
            <a:prstDash val="solid"/>
          </a:ln>
        </p:spPr>
      </p:sp>
      <p:sp>
        <p:nvSpPr>
          <p:cNvPr id="11" name="Shape 8"/>
          <p:cNvSpPr/>
          <p:nvPr/>
        </p:nvSpPr>
        <p:spPr>
          <a:xfrm>
            <a:off x="4521708" y="2148840"/>
            <a:ext cx="777240" cy="777240"/>
          </a:xfrm>
          <a:prstGeom prst="ellipse">
            <a:avLst/>
          </a:prstGeom>
          <a:solidFill>
            <a:srgbClr val="FFF3DE"/>
          </a:solidFill>
          <a:ln/>
        </p:spPr>
      </p:sp>
      <p:pic>
        <p:nvPicPr>
          <p:cNvPr id="12" name="Image 1" descr="/home/claude/ppt4/icon_aws_d.png"/>
          <p:cNvPicPr>
            <a:picLocks noChangeAspect="1"/>
          </p:cNvPicPr>
          <p:nvPr/>
        </p:nvPicPr>
        <p:blipFill>
          <a:blip r:embed="rId4"/>
          <a:stretch>
            <a:fillRect/>
          </a:stretch>
        </p:blipFill>
        <p:spPr>
          <a:xfrm>
            <a:off x="4708246" y="2335378"/>
            <a:ext cx="404165" cy="404165"/>
          </a:xfrm>
          <a:prstGeom prst="rect">
            <a:avLst/>
          </a:prstGeom>
        </p:spPr>
      </p:pic>
      <p:sp>
        <p:nvSpPr>
          <p:cNvPr id="13" name="Text 9"/>
          <p:cNvSpPr/>
          <p:nvPr/>
        </p:nvSpPr>
        <p:spPr>
          <a:xfrm>
            <a:off x="5458968" y="1737360"/>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CloudFormation</a:t>
            </a:r>
            <a:endParaRPr lang="en-US" sz="1400" dirty="0"/>
          </a:p>
        </p:txBody>
      </p:sp>
      <p:sp>
        <p:nvSpPr>
          <p:cNvPr id="14" name="Shape 10"/>
          <p:cNvSpPr/>
          <p:nvPr/>
        </p:nvSpPr>
        <p:spPr>
          <a:xfrm>
            <a:off x="7991856" y="1737360"/>
            <a:ext cx="3520440" cy="1600200"/>
          </a:xfrm>
          <a:prstGeom prst="roundRect">
            <a:avLst>
              <a:gd name="adj" fmla="val 5714"/>
            </a:avLst>
          </a:prstGeom>
          <a:solidFill>
            <a:srgbClr val="FFFFFF"/>
          </a:solidFill>
          <a:ln w="12700">
            <a:solidFill>
              <a:srgbClr val="D9DCE1"/>
            </a:solidFill>
            <a:prstDash val="solid"/>
          </a:ln>
        </p:spPr>
      </p:sp>
      <p:sp>
        <p:nvSpPr>
          <p:cNvPr id="15" name="Shape 11"/>
          <p:cNvSpPr/>
          <p:nvPr/>
        </p:nvSpPr>
        <p:spPr>
          <a:xfrm>
            <a:off x="8243316" y="2148840"/>
            <a:ext cx="777240" cy="777240"/>
          </a:xfrm>
          <a:prstGeom prst="ellipse">
            <a:avLst/>
          </a:prstGeom>
          <a:solidFill>
            <a:srgbClr val="FFF3DE"/>
          </a:solidFill>
          <a:ln/>
        </p:spPr>
      </p:sp>
      <p:pic>
        <p:nvPicPr>
          <p:cNvPr id="16" name="Image 2" descr="/home/claude/ppt4/icon_code_d.png"/>
          <p:cNvPicPr>
            <a:picLocks noChangeAspect="1"/>
          </p:cNvPicPr>
          <p:nvPr/>
        </p:nvPicPr>
        <p:blipFill>
          <a:blip r:embed="rId5"/>
          <a:stretch>
            <a:fillRect/>
          </a:stretch>
        </p:blipFill>
        <p:spPr>
          <a:xfrm>
            <a:off x="8429854" y="2335378"/>
            <a:ext cx="404165" cy="404165"/>
          </a:xfrm>
          <a:prstGeom prst="rect">
            <a:avLst/>
          </a:prstGeom>
        </p:spPr>
      </p:pic>
      <p:sp>
        <p:nvSpPr>
          <p:cNvPr id="17" name="Text 12"/>
          <p:cNvSpPr/>
          <p:nvPr/>
        </p:nvSpPr>
        <p:spPr>
          <a:xfrm>
            <a:off x="9180576" y="1737360"/>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Python Scripts</a:t>
            </a:r>
            <a:endParaRPr lang="en-US" sz="1400" dirty="0"/>
          </a:p>
        </p:txBody>
      </p:sp>
      <p:sp>
        <p:nvSpPr>
          <p:cNvPr id="18" name="Shape 13"/>
          <p:cNvSpPr/>
          <p:nvPr/>
        </p:nvSpPr>
        <p:spPr>
          <a:xfrm>
            <a:off x="548640" y="3538728"/>
            <a:ext cx="3520440" cy="1600200"/>
          </a:xfrm>
          <a:prstGeom prst="roundRect">
            <a:avLst>
              <a:gd name="adj" fmla="val 5714"/>
            </a:avLst>
          </a:prstGeom>
          <a:solidFill>
            <a:srgbClr val="FFFFFF"/>
          </a:solidFill>
          <a:ln w="12700">
            <a:solidFill>
              <a:srgbClr val="D9DCE1"/>
            </a:solidFill>
            <a:prstDash val="solid"/>
          </a:ln>
        </p:spPr>
      </p:sp>
      <p:sp>
        <p:nvSpPr>
          <p:cNvPr id="19" name="Shape 14"/>
          <p:cNvSpPr/>
          <p:nvPr/>
        </p:nvSpPr>
        <p:spPr>
          <a:xfrm>
            <a:off x="800100" y="3950208"/>
            <a:ext cx="777240" cy="777240"/>
          </a:xfrm>
          <a:prstGeom prst="ellipse">
            <a:avLst/>
          </a:prstGeom>
          <a:solidFill>
            <a:srgbClr val="FFF3DE"/>
          </a:solidFill>
          <a:ln/>
        </p:spPr>
      </p:sp>
      <p:pic>
        <p:nvPicPr>
          <p:cNvPr id="20" name="Image 3" descr="/home/claude/ppt4/icon_bookopen_d.png"/>
          <p:cNvPicPr>
            <a:picLocks noChangeAspect="1"/>
          </p:cNvPicPr>
          <p:nvPr/>
        </p:nvPicPr>
        <p:blipFill>
          <a:blip r:embed="rId6"/>
          <a:stretch>
            <a:fillRect/>
          </a:stretch>
        </p:blipFill>
        <p:spPr>
          <a:xfrm>
            <a:off x="986638" y="4136746"/>
            <a:ext cx="404165" cy="404165"/>
          </a:xfrm>
          <a:prstGeom prst="rect">
            <a:avLst/>
          </a:prstGeom>
        </p:spPr>
      </p:pic>
      <p:sp>
        <p:nvSpPr>
          <p:cNvPr id="21" name="Text 15"/>
          <p:cNvSpPr/>
          <p:nvPr/>
        </p:nvSpPr>
        <p:spPr>
          <a:xfrm>
            <a:off x="1737360" y="3538728"/>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Documentation</a:t>
            </a:r>
            <a:endParaRPr lang="en-US" sz="1400" dirty="0"/>
          </a:p>
        </p:txBody>
      </p:sp>
      <p:sp>
        <p:nvSpPr>
          <p:cNvPr id="22" name="Shape 16"/>
          <p:cNvSpPr/>
          <p:nvPr/>
        </p:nvSpPr>
        <p:spPr>
          <a:xfrm>
            <a:off x="4270248" y="3538728"/>
            <a:ext cx="3520440" cy="1600200"/>
          </a:xfrm>
          <a:prstGeom prst="roundRect">
            <a:avLst>
              <a:gd name="adj" fmla="val 5714"/>
            </a:avLst>
          </a:prstGeom>
          <a:solidFill>
            <a:srgbClr val="FFFFFF"/>
          </a:solidFill>
          <a:ln w="12700">
            <a:solidFill>
              <a:srgbClr val="D9DCE1"/>
            </a:solidFill>
            <a:prstDash val="solid"/>
          </a:ln>
        </p:spPr>
      </p:sp>
      <p:sp>
        <p:nvSpPr>
          <p:cNvPr id="23" name="Shape 17"/>
          <p:cNvSpPr/>
          <p:nvPr/>
        </p:nvSpPr>
        <p:spPr>
          <a:xfrm>
            <a:off x="4521708" y="3950208"/>
            <a:ext cx="777240" cy="777240"/>
          </a:xfrm>
          <a:prstGeom prst="ellipse">
            <a:avLst/>
          </a:prstGeom>
          <a:solidFill>
            <a:srgbClr val="FFF3DE"/>
          </a:solidFill>
          <a:ln/>
        </p:spPr>
      </p:sp>
      <p:pic>
        <p:nvPicPr>
          <p:cNvPr id="24" name="Image 4" descr="/home/claude/ppt4/icon_syncalt_d.png"/>
          <p:cNvPicPr>
            <a:picLocks noChangeAspect="1"/>
          </p:cNvPicPr>
          <p:nvPr/>
        </p:nvPicPr>
        <p:blipFill>
          <a:blip r:embed="rId7"/>
          <a:stretch>
            <a:fillRect/>
          </a:stretch>
        </p:blipFill>
        <p:spPr>
          <a:xfrm>
            <a:off x="4708246" y="4136746"/>
            <a:ext cx="404165" cy="404165"/>
          </a:xfrm>
          <a:prstGeom prst="rect">
            <a:avLst/>
          </a:prstGeom>
        </p:spPr>
      </p:pic>
      <p:sp>
        <p:nvSpPr>
          <p:cNvPr id="25" name="Text 18"/>
          <p:cNvSpPr/>
          <p:nvPr/>
        </p:nvSpPr>
        <p:spPr>
          <a:xfrm>
            <a:off x="5458968" y="3538728"/>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CI/CD Pipelines</a:t>
            </a:r>
            <a:endParaRPr lang="en-US" sz="1400" dirty="0"/>
          </a:p>
        </p:txBody>
      </p:sp>
      <p:sp>
        <p:nvSpPr>
          <p:cNvPr id="26" name="Shape 19"/>
          <p:cNvSpPr/>
          <p:nvPr/>
        </p:nvSpPr>
        <p:spPr>
          <a:xfrm>
            <a:off x="7991856" y="3538728"/>
            <a:ext cx="3520440" cy="1600200"/>
          </a:xfrm>
          <a:prstGeom prst="roundRect">
            <a:avLst>
              <a:gd name="adj" fmla="val 5714"/>
            </a:avLst>
          </a:prstGeom>
          <a:solidFill>
            <a:srgbClr val="FFFFFF"/>
          </a:solidFill>
          <a:ln w="12700">
            <a:solidFill>
              <a:srgbClr val="D9DCE1"/>
            </a:solidFill>
            <a:prstDash val="solid"/>
          </a:ln>
        </p:spPr>
      </p:sp>
      <p:sp>
        <p:nvSpPr>
          <p:cNvPr id="27" name="Shape 20"/>
          <p:cNvSpPr/>
          <p:nvPr/>
        </p:nvSpPr>
        <p:spPr>
          <a:xfrm>
            <a:off x="8243316" y="3950208"/>
            <a:ext cx="777240" cy="777240"/>
          </a:xfrm>
          <a:prstGeom prst="ellipse">
            <a:avLst/>
          </a:prstGeom>
          <a:solidFill>
            <a:srgbClr val="FFF3DE"/>
          </a:solidFill>
          <a:ln/>
        </p:spPr>
      </p:sp>
      <p:pic>
        <p:nvPicPr>
          <p:cNvPr id="28" name="Image 5" descr="/home/claude/ppt4/icon_cog_d.png"/>
          <p:cNvPicPr>
            <a:picLocks noChangeAspect="1"/>
          </p:cNvPicPr>
          <p:nvPr/>
        </p:nvPicPr>
        <p:blipFill>
          <a:blip r:embed="rId8"/>
          <a:stretch>
            <a:fillRect/>
          </a:stretch>
        </p:blipFill>
        <p:spPr>
          <a:xfrm>
            <a:off x="8429854" y="4136746"/>
            <a:ext cx="404165" cy="404165"/>
          </a:xfrm>
          <a:prstGeom prst="rect">
            <a:avLst/>
          </a:prstGeom>
        </p:spPr>
      </p:pic>
      <p:sp>
        <p:nvSpPr>
          <p:cNvPr id="29" name="Text 21"/>
          <p:cNvSpPr/>
          <p:nvPr/>
        </p:nvSpPr>
        <p:spPr>
          <a:xfrm>
            <a:off x="9180576" y="3538728"/>
            <a:ext cx="2148840" cy="1600200"/>
          </a:xfrm>
          <a:prstGeom prst="rect">
            <a:avLst/>
          </a:prstGeom>
          <a:noFill/>
          <a:ln/>
        </p:spPr>
        <p:txBody>
          <a:bodyPr wrap="square" rtlCol="0" anchor="ctr"/>
          <a:lstStyle/>
          <a:p>
            <a:pPr marL="0" indent="0">
              <a:buNone/>
            </a:pPr>
            <a:r>
              <a:rPr lang="en-US" sz="1400" b="1" dirty="0">
                <a:solidFill>
                  <a:srgbClr val="232F3E"/>
                </a:solidFill>
                <a:latin typeface="Arial" pitchFamily="34" charset="0"/>
                <a:ea typeface="Arial" pitchFamily="34" charset="-122"/>
                <a:cs typeface="Arial" pitchFamily="34" charset="-120"/>
              </a:rPr>
              <a:t>Config Files</a:t>
            </a:r>
            <a:endParaRPr lang="en-US" sz="1400" dirty="0"/>
          </a:p>
        </p:txBody>
      </p:sp>
      <p:sp>
        <p:nvSpPr>
          <p:cNvPr id="30" name="Text 2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1" name="Text 2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BEST PRACTICES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GitHub Best Practices</a:t>
            </a:r>
            <a:endParaRPr lang="en-US" sz="2800" dirty="0"/>
          </a:p>
        </p:txBody>
      </p:sp>
      <p:sp>
        <p:nvSpPr>
          <p:cNvPr id="4" name="Shape 2"/>
          <p:cNvSpPr/>
          <p:nvPr/>
        </p:nvSpPr>
        <p:spPr>
          <a:xfrm>
            <a:off x="548640" y="1463040"/>
            <a:ext cx="3520440" cy="1874520"/>
          </a:xfrm>
          <a:prstGeom prst="roundRect">
            <a:avLst>
              <a:gd name="adj" fmla="val 4878"/>
            </a:avLst>
          </a:prstGeom>
          <a:solidFill>
            <a:srgbClr val="FFFFFF"/>
          </a:solidFill>
          <a:ln w="12700">
            <a:solidFill>
              <a:srgbClr val="D9DCE1"/>
            </a:solidFill>
            <a:prstDash val="solid"/>
          </a:ln>
        </p:spPr>
      </p:sp>
      <p:sp>
        <p:nvSpPr>
          <p:cNvPr id="5" name="Shape 3"/>
          <p:cNvSpPr/>
          <p:nvPr/>
        </p:nvSpPr>
        <p:spPr>
          <a:xfrm>
            <a:off x="777240" y="1664208"/>
            <a:ext cx="731520" cy="731520"/>
          </a:xfrm>
          <a:prstGeom prst="ellipse">
            <a:avLst/>
          </a:prstGeom>
          <a:solidFill>
            <a:srgbClr val="FFF3DE"/>
          </a:solidFill>
          <a:ln/>
        </p:spPr>
      </p:sp>
      <p:pic>
        <p:nvPicPr>
          <p:cNvPr id="6" name="Image 0" descr="/home/claude/ppt4/icon_edit_d.png"/>
          <p:cNvPicPr>
            <a:picLocks noChangeAspect="1"/>
          </p:cNvPicPr>
          <p:nvPr/>
        </p:nvPicPr>
        <p:blipFill>
          <a:blip r:embed="rId3"/>
          <a:stretch>
            <a:fillRect/>
          </a:stretch>
        </p:blipFill>
        <p:spPr>
          <a:xfrm>
            <a:off x="952805" y="1839773"/>
            <a:ext cx="380390" cy="380390"/>
          </a:xfrm>
          <a:prstGeom prst="rect">
            <a:avLst/>
          </a:prstGeom>
        </p:spPr>
      </p:pic>
      <p:sp>
        <p:nvSpPr>
          <p:cNvPr id="7" name="Text 4"/>
          <p:cNvSpPr/>
          <p:nvPr/>
        </p:nvSpPr>
        <p:spPr>
          <a:xfrm>
            <a:off x="1645920" y="1691640"/>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Meaningful Commits</a:t>
            </a:r>
            <a:endParaRPr lang="en-US" sz="1350" dirty="0"/>
          </a:p>
        </p:txBody>
      </p:sp>
      <p:sp>
        <p:nvSpPr>
          <p:cNvPr id="8" name="Text 5"/>
          <p:cNvSpPr/>
          <p:nvPr/>
        </p:nvSpPr>
        <p:spPr>
          <a:xfrm>
            <a:off x="777240" y="2468880"/>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Describe the why, not just the what</a:t>
            </a:r>
            <a:endParaRPr lang="en-US" sz="1100" dirty="0"/>
          </a:p>
        </p:txBody>
      </p:sp>
      <p:sp>
        <p:nvSpPr>
          <p:cNvPr id="9" name="Shape 6"/>
          <p:cNvSpPr/>
          <p:nvPr/>
        </p:nvSpPr>
        <p:spPr>
          <a:xfrm>
            <a:off x="4270248" y="1463040"/>
            <a:ext cx="3520440" cy="1874520"/>
          </a:xfrm>
          <a:prstGeom prst="roundRect">
            <a:avLst>
              <a:gd name="adj" fmla="val 4878"/>
            </a:avLst>
          </a:prstGeom>
          <a:solidFill>
            <a:srgbClr val="FFFFFF"/>
          </a:solidFill>
          <a:ln w="12700">
            <a:solidFill>
              <a:srgbClr val="D9DCE1"/>
            </a:solidFill>
            <a:prstDash val="solid"/>
          </a:ln>
        </p:spPr>
      </p:sp>
      <p:sp>
        <p:nvSpPr>
          <p:cNvPr id="10" name="Shape 7"/>
          <p:cNvSpPr/>
          <p:nvPr/>
        </p:nvSpPr>
        <p:spPr>
          <a:xfrm>
            <a:off x="4498848" y="1664208"/>
            <a:ext cx="731520" cy="731520"/>
          </a:xfrm>
          <a:prstGeom prst="ellipse">
            <a:avLst/>
          </a:prstGeom>
          <a:solidFill>
            <a:srgbClr val="FFF3DE"/>
          </a:solidFill>
          <a:ln/>
        </p:spPr>
      </p:sp>
      <p:pic>
        <p:nvPicPr>
          <p:cNvPr id="11" name="Image 1" descr="/home/claude/ppt4/icon_layergroup_d.png"/>
          <p:cNvPicPr>
            <a:picLocks noChangeAspect="1"/>
          </p:cNvPicPr>
          <p:nvPr/>
        </p:nvPicPr>
        <p:blipFill>
          <a:blip r:embed="rId4"/>
          <a:stretch>
            <a:fillRect/>
          </a:stretch>
        </p:blipFill>
        <p:spPr>
          <a:xfrm>
            <a:off x="4674413" y="1839773"/>
            <a:ext cx="380390" cy="380390"/>
          </a:xfrm>
          <a:prstGeom prst="rect">
            <a:avLst/>
          </a:prstGeom>
        </p:spPr>
      </p:pic>
      <p:sp>
        <p:nvSpPr>
          <p:cNvPr id="12" name="Text 8"/>
          <p:cNvSpPr/>
          <p:nvPr/>
        </p:nvSpPr>
        <p:spPr>
          <a:xfrm>
            <a:off x="5367528" y="1691640"/>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Small Commits</a:t>
            </a:r>
            <a:endParaRPr lang="en-US" sz="1350" dirty="0"/>
          </a:p>
        </p:txBody>
      </p:sp>
      <p:sp>
        <p:nvSpPr>
          <p:cNvPr id="13" name="Text 9"/>
          <p:cNvSpPr/>
          <p:nvPr/>
        </p:nvSpPr>
        <p:spPr>
          <a:xfrm>
            <a:off x="4498848" y="2468880"/>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One logical change per commit</a:t>
            </a:r>
            <a:endParaRPr lang="en-US" sz="1100" dirty="0"/>
          </a:p>
        </p:txBody>
      </p:sp>
      <p:sp>
        <p:nvSpPr>
          <p:cNvPr id="14" name="Shape 10"/>
          <p:cNvSpPr/>
          <p:nvPr/>
        </p:nvSpPr>
        <p:spPr>
          <a:xfrm>
            <a:off x="7991856" y="1463040"/>
            <a:ext cx="3520440" cy="1874520"/>
          </a:xfrm>
          <a:prstGeom prst="roundRect">
            <a:avLst>
              <a:gd name="adj" fmla="val 4878"/>
            </a:avLst>
          </a:prstGeom>
          <a:solidFill>
            <a:srgbClr val="FFFFFF"/>
          </a:solidFill>
          <a:ln w="12700">
            <a:solidFill>
              <a:srgbClr val="D9DCE1"/>
            </a:solidFill>
            <a:prstDash val="solid"/>
          </a:ln>
        </p:spPr>
      </p:sp>
      <p:sp>
        <p:nvSpPr>
          <p:cNvPr id="15" name="Shape 11"/>
          <p:cNvSpPr/>
          <p:nvPr/>
        </p:nvSpPr>
        <p:spPr>
          <a:xfrm>
            <a:off x="8220456" y="1664208"/>
            <a:ext cx="731520" cy="731520"/>
          </a:xfrm>
          <a:prstGeom prst="ellipse">
            <a:avLst/>
          </a:prstGeom>
          <a:solidFill>
            <a:srgbClr val="FFF3DE"/>
          </a:solidFill>
          <a:ln/>
        </p:spPr>
      </p:sp>
      <p:pic>
        <p:nvPicPr>
          <p:cNvPr id="16" name="Image 2" descr="/home/claude/ppt4/icon_codebranch_d.png"/>
          <p:cNvPicPr>
            <a:picLocks noChangeAspect="1"/>
          </p:cNvPicPr>
          <p:nvPr/>
        </p:nvPicPr>
        <p:blipFill>
          <a:blip r:embed="rId5"/>
          <a:stretch>
            <a:fillRect/>
          </a:stretch>
        </p:blipFill>
        <p:spPr>
          <a:xfrm>
            <a:off x="8396021" y="1839773"/>
            <a:ext cx="380390" cy="380390"/>
          </a:xfrm>
          <a:prstGeom prst="rect">
            <a:avLst/>
          </a:prstGeom>
        </p:spPr>
      </p:pic>
      <p:sp>
        <p:nvSpPr>
          <p:cNvPr id="17" name="Text 12"/>
          <p:cNvSpPr/>
          <p:nvPr/>
        </p:nvSpPr>
        <p:spPr>
          <a:xfrm>
            <a:off x="9089136" y="1691640"/>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Branch Naming</a:t>
            </a:r>
            <a:endParaRPr lang="en-US" sz="1350" dirty="0"/>
          </a:p>
        </p:txBody>
      </p:sp>
      <p:sp>
        <p:nvSpPr>
          <p:cNvPr id="18" name="Text 13"/>
          <p:cNvSpPr/>
          <p:nvPr/>
        </p:nvSpPr>
        <p:spPr>
          <a:xfrm>
            <a:off x="8220456" y="2468880"/>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feature/, fix/, chore/ prefixes</a:t>
            </a:r>
            <a:endParaRPr lang="en-US" sz="1100" dirty="0"/>
          </a:p>
        </p:txBody>
      </p:sp>
      <p:sp>
        <p:nvSpPr>
          <p:cNvPr id="19" name="Shape 14"/>
          <p:cNvSpPr/>
          <p:nvPr/>
        </p:nvSpPr>
        <p:spPr>
          <a:xfrm>
            <a:off x="548640" y="3538728"/>
            <a:ext cx="3520440" cy="1874520"/>
          </a:xfrm>
          <a:prstGeom prst="roundRect">
            <a:avLst>
              <a:gd name="adj" fmla="val 4878"/>
            </a:avLst>
          </a:prstGeom>
          <a:solidFill>
            <a:srgbClr val="FFFFFF"/>
          </a:solidFill>
          <a:ln w="12700">
            <a:solidFill>
              <a:srgbClr val="D9DCE1"/>
            </a:solidFill>
            <a:prstDash val="solid"/>
          </a:ln>
        </p:spPr>
      </p:sp>
      <p:sp>
        <p:nvSpPr>
          <p:cNvPr id="20" name="Shape 15"/>
          <p:cNvSpPr/>
          <p:nvPr/>
        </p:nvSpPr>
        <p:spPr>
          <a:xfrm>
            <a:off x="777240" y="3739896"/>
            <a:ext cx="731520" cy="731520"/>
          </a:xfrm>
          <a:prstGeom prst="ellipse">
            <a:avLst/>
          </a:prstGeom>
          <a:solidFill>
            <a:srgbClr val="FFF3DE"/>
          </a:solidFill>
          <a:ln/>
        </p:spPr>
      </p:sp>
      <p:pic>
        <p:nvPicPr>
          <p:cNvPr id="21" name="Image 3" descr="/home/claude/ppt4/icon_bookopen_d.png"/>
          <p:cNvPicPr>
            <a:picLocks noChangeAspect="1"/>
          </p:cNvPicPr>
          <p:nvPr/>
        </p:nvPicPr>
        <p:blipFill>
          <a:blip r:embed="rId6"/>
          <a:stretch>
            <a:fillRect/>
          </a:stretch>
        </p:blipFill>
        <p:spPr>
          <a:xfrm>
            <a:off x="952805" y="3915461"/>
            <a:ext cx="380390" cy="380390"/>
          </a:xfrm>
          <a:prstGeom prst="rect">
            <a:avLst/>
          </a:prstGeom>
        </p:spPr>
      </p:pic>
      <p:sp>
        <p:nvSpPr>
          <p:cNvPr id="22" name="Text 16"/>
          <p:cNvSpPr/>
          <p:nvPr/>
        </p:nvSpPr>
        <p:spPr>
          <a:xfrm>
            <a:off x="1645920" y="3767328"/>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README Files</a:t>
            </a:r>
            <a:endParaRPr lang="en-US" sz="1350" dirty="0"/>
          </a:p>
        </p:txBody>
      </p:sp>
      <p:sp>
        <p:nvSpPr>
          <p:cNvPr id="23" name="Text 17"/>
          <p:cNvSpPr/>
          <p:nvPr/>
        </p:nvSpPr>
        <p:spPr>
          <a:xfrm>
            <a:off x="777240" y="4544568"/>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Explain what the project does &amp; how to run it</a:t>
            </a:r>
            <a:endParaRPr lang="en-US" sz="1100" dirty="0"/>
          </a:p>
        </p:txBody>
      </p:sp>
      <p:sp>
        <p:nvSpPr>
          <p:cNvPr id="24" name="Shape 18"/>
          <p:cNvSpPr/>
          <p:nvPr/>
        </p:nvSpPr>
        <p:spPr>
          <a:xfrm>
            <a:off x="4270248" y="3538728"/>
            <a:ext cx="3520440" cy="1874520"/>
          </a:xfrm>
          <a:prstGeom prst="roundRect">
            <a:avLst>
              <a:gd name="adj" fmla="val 4878"/>
            </a:avLst>
          </a:prstGeom>
          <a:solidFill>
            <a:srgbClr val="FFFFFF"/>
          </a:solidFill>
          <a:ln w="12700">
            <a:solidFill>
              <a:srgbClr val="D9DCE1"/>
            </a:solidFill>
            <a:prstDash val="solid"/>
          </a:ln>
        </p:spPr>
      </p:sp>
      <p:sp>
        <p:nvSpPr>
          <p:cNvPr id="25" name="Shape 19"/>
          <p:cNvSpPr/>
          <p:nvPr/>
        </p:nvSpPr>
        <p:spPr>
          <a:xfrm>
            <a:off x="4498848" y="3739896"/>
            <a:ext cx="731520" cy="731520"/>
          </a:xfrm>
          <a:prstGeom prst="ellipse">
            <a:avLst/>
          </a:prstGeom>
          <a:solidFill>
            <a:srgbClr val="FFF3DE"/>
          </a:solidFill>
          <a:ln/>
        </p:spPr>
      </p:sp>
      <p:pic>
        <p:nvPicPr>
          <p:cNvPr id="26" name="Image 4" descr="/home/claude/ppt4/icon_eyeslash_d.png"/>
          <p:cNvPicPr>
            <a:picLocks noChangeAspect="1"/>
          </p:cNvPicPr>
          <p:nvPr/>
        </p:nvPicPr>
        <p:blipFill>
          <a:blip r:embed="rId7"/>
          <a:stretch>
            <a:fillRect/>
          </a:stretch>
        </p:blipFill>
        <p:spPr>
          <a:xfrm>
            <a:off x="4674413" y="3915461"/>
            <a:ext cx="380390" cy="380390"/>
          </a:xfrm>
          <a:prstGeom prst="rect">
            <a:avLst/>
          </a:prstGeom>
        </p:spPr>
      </p:pic>
      <p:sp>
        <p:nvSpPr>
          <p:cNvPr id="27" name="Text 20"/>
          <p:cNvSpPr/>
          <p:nvPr/>
        </p:nvSpPr>
        <p:spPr>
          <a:xfrm>
            <a:off x="5367528" y="3767328"/>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.gitignore</a:t>
            </a:r>
            <a:endParaRPr lang="en-US" sz="1350" dirty="0"/>
          </a:p>
        </p:txBody>
      </p:sp>
      <p:sp>
        <p:nvSpPr>
          <p:cNvPr id="28" name="Text 21"/>
          <p:cNvSpPr/>
          <p:nvPr/>
        </p:nvSpPr>
        <p:spPr>
          <a:xfrm>
            <a:off x="4498848" y="4544568"/>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Keep secrets &amp; junk files out of Git</a:t>
            </a:r>
            <a:endParaRPr lang="en-US" sz="1100" dirty="0"/>
          </a:p>
        </p:txBody>
      </p:sp>
      <p:sp>
        <p:nvSpPr>
          <p:cNvPr id="29" name="Shape 22"/>
          <p:cNvSpPr/>
          <p:nvPr/>
        </p:nvSpPr>
        <p:spPr>
          <a:xfrm>
            <a:off x="7991856" y="3538728"/>
            <a:ext cx="3520440" cy="1874520"/>
          </a:xfrm>
          <a:prstGeom prst="roundRect">
            <a:avLst>
              <a:gd name="adj" fmla="val 4878"/>
            </a:avLst>
          </a:prstGeom>
          <a:solidFill>
            <a:srgbClr val="FFFFFF"/>
          </a:solidFill>
          <a:ln w="12700">
            <a:solidFill>
              <a:srgbClr val="D9DCE1"/>
            </a:solidFill>
            <a:prstDash val="solid"/>
          </a:ln>
        </p:spPr>
      </p:sp>
      <p:sp>
        <p:nvSpPr>
          <p:cNvPr id="30" name="Shape 23"/>
          <p:cNvSpPr/>
          <p:nvPr/>
        </p:nvSpPr>
        <p:spPr>
          <a:xfrm>
            <a:off x="8220456" y="3739896"/>
            <a:ext cx="731520" cy="731520"/>
          </a:xfrm>
          <a:prstGeom prst="ellipse">
            <a:avLst/>
          </a:prstGeom>
          <a:solidFill>
            <a:srgbClr val="FFF3DE"/>
          </a:solidFill>
          <a:ln/>
        </p:spPr>
      </p:sp>
      <p:pic>
        <p:nvPicPr>
          <p:cNvPr id="31" name="Image 5" descr="/home/claude/ppt4/icon_syncalt_d.png"/>
          <p:cNvPicPr>
            <a:picLocks noChangeAspect="1"/>
          </p:cNvPicPr>
          <p:nvPr/>
        </p:nvPicPr>
        <p:blipFill>
          <a:blip r:embed="rId8"/>
          <a:stretch>
            <a:fillRect/>
          </a:stretch>
        </p:blipFill>
        <p:spPr>
          <a:xfrm>
            <a:off x="8396021" y="3915461"/>
            <a:ext cx="380390" cy="380390"/>
          </a:xfrm>
          <a:prstGeom prst="rect">
            <a:avLst/>
          </a:prstGeom>
        </p:spPr>
      </p:pic>
      <p:sp>
        <p:nvSpPr>
          <p:cNvPr id="32" name="Text 24"/>
          <p:cNvSpPr/>
          <p:nvPr/>
        </p:nvSpPr>
        <p:spPr>
          <a:xfrm>
            <a:off x="9089136" y="3767328"/>
            <a:ext cx="2240280" cy="365760"/>
          </a:xfrm>
          <a:prstGeom prst="rect">
            <a:avLst/>
          </a:prstGeom>
          <a:noFill/>
          <a:ln/>
        </p:spPr>
        <p:txBody>
          <a:bodyPr wrap="square" rtlCol="0" anchor="ctr"/>
          <a:lstStyle/>
          <a:p>
            <a:pPr marL="0" indent="0">
              <a:buNone/>
            </a:pPr>
            <a:r>
              <a:rPr lang="en-US" sz="1350" b="1" dirty="0">
                <a:solidFill>
                  <a:srgbClr val="232F3E"/>
                </a:solidFill>
                <a:latin typeface="Arial" pitchFamily="34" charset="0"/>
                <a:ea typeface="Arial" pitchFamily="34" charset="-122"/>
                <a:cs typeface="Arial" pitchFamily="34" charset="-120"/>
              </a:rPr>
              <a:t>Pull Before Push</a:t>
            </a:r>
            <a:endParaRPr lang="en-US" sz="1350" dirty="0"/>
          </a:p>
        </p:txBody>
      </p:sp>
      <p:sp>
        <p:nvSpPr>
          <p:cNvPr id="33" name="Text 25"/>
          <p:cNvSpPr/>
          <p:nvPr/>
        </p:nvSpPr>
        <p:spPr>
          <a:xfrm>
            <a:off x="8220456" y="4544568"/>
            <a:ext cx="3063240" cy="777240"/>
          </a:xfrm>
          <a:prstGeom prst="rect">
            <a:avLst/>
          </a:prstGeom>
          <a:noFill/>
          <a:ln/>
        </p:spPr>
        <p:txBody>
          <a:bodyPr wrap="square" rtlCol="0" anchor="t"/>
          <a:lstStyle/>
          <a:p>
            <a:pPr marL="0" indent="0">
              <a:buNone/>
            </a:pPr>
            <a:r>
              <a:rPr lang="en-US" sz="1100" dirty="0">
                <a:solidFill>
                  <a:srgbClr val="5A6B75"/>
                </a:solidFill>
                <a:latin typeface="Calibri" pitchFamily="34" charset="0"/>
                <a:ea typeface="Calibri" pitchFamily="34" charset="-122"/>
                <a:cs typeface="Calibri" pitchFamily="34" charset="-120"/>
              </a:rPr>
              <a:t>Stay in sync, avoid conflicts</a:t>
            </a:r>
            <a:endParaRPr lang="en-US" sz="1100" dirty="0"/>
          </a:p>
        </p:txBody>
      </p:sp>
      <p:sp>
        <p:nvSpPr>
          <p:cNvPr id="34" name="Text 26"/>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5" name="Text 27"/>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Text 1"/>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HANDS-ON LAB</a:t>
            </a:r>
            <a:endParaRPr lang="en-US" sz="1200" dirty="0"/>
          </a:p>
        </p:txBody>
      </p:sp>
      <p:sp>
        <p:nvSpPr>
          <p:cNvPr id="4" name="Text 2"/>
          <p:cNvSpPr/>
          <p:nvPr/>
        </p:nvSpPr>
        <p:spPr>
          <a:xfrm>
            <a:off x="822960" y="2377440"/>
            <a:ext cx="8229600" cy="128016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Put It All Together</a:t>
            </a:r>
            <a:endParaRPr lang="en-US" sz="3600" dirty="0"/>
          </a:p>
        </p:txBody>
      </p:sp>
      <p:sp>
        <p:nvSpPr>
          <p:cNvPr id="5" name="Text 3"/>
          <p:cNvSpPr/>
          <p:nvPr/>
        </p:nvSpPr>
        <p:spPr>
          <a:xfrm>
            <a:off x="822960" y="3520440"/>
            <a:ext cx="7772400" cy="731520"/>
          </a:xfrm>
          <a:prstGeom prst="rect">
            <a:avLst/>
          </a:prstGeom>
          <a:noFill/>
          <a:ln/>
        </p:spPr>
        <p:txBody>
          <a:bodyPr wrap="square" rtlCol="0" anchor="ctr"/>
          <a:lstStyle/>
          <a:p>
            <a:pPr marL="0" indent="0">
              <a:buNone/>
            </a:pPr>
            <a:r>
              <a:rPr lang="en-US" sz="1500" i="1" dirty="0">
                <a:solidFill>
                  <a:srgbClr val="C7D1D9"/>
                </a:solidFill>
                <a:latin typeface="Calibri" pitchFamily="34" charset="0"/>
                <a:ea typeface="Calibri" pitchFamily="34" charset="-122"/>
                <a:cs typeface="Calibri" pitchFamily="34" charset="-120"/>
              </a:rPr>
              <a:t>Twelve steps, from git init to a clone on a second machine.</a:t>
            </a:r>
            <a:endParaRPr lang="en-US" sz="1500" dirty="0"/>
          </a:p>
        </p:txBody>
      </p:sp>
      <p:sp>
        <p:nvSpPr>
          <p:cNvPr id="6" name="Shape 4"/>
          <p:cNvSpPr/>
          <p:nvPr/>
        </p:nvSpPr>
        <p:spPr>
          <a:xfrm>
            <a:off x="9326880" y="2331720"/>
            <a:ext cx="2194560" cy="2194560"/>
          </a:xfrm>
          <a:prstGeom prst="ellipse">
            <a:avLst/>
          </a:prstGeom>
          <a:solidFill>
            <a:srgbClr val="161E2D"/>
          </a:solidFill>
          <a:ln/>
        </p:spPr>
      </p:sp>
      <p:pic>
        <p:nvPicPr>
          <p:cNvPr id="7" name="Image 0" descr="/home/claude/ppt4/icon_terminal_w.png"/>
          <p:cNvPicPr>
            <a:picLocks noChangeAspect="1"/>
          </p:cNvPicPr>
          <p:nvPr/>
        </p:nvPicPr>
        <p:blipFill>
          <a:blip r:embed="rId3"/>
          <a:stretch>
            <a:fillRect/>
          </a:stretch>
        </p:blipFill>
        <p:spPr>
          <a:xfrm>
            <a:off x="9853574" y="2858414"/>
            <a:ext cx="1141171" cy="1141171"/>
          </a:xfrm>
          <a:prstGeom prst="rect">
            <a:avLst/>
          </a:prstGeom>
        </p:spPr>
      </p:pic>
      <p:sp>
        <p:nvSpPr>
          <p:cNvPr id="8" name="Text 5"/>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9" name="Text 6"/>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HANDS-ON LAB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Lab Steps — Part 1: Local Git</a:t>
            </a:r>
            <a:endParaRPr lang="en-US" sz="2800" dirty="0"/>
          </a:p>
        </p:txBody>
      </p:sp>
      <p:sp>
        <p:nvSpPr>
          <p:cNvPr id="4" name="Shape 2"/>
          <p:cNvSpPr/>
          <p:nvPr/>
        </p:nvSpPr>
        <p:spPr>
          <a:xfrm>
            <a:off x="548640" y="1417320"/>
            <a:ext cx="11091672" cy="841248"/>
          </a:xfrm>
          <a:prstGeom prst="roundRect">
            <a:avLst>
              <a:gd name="adj" fmla="val 8696"/>
            </a:avLst>
          </a:prstGeom>
          <a:solidFill>
            <a:srgbClr val="FFFFFF"/>
          </a:solidFill>
          <a:ln w="12700">
            <a:solidFill>
              <a:srgbClr val="D9DCE1"/>
            </a:solidFill>
            <a:prstDash val="solid"/>
          </a:ln>
        </p:spPr>
      </p:sp>
      <p:sp>
        <p:nvSpPr>
          <p:cNvPr id="5" name="Shape 3"/>
          <p:cNvSpPr/>
          <p:nvPr/>
        </p:nvSpPr>
        <p:spPr>
          <a:xfrm>
            <a:off x="731520" y="1636776"/>
            <a:ext cx="402336" cy="402336"/>
          </a:xfrm>
          <a:prstGeom prst="ellipse">
            <a:avLst/>
          </a:prstGeom>
          <a:solidFill>
            <a:srgbClr val="FF9900"/>
          </a:solidFill>
          <a:ln/>
        </p:spPr>
      </p:sp>
      <p:sp>
        <p:nvSpPr>
          <p:cNvPr id="6" name="Text 4"/>
          <p:cNvSpPr/>
          <p:nvPr/>
        </p:nvSpPr>
        <p:spPr>
          <a:xfrm>
            <a:off x="731520" y="1636776"/>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25880" y="1490472"/>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--version</a:t>
            </a:r>
            <a:endParaRPr lang="en-US" sz="1250" dirty="0"/>
          </a:p>
        </p:txBody>
      </p:sp>
      <p:sp>
        <p:nvSpPr>
          <p:cNvPr id="8" name="Text 6"/>
          <p:cNvSpPr/>
          <p:nvPr/>
        </p:nvSpPr>
        <p:spPr>
          <a:xfrm>
            <a:off x="1325880" y="1874520"/>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Confirm Git is installed</a:t>
            </a:r>
            <a:endParaRPr lang="en-US" sz="1100" dirty="0"/>
          </a:p>
        </p:txBody>
      </p:sp>
      <p:sp>
        <p:nvSpPr>
          <p:cNvPr id="9" name="Shape 7"/>
          <p:cNvSpPr/>
          <p:nvPr/>
        </p:nvSpPr>
        <p:spPr>
          <a:xfrm>
            <a:off x="548640" y="2350008"/>
            <a:ext cx="11091672" cy="841248"/>
          </a:xfrm>
          <a:prstGeom prst="roundRect">
            <a:avLst>
              <a:gd name="adj" fmla="val 8696"/>
            </a:avLst>
          </a:prstGeom>
          <a:solidFill>
            <a:srgbClr val="FFFFFF"/>
          </a:solidFill>
          <a:ln w="12700">
            <a:solidFill>
              <a:srgbClr val="D9DCE1"/>
            </a:solidFill>
            <a:prstDash val="solid"/>
          </a:ln>
        </p:spPr>
      </p:sp>
      <p:sp>
        <p:nvSpPr>
          <p:cNvPr id="10" name="Shape 8"/>
          <p:cNvSpPr/>
          <p:nvPr/>
        </p:nvSpPr>
        <p:spPr>
          <a:xfrm>
            <a:off x="731520" y="2569464"/>
            <a:ext cx="402336" cy="402336"/>
          </a:xfrm>
          <a:prstGeom prst="ellipse">
            <a:avLst/>
          </a:prstGeom>
          <a:solidFill>
            <a:srgbClr val="FF9900"/>
          </a:solidFill>
          <a:ln/>
        </p:spPr>
      </p:sp>
      <p:sp>
        <p:nvSpPr>
          <p:cNvPr id="11" name="Text 9"/>
          <p:cNvSpPr/>
          <p:nvPr/>
        </p:nvSpPr>
        <p:spPr>
          <a:xfrm>
            <a:off x="731520" y="2569464"/>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325880" y="2423160"/>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config --global user.name "You"</a:t>
            </a:r>
            <a:endParaRPr lang="en-US" sz="1250" dirty="0"/>
          </a:p>
        </p:txBody>
      </p:sp>
      <p:sp>
        <p:nvSpPr>
          <p:cNvPr id="13" name="Text 11"/>
          <p:cNvSpPr/>
          <p:nvPr/>
        </p:nvSpPr>
        <p:spPr>
          <a:xfrm>
            <a:off x="1325880" y="2807208"/>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Set your identity (if not already done)</a:t>
            </a:r>
            <a:endParaRPr lang="en-US" sz="1100" dirty="0"/>
          </a:p>
        </p:txBody>
      </p:sp>
      <p:sp>
        <p:nvSpPr>
          <p:cNvPr id="14" name="Shape 12"/>
          <p:cNvSpPr/>
          <p:nvPr/>
        </p:nvSpPr>
        <p:spPr>
          <a:xfrm>
            <a:off x="548640" y="3282696"/>
            <a:ext cx="11091672" cy="841248"/>
          </a:xfrm>
          <a:prstGeom prst="roundRect">
            <a:avLst>
              <a:gd name="adj" fmla="val 8696"/>
            </a:avLst>
          </a:prstGeom>
          <a:solidFill>
            <a:srgbClr val="FFFFFF"/>
          </a:solidFill>
          <a:ln w="12700">
            <a:solidFill>
              <a:srgbClr val="D9DCE1"/>
            </a:solidFill>
            <a:prstDash val="solid"/>
          </a:ln>
        </p:spPr>
      </p:sp>
      <p:sp>
        <p:nvSpPr>
          <p:cNvPr id="15" name="Shape 13"/>
          <p:cNvSpPr/>
          <p:nvPr/>
        </p:nvSpPr>
        <p:spPr>
          <a:xfrm>
            <a:off x="731520" y="3502152"/>
            <a:ext cx="402336" cy="402336"/>
          </a:xfrm>
          <a:prstGeom prst="ellipse">
            <a:avLst/>
          </a:prstGeom>
          <a:solidFill>
            <a:srgbClr val="FF9900"/>
          </a:solidFill>
          <a:ln/>
        </p:spPr>
      </p:sp>
      <p:sp>
        <p:nvSpPr>
          <p:cNvPr id="16" name="Text 14"/>
          <p:cNvSpPr/>
          <p:nvPr/>
        </p:nvSpPr>
        <p:spPr>
          <a:xfrm>
            <a:off x="731520" y="3502152"/>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325880" y="3355848"/>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mkdir lab-project &amp;&amp; cd lab-project &amp;&amp; git init</a:t>
            </a:r>
            <a:endParaRPr lang="en-US" sz="1250" dirty="0"/>
          </a:p>
        </p:txBody>
      </p:sp>
      <p:sp>
        <p:nvSpPr>
          <p:cNvPr id="18" name="Text 16"/>
          <p:cNvSpPr/>
          <p:nvPr/>
        </p:nvSpPr>
        <p:spPr>
          <a:xfrm>
            <a:off x="1325880" y="3739896"/>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Create &amp; initialize a new repository</a:t>
            </a:r>
            <a:endParaRPr lang="en-US" sz="1100" dirty="0"/>
          </a:p>
        </p:txBody>
      </p:sp>
      <p:sp>
        <p:nvSpPr>
          <p:cNvPr id="19" name="Shape 17"/>
          <p:cNvSpPr/>
          <p:nvPr/>
        </p:nvSpPr>
        <p:spPr>
          <a:xfrm>
            <a:off x="548640" y="4215384"/>
            <a:ext cx="11091672" cy="841248"/>
          </a:xfrm>
          <a:prstGeom prst="roundRect">
            <a:avLst>
              <a:gd name="adj" fmla="val 8696"/>
            </a:avLst>
          </a:prstGeom>
          <a:solidFill>
            <a:srgbClr val="FFFFFF"/>
          </a:solidFill>
          <a:ln w="12700">
            <a:solidFill>
              <a:srgbClr val="D9DCE1"/>
            </a:solidFill>
            <a:prstDash val="solid"/>
          </a:ln>
        </p:spPr>
      </p:sp>
      <p:sp>
        <p:nvSpPr>
          <p:cNvPr id="20" name="Shape 18"/>
          <p:cNvSpPr/>
          <p:nvPr/>
        </p:nvSpPr>
        <p:spPr>
          <a:xfrm>
            <a:off x="731520" y="4434840"/>
            <a:ext cx="402336" cy="402336"/>
          </a:xfrm>
          <a:prstGeom prst="ellipse">
            <a:avLst/>
          </a:prstGeom>
          <a:solidFill>
            <a:srgbClr val="FF9900"/>
          </a:solidFill>
          <a:ln/>
        </p:spPr>
      </p:sp>
      <p:sp>
        <p:nvSpPr>
          <p:cNvPr id="21" name="Text 19"/>
          <p:cNvSpPr/>
          <p:nvPr/>
        </p:nvSpPr>
        <p:spPr>
          <a:xfrm>
            <a:off x="731520" y="4434840"/>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325880" y="4288536"/>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echo "# Lab Project" &gt; README.md</a:t>
            </a:r>
            <a:endParaRPr lang="en-US" sz="1250" dirty="0"/>
          </a:p>
        </p:txBody>
      </p:sp>
      <p:sp>
        <p:nvSpPr>
          <p:cNvPr id="23" name="Text 21"/>
          <p:cNvSpPr/>
          <p:nvPr/>
        </p:nvSpPr>
        <p:spPr>
          <a:xfrm>
            <a:off x="1325880" y="4672584"/>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Create a README file</a:t>
            </a:r>
            <a:endParaRPr lang="en-US" sz="1100" dirty="0"/>
          </a:p>
        </p:txBody>
      </p:sp>
      <p:sp>
        <p:nvSpPr>
          <p:cNvPr id="24" name="Shape 22"/>
          <p:cNvSpPr/>
          <p:nvPr/>
        </p:nvSpPr>
        <p:spPr>
          <a:xfrm>
            <a:off x="548640" y="5148072"/>
            <a:ext cx="11091672" cy="841248"/>
          </a:xfrm>
          <a:prstGeom prst="roundRect">
            <a:avLst>
              <a:gd name="adj" fmla="val 8696"/>
            </a:avLst>
          </a:prstGeom>
          <a:solidFill>
            <a:srgbClr val="FFFFFF"/>
          </a:solidFill>
          <a:ln w="12700">
            <a:solidFill>
              <a:srgbClr val="D9DCE1"/>
            </a:solidFill>
            <a:prstDash val="solid"/>
          </a:ln>
        </p:spPr>
      </p:sp>
      <p:sp>
        <p:nvSpPr>
          <p:cNvPr id="25" name="Shape 23"/>
          <p:cNvSpPr/>
          <p:nvPr/>
        </p:nvSpPr>
        <p:spPr>
          <a:xfrm>
            <a:off x="731520" y="5367528"/>
            <a:ext cx="402336" cy="402336"/>
          </a:xfrm>
          <a:prstGeom prst="ellipse">
            <a:avLst/>
          </a:prstGeom>
          <a:solidFill>
            <a:srgbClr val="FF9900"/>
          </a:solidFill>
          <a:ln/>
        </p:spPr>
      </p:sp>
      <p:sp>
        <p:nvSpPr>
          <p:cNvPr id="26" name="Text 24"/>
          <p:cNvSpPr/>
          <p:nvPr/>
        </p:nvSpPr>
        <p:spPr>
          <a:xfrm>
            <a:off x="731520" y="5367528"/>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1325880" y="5221224"/>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add README.md &amp;&amp; git commit -m "Initial commit"</a:t>
            </a:r>
            <a:endParaRPr lang="en-US" sz="1250" dirty="0"/>
          </a:p>
        </p:txBody>
      </p:sp>
      <p:sp>
        <p:nvSpPr>
          <p:cNvPr id="28" name="Text 26"/>
          <p:cNvSpPr/>
          <p:nvPr/>
        </p:nvSpPr>
        <p:spPr>
          <a:xfrm>
            <a:off x="1325880" y="5605272"/>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Stage and commit your first snapshot</a:t>
            </a:r>
            <a:endParaRPr lang="en-US" sz="1100" dirty="0"/>
          </a:p>
        </p:txBody>
      </p:sp>
      <p:sp>
        <p:nvSpPr>
          <p:cNvPr id="29" name="Shape 27"/>
          <p:cNvSpPr/>
          <p:nvPr/>
        </p:nvSpPr>
        <p:spPr>
          <a:xfrm>
            <a:off x="548640" y="6080760"/>
            <a:ext cx="11091672" cy="841248"/>
          </a:xfrm>
          <a:prstGeom prst="roundRect">
            <a:avLst>
              <a:gd name="adj" fmla="val 8696"/>
            </a:avLst>
          </a:prstGeom>
          <a:solidFill>
            <a:srgbClr val="FFFFFF"/>
          </a:solidFill>
          <a:ln w="12700">
            <a:solidFill>
              <a:srgbClr val="D9DCE1"/>
            </a:solidFill>
            <a:prstDash val="solid"/>
          </a:ln>
        </p:spPr>
      </p:sp>
      <p:sp>
        <p:nvSpPr>
          <p:cNvPr id="30" name="Shape 28"/>
          <p:cNvSpPr/>
          <p:nvPr/>
        </p:nvSpPr>
        <p:spPr>
          <a:xfrm>
            <a:off x="731520" y="6300216"/>
            <a:ext cx="402336" cy="402336"/>
          </a:xfrm>
          <a:prstGeom prst="ellipse">
            <a:avLst/>
          </a:prstGeom>
          <a:solidFill>
            <a:srgbClr val="FF9900"/>
          </a:solidFill>
          <a:ln/>
        </p:spPr>
      </p:sp>
      <p:sp>
        <p:nvSpPr>
          <p:cNvPr id="31" name="Text 29"/>
          <p:cNvSpPr/>
          <p:nvPr/>
        </p:nvSpPr>
        <p:spPr>
          <a:xfrm>
            <a:off x="731520" y="6300216"/>
            <a:ext cx="402336" cy="402336"/>
          </a:xfrm>
          <a:prstGeom prst="rect">
            <a:avLst/>
          </a:prstGeom>
          <a:noFill/>
          <a:ln/>
        </p:spPr>
        <p:txBody>
          <a:bodyPr wrap="square" rtlCol="0" anchor="ctr"/>
          <a:lstStyle/>
          <a:p>
            <a:pPr marL="0" indent="0" algn="ctr">
              <a:buNone/>
            </a:pPr>
            <a:r>
              <a:rPr lang="en-US" sz="1400" b="1" dirty="0">
                <a:solidFill>
                  <a:srgbClr val="232F3E"/>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1325880" y="6153912"/>
            <a:ext cx="8961120" cy="36576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switch -c feature/add-notes</a:t>
            </a:r>
            <a:endParaRPr lang="en-US" sz="1250" dirty="0"/>
          </a:p>
        </p:txBody>
      </p:sp>
      <p:sp>
        <p:nvSpPr>
          <p:cNvPr id="33" name="Text 31"/>
          <p:cNvSpPr/>
          <p:nvPr/>
        </p:nvSpPr>
        <p:spPr>
          <a:xfrm>
            <a:off x="1325880" y="6537960"/>
            <a:ext cx="896112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Create and switch to a feature branch</a:t>
            </a:r>
            <a:endParaRPr lang="en-US" sz="1100" dirty="0"/>
          </a:p>
        </p:txBody>
      </p:sp>
      <p:sp>
        <p:nvSpPr>
          <p:cNvPr id="34" name="Text 3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5" name="Text 3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HANDS-ON LAB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Lab Steps — Part 2: GitHub Sync</a:t>
            </a:r>
            <a:endParaRPr lang="en-US" sz="2800" dirty="0"/>
          </a:p>
        </p:txBody>
      </p:sp>
      <p:sp>
        <p:nvSpPr>
          <p:cNvPr id="4" name="Shape 2"/>
          <p:cNvSpPr/>
          <p:nvPr/>
        </p:nvSpPr>
        <p:spPr>
          <a:xfrm>
            <a:off x="548640" y="1417320"/>
            <a:ext cx="11091672" cy="841248"/>
          </a:xfrm>
          <a:prstGeom prst="roundRect">
            <a:avLst>
              <a:gd name="adj" fmla="val 8696"/>
            </a:avLst>
          </a:prstGeom>
          <a:solidFill>
            <a:srgbClr val="FFFFFF"/>
          </a:solidFill>
          <a:ln w="12700">
            <a:solidFill>
              <a:srgbClr val="D9DCE1"/>
            </a:solidFill>
            <a:prstDash val="solid"/>
          </a:ln>
        </p:spPr>
      </p:sp>
      <p:sp>
        <p:nvSpPr>
          <p:cNvPr id="5" name="Shape 3"/>
          <p:cNvSpPr/>
          <p:nvPr/>
        </p:nvSpPr>
        <p:spPr>
          <a:xfrm>
            <a:off x="731520" y="1636776"/>
            <a:ext cx="402336" cy="402336"/>
          </a:xfrm>
          <a:prstGeom prst="ellipse">
            <a:avLst/>
          </a:prstGeom>
          <a:solidFill>
            <a:srgbClr val="232F3E"/>
          </a:solidFill>
          <a:ln/>
        </p:spPr>
      </p:sp>
      <p:sp>
        <p:nvSpPr>
          <p:cNvPr id="6" name="Text 4"/>
          <p:cNvSpPr/>
          <p:nvPr/>
        </p:nvSpPr>
        <p:spPr>
          <a:xfrm>
            <a:off x="731520" y="1636776"/>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7" name="Text 5"/>
          <p:cNvSpPr/>
          <p:nvPr/>
        </p:nvSpPr>
        <p:spPr>
          <a:xfrm>
            <a:off x="1325880" y="1472184"/>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echo "- Learned branching" &gt;&gt; README.md</a:t>
            </a:r>
            <a:endParaRPr lang="en-US" sz="1100" dirty="0"/>
          </a:p>
        </p:txBody>
      </p:sp>
      <p:sp>
        <p:nvSpPr>
          <p:cNvPr id="8" name="Text 6"/>
          <p:cNvSpPr/>
          <p:nvPr/>
        </p:nvSpPr>
        <p:spPr>
          <a:xfrm>
            <a:off x="1325880" y="1947672"/>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Add a new line to README on your feature branch</a:t>
            </a:r>
            <a:endParaRPr lang="en-US" sz="1000" dirty="0"/>
          </a:p>
        </p:txBody>
      </p:sp>
      <p:sp>
        <p:nvSpPr>
          <p:cNvPr id="9" name="Shape 7"/>
          <p:cNvSpPr/>
          <p:nvPr/>
        </p:nvSpPr>
        <p:spPr>
          <a:xfrm>
            <a:off x="548640" y="2350008"/>
            <a:ext cx="11091672" cy="841248"/>
          </a:xfrm>
          <a:prstGeom prst="roundRect">
            <a:avLst>
              <a:gd name="adj" fmla="val 8696"/>
            </a:avLst>
          </a:prstGeom>
          <a:solidFill>
            <a:srgbClr val="FFFFFF"/>
          </a:solidFill>
          <a:ln w="12700">
            <a:solidFill>
              <a:srgbClr val="D9DCE1"/>
            </a:solidFill>
            <a:prstDash val="solid"/>
          </a:ln>
        </p:spPr>
      </p:sp>
      <p:sp>
        <p:nvSpPr>
          <p:cNvPr id="10" name="Shape 8"/>
          <p:cNvSpPr/>
          <p:nvPr/>
        </p:nvSpPr>
        <p:spPr>
          <a:xfrm>
            <a:off x="731520" y="2569464"/>
            <a:ext cx="402336" cy="402336"/>
          </a:xfrm>
          <a:prstGeom prst="ellipse">
            <a:avLst/>
          </a:prstGeom>
          <a:solidFill>
            <a:srgbClr val="232F3E"/>
          </a:solidFill>
          <a:ln/>
        </p:spPr>
      </p:sp>
      <p:sp>
        <p:nvSpPr>
          <p:cNvPr id="11" name="Text 9"/>
          <p:cNvSpPr/>
          <p:nvPr/>
        </p:nvSpPr>
        <p:spPr>
          <a:xfrm>
            <a:off x="731520" y="2569464"/>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12" name="Text 10"/>
          <p:cNvSpPr/>
          <p:nvPr/>
        </p:nvSpPr>
        <p:spPr>
          <a:xfrm>
            <a:off x="1325880" y="2404872"/>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git add . &amp;&amp; git commit -m "Add notes to README"</a:t>
            </a:r>
            <a:endParaRPr lang="en-US" sz="1100" dirty="0"/>
          </a:p>
        </p:txBody>
      </p:sp>
      <p:sp>
        <p:nvSpPr>
          <p:cNvPr id="13" name="Text 11"/>
          <p:cNvSpPr/>
          <p:nvPr/>
        </p:nvSpPr>
        <p:spPr>
          <a:xfrm>
            <a:off x="1325880" y="2880360"/>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Commit the change</a:t>
            </a:r>
            <a:endParaRPr lang="en-US" sz="1000" dirty="0"/>
          </a:p>
        </p:txBody>
      </p:sp>
      <p:sp>
        <p:nvSpPr>
          <p:cNvPr id="14" name="Shape 12"/>
          <p:cNvSpPr/>
          <p:nvPr/>
        </p:nvSpPr>
        <p:spPr>
          <a:xfrm>
            <a:off x="548640" y="3282696"/>
            <a:ext cx="11091672" cy="841248"/>
          </a:xfrm>
          <a:prstGeom prst="roundRect">
            <a:avLst>
              <a:gd name="adj" fmla="val 8696"/>
            </a:avLst>
          </a:prstGeom>
          <a:solidFill>
            <a:srgbClr val="FFFFFF"/>
          </a:solidFill>
          <a:ln w="12700">
            <a:solidFill>
              <a:srgbClr val="D9DCE1"/>
            </a:solidFill>
            <a:prstDash val="solid"/>
          </a:ln>
        </p:spPr>
      </p:sp>
      <p:sp>
        <p:nvSpPr>
          <p:cNvPr id="15" name="Shape 13"/>
          <p:cNvSpPr/>
          <p:nvPr/>
        </p:nvSpPr>
        <p:spPr>
          <a:xfrm>
            <a:off x="731520" y="3502152"/>
            <a:ext cx="402336" cy="402336"/>
          </a:xfrm>
          <a:prstGeom prst="ellipse">
            <a:avLst/>
          </a:prstGeom>
          <a:solidFill>
            <a:srgbClr val="232F3E"/>
          </a:solidFill>
          <a:ln/>
        </p:spPr>
      </p:sp>
      <p:sp>
        <p:nvSpPr>
          <p:cNvPr id="16" name="Text 14"/>
          <p:cNvSpPr/>
          <p:nvPr/>
        </p:nvSpPr>
        <p:spPr>
          <a:xfrm>
            <a:off x="731520" y="3502152"/>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17" name="Text 15"/>
          <p:cNvSpPr/>
          <p:nvPr/>
        </p:nvSpPr>
        <p:spPr>
          <a:xfrm>
            <a:off x="1325880" y="3337560"/>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git switch main &amp;&amp; git merge feature/add-notes</a:t>
            </a:r>
            <a:endParaRPr lang="en-US" sz="1100" dirty="0"/>
          </a:p>
        </p:txBody>
      </p:sp>
      <p:sp>
        <p:nvSpPr>
          <p:cNvPr id="18" name="Text 16"/>
          <p:cNvSpPr/>
          <p:nvPr/>
        </p:nvSpPr>
        <p:spPr>
          <a:xfrm>
            <a:off x="1325880" y="3813048"/>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Merge the feature branch back into main</a:t>
            </a:r>
            <a:endParaRPr lang="en-US" sz="1000" dirty="0"/>
          </a:p>
        </p:txBody>
      </p:sp>
      <p:sp>
        <p:nvSpPr>
          <p:cNvPr id="19" name="Shape 17"/>
          <p:cNvSpPr/>
          <p:nvPr/>
        </p:nvSpPr>
        <p:spPr>
          <a:xfrm>
            <a:off x="548640" y="4215384"/>
            <a:ext cx="11091672" cy="841248"/>
          </a:xfrm>
          <a:prstGeom prst="roundRect">
            <a:avLst>
              <a:gd name="adj" fmla="val 8696"/>
            </a:avLst>
          </a:prstGeom>
          <a:solidFill>
            <a:srgbClr val="FFFFFF"/>
          </a:solidFill>
          <a:ln w="12700">
            <a:solidFill>
              <a:srgbClr val="D9DCE1"/>
            </a:solidFill>
            <a:prstDash val="solid"/>
          </a:ln>
        </p:spPr>
      </p:sp>
      <p:sp>
        <p:nvSpPr>
          <p:cNvPr id="20" name="Shape 18"/>
          <p:cNvSpPr/>
          <p:nvPr/>
        </p:nvSpPr>
        <p:spPr>
          <a:xfrm>
            <a:off x="731520" y="4434840"/>
            <a:ext cx="402336" cy="402336"/>
          </a:xfrm>
          <a:prstGeom prst="ellipse">
            <a:avLst/>
          </a:prstGeom>
          <a:solidFill>
            <a:srgbClr val="232F3E"/>
          </a:solidFill>
          <a:ln/>
        </p:spPr>
      </p:sp>
      <p:sp>
        <p:nvSpPr>
          <p:cNvPr id="21" name="Text 19"/>
          <p:cNvSpPr/>
          <p:nvPr/>
        </p:nvSpPr>
        <p:spPr>
          <a:xfrm>
            <a:off x="731520" y="4434840"/>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22" name="Text 20"/>
          <p:cNvSpPr/>
          <p:nvPr/>
        </p:nvSpPr>
        <p:spPr>
          <a:xfrm>
            <a:off x="1325880" y="4270248"/>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Create a repo on github.com, then:</a:t>
            </a:r>
            <a:endParaRPr lang="en-US" sz="1100" dirty="0"/>
          </a:p>
          <a:p>
            <a:pPr marL="0" indent="0">
              <a:buNone/>
            </a:pPr>
            <a:r>
              <a:rPr lang="en-US" sz="1100" b="1" dirty="0">
                <a:solidFill>
                  <a:srgbClr val="232F3E"/>
                </a:solidFill>
                <a:latin typeface="Consolas" pitchFamily="34" charset="0"/>
                <a:ea typeface="Consolas" pitchFamily="34" charset="-122"/>
                <a:cs typeface="Consolas" pitchFamily="34" charset="-120"/>
              </a:rPr>
              <a:t>git remote add origin &lt;url&gt;</a:t>
            </a:r>
            <a:endParaRPr lang="en-US" sz="1100" dirty="0"/>
          </a:p>
        </p:txBody>
      </p:sp>
      <p:sp>
        <p:nvSpPr>
          <p:cNvPr id="23" name="Text 21"/>
          <p:cNvSpPr/>
          <p:nvPr/>
        </p:nvSpPr>
        <p:spPr>
          <a:xfrm>
            <a:off x="1325880" y="4745736"/>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Connect your local repo to GitHub</a:t>
            </a:r>
            <a:endParaRPr lang="en-US" sz="1000" dirty="0"/>
          </a:p>
        </p:txBody>
      </p:sp>
      <p:sp>
        <p:nvSpPr>
          <p:cNvPr id="24" name="Shape 22"/>
          <p:cNvSpPr/>
          <p:nvPr/>
        </p:nvSpPr>
        <p:spPr>
          <a:xfrm>
            <a:off x="548640" y="5148072"/>
            <a:ext cx="11091672" cy="841248"/>
          </a:xfrm>
          <a:prstGeom prst="roundRect">
            <a:avLst>
              <a:gd name="adj" fmla="val 8696"/>
            </a:avLst>
          </a:prstGeom>
          <a:solidFill>
            <a:srgbClr val="FFFFFF"/>
          </a:solidFill>
          <a:ln w="12700">
            <a:solidFill>
              <a:srgbClr val="D9DCE1"/>
            </a:solidFill>
            <a:prstDash val="solid"/>
          </a:ln>
        </p:spPr>
      </p:sp>
      <p:sp>
        <p:nvSpPr>
          <p:cNvPr id="25" name="Shape 23"/>
          <p:cNvSpPr/>
          <p:nvPr/>
        </p:nvSpPr>
        <p:spPr>
          <a:xfrm>
            <a:off x="731520" y="5367528"/>
            <a:ext cx="402336" cy="402336"/>
          </a:xfrm>
          <a:prstGeom prst="ellipse">
            <a:avLst/>
          </a:prstGeom>
          <a:solidFill>
            <a:srgbClr val="232F3E"/>
          </a:solidFill>
          <a:ln/>
        </p:spPr>
      </p:sp>
      <p:sp>
        <p:nvSpPr>
          <p:cNvPr id="26" name="Text 24"/>
          <p:cNvSpPr/>
          <p:nvPr/>
        </p:nvSpPr>
        <p:spPr>
          <a:xfrm>
            <a:off x="731520" y="5367528"/>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27" name="Text 25"/>
          <p:cNvSpPr/>
          <p:nvPr/>
        </p:nvSpPr>
        <p:spPr>
          <a:xfrm>
            <a:off x="1325880" y="5202936"/>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git push -u origin main</a:t>
            </a:r>
            <a:endParaRPr lang="en-US" sz="1100" dirty="0"/>
          </a:p>
        </p:txBody>
      </p:sp>
      <p:sp>
        <p:nvSpPr>
          <p:cNvPr id="28" name="Text 26"/>
          <p:cNvSpPr/>
          <p:nvPr/>
        </p:nvSpPr>
        <p:spPr>
          <a:xfrm>
            <a:off x="1325880" y="5678424"/>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Push your commits to GitHub</a:t>
            </a:r>
            <a:endParaRPr lang="en-US" sz="1000" dirty="0"/>
          </a:p>
        </p:txBody>
      </p:sp>
      <p:sp>
        <p:nvSpPr>
          <p:cNvPr id="29" name="Shape 27"/>
          <p:cNvSpPr/>
          <p:nvPr/>
        </p:nvSpPr>
        <p:spPr>
          <a:xfrm>
            <a:off x="548640" y="6080760"/>
            <a:ext cx="11091672" cy="841248"/>
          </a:xfrm>
          <a:prstGeom prst="roundRect">
            <a:avLst>
              <a:gd name="adj" fmla="val 8696"/>
            </a:avLst>
          </a:prstGeom>
          <a:solidFill>
            <a:srgbClr val="FFFFFF"/>
          </a:solidFill>
          <a:ln w="12700">
            <a:solidFill>
              <a:srgbClr val="D9DCE1"/>
            </a:solidFill>
            <a:prstDash val="solid"/>
          </a:ln>
        </p:spPr>
      </p:sp>
      <p:sp>
        <p:nvSpPr>
          <p:cNvPr id="30" name="Shape 28"/>
          <p:cNvSpPr/>
          <p:nvPr/>
        </p:nvSpPr>
        <p:spPr>
          <a:xfrm>
            <a:off x="731520" y="6300216"/>
            <a:ext cx="402336" cy="402336"/>
          </a:xfrm>
          <a:prstGeom prst="ellipse">
            <a:avLst/>
          </a:prstGeom>
          <a:solidFill>
            <a:srgbClr val="232F3E"/>
          </a:solidFill>
          <a:ln/>
        </p:spPr>
      </p:sp>
      <p:sp>
        <p:nvSpPr>
          <p:cNvPr id="31" name="Text 29"/>
          <p:cNvSpPr/>
          <p:nvPr/>
        </p:nvSpPr>
        <p:spPr>
          <a:xfrm>
            <a:off x="731520" y="6300216"/>
            <a:ext cx="402336" cy="402336"/>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32" name="Text 30"/>
          <p:cNvSpPr/>
          <p:nvPr/>
        </p:nvSpPr>
        <p:spPr>
          <a:xfrm>
            <a:off x="1325880" y="6135624"/>
            <a:ext cx="8961120" cy="457200"/>
          </a:xfrm>
          <a:prstGeom prst="rect">
            <a:avLst/>
          </a:prstGeom>
          <a:noFill/>
          <a:ln/>
        </p:spPr>
        <p:txBody>
          <a:bodyPr wrap="square" rtlCol="0" anchor="t"/>
          <a:lstStyle/>
          <a:p>
            <a:pPr marL="0" indent="0">
              <a:buNone/>
            </a:pPr>
            <a:r>
              <a:rPr lang="en-US" sz="1100" b="1" dirty="0">
                <a:solidFill>
                  <a:srgbClr val="232F3E"/>
                </a:solidFill>
                <a:latin typeface="Consolas" pitchFamily="34" charset="0"/>
                <a:ea typeface="Consolas" pitchFamily="34" charset="-122"/>
                <a:cs typeface="Consolas" pitchFamily="34" charset="-120"/>
              </a:rPr>
              <a:t>git clone &lt;url&gt;  (on a second folder/machine)</a:t>
            </a:r>
            <a:endParaRPr lang="en-US" sz="1100" dirty="0"/>
          </a:p>
          <a:p>
            <a:pPr marL="0" indent="0">
              <a:buNone/>
            </a:pPr>
            <a:r>
              <a:rPr lang="en-US" sz="1100" b="1" dirty="0">
                <a:solidFill>
                  <a:srgbClr val="232F3E"/>
                </a:solidFill>
                <a:latin typeface="Consolas" pitchFamily="34" charset="0"/>
                <a:ea typeface="Consolas" pitchFamily="34" charset="-122"/>
                <a:cs typeface="Consolas" pitchFamily="34" charset="-120"/>
              </a:rPr>
              <a:t>git pull</a:t>
            </a:r>
            <a:endParaRPr lang="en-US" sz="1100" dirty="0"/>
          </a:p>
        </p:txBody>
      </p:sp>
      <p:sp>
        <p:nvSpPr>
          <p:cNvPr id="33" name="Text 31"/>
          <p:cNvSpPr/>
          <p:nvPr/>
        </p:nvSpPr>
        <p:spPr>
          <a:xfrm>
            <a:off x="1325880" y="6611112"/>
            <a:ext cx="8961120" cy="274320"/>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Clone the repo elsewhere, then pull the latest</a:t>
            </a:r>
            <a:endParaRPr lang="en-US" sz="1000" dirty="0"/>
          </a:p>
        </p:txBody>
      </p:sp>
      <p:sp>
        <p:nvSpPr>
          <p:cNvPr id="34" name="Shape 32"/>
          <p:cNvSpPr/>
          <p:nvPr/>
        </p:nvSpPr>
        <p:spPr>
          <a:xfrm>
            <a:off x="548640" y="6080760"/>
            <a:ext cx="11091672" cy="566928"/>
          </a:xfrm>
          <a:prstGeom prst="roundRect">
            <a:avLst>
              <a:gd name="adj" fmla="val 12903"/>
            </a:avLst>
          </a:prstGeom>
          <a:solidFill>
            <a:srgbClr val="232F3E"/>
          </a:solidFill>
          <a:ln/>
        </p:spPr>
      </p:sp>
      <p:sp>
        <p:nvSpPr>
          <p:cNvPr id="35" name="Shape 33"/>
          <p:cNvSpPr/>
          <p:nvPr/>
        </p:nvSpPr>
        <p:spPr>
          <a:xfrm>
            <a:off x="704088" y="6135624"/>
            <a:ext cx="457200" cy="457200"/>
          </a:xfrm>
          <a:prstGeom prst="ellipse">
            <a:avLst/>
          </a:prstGeom>
          <a:solidFill>
            <a:srgbClr val="33455B"/>
          </a:solidFill>
          <a:ln/>
        </p:spPr>
      </p:sp>
      <p:pic>
        <p:nvPicPr>
          <p:cNvPr id="36" name="Image 0" descr="/home/claude/ppt4/icon_lightbulb_o.png"/>
          <p:cNvPicPr>
            <a:picLocks noChangeAspect="1"/>
          </p:cNvPicPr>
          <p:nvPr/>
        </p:nvPicPr>
        <p:blipFill>
          <a:blip r:embed="rId3"/>
          <a:stretch>
            <a:fillRect/>
          </a:stretch>
        </p:blipFill>
        <p:spPr>
          <a:xfrm>
            <a:off x="813816" y="6245352"/>
            <a:ext cx="237744" cy="237744"/>
          </a:xfrm>
          <a:prstGeom prst="rect">
            <a:avLst/>
          </a:prstGeom>
        </p:spPr>
      </p:pic>
      <p:sp>
        <p:nvSpPr>
          <p:cNvPr id="37" name="Text 34"/>
          <p:cNvSpPr/>
          <p:nvPr/>
        </p:nvSpPr>
        <p:spPr>
          <a:xfrm>
            <a:off x="1234440" y="608076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If push asks for a password and fails, you likely need a Personal Access Token — see the Appendix for setup steps.</a:t>
            </a:r>
            <a:endParaRPr lang="en-US" sz="1100" dirty="0"/>
          </a:p>
        </p:txBody>
      </p:sp>
      <p:sp>
        <p:nvSpPr>
          <p:cNvPr id="38" name="Text 35"/>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9" name="Text 36"/>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REAL-WORLD SCENARIO</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A Team Shipping Terraform</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marL="0" indent="0">
              <a:buNone/>
            </a:pPr>
            <a:r>
              <a:rPr lang="en-US" sz="1250" b="1" dirty="0">
                <a:solidFill>
                  <a:srgbClr val="FF9900"/>
                </a:solidFill>
                <a:latin typeface="Calibri" pitchFamily="34" charset="0"/>
                <a:ea typeface="Calibri" pitchFamily="34" charset="-122"/>
                <a:cs typeface="Calibri" pitchFamily="34" charset="-120"/>
              </a:rPr>
              <a:t>OBJECTIVE:  </a:t>
            </a:r>
            <a:r>
              <a:rPr lang="en-US" sz="1250" dirty="0">
                <a:solidFill>
                  <a:srgbClr val="E9EDF1"/>
                </a:solidFill>
                <a:latin typeface="Calibri" pitchFamily="34" charset="0"/>
                <a:ea typeface="Calibri" pitchFamily="34" charset="-122"/>
                <a:cs typeface="Calibri" pitchFamily="34" charset="-120"/>
              </a:rPr>
              <a:t>See today's full Git workflow play out on a real cloud engineering team.</a:t>
            </a:r>
            <a:endParaRPr lang="en-US" sz="1250" dirty="0"/>
          </a:p>
        </p:txBody>
      </p:sp>
      <p:sp>
        <p:nvSpPr>
          <p:cNvPr id="6" name="Shape 4"/>
          <p:cNvSpPr/>
          <p:nvPr/>
        </p:nvSpPr>
        <p:spPr>
          <a:xfrm>
            <a:off x="548640" y="1965960"/>
            <a:ext cx="1734312" cy="1737360"/>
          </a:xfrm>
          <a:prstGeom prst="roundRect">
            <a:avLst>
              <a:gd name="adj" fmla="val 4745"/>
            </a:avLst>
          </a:prstGeom>
          <a:solidFill>
            <a:srgbClr val="161E2D"/>
          </a:solidFill>
          <a:ln w="12700">
            <a:solidFill>
              <a:srgbClr val="161E2D"/>
            </a:solidFill>
            <a:prstDash val="solid"/>
          </a:ln>
        </p:spPr>
      </p:sp>
      <p:sp>
        <p:nvSpPr>
          <p:cNvPr id="7" name="Shape 5"/>
          <p:cNvSpPr/>
          <p:nvPr/>
        </p:nvSpPr>
        <p:spPr>
          <a:xfrm>
            <a:off x="982218" y="2227326"/>
            <a:ext cx="867156" cy="867156"/>
          </a:xfrm>
          <a:prstGeom prst="ellipse">
            <a:avLst/>
          </a:prstGeom>
          <a:solidFill>
            <a:srgbClr val="FFF3DE"/>
          </a:solidFill>
          <a:ln/>
        </p:spPr>
      </p:sp>
      <p:pic>
        <p:nvPicPr>
          <p:cNvPr id="8" name="Image 0" descr="/home/claude/ppt4/icon_clouddownloadalt_w.png"/>
          <p:cNvPicPr>
            <a:picLocks noChangeAspect="1"/>
          </p:cNvPicPr>
          <p:nvPr/>
        </p:nvPicPr>
        <p:blipFill>
          <a:blip r:embed="rId3"/>
          <a:stretch>
            <a:fillRect/>
          </a:stretch>
        </p:blipFill>
        <p:spPr>
          <a:xfrm>
            <a:off x="1190335" y="2435443"/>
            <a:ext cx="450921" cy="450921"/>
          </a:xfrm>
          <a:prstGeom prst="rect">
            <a:avLst/>
          </a:prstGeom>
        </p:spPr>
      </p:pic>
      <p:sp>
        <p:nvSpPr>
          <p:cNvPr id="9" name="Text 6"/>
          <p:cNvSpPr/>
          <p:nvPr/>
        </p:nvSpPr>
        <p:spPr>
          <a:xfrm>
            <a:off x="621792"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Clone repo</a:t>
            </a:r>
            <a:endParaRPr lang="en-US" sz="1050" dirty="0"/>
          </a:p>
        </p:txBody>
      </p:sp>
      <p:sp>
        <p:nvSpPr>
          <p:cNvPr id="10" name="Text 7"/>
          <p:cNvSpPr/>
          <p:nvPr/>
        </p:nvSpPr>
        <p:spPr>
          <a:xfrm>
            <a:off x="2282952" y="2606040"/>
            <a:ext cx="13716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420112" y="1965960"/>
            <a:ext cx="1734312" cy="1737360"/>
          </a:xfrm>
          <a:prstGeom prst="roundRect">
            <a:avLst>
              <a:gd name="adj" fmla="val 4745"/>
            </a:avLst>
          </a:prstGeom>
          <a:solidFill>
            <a:srgbClr val="161E2D"/>
          </a:solidFill>
          <a:ln w="12700">
            <a:solidFill>
              <a:srgbClr val="161E2D"/>
            </a:solidFill>
            <a:prstDash val="solid"/>
          </a:ln>
        </p:spPr>
      </p:sp>
      <p:sp>
        <p:nvSpPr>
          <p:cNvPr id="12" name="Shape 9"/>
          <p:cNvSpPr/>
          <p:nvPr/>
        </p:nvSpPr>
        <p:spPr>
          <a:xfrm>
            <a:off x="2853690" y="2227326"/>
            <a:ext cx="867156" cy="867156"/>
          </a:xfrm>
          <a:prstGeom prst="ellipse">
            <a:avLst/>
          </a:prstGeom>
          <a:solidFill>
            <a:srgbClr val="FFF3DE"/>
          </a:solidFill>
          <a:ln/>
        </p:spPr>
      </p:sp>
      <p:pic>
        <p:nvPicPr>
          <p:cNvPr id="13" name="Image 1" descr="/home/claude/ppt4/icon_codebranch_w.png"/>
          <p:cNvPicPr>
            <a:picLocks noChangeAspect="1"/>
          </p:cNvPicPr>
          <p:nvPr/>
        </p:nvPicPr>
        <p:blipFill>
          <a:blip r:embed="rId4"/>
          <a:stretch>
            <a:fillRect/>
          </a:stretch>
        </p:blipFill>
        <p:spPr>
          <a:xfrm>
            <a:off x="3061807" y="2435443"/>
            <a:ext cx="450921" cy="450921"/>
          </a:xfrm>
          <a:prstGeom prst="rect">
            <a:avLst/>
          </a:prstGeom>
        </p:spPr>
      </p:pic>
      <p:sp>
        <p:nvSpPr>
          <p:cNvPr id="14" name="Text 10"/>
          <p:cNvSpPr/>
          <p:nvPr/>
        </p:nvSpPr>
        <p:spPr>
          <a:xfrm>
            <a:off x="2493264"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New branch</a:t>
            </a:r>
            <a:endParaRPr lang="en-US" sz="1050" dirty="0"/>
          </a:p>
        </p:txBody>
      </p:sp>
      <p:sp>
        <p:nvSpPr>
          <p:cNvPr id="15" name="Text 11"/>
          <p:cNvSpPr/>
          <p:nvPr/>
        </p:nvSpPr>
        <p:spPr>
          <a:xfrm>
            <a:off x="4154424" y="2606040"/>
            <a:ext cx="13716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4291584" y="1965960"/>
            <a:ext cx="1734312" cy="1737360"/>
          </a:xfrm>
          <a:prstGeom prst="roundRect">
            <a:avLst>
              <a:gd name="adj" fmla="val 4745"/>
            </a:avLst>
          </a:prstGeom>
          <a:solidFill>
            <a:srgbClr val="161E2D"/>
          </a:solidFill>
          <a:ln w="12700">
            <a:solidFill>
              <a:srgbClr val="161E2D"/>
            </a:solidFill>
            <a:prstDash val="solid"/>
          </a:ln>
        </p:spPr>
      </p:sp>
      <p:sp>
        <p:nvSpPr>
          <p:cNvPr id="17" name="Shape 13"/>
          <p:cNvSpPr/>
          <p:nvPr/>
        </p:nvSpPr>
        <p:spPr>
          <a:xfrm>
            <a:off x="4725162" y="2227326"/>
            <a:ext cx="867156" cy="867156"/>
          </a:xfrm>
          <a:prstGeom prst="ellipse">
            <a:avLst/>
          </a:prstGeom>
          <a:solidFill>
            <a:srgbClr val="FFF3DE"/>
          </a:solidFill>
          <a:ln/>
        </p:spPr>
      </p:sp>
      <p:pic>
        <p:nvPicPr>
          <p:cNvPr id="18" name="Image 2" descr="/home/claude/ppt4/icon_filecode_w.png"/>
          <p:cNvPicPr>
            <a:picLocks noChangeAspect="1"/>
          </p:cNvPicPr>
          <p:nvPr/>
        </p:nvPicPr>
        <p:blipFill>
          <a:blip r:embed="rId5"/>
          <a:stretch>
            <a:fillRect/>
          </a:stretch>
        </p:blipFill>
        <p:spPr>
          <a:xfrm>
            <a:off x="4933279" y="2435443"/>
            <a:ext cx="450921" cy="450921"/>
          </a:xfrm>
          <a:prstGeom prst="rect">
            <a:avLst/>
          </a:prstGeom>
        </p:spPr>
      </p:pic>
      <p:sp>
        <p:nvSpPr>
          <p:cNvPr id="19" name="Text 14"/>
          <p:cNvSpPr/>
          <p:nvPr/>
        </p:nvSpPr>
        <p:spPr>
          <a:xfrm>
            <a:off x="4364736"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Edit .tf files</a:t>
            </a:r>
            <a:endParaRPr lang="en-US" sz="1050" dirty="0"/>
          </a:p>
        </p:txBody>
      </p:sp>
      <p:sp>
        <p:nvSpPr>
          <p:cNvPr id="20" name="Text 15"/>
          <p:cNvSpPr/>
          <p:nvPr/>
        </p:nvSpPr>
        <p:spPr>
          <a:xfrm>
            <a:off x="6025896" y="2606040"/>
            <a:ext cx="13716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1" name="Shape 16"/>
          <p:cNvSpPr/>
          <p:nvPr/>
        </p:nvSpPr>
        <p:spPr>
          <a:xfrm>
            <a:off x="6163056" y="1965960"/>
            <a:ext cx="1734312" cy="1737360"/>
          </a:xfrm>
          <a:prstGeom prst="roundRect">
            <a:avLst>
              <a:gd name="adj" fmla="val 4745"/>
            </a:avLst>
          </a:prstGeom>
          <a:solidFill>
            <a:srgbClr val="161E2D"/>
          </a:solidFill>
          <a:ln w="12700">
            <a:solidFill>
              <a:srgbClr val="161E2D"/>
            </a:solidFill>
            <a:prstDash val="solid"/>
          </a:ln>
        </p:spPr>
      </p:sp>
      <p:sp>
        <p:nvSpPr>
          <p:cNvPr id="22" name="Shape 17"/>
          <p:cNvSpPr/>
          <p:nvPr/>
        </p:nvSpPr>
        <p:spPr>
          <a:xfrm>
            <a:off x="6596634" y="2227326"/>
            <a:ext cx="867156" cy="867156"/>
          </a:xfrm>
          <a:prstGeom prst="ellipse">
            <a:avLst/>
          </a:prstGeom>
          <a:solidFill>
            <a:srgbClr val="FFF3DE"/>
          </a:solidFill>
          <a:ln/>
        </p:spPr>
      </p:sp>
      <p:pic>
        <p:nvPicPr>
          <p:cNvPr id="23" name="Image 3" descr="/home/claude/ppt4/icon_clouduploadalt_w.png"/>
          <p:cNvPicPr>
            <a:picLocks noChangeAspect="1"/>
          </p:cNvPicPr>
          <p:nvPr/>
        </p:nvPicPr>
        <p:blipFill>
          <a:blip r:embed="rId6"/>
          <a:stretch>
            <a:fillRect/>
          </a:stretch>
        </p:blipFill>
        <p:spPr>
          <a:xfrm>
            <a:off x="6804751" y="2435443"/>
            <a:ext cx="450921" cy="450921"/>
          </a:xfrm>
          <a:prstGeom prst="rect">
            <a:avLst/>
          </a:prstGeom>
        </p:spPr>
      </p:pic>
      <p:sp>
        <p:nvSpPr>
          <p:cNvPr id="24" name="Text 18"/>
          <p:cNvSpPr/>
          <p:nvPr/>
        </p:nvSpPr>
        <p:spPr>
          <a:xfrm>
            <a:off x="6236208"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Commit &amp; push</a:t>
            </a:r>
            <a:endParaRPr lang="en-US" sz="1050" dirty="0"/>
          </a:p>
        </p:txBody>
      </p:sp>
      <p:sp>
        <p:nvSpPr>
          <p:cNvPr id="25" name="Text 19"/>
          <p:cNvSpPr/>
          <p:nvPr/>
        </p:nvSpPr>
        <p:spPr>
          <a:xfrm>
            <a:off x="7897368" y="2606040"/>
            <a:ext cx="13716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6" name="Shape 20"/>
          <p:cNvSpPr/>
          <p:nvPr/>
        </p:nvSpPr>
        <p:spPr>
          <a:xfrm>
            <a:off x="8034528" y="1965960"/>
            <a:ext cx="1734312" cy="1737360"/>
          </a:xfrm>
          <a:prstGeom prst="roundRect">
            <a:avLst>
              <a:gd name="adj" fmla="val 4745"/>
            </a:avLst>
          </a:prstGeom>
          <a:solidFill>
            <a:srgbClr val="161E2D"/>
          </a:solidFill>
          <a:ln w="12700">
            <a:solidFill>
              <a:srgbClr val="161E2D"/>
            </a:solidFill>
            <a:prstDash val="solid"/>
          </a:ln>
        </p:spPr>
      </p:sp>
      <p:sp>
        <p:nvSpPr>
          <p:cNvPr id="27" name="Shape 21"/>
          <p:cNvSpPr/>
          <p:nvPr/>
        </p:nvSpPr>
        <p:spPr>
          <a:xfrm>
            <a:off x="8468106" y="2227326"/>
            <a:ext cx="867156" cy="867156"/>
          </a:xfrm>
          <a:prstGeom prst="ellipse">
            <a:avLst/>
          </a:prstGeom>
          <a:solidFill>
            <a:srgbClr val="FFF3DE"/>
          </a:solidFill>
          <a:ln/>
        </p:spPr>
      </p:sp>
      <p:pic>
        <p:nvPicPr>
          <p:cNvPr id="28" name="Image 4" descr="/home/claude/ppt4/icon_clipboardcheck_w.png"/>
          <p:cNvPicPr>
            <a:picLocks noChangeAspect="1"/>
          </p:cNvPicPr>
          <p:nvPr/>
        </p:nvPicPr>
        <p:blipFill>
          <a:blip r:embed="rId7"/>
          <a:stretch>
            <a:fillRect/>
          </a:stretch>
        </p:blipFill>
        <p:spPr>
          <a:xfrm>
            <a:off x="8676223" y="2435443"/>
            <a:ext cx="450921" cy="450921"/>
          </a:xfrm>
          <a:prstGeom prst="rect">
            <a:avLst/>
          </a:prstGeom>
        </p:spPr>
      </p:pic>
      <p:sp>
        <p:nvSpPr>
          <p:cNvPr id="29" name="Text 22"/>
          <p:cNvSpPr/>
          <p:nvPr/>
        </p:nvSpPr>
        <p:spPr>
          <a:xfrm>
            <a:off x="8107680"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Open PR</a:t>
            </a:r>
            <a:endParaRPr lang="en-US" sz="1050" dirty="0"/>
          </a:p>
        </p:txBody>
      </p:sp>
      <p:sp>
        <p:nvSpPr>
          <p:cNvPr id="30" name="Text 23"/>
          <p:cNvSpPr/>
          <p:nvPr/>
        </p:nvSpPr>
        <p:spPr>
          <a:xfrm>
            <a:off x="9768840" y="2606040"/>
            <a:ext cx="137160" cy="457200"/>
          </a:xfrm>
          <a:prstGeom prst="rect">
            <a:avLst/>
          </a:prstGeom>
          <a:noFill/>
          <a:ln/>
        </p:spPr>
        <p:txBody>
          <a:bodyPr wrap="square"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1" name="Shape 24"/>
          <p:cNvSpPr/>
          <p:nvPr/>
        </p:nvSpPr>
        <p:spPr>
          <a:xfrm>
            <a:off x="9906000" y="1965960"/>
            <a:ext cx="1734312" cy="1737360"/>
          </a:xfrm>
          <a:prstGeom prst="roundRect">
            <a:avLst>
              <a:gd name="adj" fmla="val 4745"/>
            </a:avLst>
          </a:prstGeom>
          <a:solidFill>
            <a:srgbClr val="161E2D"/>
          </a:solidFill>
          <a:ln w="12700">
            <a:solidFill>
              <a:srgbClr val="161E2D"/>
            </a:solidFill>
            <a:prstDash val="solid"/>
          </a:ln>
        </p:spPr>
      </p:sp>
      <p:sp>
        <p:nvSpPr>
          <p:cNvPr id="32" name="Shape 25"/>
          <p:cNvSpPr/>
          <p:nvPr/>
        </p:nvSpPr>
        <p:spPr>
          <a:xfrm>
            <a:off x="10339578" y="2227326"/>
            <a:ext cx="867156" cy="867156"/>
          </a:xfrm>
          <a:prstGeom prst="ellipse">
            <a:avLst/>
          </a:prstGeom>
          <a:solidFill>
            <a:srgbClr val="FFF3DE"/>
          </a:solidFill>
          <a:ln/>
        </p:spPr>
      </p:sp>
      <p:pic>
        <p:nvPicPr>
          <p:cNvPr id="33" name="Image 5" descr="/home/claude/ppt4/icon_checkcircle_w.png"/>
          <p:cNvPicPr>
            <a:picLocks noChangeAspect="1"/>
          </p:cNvPicPr>
          <p:nvPr/>
        </p:nvPicPr>
        <p:blipFill>
          <a:blip r:embed="rId8"/>
          <a:stretch>
            <a:fillRect/>
          </a:stretch>
        </p:blipFill>
        <p:spPr>
          <a:xfrm>
            <a:off x="10547695" y="2435443"/>
            <a:ext cx="450921" cy="450921"/>
          </a:xfrm>
          <a:prstGeom prst="rect">
            <a:avLst/>
          </a:prstGeom>
        </p:spPr>
      </p:pic>
      <p:sp>
        <p:nvSpPr>
          <p:cNvPr id="34" name="Text 26"/>
          <p:cNvSpPr/>
          <p:nvPr/>
        </p:nvSpPr>
        <p:spPr>
          <a:xfrm>
            <a:off x="9979152" y="3147365"/>
            <a:ext cx="1588008" cy="521208"/>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Merge to main</a:t>
            </a:r>
            <a:endParaRPr lang="en-US" sz="1050" dirty="0"/>
          </a:p>
        </p:txBody>
      </p:sp>
      <p:sp>
        <p:nvSpPr>
          <p:cNvPr id="35" name="Text 27"/>
          <p:cNvSpPr/>
          <p:nvPr/>
        </p:nvSpPr>
        <p:spPr>
          <a:xfrm>
            <a:off x="822960" y="4114800"/>
            <a:ext cx="10515600" cy="731520"/>
          </a:xfrm>
          <a:prstGeom prst="rect">
            <a:avLst/>
          </a:prstGeom>
          <a:noFill/>
          <a:ln/>
        </p:spPr>
        <p:txBody>
          <a:bodyPr wrap="square" rtlCol="0" anchor="ctr"/>
          <a:lstStyle/>
          <a:p>
            <a:pPr marL="0" indent="0" algn="ctr">
              <a:buNone/>
            </a:pPr>
            <a:r>
              <a:rPr lang="en-US" sz="1350" i="1" dirty="0">
                <a:solidFill>
                  <a:srgbClr val="C7D1D9"/>
                </a:solidFill>
                <a:latin typeface="Calibri" pitchFamily="34" charset="0"/>
                <a:ea typeface="Calibri" pitchFamily="34" charset="-122"/>
                <a:cs typeface="Calibri" pitchFamily="34" charset="-120"/>
              </a:rPr>
              <a:t>Three engineers, one shared AWS infrastructure repo — each on their own branch, reviewing each other's Terraform changes before anything reaches production.</a:t>
            </a:r>
            <a:endParaRPr lang="en-US" sz="1350" dirty="0"/>
          </a:p>
        </p:txBody>
      </p:sp>
      <p:sp>
        <p:nvSpPr>
          <p:cNvPr id="36" name="Shape 28"/>
          <p:cNvSpPr/>
          <p:nvPr/>
        </p:nvSpPr>
        <p:spPr>
          <a:xfrm>
            <a:off x="548640" y="5120640"/>
            <a:ext cx="11091672" cy="566928"/>
          </a:xfrm>
          <a:prstGeom prst="roundRect">
            <a:avLst>
              <a:gd name="adj" fmla="val 12903"/>
            </a:avLst>
          </a:prstGeom>
          <a:solidFill>
            <a:srgbClr val="232F3E"/>
          </a:solidFill>
          <a:ln/>
        </p:spPr>
      </p:sp>
      <p:sp>
        <p:nvSpPr>
          <p:cNvPr id="37" name="Shape 29"/>
          <p:cNvSpPr/>
          <p:nvPr/>
        </p:nvSpPr>
        <p:spPr>
          <a:xfrm>
            <a:off x="704088" y="5175504"/>
            <a:ext cx="457200" cy="457200"/>
          </a:xfrm>
          <a:prstGeom prst="ellipse">
            <a:avLst/>
          </a:prstGeom>
          <a:solidFill>
            <a:srgbClr val="33455B"/>
          </a:solidFill>
          <a:ln/>
        </p:spPr>
      </p:sp>
      <p:pic>
        <p:nvPicPr>
          <p:cNvPr id="38" name="Image 6" descr="/home/claude/ppt4/icon_lightbulb_o.png"/>
          <p:cNvPicPr>
            <a:picLocks noChangeAspect="1"/>
          </p:cNvPicPr>
          <p:nvPr/>
        </p:nvPicPr>
        <p:blipFill>
          <a:blip r:embed="rId9"/>
          <a:stretch>
            <a:fillRect/>
          </a:stretch>
        </p:blipFill>
        <p:spPr>
          <a:xfrm>
            <a:off x="813816" y="5285232"/>
            <a:ext cx="237744" cy="237744"/>
          </a:xfrm>
          <a:prstGeom prst="rect">
            <a:avLst/>
          </a:prstGeom>
        </p:spPr>
      </p:pic>
      <p:sp>
        <p:nvSpPr>
          <p:cNvPr id="39" name="Text 30"/>
          <p:cNvSpPr/>
          <p:nvPr/>
        </p:nvSpPr>
        <p:spPr>
          <a:xfrm>
            <a:off x="1234440" y="512064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This exact workflow — branch, PR, review, merge — is how real infrastructure changes get made safely at almost every company.</a:t>
            </a:r>
            <a:endParaRPr lang="en-US" sz="1100" dirty="0"/>
          </a:p>
        </p:txBody>
      </p:sp>
      <p:sp>
        <p:nvSpPr>
          <p:cNvPr id="40" name="Text 31"/>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41" name="Text 32"/>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COMMON BEGINNER MISTAKES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Avoid These Early Pitfalls</a:t>
            </a:r>
            <a:endParaRPr lang="en-US" sz="2800" dirty="0"/>
          </a:p>
        </p:txBody>
      </p:sp>
      <p:sp>
        <p:nvSpPr>
          <p:cNvPr id="4" name="Shape 2"/>
          <p:cNvSpPr/>
          <p:nvPr/>
        </p:nvSpPr>
        <p:spPr>
          <a:xfrm>
            <a:off x="548640" y="1463040"/>
            <a:ext cx="3520440" cy="1691640"/>
          </a:xfrm>
          <a:prstGeom prst="roundRect">
            <a:avLst>
              <a:gd name="adj" fmla="val 5405"/>
            </a:avLst>
          </a:prstGeom>
          <a:solidFill>
            <a:srgbClr val="FBEAE5"/>
          </a:solidFill>
          <a:ln w="12700">
            <a:solidFill>
              <a:srgbClr val="E5533D"/>
            </a:solidFill>
            <a:prstDash val="solid"/>
          </a:ln>
        </p:spPr>
      </p:sp>
      <p:sp>
        <p:nvSpPr>
          <p:cNvPr id="5" name="Shape 3"/>
          <p:cNvSpPr/>
          <p:nvPr/>
        </p:nvSpPr>
        <p:spPr>
          <a:xfrm>
            <a:off x="800100" y="1623060"/>
            <a:ext cx="685800" cy="685800"/>
          </a:xfrm>
          <a:prstGeom prst="ellipse">
            <a:avLst/>
          </a:prstGeom>
          <a:solidFill>
            <a:srgbClr val="F6D2C7"/>
          </a:solidFill>
          <a:ln/>
        </p:spPr>
      </p:sp>
      <p:pic>
        <p:nvPicPr>
          <p:cNvPr id="6" name="Image 0" descr="/home/claude/ppt4/icon_trashalt_d.png"/>
          <p:cNvPicPr>
            <a:picLocks noChangeAspect="1"/>
          </p:cNvPicPr>
          <p:nvPr/>
        </p:nvPicPr>
        <p:blipFill>
          <a:blip r:embed="rId3"/>
          <a:stretch>
            <a:fillRect/>
          </a:stretch>
        </p:blipFill>
        <p:spPr>
          <a:xfrm>
            <a:off x="964692" y="1787652"/>
            <a:ext cx="356616" cy="356616"/>
          </a:xfrm>
          <a:prstGeom prst="rect">
            <a:avLst/>
          </a:prstGeom>
        </p:spPr>
      </p:pic>
      <p:sp>
        <p:nvSpPr>
          <p:cNvPr id="7" name="Text 4"/>
          <p:cNvSpPr/>
          <p:nvPr/>
        </p:nvSpPr>
        <p:spPr>
          <a:xfrm>
            <a:off x="1600200" y="164592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Forgetting git add</a:t>
            </a:r>
            <a:endParaRPr lang="en-US" sz="1200" dirty="0"/>
          </a:p>
        </p:txBody>
      </p:sp>
      <p:sp>
        <p:nvSpPr>
          <p:cNvPr id="8" name="Text 5"/>
          <p:cNvSpPr/>
          <p:nvPr/>
        </p:nvSpPr>
        <p:spPr>
          <a:xfrm>
            <a:off x="731520" y="242316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Editing files but never staging them before commit</a:t>
            </a:r>
            <a:endParaRPr lang="en-US" sz="1000" dirty="0"/>
          </a:p>
        </p:txBody>
      </p:sp>
      <p:sp>
        <p:nvSpPr>
          <p:cNvPr id="9" name="Shape 6"/>
          <p:cNvSpPr/>
          <p:nvPr/>
        </p:nvSpPr>
        <p:spPr>
          <a:xfrm>
            <a:off x="4270248" y="1463040"/>
            <a:ext cx="3520440" cy="1691640"/>
          </a:xfrm>
          <a:prstGeom prst="roundRect">
            <a:avLst>
              <a:gd name="adj" fmla="val 5405"/>
            </a:avLst>
          </a:prstGeom>
          <a:solidFill>
            <a:srgbClr val="FBEAE5"/>
          </a:solidFill>
          <a:ln w="12700">
            <a:solidFill>
              <a:srgbClr val="E5533D"/>
            </a:solidFill>
            <a:prstDash val="solid"/>
          </a:ln>
        </p:spPr>
      </p:sp>
      <p:sp>
        <p:nvSpPr>
          <p:cNvPr id="10" name="Shape 7"/>
          <p:cNvSpPr/>
          <p:nvPr/>
        </p:nvSpPr>
        <p:spPr>
          <a:xfrm>
            <a:off x="4521708" y="1623060"/>
            <a:ext cx="685800" cy="685800"/>
          </a:xfrm>
          <a:prstGeom prst="ellipse">
            <a:avLst/>
          </a:prstGeom>
          <a:solidFill>
            <a:srgbClr val="F6D2C7"/>
          </a:solidFill>
          <a:ln/>
        </p:spPr>
      </p:sp>
      <p:pic>
        <p:nvPicPr>
          <p:cNvPr id="11" name="Image 1" descr="/home/claude/ppt4/icon_eyeslash_d.png"/>
          <p:cNvPicPr>
            <a:picLocks noChangeAspect="1"/>
          </p:cNvPicPr>
          <p:nvPr/>
        </p:nvPicPr>
        <p:blipFill>
          <a:blip r:embed="rId4"/>
          <a:stretch>
            <a:fillRect/>
          </a:stretch>
        </p:blipFill>
        <p:spPr>
          <a:xfrm>
            <a:off x="4686300" y="1787652"/>
            <a:ext cx="356616" cy="356616"/>
          </a:xfrm>
          <a:prstGeom prst="rect">
            <a:avLst/>
          </a:prstGeom>
        </p:spPr>
      </p:pic>
      <p:sp>
        <p:nvSpPr>
          <p:cNvPr id="12" name="Text 8"/>
          <p:cNvSpPr/>
          <p:nvPr/>
        </p:nvSpPr>
        <p:spPr>
          <a:xfrm>
            <a:off x="5321808" y="164592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Committing Secrets</a:t>
            </a:r>
            <a:endParaRPr lang="en-US" sz="1200" dirty="0"/>
          </a:p>
        </p:txBody>
      </p:sp>
      <p:sp>
        <p:nvSpPr>
          <p:cNvPr id="13" name="Text 9"/>
          <p:cNvSpPr/>
          <p:nvPr/>
        </p:nvSpPr>
        <p:spPr>
          <a:xfrm>
            <a:off x="4453128" y="242316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Accidentally pushing API keys or passwords</a:t>
            </a:r>
            <a:endParaRPr lang="en-US" sz="1000" dirty="0"/>
          </a:p>
        </p:txBody>
      </p:sp>
      <p:sp>
        <p:nvSpPr>
          <p:cNvPr id="14" name="Shape 10"/>
          <p:cNvSpPr/>
          <p:nvPr/>
        </p:nvSpPr>
        <p:spPr>
          <a:xfrm>
            <a:off x="7991856" y="1463040"/>
            <a:ext cx="3520440" cy="1691640"/>
          </a:xfrm>
          <a:prstGeom prst="roundRect">
            <a:avLst>
              <a:gd name="adj" fmla="val 5405"/>
            </a:avLst>
          </a:prstGeom>
          <a:solidFill>
            <a:srgbClr val="FBEAE5"/>
          </a:solidFill>
          <a:ln w="12700">
            <a:solidFill>
              <a:srgbClr val="E5533D"/>
            </a:solidFill>
            <a:prstDash val="solid"/>
          </a:ln>
        </p:spPr>
      </p:sp>
      <p:sp>
        <p:nvSpPr>
          <p:cNvPr id="15" name="Shape 11"/>
          <p:cNvSpPr/>
          <p:nvPr/>
        </p:nvSpPr>
        <p:spPr>
          <a:xfrm>
            <a:off x="8243316" y="1623060"/>
            <a:ext cx="685800" cy="685800"/>
          </a:xfrm>
          <a:prstGeom prst="ellipse">
            <a:avLst/>
          </a:prstGeom>
          <a:solidFill>
            <a:srgbClr val="F6D2C7"/>
          </a:solidFill>
          <a:ln/>
        </p:spPr>
      </p:sp>
      <p:pic>
        <p:nvPicPr>
          <p:cNvPr id="16" name="Image 2" descr="/home/claude/ppt4/icon_codebranch_d.png"/>
          <p:cNvPicPr>
            <a:picLocks noChangeAspect="1"/>
          </p:cNvPicPr>
          <p:nvPr/>
        </p:nvPicPr>
        <p:blipFill>
          <a:blip r:embed="rId5"/>
          <a:stretch>
            <a:fillRect/>
          </a:stretch>
        </p:blipFill>
        <p:spPr>
          <a:xfrm>
            <a:off x="8407908" y="1787652"/>
            <a:ext cx="356616" cy="356616"/>
          </a:xfrm>
          <a:prstGeom prst="rect">
            <a:avLst/>
          </a:prstGeom>
        </p:spPr>
      </p:pic>
      <p:sp>
        <p:nvSpPr>
          <p:cNvPr id="17" name="Text 12"/>
          <p:cNvSpPr/>
          <p:nvPr/>
        </p:nvSpPr>
        <p:spPr>
          <a:xfrm>
            <a:off x="9043416" y="164592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Working Directly on main</a:t>
            </a:r>
            <a:endParaRPr lang="en-US" sz="1200" dirty="0"/>
          </a:p>
        </p:txBody>
      </p:sp>
      <p:sp>
        <p:nvSpPr>
          <p:cNvPr id="18" name="Text 13"/>
          <p:cNvSpPr/>
          <p:nvPr/>
        </p:nvSpPr>
        <p:spPr>
          <a:xfrm>
            <a:off x="8174736" y="242316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Making risky changes with no safety branch</a:t>
            </a:r>
            <a:endParaRPr lang="en-US" sz="1000" dirty="0"/>
          </a:p>
        </p:txBody>
      </p:sp>
      <p:sp>
        <p:nvSpPr>
          <p:cNvPr id="19" name="Shape 14"/>
          <p:cNvSpPr/>
          <p:nvPr/>
        </p:nvSpPr>
        <p:spPr>
          <a:xfrm>
            <a:off x="548640" y="3337560"/>
            <a:ext cx="3520440" cy="1691640"/>
          </a:xfrm>
          <a:prstGeom prst="roundRect">
            <a:avLst>
              <a:gd name="adj" fmla="val 5405"/>
            </a:avLst>
          </a:prstGeom>
          <a:solidFill>
            <a:srgbClr val="FBEAE5"/>
          </a:solidFill>
          <a:ln w="12700">
            <a:solidFill>
              <a:srgbClr val="E5533D"/>
            </a:solidFill>
            <a:prstDash val="solid"/>
          </a:ln>
        </p:spPr>
      </p:sp>
      <p:sp>
        <p:nvSpPr>
          <p:cNvPr id="20" name="Shape 15"/>
          <p:cNvSpPr/>
          <p:nvPr/>
        </p:nvSpPr>
        <p:spPr>
          <a:xfrm>
            <a:off x="800100" y="3497580"/>
            <a:ext cx="685800" cy="685800"/>
          </a:xfrm>
          <a:prstGeom prst="ellipse">
            <a:avLst/>
          </a:prstGeom>
          <a:solidFill>
            <a:srgbClr val="F6D2C7"/>
          </a:solidFill>
          <a:ln/>
        </p:spPr>
      </p:sp>
      <p:pic>
        <p:nvPicPr>
          <p:cNvPr id="21" name="Image 3" descr="/home/claude/ppt4/icon_edit_d.png"/>
          <p:cNvPicPr>
            <a:picLocks noChangeAspect="1"/>
          </p:cNvPicPr>
          <p:nvPr/>
        </p:nvPicPr>
        <p:blipFill>
          <a:blip r:embed="rId6"/>
          <a:stretch>
            <a:fillRect/>
          </a:stretch>
        </p:blipFill>
        <p:spPr>
          <a:xfrm>
            <a:off x="964692" y="3662172"/>
            <a:ext cx="356616" cy="356616"/>
          </a:xfrm>
          <a:prstGeom prst="rect">
            <a:avLst/>
          </a:prstGeom>
        </p:spPr>
      </p:pic>
      <p:sp>
        <p:nvSpPr>
          <p:cNvPr id="22" name="Text 16"/>
          <p:cNvSpPr/>
          <p:nvPr/>
        </p:nvSpPr>
        <p:spPr>
          <a:xfrm>
            <a:off x="1600200" y="352044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Poor Commit Messages</a:t>
            </a:r>
            <a:endParaRPr lang="en-US" sz="1200" dirty="0"/>
          </a:p>
        </p:txBody>
      </p:sp>
      <p:sp>
        <p:nvSpPr>
          <p:cNvPr id="23" name="Text 17"/>
          <p:cNvSpPr/>
          <p:nvPr/>
        </p:nvSpPr>
        <p:spPr>
          <a:xfrm>
            <a:off x="731520" y="429768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“fix” or “update” tell nobody anything useful</a:t>
            </a:r>
            <a:endParaRPr lang="en-US" sz="1000" dirty="0"/>
          </a:p>
        </p:txBody>
      </p:sp>
      <p:sp>
        <p:nvSpPr>
          <p:cNvPr id="24" name="Shape 18"/>
          <p:cNvSpPr/>
          <p:nvPr/>
        </p:nvSpPr>
        <p:spPr>
          <a:xfrm>
            <a:off x="4270248" y="3337560"/>
            <a:ext cx="3520440" cy="1691640"/>
          </a:xfrm>
          <a:prstGeom prst="roundRect">
            <a:avLst>
              <a:gd name="adj" fmla="val 5405"/>
            </a:avLst>
          </a:prstGeom>
          <a:solidFill>
            <a:srgbClr val="FBEAE5"/>
          </a:solidFill>
          <a:ln w="12700">
            <a:solidFill>
              <a:srgbClr val="E5533D"/>
            </a:solidFill>
            <a:prstDash val="solid"/>
          </a:ln>
        </p:spPr>
      </p:sp>
      <p:sp>
        <p:nvSpPr>
          <p:cNvPr id="25" name="Shape 19"/>
          <p:cNvSpPr/>
          <p:nvPr/>
        </p:nvSpPr>
        <p:spPr>
          <a:xfrm>
            <a:off x="4521708" y="3497580"/>
            <a:ext cx="685800" cy="685800"/>
          </a:xfrm>
          <a:prstGeom prst="ellipse">
            <a:avLst/>
          </a:prstGeom>
          <a:solidFill>
            <a:srgbClr val="F6D2C7"/>
          </a:solidFill>
          <a:ln/>
        </p:spPr>
      </p:sp>
      <p:pic>
        <p:nvPicPr>
          <p:cNvPr id="26" name="Image 4" descr="/home/claude/ppt4/icon_exclamationcircle_d.png"/>
          <p:cNvPicPr>
            <a:picLocks noChangeAspect="1"/>
          </p:cNvPicPr>
          <p:nvPr/>
        </p:nvPicPr>
        <p:blipFill>
          <a:blip r:embed="rId7"/>
          <a:stretch>
            <a:fillRect/>
          </a:stretch>
        </p:blipFill>
        <p:spPr>
          <a:xfrm>
            <a:off x="4686300" y="3662172"/>
            <a:ext cx="356616" cy="356616"/>
          </a:xfrm>
          <a:prstGeom prst="rect">
            <a:avLst/>
          </a:prstGeom>
        </p:spPr>
      </p:pic>
      <p:sp>
        <p:nvSpPr>
          <p:cNvPr id="27" name="Text 20"/>
          <p:cNvSpPr/>
          <p:nvPr/>
        </p:nvSpPr>
        <p:spPr>
          <a:xfrm>
            <a:off x="5321808" y="352044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Fear of Merge Conflicts</a:t>
            </a:r>
            <a:endParaRPr lang="en-US" sz="1200" dirty="0"/>
          </a:p>
        </p:txBody>
      </p:sp>
      <p:sp>
        <p:nvSpPr>
          <p:cNvPr id="28" name="Text 21"/>
          <p:cNvSpPr/>
          <p:nvPr/>
        </p:nvSpPr>
        <p:spPr>
          <a:xfrm>
            <a:off x="4453128" y="429768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Avoiding branches entirely to dodge conflicts</a:t>
            </a:r>
            <a:endParaRPr lang="en-US" sz="1000" dirty="0"/>
          </a:p>
        </p:txBody>
      </p:sp>
      <p:sp>
        <p:nvSpPr>
          <p:cNvPr id="29" name="Shape 22"/>
          <p:cNvSpPr/>
          <p:nvPr/>
        </p:nvSpPr>
        <p:spPr>
          <a:xfrm>
            <a:off x="7991856" y="3337560"/>
            <a:ext cx="3520440" cy="1691640"/>
          </a:xfrm>
          <a:prstGeom prst="roundRect">
            <a:avLst>
              <a:gd name="adj" fmla="val 5405"/>
            </a:avLst>
          </a:prstGeom>
          <a:solidFill>
            <a:srgbClr val="FBEAE5"/>
          </a:solidFill>
          <a:ln w="12700">
            <a:solidFill>
              <a:srgbClr val="E5533D"/>
            </a:solidFill>
            <a:prstDash val="solid"/>
          </a:ln>
        </p:spPr>
      </p:sp>
      <p:sp>
        <p:nvSpPr>
          <p:cNvPr id="30" name="Shape 23"/>
          <p:cNvSpPr/>
          <p:nvPr/>
        </p:nvSpPr>
        <p:spPr>
          <a:xfrm>
            <a:off x="8243316" y="3497580"/>
            <a:ext cx="685800" cy="685800"/>
          </a:xfrm>
          <a:prstGeom prst="ellipse">
            <a:avLst/>
          </a:prstGeom>
          <a:solidFill>
            <a:srgbClr val="F6D2C7"/>
          </a:solidFill>
          <a:ln/>
        </p:spPr>
      </p:sp>
      <p:pic>
        <p:nvPicPr>
          <p:cNvPr id="31" name="Image 5" descr="/home/claude/ppt4/icon_syncalt_d.png"/>
          <p:cNvPicPr>
            <a:picLocks noChangeAspect="1"/>
          </p:cNvPicPr>
          <p:nvPr/>
        </p:nvPicPr>
        <p:blipFill>
          <a:blip r:embed="rId8"/>
          <a:stretch>
            <a:fillRect/>
          </a:stretch>
        </p:blipFill>
        <p:spPr>
          <a:xfrm>
            <a:off x="8407908" y="3662172"/>
            <a:ext cx="356616" cy="356616"/>
          </a:xfrm>
          <a:prstGeom prst="rect">
            <a:avLst/>
          </a:prstGeom>
        </p:spPr>
      </p:pic>
      <p:sp>
        <p:nvSpPr>
          <p:cNvPr id="32" name="Text 24"/>
          <p:cNvSpPr/>
          <p:nvPr/>
        </p:nvSpPr>
        <p:spPr>
          <a:xfrm>
            <a:off x="9043416" y="3520440"/>
            <a:ext cx="2286000" cy="457200"/>
          </a:xfrm>
          <a:prstGeom prst="rect">
            <a:avLst/>
          </a:prstGeom>
          <a:noFill/>
          <a:ln/>
        </p:spPr>
        <p:txBody>
          <a:bodyPr wrap="square" rtlCol="0" anchor="t"/>
          <a:lstStyle/>
          <a:p>
            <a:pPr marL="0" indent="0">
              <a:buNone/>
            </a:pPr>
            <a:r>
              <a:rPr lang="en-US" sz="1200" b="1" dirty="0">
                <a:solidFill>
                  <a:srgbClr val="C0392B"/>
                </a:solidFill>
                <a:latin typeface="Arial" pitchFamily="34" charset="0"/>
                <a:ea typeface="Arial" pitchFamily="34" charset="-122"/>
                <a:cs typeface="Arial" pitchFamily="34" charset="-120"/>
              </a:rPr>
              <a:t>Not Pulling First</a:t>
            </a:r>
            <a:endParaRPr lang="en-US" sz="1200" dirty="0"/>
          </a:p>
        </p:txBody>
      </p:sp>
      <p:sp>
        <p:nvSpPr>
          <p:cNvPr id="33" name="Text 25"/>
          <p:cNvSpPr/>
          <p:nvPr/>
        </p:nvSpPr>
        <p:spPr>
          <a:xfrm>
            <a:off x="8174736" y="4297680"/>
            <a:ext cx="3154680" cy="640080"/>
          </a:xfrm>
          <a:prstGeom prst="rect">
            <a:avLst/>
          </a:prstGeom>
          <a:noFill/>
          <a:ln/>
        </p:spPr>
        <p:txBody>
          <a:bodyPr wrap="square" rtlCol="0" anchor="t"/>
          <a:lstStyle/>
          <a:p>
            <a:pPr marL="0" indent="0">
              <a:buNone/>
            </a:pPr>
            <a:r>
              <a:rPr lang="en-US" sz="1000" dirty="0">
                <a:solidFill>
                  <a:srgbClr val="16191F"/>
                </a:solidFill>
                <a:latin typeface="Calibri" pitchFamily="34" charset="0"/>
                <a:ea typeface="Calibri" pitchFamily="34" charset="-122"/>
                <a:cs typeface="Calibri" pitchFamily="34" charset="-120"/>
              </a:rPr>
              <a:t>Pushing without syncing, causing avoidable conflicts</a:t>
            </a:r>
            <a:endParaRPr lang="en-US" sz="1000" dirty="0"/>
          </a:p>
        </p:txBody>
      </p:sp>
      <p:sp>
        <p:nvSpPr>
          <p:cNvPr id="34" name="Text 26"/>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35" name="Text 27"/>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What We Covered Today</a:t>
            </a:r>
            <a:endParaRPr lang="en-US" sz="2800" dirty="0"/>
          </a:p>
        </p:txBody>
      </p:sp>
      <p:sp>
        <p:nvSpPr>
          <p:cNvPr id="4" name="Shape 2"/>
          <p:cNvSpPr/>
          <p:nvPr/>
        </p:nvSpPr>
        <p:spPr>
          <a:xfrm>
            <a:off x="548640" y="1554480"/>
            <a:ext cx="11091672" cy="658368"/>
          </a:xfrm>
          <a:prstGeom prst="roundRect">
            <a:avLst>
              <a:gd name="adj" fmla="val 9722"/>
            </a:avLst>
          </a:prstGeom>
          <a:solidFill>
            <a:srgbClr val="161E2D"/>
          </a:solidFill>
          <a:ln/>
        </p:spPr>
      </p:sp>
      <p:sp>
        <p:nvSpPr>
          <p:cNvPr id="5" name="Shape 3"/>
          <p:cNvSpPr/>
          <p:nvPr/>
        </p:nvSpPr>
        <p:spPr>
          <a:xfrm>
            <a:off x="859536" y="1691640"/>
            <a:ext cx="384048" cy="384048"/>
          </a:xfrm>
          <a:prstGeom prst="ellipse">
            <a:avLst/>
          </a:prstGeom>
          <a:solidFill>
            <a:srgbClr val="2E3B4E"/>
          </a:solidFill>
          <a:ln/>
        </p:spPr>
      </p:sp>
      <p:pic>
        <p:nvPicPr>
          <p:cNvPr id="6" name="Image 0" descr="/home/claude/ppt4/icon_checkcircle_o.png"/>
          <p:cNvPicPr>
            <a:picLocks noChangeAspect="1"/>
          </p:cNvPicPr>
          <p:nvPr/>
        </p:nvPicPr>
        <p:blipFill>
          <a:blip r:embed="rId3"/>
          <a:stretch>
            <a:fillRect/>
          </a:stretch>
        </p:blipFill>
        <p:spPr>
          <a:xfrm>
            <a:off x="951708" y="1783812"/>
            <a:ext cx="199705" cy="199705"/>
          </a:xfrm>
          <a:prstGeom prst="rect">
            <a:avLst/>
          </a:prstGeom>
        </p:spPr>
      </p:pic>
      <p:sp>
        <p:nvSpPr>
          <p:cNvPr id="7" name="Text 4"/>
          <p:cNvSpPr/>
          <p:nvPr/>
        </p:nvSpPr>
        <p:spPr>
          <a:xfrm>
            <a:off x="1417320" y="1554480"/>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Version control solves lost files, no history, and team conflicts</a:t>
            </a:r>
            <a:endParaRPr lang="en-US" sz="1350" dirty="0"/>
          </a:p>
        </p:txBody>
      </p:sp>
      <p:sp>
        <p:nvSpPr>
          <p:cNvPr id="8" name="Shape 5"/>
          <p:cNvSpPr/>
          <p:nvPr/>
        </p:nvSpPr>
        <p:spPr>
          <a:xfrm>
            <a:off x="548640" y="2313432"/>
            <a:ext cx="11091672" cy="658368"/>
          </a:xfrm>
          <a:prstGeom prst="roundRect">
            <a:avLst>
              <a:gd name="adj" fmla="val 9722"/>
            </a:avLst>
          </a:prstGeom>
          <a:solidFill>
            <a:srgbClr val="161E2D"/>
          </a:solidFill>
          <a:ln/>
        </p:spPr>
      </p:sp>
      <p:sp>
        <p:nvSpPr>
          <p:cNvPr id="9" name="Shape 6"/>
          <p:cNvSpPr/>
          <p:nvPr/>
        </p:nvSpPr>
        <p:spPr>
          <a:xfrm>
            <a:off x="859536" y="2450592"/>
            <a:ext cx="384048" cy="384048"/>
          </a:xfrm>
          <a:prstGeom prst="ellipse">
            <a:avLst/>
          </a:prstGeom>
          <a:solidFill>
            <a:srgbClr val="2E3B4E"/>
          </a:solidFill>
          <a:ln/>
        </p:spPr>
      </p:sp>
      <p:pic>
        <p:nvPicPr>
          <p:cNvPr id="10" name="Image 1" descr="/home/claude/ppt4/icon_checkcircle_o.png"/>
          <p:cNvPicPr>
            <a:picLocks noChangeAspect="1"/>
          </p:cNvPicPr>
          <p:nvPr/>
        </p:nvPicPr>
        <p:blipFill>
          <a:blip r:embed="rId3"/>
          <a:stretch>
            <a:fillRect/>
          </a:stretch>
        </p:blipFill>
        <p:spPr>
          <a:xfrm>
            <a:off x="951708" y="2542764"/>
            <a:ext cx="199705" cy="199705"/>
          </a:xfrm>
          <a:prstGeom prst="rect">
            <a:avLst/>
          </a:prstGeom>
        </p:spPr>
      </p:pic>
      <p:sp>
        <p:nvSpPr>
          <p:cNvPr id="11" name="Text 7"/>
          <p:cNvSpPr/>
          <p:nvPr/>
        </p:nvSpPr>
        <p:spPr>
          <a:xfrm>
            <a:off x="1417320" y="2313432"/>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Git tracks snapshots locally: add → commit → log</a:t>
            </a:r>
            <a:endParaRPr lang="en-US" sz="1350" dirty="0"/>
          </a:p>
        </p:txBody>
      </p:sp>
      <p:sp>
        <p:nvSpPr>
          <p:cNvPr id="12" name="Shape 8"/>
          <p:cNvSpPr/>
          <p:nvPr/>
        </p:nvSpPr>
        <p:spPr>
          <a:xfrm>
            <a:off x="548640" y="3072384"/>
            <a:ext cx="11091672" cy="658368"/>
          </a:xfrm>
          <a:prstGeom prst="roundRect">
            <a:avLst>
              <a:gd name="adj" fmla="val 9722"/>
            </a:avLst>
          </a:prstGeom>
          <a:solidFill>
            <a:srgbClr val="161E2D"/>
          </a:solidFill>
          <a:ln/>
        </p:spPr>
      </p:sp>
      <p:sp>
        <p:nvSpPr>
          <p:cNvPr id="13" name="Shape 9"/>
          <p:cNvSpPr/>
          <p:nvPr/>
        </p:nvSpPr>
        <p:spPr>
          <a:xfrm>
            <a:off x="859536" y="3209544"/>
            <a:ext cx="384048" cy="384048"/>
          </a:xfrm>
          <a:prstGeom prst="ellipse">
            <a:avLst/>
          </a:prstGeom>
          <a:solidFill>
            <a:srgbClr val="2E3B4E"/>
          </a:solidFill>
          <a:ln/>
        </p:spPr>
      </p:sp>
      <p:pic>
        <p:nvPicPr>
          <p:cNvPr id="14" name="Image 2" descr="/home/claude/ppt4/icon_checkcircle_o.png"/>
          <p:cNvPicPr>
            <a:picLocks noChangeAspect="1"/>
          </p:cNvPicPr>
          <p:nvPr/>
        </p:nvPicPr>
        <p:blipFill>
          <a:blip r:embed="rId3"/>
          <a:stretch>
            <a:fillRect/>
          </a:stretch>
        </p:blipFill>
        <p:spPr>
          <a:xfrm>
            <a:off x="951708" y="3301716"/>
            <a:ext cx="199705" cy="199705"/>
          </a:xfrm>
          <a:prstGeom prst="rect">
            <a:avLst/>
          </a:prstGeom>
        </p:spPr>
      </p:pic>
      <p:sp>
        <p:nvSpPr>
          <p:cNvPr id="15" name="Text 10"/>
          <p:cNvSpPr/>
          <p:nvPr/>
        </p:nvSpPr>
        <p:spPr>
          <a:xfrm>
            <a:off x="1417320" y="3072384"/>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Branches let you experiment safely; merges bring work back together</a:t>
            </a:r>
            <a:endParaRPr lang="en-US" sz="1350" dirty="0"/>
          </a:p>
        </p:txBody>
      </p:sp>
      <p:sp>
        <p:nvSpPr>
          <p:cNvPr id="16" name="Shape 11"/>
          <p:cNvSpPr/>
          <p:nvPr/>
        </p:nvSpPr>
        <p:spPr>
          <a:xfrm>
            <a:off x="548640" y="3831336"/>
            <a:ext cx="11091672" cy="658368"/>
          </a:xfrm>
          <a:prstGeom prst="roundRect">
            <a:avLst>
              <a:gd name="adj" fmla="val 9722"/>
            </a:avLst>
          </a:prstGeom>
          <a:solidFill>
            <a:srgbClr val="161E2D"/>
          </a:solidFill>
          <a:ln/>
        </p:spPr>
      </p:sp>
      <p:sp>
        <p:nvSpPr>
          <p:cNvPr id="17" name="Shape 12"/>
          <p:cNvSpPr/>
          <p:nvPr/>
        </p:nvSpPr>
        <p:spPr>
          <a:xfrm>
            <a:off x="859536" y="3968496"/>
            <a:ext cx="384048" cy="384048"/>
          </a:xfrm>
          <a:prstGeom prst="ellipse">
            <a:avLst/>
          </a:prstGeom>
          <a:solidFill>
            <a:srgbClr val="2E3B4E"/>
          </a:solidFill>
          <a:ln/>
        </p:spPr>
      </p:sp>
      <p:pic>
        <p:nvPicPr>
          <p:cNvPr id="18" name="Image 3" descr="/home/claude/ppt4/icon_checkcircle_o.png"/>
          <p:cNvPicPr>
            <a:picLocks noChangeAspect="1"/>
          </p:cNvPicPr>
          <p:nvPr/>
        </p:nvPicPr>
        <p:blipFill>
          <a:blip r:embed="rId3"/>
          <a:stretch>
            <a:fillRect/>
          </a:stretch>
        </p:blipFill>
        <p:spPr>
          <a:xfrm>
            <a:off x="951708" y="4060668"/>
            <a:ext cx="199705" cy="199705"/>
          </a:xfrm>
          <a:prstGeom prst="rect">
            <a:avLst/>
          </a:prstGeom>
        </p:spPr>
      </p:pic>
      <p:sp>
        <p:nvSpPr>
          <p:cNvPr id="19" name="Text 13"/>
          <p:cNvSpPr/>
          <p:nvPr/>
        </p:nvSpPr>
        <p:spPr>
          <a:xfrm>
            <a:off x="1417320" y="3831336"/>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GitHub hosts your repos in the cloud: push, pull, clone, fork</a:t>
            </a:r>
            <a:endParaRPr lang="en-US" sz="1350" dirty="0"/>
          </a:p>
        </p:txBody>
      </p:sp>
      <p:sp>
        <p:nvSpPr>
          <p:cNvPr id="20" name="Shape 14"/>
          <p:cNvSpPr/>
          <p:nvPr/>
        </p:nvSpPr>
        <p:spPr>
          <a:xfrm>
            <a:off x="548640" y="4590288"/>
            <a:ext cx="11091672" cy="658368"/>
          </a:xfrm>
          <a:prstGeom prst="roundRect">
            <a:avLst>
              <a:gd name="adj" fmla="val 9722"/>
            </a:avLst>
          </a:prstGeom>
          <a:solidFill>
            <a:srgbClr val="161E2D"/>
          </a:solidFill>
          <a:ln/>
        </p:spPr>
      </p:sp>
      <p:sp>
        <p:nvSpPr>
          <p:cNvPr id="21" name="Shape 15"/>
          <p:cNvSpPr/>
          <p:nvPr/>
        </p:nvSpPr>
        <p:spPr>
          <a:xfrm>
            <a:off x="859536" y="4727448"/>
            <a:ext cx="384048" cy="384048"/>
          </a:xfrm>
          <a:prstGeom prst="ellipse">
            <a:avLst/>
          </a:prstGeom>
          <a:solidFill>
            <a:srgbClr val="2E3B4E"/>
          </a:solidFill>
          <a:ln/>
        </p:spPr>
      </p:sp>
      <p:pic>
        <p:nvPicPr>
          <p:cNvPr id="22" name="Image 4" descr="/home/claude/ppt4/icon_checkcircle_o.png"/>
          <p:cNvPicPr>
            <a:picLocks noChangeAspect="1"/>
          </p:cNvPicPr>
          <p:nvPr/>
        </p:nvPicPr>
        <p:blipFill>
          <a:blip r:embed="rId3"/>
          <a:stretch>
            <a:fillRect/>
          </a:stretch>
        </p:blipFill>
        <p:spPr>
          <a:xfrm>
            <a:off x="951708" y="4819620"/>
            <a:ext cx="199705" cy="199705"/>
          </a:xfrm>
          <a:prstGeom prst="rect">
            <a:avLst/>
          </a:prstGeom>
        </p:spPr>
      </p:pic>
      <p:sp>
        <p:nvSpPr>
          <p:cNvPr id="23" name="Text 16"/>
          <p:cNvSpPr/>
          <p:nvPr/>
        </p:nvSpPr>
        <p:spPr>
          <a:xfrm>
            <a:off x="1417320" y="4590288"/>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Pull Requests add review before code reaches main</a:t>
            </a:r>
            <a:endParaRPr lang="en-US" sz="1350" dirty="0"/>
          </a:p>
        </p:txBody>
      </p:sp>
      <p:sp>
        <p:nvSpPr>
          <p:cNvPr id="24" name="Shape 17"/>
          <p:cNvSpPr/>
          <p:nvPr/>
        </p:nvSpPr>
        <p:spPr>
          <a:xfrm>
            <a:off x="548640" y="5349240"/>
            <a:ext cx="11091672" cy="658368"/>
          </a:xfrm>
          <a:prstGeom prst="roundRect">
            <a:avLst>
              <a:gd name="adj" fmla="val 9722"/>
            </a:avLst>
          </a:prstGeom>
          <a:solidFill>
            <a:srgbClr val="161E2D"/>
          </a:solidFill>
          <a:ln/>
        </p:spPr>
      </p:sp>
      <p:sp>
        <p:nvSpPr>
          <p:cNvPr id="25" name="Shape 18"/>
          <p:cNvSpPr/>
          <p:nvPr/>
        </p:nvSpPr>
        <p:spPr>
          <a:xfrm>
            <a:off x="859536" y="5486400"/>
            <a:ext cx="384048" cy="384048"/>
          </a:xfrm>
          <a:prstGeom prst="ellipse">
            <a:avLst/>
          </a:prstGeom>
          <a:solidFill>
            <a:srgbClr val="2E3B4E"/>
          </a:solidFill>
          <a:ln/>
        </p:spPr>
      </p:sp>
      <p:pic>
        <p:nvPicPr>
          <p:cNvPr id="26" name="Image 5" descr="/home/claude/ppt4/icon_checkcircle_o.png"/>
          <p:cNvPicPr>
            <a:picLocks noChangeAspect="1"/>
          </p:cNvPicPr>
          <p:nvPr/>
        </p:nvPicPr>
        <p:blipFill>
          <a:blip r:embed="rId3"/>
          <a:stretch>
            <a:fillRect/>
          </a:stretch>
        </p:blipFill>
        <p:spPr>
          <a:xfrm>
            <a:off x="951708" y="5578572"/>
            <a:ext cx="199705" cy="199705"/>
          </a:xfrm>
          <a:prstGeom prst="rect">
            <a:avLst/>
          </a:prstGeom>
        </p:spPr>
      </p:pic>
      <p:sp>
        <p:nvSpPr>
          <p:cNvPr id="27" name="Text 19"/>
          <p:cNvSpPr/>
          <p:nvPr/>
        </p:nvSpPr>
        <p:spPr>
          <a:xfrm>
            <a:off x="1417320" y="5349240"/>
            <a:ext cx="9966960" cy="658368"/>
          </a:xfrm>
          <a:prstGeom prst="rect">
            <a:avLst/>
          </a:prstGeom>
          <a:noFill/>
          <a:ln/>
        </p:spPr>
        <p:txBody>
          <a:bodyPr wrap="square" rtlCol="0" anchor="ctr"/>
          <a:lstStyle/>
          <a:p>
            <a:pPr marL="0" indent="0">
              <a:buNone/>
            </a:pPr>
            <a:r>
              <a:rPr lang="en-US" sz="1350" dirty="0">
                <a:solidFill>
                  <a:srgbClr val="E9EDF1"/>
                </a:solidFill>
                <a:latin typeface="Calibri" pitchFamily="34" charset="0"/>
                <a:ea typeface="Calibri" pitchFamily="34" charset="-122"/>
                <a:cs typeface="Calibri" pitchFamily="34" charset="-120"/>
              </a:rPr>
              <a:t>This exact workflow powers Terraform, CI/CD, and every DevOps pipeline</a:t>
            </a:r>
            <a:endParaRPr lang="en-US" sz="1350" dirty="0"/>
          </a:p>
        </p:txBody>
      </p:sp>
      <p:sp>
        <p:nvSpPr>
          <p:cNvPr id="28" name="Text 20"/>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29" name="Text 21"/>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Quiz — Questions 1–5</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problem does version control primarily solve?</a:t>
            </a:r>
            <a:endParaRPr lang="en-US" sz="140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is the difference between Git and GitHub?</a:t>
            </a:r>
            <a:endParaRPr lang="en-US" sz="140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Which command turns a folder into a Git repository?</a:t>
            </a:r>
            <a:endParaRPr lang="en-US" sz="140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does git add actually do?</a:t>
            </a:r>
            <a:endParaRPr lang="en-US" sz="140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does a commit represent?</a:t>
            </a:r>
            <a:endParaRPr lang="en-US" sz="1400" dirty="0"/>
          </a:p>
        </p:txBody>
      </p:sp>
      <p:sp>
        <p:nvSpPr>
          <p:cNvPr id="24" name="Text 2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Quiz — Questions 6–10</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is the purpose of a feature branch?</a:t>
            </a:r>
            <a:endParaRPr lang="en-US" sz="140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causes a merge conflict?</a:t>
            </a:r>
            <a:endParaRPr lang="en-US" sz="140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does git push actually do?</a:t>
            </a:r>
            <a:endParaRPr lang="en-US" sz="140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What's the difference between git pull and git fetch?</a:t>
            </a:r>
            <a:endParaRPr lang="en-US" sz="140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When would you fork a repository instead of cloning it?</a:t>
            </a:r>
            <a:endParaRPr lang="en-US" sz="1400" dirty="0"/>
          </a:p>
        </p:txBody>
      </p:sp>
      <p:sp>
        <p:nvSpPr>
          <p:cNvPr id="24" name="Text 2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Quiz — Questions 11–15</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is a Pull Request, and why does it matter?</a:t>
            </a:r>
            <a:endParaRPr lang="en-US" sz="140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Name two things a .gitignore file should typically exclude.</a:t>
            </a:r>
            <a:endParaRPr lang="en-US" sz="140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13</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Why is 'fixed stuff' considered a bad commit message?</a:t>
            </a:r>
            <a:endParaRPr lang="en-US" sz="140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14</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Why do cloud engineers store Terraform code in Git?</a:t>
            </a:r>
            <a:endParaRPr lang="en-US" sz="140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marL="0" indent="0">
              <a:buNone/>
            </a:pPr>
            <a:r>
              <a:rPr lang="en-US" sz="1400" dirty="0">
                <a:solidFill>
                  <a:srgbClr val="16191F"/>
                </a:solidFill>
                <a:latin typeface="Calibri" pitchFamily="34" charset="0"/>
                <a:ea typeface="Calibri" pitchFamily="34" charset="-122"/>
                <a:cs typeface="Calibri" pitchFamily="34" charset="-120"/>
              </a:rPr>
              <a:t>What should you do if you accidentally push a secret to GitHub?</a:t>
            </a:r>
            <a:endParaRPr lang="en-US" sz="1400" dirty="0"/>
          </a:p>
        </p:txBody>
      </p:sp>
      <p:sp>
        <p:nvSpPr>
          <p:cNvPr id="24" name="Text 2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FFFFFF"/>
                </a:solidFill>
                <a:latin typeface="Arial" pitchFamily="34" charset="0"/>
                <a:ea typeface="Arial" pitchFamily="34" charset="-122"/>
                <a:cs typeface="Arial" pitchFamily="34" charset="-120"/>
              </a:rPr>
              <a:t>Quiz — Answer Key</a:t>
            </a:r>
            <a:endParaRPr lang="en-US" sz="2800" dirty="0"/>
          </a:p>
        </p:txBody>
      </p:sp>
      <p:sp>
        <p:nvSpPr>
          <p:cNvPr id="4" name="Shape 2"/>
          <p:cNvSpPr/>
          <p:nvPr/>
        </p:nvSpPr>
        <p:spPr>
          <a:xfrm>
            <a:off x="548640" y="1371600"/>
            <a:ext cx="3520440" cy="658368"/>
          </a:xfrm>
          <a:prstGeom prst="roundRect">
            <a:avLst>
              <a:gd name="adj" fmla="val 9722"/>
            </a:avLst>
          </a:prstGeom>
          <a:solidFill>
            <a:srgbClr val="161E2D"/>
          </a:solidFill>
          <a:ln/>
        </p:spPr>
      </p:sp>
      <p:sp>
        <p:nvSpPr>
          <p:cNvPr id="5" name="Text 3"/>
          <p:cNvSpPr/>
          <p:nvPr/>
        </p:nvSpPr>
        <p:spPr>
          <a:xfrm>
            <a:off x="731520" y="1371600"/>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 Losing files, no history, and conflicting copies</a:t>
            </a:r>
            <a:endParaRPr lang="en-US" sz="1050" dirty="0"/>
          </a:p>
        </p:txBody>
      </p:sp>
      <p:sp>
        <p:nvSpPr>
          <p:cNvPr id="6" name="Shape 4"/>
          <p:cNvSpPr/>
          <p:nvPr/>
        </p:nvSpPr>
        <p:spPr>
          <a:xfrm>
            <a:off x="4270248" y="1371600"/>
            <a:ext cx="3520440" cy="658368"/>
          </a:xfrm>
          <a:prstGeom prst="roundRect">
            <a:avLst>
              <a:gd name="adj" fmla="val 9722"/>
            </a:avLst>
          </a:prstGeom>
          <a:solidFill>
            <a:srgbClr val="161E2D"/>
          </a:solidFill>
          <a:ln/>
        </p:spPr>
      </p:sp>
      <p:sp>
        <p:nvSpPr>
          <p:cNvPr id="7" name="Text 5"/>
          <p:cNvSpPr/>
          <p:nvPr/>
        </p:nvSpPr>
        <p:spPr>
          <a:xfrm>
            <a:off x="4453128" y="1371600"/>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2. Git = local tool; GitHub = cloud hosting for Git repos</a:t>
            </a:r>
            <a:endParaRPr lang="en-US" sz="1050" dirty="0"/>
          </a:p>
        </p:txBody>
      </p:sp>
      <p:sp>
        <p:nvSpPr>
          <p:cNvPr id="8" name="Shape 6"/>
          <p:cNvSpPr/>
          <p:nvPr/>
        </p:nvSpPr>
        <p:spPr>
          <a:xfrm>
            <a:off x="7991856" y="1371600"/>
            <a:ext cx="3520440" cy="658368"/>
          </a:xfrm>
          <a:prstGeom prst="roundRect">
            <a:avLst>
              <a:gd name="adj" fmla="val 9722"/>
            </a:avLst>
          </a:prstGeom>
          <a:solidFill>
            <a:srgbClr val="161E2D"/>
          </a:solidFill>
          <a:ln/>
        </p:spPr>
      </p:sp>
      <p:sp>
        <p:nvSpPr>
          <p:cNvPr id="9" name="Text 7"/>
          <p:cNvSpPr/>
          <p:nvPr/>
        </p:nvSpPr>
        <p:spPr>
          <a:xfrm>
            <a:off x="8174736" y="1371600"/>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3. git init</a:t>
            </a:r>
            <a:endParaRPr lang="en-US" sz="1050" dirty="0"/>
          </a:p>
        </p:txBody>
      </p:sp>
      <p:sp>
        <p:nvSpPr>
          <p:cNvPr id="10" name="Shape 8"/>
          <p:cNvSpPr/>
          <p:nvPr/>
        </p:nvSpPr>
        <p:spPr>
          <a:xfrm>
            <a:off x="548640" y="2121408"/>
            <a:ext cx="3520440" cy="658368"/>
          </a:xfrm>
          <a:prstGeom prst="roundRect">
            <a:avLst>
              <a:gd name="adj" fmla="val 9722"/>
            </a:avLst>
          </a:prstGeom>
          <a:solidFill>
            <a:srgbClr val="161E2D"/>
          </a:solidFill>
          <a:ln/>
        </p:spPr>
      </p:sp>
      <p:sp>
        <p:nvSpPr>
          <p:cNvPr id="11" name="Text 9"/>
          <p:cNvSpPr/>
          <p:nvPr/>
        </p:nvSpPr>
        <p:spPr>
          <a:xfrm>
            <a:off x="731520" y="2121408"/>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4. Stages a file, marking it ready for the next commit</a:t>
            </a:r>
            <a:endParaRPr lang="en-US" sz="1050" dirty="0"/>
          </a:p>
        </p:txBody>
      </p:sp>
      <p:sp>
        <p:nvSpPr>
          <p:cNvPr id="12" name="Shape 10"/>
          <p:cNvSpPr/>
          <p:nvPr/>
        </p:nvSpPr>
        <p:spPr>
          <a:xfrm>
            <a:off x="4270248" y="2121408"/>
            <a:ext cx="3520440" cy="658368"/>
          </a:xfrm>
          <a:prstGeom prst="roundRect">
            <a:avLst>
              <a:gd name="adj" fmla="val 9722"/>
            </a:avLst>
          </a:prstGeom>
          <a:solidFill>
            <a:srgbClr val="161E2D"/>
          </a:solidFill>
          <a:ln/>
        </p:spPr>
      </p:sp>
      <p:sp>
        <p:nvSpPr>
          <p:cNvPr id="13" name="Text 11"/>
          <p:cNvSpPr/>
          <p:nvPr/>
        </p:nvSpPr>
        <p:spPr>
          <a:xfrm>
            <a:off x="4453128" y="2121408"/>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5. A permanent, labeled snapshot of your project</a:t>
            </a:r>
            <a:endParaRPr lang="en-US" sz="1050" dirty="0"/>
          </a:p>
        </p:txBody>
      </p:sp>
      <p:sp>
        <p:nvSpPr>
          <p:cNvPr id="14" name="Shape 12"/>
          <p:cNvSpPr/>
          <p:nvPr/>
        </p:nvSpPr>
        <p:spPr>
          <a:xfrm>
            <a:off x="7991856" y="2121408"/>
            <a:ext cx="3520440" cy="658368"/>
          </a:xfrm>
          <a:prstGeom prst="roundRect">
            <a:avLst>
              <a:gd name="adj" fmla="val 9722"/>
            </a:avLst>
          </a:prstGeom>
          <a:solidFill>
            <a:srgbClr val="161E2D"/>
          </a:solidFill>
          <a:ln/>
        </p:spPr>
      </p:sp>
      <p:sp>
        <p:nvSpPr>
          <p:cNvPr id="15" name="Text 13"/>
          <p:cNvSpPr/>
          <p:nvPr/>
        </p:nvSpPr>
        <p:spPr>
          <a:xfrm>
            <a:off x="8174736" y="2121408"/>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6. Build/test something new without touching main</a:t>
            </a:r>
            <a:endParaRPr lang="en-US" sz="1050" dirty="0"/>
          </a:p>
        </p:txBody>
      </p:sp>
      <p:sp>
        <p:nvSpPr>
          <p:cNvPr id="16" name="Shape 14"/>
          <p:cNvSpPr/>
          <p:nvPr/>
        </p:nvSpPr>
        <p:spPr>
          <a:xfrm>
            <a:off x="548640" y="2871216"/>
            <a:ext cx="3520440" cy="658368"/>
          </a:xfrm>
          <a:prstGeom prst="roundRect">
            <a:avLst>
              <a:gd name="adj" fmla="val 9722"/>
            </a:avLst>
          </a:prstGeom>
          <a:solidFill>
            <a:srgbClr val="161E2D"/>
          </a:solidFill>
          <a:ln/>
        </p:spPr>
      </p:sp>
      <p:sp>
        <p:nvSpPr>
          <p:cNvPr id="17" name="Text 15"/>
          <p:cNvSpPr/>
          <p:nvPr/>
        </p:nvSpPr>
        <p:spPr>
          <a:xfrm>
            <a:off x="731520" y="2871216"/>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7. Two branches changed the same line of the same file</a:t>
            </a:r>
            <a:endParaRPr lang="en-US" sz="1050" dirty="0"/>
          </a:p>
        </p:txBody>
      </p:sp>
      <p:sp>
        <p:nvSpPr>
          <p:cNvPr id="18" name="Shape 16"/>
          <p:cNvSpPr/>
          <p:nvPr/>
        </p:nvSpPr>
        <p:spPr>
          <a:xfrm>
            <a:off x="4270248" y="2871216"/>
            <a:ext cx="3520440" cy="658368"/>
          </a:xfrm>
          <a:prstGeom prst="roundRect">
            <a:avLst>
              <a:gd name="adj" fmla="val 9722"/>
            </a:avLst>
          </a:prstGeom>
          <a:solidFill>
            <a:srgbClr val="161E2D"/>
          </a:solidFill>
          <a:ln/>
        </p:spPr>
      </p:sp>
      <p:sp>
        <p:nvSpPr>
          <p:cNvPr id="19" name="Text 17"/>
          <p:cNvSpPr/>
          <p:nvPr/>
        </p:nvSpPr>
        <p:spPr>
          <a:xfrm>
            <a:off x="4453128" y="2871216"/>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8. Uploads your local commits to GitHub</a:t>
            </a:r>
            <a:endParaRPr lang="en-US" sz="1050" dirty="0"/>
          </a:p>
        </p:txBody>
      </p:sp>
      <p:sp>
        <p:nvSpPr>
          <p:cNvPr id="20" name="Shape 18"/>
          <p:cNvSpPr/>
          <p:nvPr/>
        </p:nvSpPr>
        <p:spPr>
          <a:xfrm>
            <a:off x="7991856" y="2871216"/>
            <a:ext cx="3520440" cy="658368"/>
          </a:xfrm>
          <a:prstGeom prst="roundRect">
            <a:avLst>
              <a:gd name="adj" fmla="val 9722"/>
            </a:avLst>
          </a:prstGeom>
          <a:solidFill>
            <a:srgbClr val="161E2D"/>
          </a:solidFill>
          <a:ln/>
        </p:spPr>
      </p:sp>
      <p:sp>
        <p:nvSpPr>
          <p:cNvPr id="21" name="Text 19"/>
          <p:cNvSpPr/>
          <p:nvPr/>
        </p:nvSpPr>
        <p:spPr>
          <a:xfrm>
            <a:off x="8174736" y="2871216"/>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9. pull merges automatically; fetch downloads only</a:t>
            </a:r>
            <a:endParaRPr lang="en-US" sz="1050" dirty="0"/>
          </a:p>
        </p:txBody>
      </p:sp>
      <p:sp>
        <p:nvSpPr>
          <p:cNvPr id="22" name="Shape 20"/>
          <p:cNvSpPr/>
          <p:nvPr/>
        </p:nvSpPr>
        <p:spPr>
          <a:xfrm>
            <a:off x="548640" y="3621024"/>
            <a:ext cx="3520440" cy="658368"/>
          </a:xfrm>
          <a:prstGeom prst="roundRect">
            <a:avLst>
              <a:gd name="adj" fmla="val 9722"/>
            </a:avLst>
          </a:prstGeom>
          <a:solidFill>
            <a:srgbClr val="161E2D"/>
          </a:solidFill>
          <a:ln/>
        </p:spPr>
      </p:sp>
      <p:sp>
        <p:nvSpPr>
          <p:cNvPr id="23" name="Text 21"/>
          <p:cNvSpPr/>
          <p:nvPr/>
        </p:nvSpPr>
        <p:spPr>
          <a:xfrm>
            <a:off x="731520" y="3621024"/>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10. When you don't own / can't write directly to the repo</a:t>
            </a:r>
            <a:endParaRPr lang="en-US" sz="1050" dirty="0"/>
          </a:p>
        </p:txBody>
      </p:sp>
      <p:sp>
        <p:nvSpPr>
          <p:cNvPr id="24" name="Shape 22"/>
          <p:cNvSpPr/>
          <p:nvPr/>
        </p:nvSpPr>
        <p:spPr>
          <a:xfrm>
            <a:off x="4270248" y="3621024"/>
            <a:ext cx="3520440" cy="658368"/>
          </a:xfrm>
          <a:prstGeom prst="roundRect">
            <a:avLst>
              <a:gd name="adj" fmla="val 9722"/>
            </a:avLst>
          </a:prstGeom>
          <a:solidFill>
            <a:srgbClr val="161E2D"/>
          </a:solidFill>
          <a:ln/>
        </p:spPr>
      </p:sp>
      <p:sp>
        <p:nvSpPr>
          <p:cNvPr id="25" name="Text 23"/>
          <p:cNvSpPr/>
          <p:nvPr/>
        </p:nvSpPr>
        <p:spPr>
          <a:xfrm>
            <a:off x="4453128" y="3621024"/>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11. A reviewed request to merge a branch into main</a:t>
            </a:r>
            <a:endParaRPr lang="en-US" sz="1050" dirty="0"/>
          </a:p>
        </p:txBody>
      </p:sp>
      <p:sp>
        <p:nvSpPr>
          <p:cNvPr id="26" name="Shape 24"/>
          <p:cNvSpPr/>
          <p:nvPr/>
        </p:nvSpPr>
        <p:spPr>
          <a:xfrm>
            <a:off x="7991856" y="3621024"/>
            <a:ext cx="3520440" cy="658368"/>
          </a:xfrm>
          <a:prstGeom prst="roundRect">
            <a:avLst>
              <a:gd name="adj" fmla="val 9722"/>
            </a:avLst>
          </a:prstGeom>
          <a:solidFill>
            <a:srgbClr val="161E2D"/>
          </a:solidFill>
          <a:ln/>
        </p:spPr>
      </p:sp>
      <p:sp>
        <p:nvSpPr>
          <p:cNvPr id="27" name="Text 25"/>
          <p:cNvSpPr/>
          <p:nvPr/>
        </p:nvSpPr>
        <p:spPr>
          <a:xfrm>
            <a:off x="8174736" y="3621024"/>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12. Secrets (.env), build folders, OS files (e.g. .DS_Store)</a:t>
            </a:r>
            <a:endParaRPr lang="en-US" sz="1050" dirty="0"/>
          </a:p>
        </p:txBody>
      </p:sp>
      <p:sp>
        <p:nvSpPr>
          <p:cNvPr id="28" name="Shape 26"/>
          <p:cNvSpPr/>
          <p:nvPr/>
        </p:nvSpPr>
        <p:spPr>
          <a:xfrm>
            <a:off x="548640" y="4370832"/>
            <a:ext cx="3520440" cy="658368"/>
          </a:xfrm>
          <a:prstGeom prst="roundRect">
            <a:avLst>
              <a:gd name="adj" fmla="val 9722"/>
            </a:avLst>
          </a:prstGeom>
          <a:solidFill>
            <a:srgbClr val="161E2D"/>
          </a:solidFill>
          <a:ln/>
        </p:spPr>
      </p:sp>
      <p:sp>
        <p:nvSpPr>
          <p:cNvPr id="29" name="Text 27"/>
          <p:cNvSpPr/>
          <p:nvPr/>
        </p:nvSpPr>
        <p:spPr>
          <a:xfrm>
            <a:off x="731520" y="4370832"/>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13. It doesn't explain what changed or why</a:t>
            </a:r>
            <a:endParaRPr lang="en-US" sz="1050" dirty="0"/>
          </a:p>
        </p:txBody>
      </p:sp>
      <p:sp>
        <p:nvSpPr>
          <p:cNvPr id="30" name="Shape 28"/>
          <p:cNvSpPr/>
          <p:nvPr/>
        </p:nvSpPr>
        <p:spPr>
          <a:xfrm>
            <a:off x="4270248" y="4370832"/>
            <a:ext cx="3520440" cy="658368"/>
          </a:xfrm>
          <a:prstGeom prst="roundRect">
            <a:avLst>
              <a:gd name="adj" fmla="val 9722"/>
            </a:avLst>
          </a:prstGeom>
          <a:solidFill>
            <a:srgbClr val="161E2D"/>
          </a:solidFill>
          <a:ln/>
        </p:spPr>
      </p:sp>
      <p:sp>
        <p:nvSpPr>
          <p:cNvPr id="31" name="Text 29"/>
          <p:cNvSpPr/>
          <p:nvPr/>
        </p:nvSpPr>
        <p:spPr>
          <a:xfrm>
            <a:off x="4453128" y="4370832"/>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14. It's text — trackable, reviewable, revertible like code</a:t>
            </a:r>
            <a:endParaRPr lang="en-US" sz="1050" dirty="0"/>
          </a:p>
        </p:txBody>
      </p:sp>
      <p:sp>
        <p:nvSpPr>
          <p:cNvPr id="32" name="Shape 30"/>
          <p:cNvSpPr/>
          <p:nvPr/>
        </p:nvSpPr>
        <p:spPr>
          <a:xfrm>
            <a:off x="7991856" y="4370832"/>
            <a:ext cx="3520440" cy="658368"/>
          </a:xfrm>
          <a:prstGeom prst="roundRect">
            <a:avLst>
              <a:gd name="adj" fmla="val 9722"/>
            </a:avLst>
          </a:prstGeom>
          <a:solidFill>
            <a:srgbClr val="161E2D"/>
          </a:solidFill>
          <a:ln/>
        </p:spPr>
      </p:sp>
      <p:sp>
        <p:nvSpPr>
          <p:cNvPr id="33" name="Text 31"/>
          <p:cNvSpPr/>
          <p:nvPr/>
        </p:nvSpPr>
        <p:spPr>
          <a:xfrm>
            <a:off x="8174736" y="4370832"/>
            <a:ext cx="3154680" cy="658368"/>
          </a:xfrm>
          <a:prstGeom prst="rect">
            <a:avLst/>
          </a:prstGeom>
          <a:noFill/>
          <a:ln/>
        </p:spPr>
        <p:txBody>
          <a:bodyPr wrap="square" rtlCol="0" anchor="ctr"/>
          <a:lstStyle/>
          <a:p>
            <a:pPr marL="0" indent="0">
              <a:buNone/>
            </a:pPr>
            <a:r>
              <a:rPr lang="en-US" sz="1050" dirty="0">
                <a:solidFill>
                  <a:srgbClr val="E9EDF1"/>
                </a:solidFill>
                <a:latin typeface="Calibri" pitchFamily="34" charset="0"/>
                <a:ea typeface="Calibri" pitchFamily="34" charset="-122"/>
                <a:cs typeface="Calibri" pitchFamily="34" charset="-120"/>
              </a:rPr>
              <a:t>15. Rotate the credential immediately, then clean history</a:t>
            </a:r>
            <a:endParaRPr lang="en-US" sz="1050" dirty="0"/>
          </a:p>
        </p:txBody>
      </p:sp>
      <p:sp>
        <p:nvSpPr>
          <p:cNvPr id="34" name="Text 32"/>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35" name="Text 33"/>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BEFORE DAY 5</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Homework</a:t>
            </a:r>
            <a:endParaRPr lang="en-US" sz="2800" dirty="0"/>
          </a:p>
        </p:txBody>
      </p:sp>
      <p:sp>
        <p:nvSpPr>
          <p:cNvPr id="4" name="Shape 2"/>
          <p:cNvSpPr/>
          <p:nvPr/>
        </p:nvSpPr>
        <p:spPr>
          <a:xfrm>
            <a:off x="612648" y="1645920"/>
            <a:ext cx="3520440" cy="3108960"/>
          </a:xfrm>
          <a:prstGeom prst="roundRect">
            <a:avLst>
              <a:gd name="adj" fmla="val 2941"/>
            </a:avLst>
          </a:prstGeom>
          <a:solidFill>
            <a:srgbClr val="FFFFFF"/>
          </a:solidFill>
          <a:ln w="12700">
            <a:solidFill>
              <a:srgbClr val="D9DCE1"/>
            </a:solidFill>
            <a:prstDash val="solid"/>
          </a:ln>
        </p:spPr>
      </p:sp>
      <p:sp>
        <p:nvSpPr>
          <p:cNvPr id="5" name="Shape 3"/>
          <p:cNvSpPr/>
          <p:nvPr/>
        </p:nvSpPr>
        <p:spPr>
          <a:xfrm>
            <a:off x="1915668" y="2057400"/>
            <a:ext cx="914400" cy="914400"/>
          </a:xfrm>
          <a:prstGeom prst="ellipse">
            <a:avLst/>
          </a:prstGeom>
          <a:solidFill>
            <a:srgbClr val="FFF3DE"/>
          </a:solidFill>
          <a:ln/>
        </p:spPr>
      </p:sp>
      <p:pic>
        <p:nvPicPr>
          <p:cNvPr id="6" name="Image 0" descr="/home/claude/ppt4/icon_github_d.png"/>
          <p:cNvPicPr>
            <a:picLocks noChangeAspect="1"/>
          </p:cNvPicPr>
          <p:nvPr/>
        </p:nvPicPr>
        <p:blipFill>
          <a:blip r:embed="rId3"/>
          <a:stretch>
            <a:fillRect/>
          </a:stretch>
        </p:blipFill>
        <p:spPr>
          <a:xfrm>
            <a:off x="2135124" y="2276856"/>
            <a:ext cx="475488" cy="475488"/>
          </a:xfrm>
          <a:prstGeom prst="rect">
            <a:avLst/>
          </a:prstGeom>
        </p:spPr>
      </p:pic>
      <p:sp>
        <p:nvSpPr>
          <p:cNvPr id="7" name="Text 4"/>
          <p:cNvSpPr/>
          <p:nvPr/>
        </p:nvSpPr>
        <p:spPr>
          <a:xfrm>
            <a:off x="795528" y="3154680"/>
            <a:ext cx="3154680" cy="502920"/>
          </a:xfrm>
          <a:prstGeom prst="rect">
            <a:avLst/>
          </a:prstGeom>
          <a:noFill/>
          <a:ln/>
        </p:spPr>
        <p:txBody>
          <a:bodyPr wrap="square"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Build a Portfolio Repo</a:t>
            </a:r>
            <a:endParaRPr lang="en-US" sz="1500" dirty="0"/>
          </a:p>
        </p:txBody>
      </p:sp>
      <p:sp>
        <p:nvSpPr>
          <p:cNvPr id="8" name="Text 5"/>
          <p:cNvSpPr/>
          <p:nvPr/>
        </p:nvSpPr>
        <p:spPr>
          <a:xfrm>
            <a:off x="886968" y="3703320"/>
            <a:ext cx="2971800" cy="914400"/>
          </a:xfrm>
          <a:prstGeom prst="rect">
            <a:avLst/>
          </a:prstGeom>
          <a:noFill/>
          <a:ln/>
        </p:spPr>
        <p:txBody>
          <a:bodyPr wrap="square" rtlCol="0" anchor="t"/>
          <a:lstStyle/>
          <a:p>
            <a:pPr marL="0" indent="0" algn="ctr">
              <a:buNone/>
            </a:pPr>
            <a:r>
              <a:rPr lang="en-US" sz="1150" dirty="0">
                <a:solidFill>
                  <a:srgbClr val="5A6B75"/>
                </a:solidFill>
                <a:latin typeface="Calibri" pitchFamily="34" charset="0"/>
                <a:ea typeface="Calibri" pitchFamily="34" charset="-122"/>
                <a:cs typeface="Calibri" pitchFamily="34" charset="-120"/>
              </a:rPr>
              <a:t>Create a new GitHub repository with a README describing yourself as a cloud engineer.</a:t>
            </a:r>
            <a:endParaRPr lang="en-US" sz="1150" dirty="0"/>
          </a:p>
        </p:txBody>
      </p:sp>
      <p:sp>
        <p:nvSpPr>
          <p:cNvPr id="9" name="Shape 6"/>
          <p:cNvSpPr/>
          <p:nvPr/>
        </p:nvSpPr>
        <p:spPr>
          <a:xfrm>
            <a:off x="4334256" y="1645920"/>
            <a:ext cx="3520440" cy="3108960"/>
          </a:xfrm>
          <a:prstGeom prst="roundRect">
            <a:avLst>
              <a:gd name="adj" fmla="val 2941"/>
            </a:avLst>
          </a:prstGeom>
          <a:solidFill>
            <a:srgbClr val="FFFFFF"/>
          </a:solidFill>
          <a:ln w="12700">
            <a:solidFill>
              <a:srgbClr val="D9DCE1"/>
            </a:solidFill>
            <a:prstDash val="solid"/>
          </a:ln>
        </p:spPr>
      </p:sp>
      <p:sp>
        <p:nvSpPr>
          <p:cNvPr id="10" name="Shape 7"/>
          <p:cNvSpPr/>
          <p:nvPr/>
        </p:nvSpPr>
        <p:spPr>
          <a:xfrm>
            <a:off x="5637276" y="2057400"/>
            <a:ext cx="914400" cy="914400"/>
          </a:xfrm>
          <a:prstGeom prst="ellipse">
            <a:avLst/>
          </a:prstGeom>
          <a:solidFill>
            <a:srgbClr val="FFF3DE"/>
          </a:solidFill>
          <a:ln/>
        </p:spPr>
      </p:sp>
      <p:pic>
        <p:nvPicPr>
          <p:cNvPr id="11" name="Image 1" descr="/home/claude/ppt4/icon_codebranch_d.png"/>
          <p:cNvPicPr>
            <a:picLocks noChangeAspect="1"/>
          </p:cNvPicPr>
          <p:nvPr/>
        </p:nvPicPr>
        <p:blipFill>
          <a:blip r:embed="rId4"/>
          <a:stretch>
            <a:fillRect/>
          </a:stretch>
        </p:blipFill>
        <p:spPr>
          <a:xfrm>
            <a:off x="5856732" y="2276856"/>
            <a:ext cx="475488" cy="475488"/>
          </a:xfrm>
          <a:prstGeom prst="rect">
            <a:avLst/>
          </a:prstGeom>
        </p:spPr>
      </p:pic>
      <p:sp>
        <p:nvSpPr>
          <p:cNvPr id="12" name="Text 8"/>
          <p:cNvSpPr/>
          <p:nvPr/>
        </p:nvSpPr>
        <p:spPr>
          <a:xfrm>
            <a:off x="4517136" y="3154680"/>
            <a:ext cx="3154680" cy="502920"/>
          </a:xfrm>
          <a:prstGeom prst="rect">
            <a:avLst/>
          </a:prstGeom>
          <a:noFill/>
          <a:ln/>
        </p:spPr>
        <p:txBody>
          <a:bodyPr wrap="square"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Practice Branching</a:t>
            </a:r>
            <a:endParaRPr lang="en-US" sz="1500" dirty="0"/>
          </a:p>
        </p:txBody>
      </p:sp>
      <p:sp>
        <p:nvSpPr>
          <p:cNvPr id="13" name="Text 9"/>
          <p:cNvSpPr/>
          <p:nvPr/>
        </p:nvSpPr>
        <p:spPr>
          <a:xfrm>
            <a:off x="4608576" y="3703320"/>
            <a:ext cx="2971800" cy="914400"/>
          </a:xfrm>
          <a:prstGeom prst="rect">
            <a:avLst/>
          </a:prstGeom>
          <a:noFill/>
          <a:ln/>
        </p:spPr>
        <p:txBody>
          <a:bodyPr wrap="square" rtlCol="0" anchor="t"/>
          <a:lstStyle/>
          <a:p>
            <a:pPr marL="0" indent="0" algn="ctr">
              <a:buNone/>
            </a:pPr>
            <a:r>
              <a:rPr lang="en-US" sz="1150" dirty="0">
                <a:solidFill>
                  <a:srgbClr val="5A6B75"/>
                </a:solidFill>
                <a:latin typeface="Calibri" pitchFamily="34" charset="0"/>
                <a:ea typeface="Calibri" pitchFamily="34" charset="-122"/>
                <a:cs typeface="Calibri" pitchFamily="34" charset="-120"/>
              </a:rPr>
              <a:t>Create 2 feature branches, make changes on each, and merge both into main.</a:t>
            </a:r>
            <a:endParaRPr lang="en-US" sz="1150" dirty="0"/>
          </a:p>
        </p:txBody>
      </p:sp>
      <p:sp>
        <p:nvSpPr>
          <p:cNvPr id="14" name="Shape 10"/>
          <p:cNvSpPr/>
          <p:nvPr/>
        </p:nvSpPr>
        <p:spPr>
          <a:xfrm>
            <a:off x="8055864" y="1645920"/>
            <a:ext cx="3520440" cy="3108960"/>
          </a:xfrm>
          <a:prstGeom prst="roundRect">
            <a:avLst>
              <a:gd name="adj" fmla="val 2941"/>
            </a:avLst>
          </a:prstGeom>
          <a:solidFill>
            <a:srgbClr val="FFFFFF"/>
          </a:solidFill>
          <a:ln w="12700">
            <a:solidFill>
              <a:srgbClr val="D9DCE1"/>
            </a:solidFill>
            <a:prstDash val="solid"/>
          </a:ln>
        </p:spPr>
      </p:sp>
      <p:sp>
        <p:nvSpPr>
          <p:cNvPr id="15" name="Shape 11"/>
          <p:cNvSpPr/>
          <p:nvPr/>
        </p:nvSpPr>
        <p:spPr>
          <a:xfrm>
            <a:off x="9358884" y="2057400"/>
            <a:ext cx="914400" cy="914400"/>
          </a:xfrm>
          <a:prstGeom prst="ellipse">
            <a:avLst/>
          </a:prstGeom>
          <a:solidFill>
            <a:srgbClr val="FFF3DE"/>
          </a:solidFill>
          <a:ln/>
        </p:spPr>
      </p:sp>
      <p:pic>
        <p:nvPicPr>
          <p:cNvPr id="16" name="Image 2" descr="/home/claude/ppt4/icon_exclamationcircle_d.png"/>
          <p:cNvPicPr>
            <a:picLocks noChangeAspect="1"/>
          </p:cNvPicPr>
          <p:nvPr/>
        </p:nvPicPr>
        <p:blipFill>
          <a:blip r:embed="rId5"/>
          <a:stretch>
            <a:fillRect/>
          </a:stretch>
        </p:blipFill>
        <p:spPr>
          <a:xfrm>
            <a:off x="9578340" y="2276856"/>
            <a:ext cx="475488" cy="475488"/>
          </a:xfrm>
          <a:prstGeom prst="rect">
            <a:avLst/>
          </a:prstGeom>
        </p:spPr>
      </p:pic>
      <p:sp>
        <p:nvSpPr>
          <p:cNvPr id="17" name="Text 12"/>
          <p:cNvSpPr/>
          <p:nvPr/>
        </p:nvSpPr>
        <p:spPr>
          <a:xfrm>
            <a:off x="8238744" y="3154680"/>
            <a:ext cx="3154680" cy="502920"/>
          </a:xfrm>
          <a:prstGeom prst="rect">
            <a:avLst/>
          </a:prstGeom>
          <a:noFill/>
          <a:ln/>
        </p:spPr>
        <p:txBody>
          <a:bodyPr wrap="square"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Cause &amp; Fix a Conflict</a:t>
            </a:r>
            <a:endParaRPr lang="en-US" sz="1500" dirty="0"/>
          </a:p>
        </p:txBody>
      </p:sp>
      <p:sp>
        <p:nvSpPr>
          <p:cNvPr id="18" name="Text 13"/>
          <p:cNvSpPr/>
          <p:nvPr/>
        </p:nvSpPr>
        <p:spPr>
          <a:xfrm>
            <a:off x="8330184" y="3703320"/>
            <a:ext cx="2971800" cy="914400"/>
          </a:xfrm>
          <a:prstGeom prst="rect">
            <a:avLst/>
          </a:prstGeom>
          <a:noFill/>
          <a:ln/>
        </p:spPr>
        <p:txBody>
          <a:bodyPr wrap="square" rtlCol="0" anchor="t"/>
          <a:lstStyle/>
          <a:p>
            <a:pPr marL="0" indent="0" algn="ctr">
              <a:buNone/>
            </a:pPr>
            <a:r>
              <a:rPr lang="en-US" sz="1150" dirty="0">
                <a:solidFill>
                  <a:srgbClr val="5A6B75"/>
                </a:solidFill>
                <a:latin typeface="Calibri" pitchFamily="34" charset="0"/>
                <a:ea typeface="Calibri" pitchFamily="34" charset="-122"/>
                <a:cs typeface="Calibri" pitchFamily="34" charset="-120"/>
              </a:rPr>
              <a:t>Intentionally edit the same line on two branches, then resolve the conflict.</a:t>
            </a:r>
            <a:endParaRPr lang="en-US" sz="1150" dirty="0"/>
          </a:p>
        </p:txBody>
      </p:sp>
      <p:sp>
        <p:nvSpPr>
          <p:cNvPr id="19" name="Text 14"/>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0" name="Text 15"/>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Text 1"/>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822960" y="2377440"/>
            <a:ext cx="8229600" cy="128016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Reference &amp; Cheat Sheets</a:t>
            </a:r>
            <a:endParaRPr lang="en-US" sz="3600" dirty="0"/>
          </a:p>
        </p:txBody>
      </p:sp>
      <p:sp>
        <p:nvSpPr>
          <p:cNvPr id="5" name="Text 3"/>
          <p:cNvSpPr/>
          <p:nvPr/>
        </p:nvSpPr>
        <p:spPr>
          <a:xfrm>
            <a:off x="822960" y="3520440"/>
            <a:ext cx="7772400" cy="731520"/>
          </a:xfrm>
          <a:prstGeom prst="rect">
            <a:avLst/>
          </a:prstGeom>
          <a:noFill/>
          <a:ln/>
        </p:spPr>
        <p:txBody>
          <a:bodyPr wrap="square" rtlCol="0" anchor="ctr"/>
          <a:lstStyle/>
          <a:p>
            <a:pPr marL="0" indent="0">
              <a:buNone/>
            </a:pPr>
            <a:r>
              <a:rPr lang="en-US" sz="1500" i="1" dirty="0">
                <a:solidFill>
                  <a:srgbClr val="C7D1D9"/>
                </a:solidFill>
                <a:latin typeface="Calibri" pitchFamily="34" charset="0"/>
                <a:ea typeface="Calibri" pitchFamily="34" charset="-122"/>
                <a:cs typeface="Calibri" pitchFamily="34" charset="-120"/>
              </a:rPr>
              <a:t>Quick-reference material to keep handy as you continue building with Git.</a:t>
            </a:r>
            <a:endParaRPr lang="en-US" sz="1500" dirty="0"/>
          </a:p>
        </p:txBody>
      </p:sp>
      <p:sp>
        <p:nvSpPr>
          <p:cNvPr id="6" name="Shape 4"/>
          <p:cNvSpPr/>
          <p:nvPr/>
        </p:nvSpPr>
        <p:spPr>
          <a:xfrm>
            <a:off x="9326880" y="2331720"/>
            <a:ext cx="2194560" cy="2194560"/>
          </a:xfrm>
          <a:prstGeom prst="ellipse">
            <a:avLst/>
          </a:prstGeom>
          <a:solidFill>
            <a:srgbClr val="161E2D"/>
          </a:solidFill>
          <a:ln/>
        </p:spPr>
      </p:sp>
      <p:pic>
        <p:nvPicPr>
          <p:cNvPr id="7" name="Image 0" descr="/home/claude/ppt4/icon_bookopen_w.png"/>
          <p:cNvPicPr>
            <a:picLocks noChangeAspect="1"/>
          </p:cNvPicPr>
          <p:nvPr/>
        </p:nvPicPr>
        <p:blipFill>
          <a:blip r:embed="rId3"/>
          <a:stretch>
            <a:fillRect/>
          </a:stretch>
        </p:blipFill>
        <p:spPr>
          <a:xfrm>
            <a:off x="9853574" y="2858414"/>
            <a:ext cx="1141171" cy="1141171"/>
          </a:xfrm>
          <a:prstGeom prst="rect">
            <a:avLst/>
          </a:prstGeom>
        </p:spPr>
      </p:pic>
      <p:sp>
        <p:nvSpPr>
          <p:cNvPr id="8" name="Text 5"/>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9" name="Text 6"/>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 Cheat Sheet</a:t>
            </a:r>
            <a:endParaRPr lang="en-US" sz="2800" dirty="0"/>
          </a:p>
        </p:txBody>
      </p:sp>
      <p:sp>
        <p:nvSpPr>
          <p:cNvPr id="4" name="Shape 2"/>
          <p:cNvSpPr/>
          <p:nvPr/>
        </p:nvSpPr>
        <p:spPr>
          <a:xfrm>
            <a:off x="548640" y="1417320"/>
            <a:ext cx="3520440" cy="658368"/>
          </a:xfrm>
          <a:prstGeom prst="roundRect">
            <a:avLst>
              <a:gd name="adj" fmla="val 8333"/>
            </a:avLst>
          </a:prstGeom>
          <a:solidFill>
            <a:srgbClr val="FFFFFF"/>
          </a:solidFill>
          <a:ln w="12700">
            <a:solidFill>
              <a:srgbClr val="D9DCE1"/>
            </a:solidFill>
            <a:prstDash val="solid"/>
          </a:ln>
        </p:spPr>
      </p:sp>
      <p:sp>
        <p:nvSpPr>
          <p:cNvPr id="5" name="Text 3"/>
          <p:cNvSpPr/>
          <p:nvPr/>
        </p:nvSpPr>
        <p:spPr>
          <a:xfrm>
            <a:off x="685800" y="1472184"/>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init</a:t>
            </a:r>
            <a:endParaRPr lang="en-US" sz="1150" dirty="0"/>
          </a:p>
        </p:txBody>
      </p:sp>
      <p:sp>
        <p:nvSpPr>
          <p:cNvPr id="6" name="Text 4"/>
          <p:cNvSpPr/>
          <p:nvPr/>
        </p:nvSpPr>
        <p:spPr>
          <a:xfrm>
            <a:off x="685800" y="1746504"/>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Start tracking a folder</a:t>
            </a:r>
            <a:endParaRPr lang="en-US" sz="1000" dirty="0"/>
          </a:p>
        </p:txBody>
      </p:sp>
      <p:sp>
        <p:nvSpPr>
          <p:cNvPr id="7" name="Shape 5"/>
          <p:cNvSpPr/>
          <p:nvPr/>
        </p:nvSpPr>
        <p:spPr>
          <a:xfrm>
            <a:off x="4270248" y="1417320"/>
            <a:ext cx="3520440" cy="658368"/>
          </a:xfrm>
          <a:prstGeom prst="roundRect">
            <a:avLst>
              <a:gd name="adj" fmla="val 8333"/>
            </a:avLst>
          </a:prstGeom>
          <a:solidFill>
            <a:srgbClr val="FFFFFF"/>
          </a:solidFill>
          <a:ln w="12700">
            <a:solidFill>
              <a:srgbClr val="D9DCE1"/>
            </a:solidFill>
            <a:prstDash val="solid"/>
          </a:ln>
        </p:spPr>
      </p:sp>
      <p:sp>
        <p:nvSpPr>
          <p:cNvPr id="8" name="Text 6"/>
          <p:cNvSpPr/>
          <p:nvPr/>
        </p:nvSpPr>
        <p:spPr>
          <a:xfrm>
            <a:off x="4407408" y="1472184"/>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status</a:t>
            </a:r>
            <a:endParaRPr lang="en-US" sz="1150" dirty="0"/>
          </a:p>
        </p:txBody>
      </p:sp>
      <p:sp>
        <p:nvSpPr>
          <p:cNvPr id="9" name="Text 7"/>
          <p:cNvSpPr/>
          <p:nvPr/>
        </p:nvSpPr>
        <p:spPr>
          <a:xfrm>
            <a:off x="4407408" y="1746504"/>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See what's changed</a:t>
            </a:r>
            <a:endParaRPr lang="en-US" sz="1000" dirty="0"/>
          </a:p>
        </p:txBody>
      </p:sp>
      <p:sp>
        <p:nvSpPr>
          <p:cNvPr id="10" name="Shape 8"/>
          <p:cNvSpPr/>
          <p:nvPr/>
        </p:nvSpPr>
        <p:spPr>
          <a:xfrm>
            <a:off x="7991856" y="1417320"/>
            <a:ext cx="3520440" cy="658368"/>
          </a:xfrm>
          <a:prstGeom prst="roundRect">
            <a:avLst>
              <a:gd name="adj" fmla="val 8333"/>
            </a:avLst>
          </a:prstGeom>
          <a:solidFill>
            <a:srgbClr val="FFFFFF"/>
          </a:solidFill>
          <a:ln w="12700">
            <a:solidFill>
              <a:srgbClr val="D9DCE1"/>
            </a:solidFill>
            <a:prstDash val="solid"/>
          </a:ln>
        </p:spPr>
      </p:sp>
      <p:sp>
        <p:nvSpPr>
          <p:cNvPr id="11" name="Text 9"/>
          <p:cNvSpPr/>
          <p:nvPr/>
        </p:nvSpPr>
        <p:spPr>
          <a:xfrm>
            <a:off x="8129016" y="1472184"/>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add &lt;file&gt;</a:t>
            </a:r>
            <a:endParaRPr lang="en-US" sz="1150" dirty="0"/>
          </a:p>
        </p:txBody>
      </p:sp>
      <p:sp>
        <p:nvSpPr>
          <p:cNvPr id="12" name="Text 10"/>
          <p:cNvSpPr/>
          <p:nvPr/>
        </p:nvSpPr>
        <p:spPr>
          <a:xfrm>
            <a:off x="8129016" y="1746504"/>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Stage a file</a:t>
            </a:r>
            <a:endParaRPr lang="en-US" sz="1000" dirty="0"/>
          </a:p>
        </p:txBody>
      </p:sp>
      <p:sp>
        <p:nvSpPr>
          <p:cNvPr id="13" name="Shape 11"/>
          <p:cNvSpPr/>
          <p:nvPr/>
        </p:nvSpPr>
        <p:spPr>
          <a:xfrm>
            <a:off x="548640" y="2167128"/>
            <a:ext cx="3520440" cy="658368"/>
          </a:xfrm>
          <a:prstGeom prst="roundRect">
            <a:avLst>
              <a:gd name="adj" fmla="val 8333"/>
            </a:avLst>
          </a:prstGeom>
          <a:solidFill>
            <a:srgbClr val="FFFFFF"/>
          </a:solidFill>
          <a:ln w="12700">
            <a:solidFill>
              <a:srgbClr val="D9DCE1"/>
            </a:solidFill>
            <a:prstDash val="solid"/>
          </a:ln>
        </p:spPr>
      </p:sp>
      <p:sp>
        <p:nvSpPr>
          <p:cNvPr id="14" name="Text 12"/>
          <p:cNvSpPr/>
          <p:nvPr/>
        </p:nvSpPr>
        <p:spPr>
          <a:xfrm>
            <a:off x="685800" y="2221992"/>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commit -m "msg"</a:t>
            </a:r>
            <a:endParaRPr lang="en-US" sz="1150" dirty="0"/>
          </a:p>
        </p:txBody>
      </p:sp>
      <p:sp>
        <p:nvSpPr>
          <p:cNvPr id="15" name="Text 13"/>
          <p:cNvSpPr/>
          <p:nvPr/>
        </p:nvSpPr>
        <p:spPr>
          <a:xfrm>
            <a:off x="685800" y="2496312"/>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Save a snapshot</a:t>
            </a:r>
            <a:endParaRPr lang="en-US" sz="1000" dirty="0"/>
          </a:p>
        </p:txBody>
      </p:sp>
      <p:sp>
        <p:nvSpPr>
          <p:cNvPr id="16" name="Shape 14"/>
          <p:cNvSpPr/>
          <p:nvPr/>
        </p:nvSpPr>
        <p:spPr>
          <a:xfrm>
            <a:off x="4270248" y="2167128"/>
            <a:ext cx="3520440" cy="658368"/>
          </a:xfrm>
          <a:prstGeom prst="roundRect">
            <a:avLst>
              <a:gd name="adj" fmla="val 8333"/>
            </a:avLst>
          </a:prstGeom>
          <a:solidFill>
            <a:srgbClr val="FFFFFF"/>
          </a:solidFill>
          <a:ln w="12700">
            <a:solidFill>
              <a:srgbClr val="D9DCE1"/>
            </a:solidFill>
            <a:prstDash val="solid"/>
          </a:ln>
        </p:spPr>
      </p:sp>
      <p:sp>
        <p:nvSpPr>
          <p:cNvPr id="17" name="Text 15"/>
          <p:cNvSpPr/>
          <p:nvPr/>
        </p:nvSpPr>
        <p:spPr>
          <a:xfrm>
            <a:off x="4407408" y="2221992"/>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log</a:t>
            </a:r>
            <a:endParaRPr lang="en-US" sz="1150" dirty="0"/>
          </a:p>
        </p:txBody>
      </p:sp>
      <p:sp>
        <p:nvSpPr>
          <p:cNvPr id="18" name="Text 16"/>
          <p:cNvSpPr/>
          <p:nvPr/>
        </p:nvSpPr>
        <p:spPr>
          <a:xfrm>
            <a:off x="4407408" y="2496312"/>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View commit history</a:t>
            </a:r>
            <a:endParaRPr lang="en-US" sz="1000" dirty="0"/>
          </a:p>
        </p:txBody>
      </p:sp>
      <p:sp>
        <p:nvSpPr>
          <p:cNvPr id="19" name="Shape 17"/>
          <p:cNvSpPr/>
          <p:nvPr/>
        </p:nvSpPr>
        <p:spPr>
          <a:xfrm>
            <a:off x="7991856" y="2167128"/>
            <a:ext cx="3520440" cy="658368"/>
          </a:xfrm>
          <a:prstGeom prst="roundRect">
            <a:avLst>
              <a:gd name="adj" fmla="val 8333"/>
            </a:avLst>
          </a:prstGeom>
          <a:solidFill>
            <a:srgbClr val="FFFFFF"/>
          </a:solidFill>
          <a:ln w="12700">
            <a:solidFill>
              <a:srgbClr val="D9DCE1"/>
            </a:solidFill>
            <a:prstDash val="solid"/>
          </a:ln>
        </p:spPr>
      </p:sp>
      <p:sp>
        <p:nvSpPr>
          <p:cNvPr id="20" name="Text 18"/>
          <p:cNvSpPr/>
          <p:nvPr/>
        </p:nvSpPr>
        <p:spPr>
          <a:xfrm>
            <a:off x="8129016" y="2221992"/>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diff</a:t>
            </a:r>
            <a:endParaRPr lang="en-US" sz="1150" dirty="0"/>
          </a:p>
        </p:txBody>
      </p:sp>
      <p:sp>
        <p:nvSpPr>
          <p:cNvPr id="21" name="Text 19"/>
          <p:cNvSpPr/>
          <p:nvPr/>
        </p:nvSpPr>
        <p:spPr>
          <a:xfrm>
            <a:off x="8129016" y="2496312"/>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See line-by-line changes</a:t>
            </a:r>
            <a:endParaRPr lang="en-US" sz="1000" dirty="0"/>
          </a:p>
        </p:txBody>
      </p:sp>
      <p:sp>
        <p:nvSpPr>
          <p:cNvPr id="22" name="Shape 20"/>
          <p:cNvSpPr/>
          <p:nvPr/>
        </p:nvSpPr>
        <p:spPr>
          <a:xfrm>
            <a:off x="548640" y="2916936"/>
            <a:ext cx="3520440" cy="658368"/>
          </a:xfrm>
          <a:prstGeom prst="roundRect">
            <a:avLst>
              <a:gd name="adj" fmla="val 8333"/>
            </a:avLst>
          </a:prstGeom>
          <a:solidFill>
            <a:srgbClr val="FFFFFF"/>
          </a:solidFill>
          <a:ln w="12700">
            <a:solidFill>
              <a:srgbClr val="D9DCE1"/>
            </a:solidFill>
            <a:prstDash val="solid"/>
          </a:ln>
        </p:spPr>
      </p:sp>
      <p:sp>
        <p:nvSpPr>
          <p:cNvPr id="23" name="Text 21"/>
          <p:cNvSpPr/>
          <p:nvPr/>
        </p:nvSpPr>
        <p:spPr>
          <a:xfrm>
            <a:off x="685800" y="2971800"/>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branch</a:t>
            </a:r>
            <a:endParaRPr lang="en-US" sz="1150" dirty="0"/>
          </a:p>
        </p:txBody>
      </p:sp>
      <p:sp>
        <p:nvSpPr>
          <p:cNvPr id="24" name="Text 22"/>
          <p:cNvSpPr/>
          <p:nvPr/>
        </p:nvSpPr>
        <p:spPr>
          <a:xfrm>
            <a:off x="685800" y="3246120"/>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List / create branches</a:t>
            </a:r>
            <a:endParaRPr lang="en-US" sz="1000" dirty="0"/>
          </a:p>
        </p:txBody>
      </p:sp>
      <p:sp>
        <p:nvSpPr>
          <p:cNvPr id="25" name="Shape 23"/>
          <p:cNvSpPr/>
          <p:nvPr/>
        </p:nvSpPr>
        <p:spPr>
          <a:xfrm>
            <a:off x="4270248" y="2916936"/>
            <a:ext cx="3520440" cy="658368"/>
          </a:xfrm>
          <a:prstGeom prst="roundRect">
            <a:avLst>
              <a:gd name="adj" fmla="val 8333"/>
            </a:avLst>
          </a:prstGeom>
          <a:solidFill>
            <a:srgbClr val="FFFFFF"/>
          </a:solidFill>
          <a:ln w="12700">
            <a:solidFill>
              <a:srgbClr val="D9DCE1"/>
            </a:solidFill>
            <a:prstDash val="solid"/>
          </a:ln>
        </p:spPr>
      </p:sp>
      <p:sp>
        <p:nvSpPr>
          <p:cNvPr id="26" name="Text 24"/>
          <p:cNvSpPr/>
          <p:nvPr/>
        </p:nvSpPr>
        <p:spPr>
          <a:xfrm>
            <a:off x="4407408" y="2971800"/>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switch &lt;b&gt;</a:t>
            </a:r>
            <a:endParaRPr lang="en-US" sz="1150" dirty="0"/>
          </a:p>
        </p:txBody>
      </p:sp>
      <p:sp>
        <p:nvSpPr>
          <p:cNvPr id="27" name="Text 25"/>
          <p:cNvSpPr/>
          <p:nvPr/>
        </p:nvSpPr>
        <p:spPr>
          <a:xfrm>
            <a:off x="4407408" y="3246120"/>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Change branches</a:t>
            </a:r>
            <a:endParaRPr lang="en-US" sz="1000" dirty="0"/>
          </a:p>
        </p:txBody>
      </p:sp>
      <p:sp>
        <p:nvSpPr>
          <p:cNvPr id="28" name="Shape 26"/>
          <p:cNvSpPr/>
          <p:nvPr/>
        </p:nvSpPr>
        <p:spPr>
          <a:xfrm>
            <a:off x="7991856" y="2916936"/>
            <a:ext cx="3520440" cy="658368"/>
          </a:xfrm>
          <a:prstGeom prst="roundRect">
            <a:avLst>
              <a:gd name="adj" fmla="val 8333"/>
            </a:avLst>
          </a:prstGeom>
          <a:solidFill>
            <a:srgbClr val="FFFFFF"/>
          </a:solidFill>
          <a:ln w="12700">
            <a:solidFill>
              <a:srgbClr val="D9DCE1"/>
            </a:solidFill>
            <a:prstDash val="solid"/>
          </a:ln>
        </p:spPr>
      </p:sp>
      <p:sp>
        <p:nvSpPr>
          <p:cNvPr id="29" name="Text 27"/>
          <p:cNvSpPr/>
          <p:nvPr/>
        </p:nvSpPr>
        <p:spPr>
          <a:xfrm>
            <a:off x="8129016" y="2971800"/>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merge &lt;b&gt;</a:t>
            </a:r>
            <a:endParaRPr lang="en-US" sz="1150" dirty="0"/>
          </a:p>
        </p:txBody>
      </p:sp>
      <p:sp>
        <p:nvSpPr>
          <p:cNvPr id="30" name="Text 28"/>
          <p:cNvSpPr/>
          <p:nvPr/>
        </p:nvSpPr>
        <p:spPr>
          <a:xfrm>
            <a:off x="8129016" y="3246120"/>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Combine a branch in</a:t>
            </a:r>
            <a:endParaRPr lang="en-US" sz="1000" dirty="0"/>
          </a:p>
        </p:txBody>
      </p:sp>
      <p:sp>
        <p:nvSpPr>
          <p:cNvPr id="31" name="Shape 29"/>
          <p:cNvSpPr/>
          <p:nvPr/>
        </p:nvSpPr>
        <p:spPr>
          <a:xfrm>
            <a:off x="548640" y="3666744"/>
            <a:ext cx="3520440" cy="658368"/>
          </a:xfrm>
          <a:prstGeom prst="roundRect">
            <a:avLst>
              <a:gd name="adj" fmla="val 8333"/>
            </a:avLst>
          </a:prstGeom>
          <a:solidFill>
            <a:srgbClr val="FFFFFF"/>
          </a:solidFill>
          <a:ln w="12700">
            <a:solidFill>
              <a:srgbClr val="D9DCE1"/>
            </a:solidFill>
            <a:prstDash val="solid"/>
          </a:ln>
        </p:spPr>
      </p:sp>
      <p:sp>
        <p:nvSpPr>
          <p:cNvPr id="32" name="Text 30"/>
          <p:cNvSpPr/>
          <p:nvPr/>
        </p:nvSpPr>
        <p:spPr>
          <a:xfrm>
            <a:off x="685800" y="3721608"/>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remote -v</a:t>
            </a:r>
            <a:endParaRPr lang="en-US" sz="1150" dirty="0"/>
          </a:p>
        </p:txBody>
      </p:sp>
      <p:sp>
        <p:nvSpPr>
          <p:cNvPr id="33" name="Text 31"/>
          <p:cNvSpPr/>
          <p:nvPr/>
        </p:nvSpPr>
        <p:spPr>
          <a:xfrm>
            <a:off x="685800" y="3995928"/>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Show connected remotes</a:t>
            </a:r>
            <a:endParaRPr lang="en-US" sz="1000" dirty="0"/>
          </a:p>
        </p:txBody>
      </p:sp>
      <p:sp>
        <p:nvSpPr>
          <p:cNvPr id="34" name="Shape 32"/>
          <p:cNvSpPr/>
          <p:nvPr/>
        </p:nvSpPr>
        <p:spPr>
          <a:xfrm>
            <a:off x="4270248" y="3666744"/>
            <a:ext cx="3520440" cy="658368"/>
          </a:xfrm>
          <a:prstGeom prst="roundRect">
            <a:avLst>
              <a:gd name="adj" fmla="val 8333"/>
            </a:avLst>
          </a:prstGeom>
          <a:solidFill>
            <a:srgbClr val="FFFFFF"/>
          </a:solidFill>
          <a:ln w="12700">
            <a:solidFill>
              <a:srgbClr val="D9DCE1"/>
            </a:solidFill>
            <a:prstDash val="solid"/>
          </a:ln>
        </p:spPr>
      </p:sp>
      <p:sp>
        <p:nvSpPr>
          <p:cNvPr id="35" name="Text 33"/>
          <p:cNvSpPr/>
          <p:nvPr/>
        </p:nvSpPr>
        <p:spPr>
          <a:xfrm>
            <a:off x="4407408" y="3721608"/>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push</a:t>
            </a:r>
            <a:endParaRPr lang="en-US" sz="1150" dirty="0"/>
          </a:p>
        </p:txBody>
      </p:sp>
      <p:sp>
        <p:nvSpPr>
          <p:cNvPr id="36" name="Text 34"/>
          <p:cNvSpPr/>
          <p:nvPr/>
        </p:nvSpPr>
        <p:spPr>
          <a:xfrm>
            <a:off x="4407408" y="3995928"/>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Upload commits</a:t>
            </a:r>
            <a:endParaRPr lang="en-US" sz="1000" dirty="0"/>
          </a:p>
        </p:txBody>
      </p:sp>
      <p:sp>
        <p:nvSpPr>
          <p:cNvPr id="37" name="Shape 35"/>
          <p:cNvSpPr/>
          <p:nvPr/>
        </p:nvSpPr>
        <p:spPr>
          <a:xfrm>
            <a:off x="7991856" y="3666744"/>
            <a:ext cx="3520440" cy="658368"/>
          </a:xfrm>
          <a:prstGeom prst="roundRect">
            <a:avLst>
              <a:gd name="adj" fmla="val 8333"/>
            </a:avLst>
          </a:prstGeom>
          <a:solidFill>
            <a:srgbClr val="FFFFFF"/>
          </a:solidFill>
          <a:ln w="12700">
            <a:solidFill>
              <a:srgbClr val="D9DCE1"/>
            </a:solidFill>
            <a:prstDash val="solid"/>
          </a:ln>
        </p:spPr>
      </p:sp>
      <p:sp>
        <p:nvSpPr>
          <p:cNvPr id="38" name="Text 36"/>
          <p:cNvSpPr/>
          <p:nvPr/>
        </p:nvSpPr>
        <p:spPr>
          <a:xfrm>
            <a:off x="8129016" y="3721608"/>
            <a:ext cx="3246120" cy="274320"/>
          </a:xfrm>
          <a:prstGeom prst="rect">
            <a:avLst/>
          </a:prstGeom>
          <a:noFill/>
          <a:ln/>
        </p:spPr>
        <p:txBody>
          <a:bodyPr wrap="square" rtlCol="0" anchor="ctr"/>
          <a:lstStyle/>
          <a:p>
            <a:pPr marL="0" indent="0">
              <a:buNone/>
            </a:pPr>
            <a:r>
              <a:rPr lang="en-US" sz="1150" b="1" dirty="0">
                <a:solidFill>
                  <a:srgbClr val="FF9900"/>
                </a:solidFill>
                <a:latin typeface="Consolas" pitchFamily="34" charset="0"/>
                <a:ea typeface="Consolas" pitchFamily="34" charset="-122"/>
                <a:cs typeface="Consolas" pitchFamily="34" charset="-120"/>
              </a:rPr>
              <a:t>git pull</a:t>
            </a:r>
            <a:endParaRPr lang="en-US" sz="1150" dirty="0"/>
          </a:p>
        </p:txBody>
      </p:sp>
      <p:sp>
        <p:nvSpPr>
          <p:cNvPr id="39" name="Text 37"/>
          <p:cNvSpPr/>
          <p:nvPr/>
        </p:nvSpPr>
        <p:spPr>
          <a:xfrm>
            <a:off x="8129016" y="3995928"/>
            <a:ext cx="3246120" cy="292608"/>
          </a:xfrm>
          <a:prstGeom prst="rect">
            <a:avLst/>
          </a:prstGeom>
          <a:noFill/>
          <a:ln/>
        </p:spPr>
        <p:txBody>
          <a:bodyPr wrap="square" rtlCol="0" anchor="ctr"/>
          <a:lstStyle/>
          <a:p>
            <a:pPr marL="0" indent="0">
              <a:buNone/>
            </a:pPr>
            <a:r>
              <a:rPr lang="en-US" sz="1000" dirty="0">
                <a:solidFill>
                  <a:srgbClr val="5A6B75"/>
                </a:solidFill>
                <a:latin typeface="Calibri" pitchFamily="34" charset="0"/>
                <a:ea typeface="Calibri" pitchFamily="34" charset="-122"/>
                <a:cs typeface="Calibri" pitchFamily="34" charset="-120"/>
              </a:rPr>
              <a:t>Download &amp; merge changes</a:t>
            </a:r>
            <a:endParaRPr lang="en-US" sz="1000" dirty="0"/>
          </a:p>
        </p:txBody>
      </p:sp>
      <p:sp>
        <p:nvSpPr>
          <p:cNvPr id="40" name="Text 38"/>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41" name="Text 39"/>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GitHub Cheat Sheet</a:t>
            </a:r>
            <a:endParaRPr lang="en-US" sz="2800" dirty="0"/>
          </a:p>
        </p:txBody>
      </p:sp>
      <p:sp>
        <p:nvSpPr>
          <p:cNvPr id="4" name="Shape 2"/>
          <p:cNvSpPr/>
          <p:nvPr/>
        </p:nvSpPr>
        <p:spPr>
          <a:xfrm>
            <a:off x="548640" y="1554480"/>
            <a:ext cx="5349240" cy="777240"/>
          </a:xfrm>
          <a:prstGeom prst="roundRect">
            <a:avLst>
              <a:gd name="adj" fmla="val 8235"/>
            </a:avLst>
          </a:prstGeom>
          <a:solidFill>
            <a:srgbClr val="FFFFFF"/>
          </a:solidFill>
          <a:ln w="12700">
            <a:solidFill>
              <a:srgbClr val="D9DCE1"/>
            </a:solidFill>
            <a:prstDash val="solid"/>
          </a:ln>
        </p:spPr>
      </p:sp>
      <p:sp>
        <p:nvSpPr>
          <p:cNvPr id="5" name="Text 3"/>
          <p:cNvSpPr/>
          <p:nvPr/>
        </p:nvSpPr>
        <p:spPr>
          <a:xfrm>
            <a:off x="731520" y="16459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git clone &lt;url&gt;</a:t>
            </a:r>
            <a:endParaRPr lang="en-US" sz="1250" dirty="0"/>
          </a:p>
        </p:txBody>
      </p:sp>
      <p:sp>
        <p:nvSpPr>
          <p:cNvPr id="6" name="Text 4"/>
          <p:cNvSpPr/>
          <p:nvPr/>
        </p:nvSpPr>
        <p:spPr>
          <a:xfrm>
            <a:off x="731520" y="19659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Download a repo you have access to</a:t>
            </a:r>
            <a:endParaRPr lang="en-US" sz="1100" dirty="0"/>
          </a:p>
        </p:txBody>
      </p:sp>
      <p:sp>
        <p:nvSpPr>
          <p:cNvPr id="7" name="Shape 5"/>
          <p:cNvSpPr/>
          <p:nvPr/>
        </p:nvSpPr>
        <p:spPr>
          <a:xfrm>
            <a:off x="6172200" y="1554480"/>
            <a:ext cx="5349240" cy="777240"/>
          </a:xfrm>
          <a:prstGeom prst="roundRect">
            <a:avLst>
              <a:gd name="adj" fmla="val 8235"/>
            </a:avLst>
          </a:prstGeom>
          <a:solidFill>
            <a:srgbClr val="FFFFFF"/>
          </a:solidFill>
          <a:ln w="12700">
            <a:solidFill>
              <a:srgbClr val="D9DCE1"/>
            </a:solidFill>
            <a:prstDash val="solid"/>
          </a:ln>
        </p:spPr>
      </p:sp>
      <p:sp>
        <p:nvSpPr>
          <p:cNvPr id="8" name="Text 6"/>
          <p:cNvSpPr/>
          <p:nvPr/>
        </p:nvSpPr>
        <p:spPr>
          <a:xfrm>
            <a:off x="6355080" y="16459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Fork (on GitHub)</a:t>
            </a:r>
            <a:endParaRPr lang="en-US" sz="1250" dirty="0"/>
          </a:p>
        </p:txBody>
      </p:sp>
      <p:sp>
        <p:nvSpPr>
          <p:cNvPr id="9" name="Text 7"/>
          <p:cNvSpPr/>
          <p:nvPr/>
        </p:nvSpPr>
        <p:spPr>
          <a:xfrm>
            <a:off x="6355080" y="19659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Copy someone else's repo to your account</a:t>
            </a:r>
            <a:endParaRPr lang="en-US" sz="1100" dirty="0"/>
          </a:p>
        </p:txBody>
      </p:sp>
      <p:sp>
        <p:nvSpPr>
          <p:cNvPr id="10" name="Shape 8"/>
          <p:cNvSpPr/>
          <p:nvPr/>
        </p:nvSpPr>
        <p:spPr>
          <a:xfrm>
            <a:off x="548640" y="2468880"/>
            <a:ext cx="5349240" cy="777240"/>
          </a:xfrm>
          <a:prstGeom prst="roundRect">
            <a:avLst>
              <a:gd name="adj" fmla="val 8235"/>
            </a:avLst>
          </a:prstGeom>
          <a:solidFill>
            <a:srgbClr val="FFFFFF"/>
          </a:solidFill>
          <a:ln w="12700">
            <a:solidFill>
              <a:srgbClr val="D9DCE1"/>
            </a:solidFill>
            <a:prstDash val="solid"/>
          </a:ln>
        </p:spPr>
      </p:sp>
      <p:sp>
        <p:nvSpPr>
          <p:cNvPr id="11" name="Text 9"/>
          <p:cNvSpPr/>
          <p:nvPr/>
        </p:nvSpPr>
        <p:spPr>
          <a:xfrm>
            <a:off x="731520" y="25603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git remote add origin &lt;url&gt;</a:t>
            </a:r>
            <a:endParaRPr lang="en-US" sz="1250" dirty="0"/>
          </a:p>
        </p:txBody>
      </p:sp>
      <p:sp>
        <p:nvSpPr>
          <p:cNvPr id="12" name="Text 10"/>
          <p:cNvSpPr/>
          <p:nvPr/>
        </p:nvSpPr>
        <p:spPr>
          <a:xfrm>
            <a:off x="731520" y="28803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Link a local repo to GitHub</a:t>
            </a:r>
            <a:endParaRPr lang="en-US" sz="1100" dirty="0"/>
          </a:p>
        </p:txBody>
      </p:sp>
      <p:sp>
        <p:nvSpPr>
          <p:cNvPr id="13" name="Shape 11"/>
          <p:cNvSpPr/>
          <p:nvPr/>
        </p:nvSpPr>
        <p:spPr>
          <a:xfrm>
            <a:off x="6172200" y="2468880"/>
            <a:ext cx="5349240" cy="777240"/>
          </a:xfrm>
          <a:prstGeom prst="roundRect">
            <a:avLst>
              <a:gd name="adj" fmla="val 8235"/>
            </a:avLst>
          </a:prstGeom>
          <a:solidFill>
            <a:srgbClr val="FFFFFF"/>
          </a:solidFill>
          <a:ln w="12700">
            <a:solidFill>
              <a:srgbClr val="D9DCE1"/>
            </a:solidFill>
            <a:prstDash val="solid"/>
          </a:ln>
        </p:spPr>
      </p:sp>
      <p:sp>
        <p:nvSpPr>
          <p:cNvPr id="14" name="Text 12"/>
          <p:cNvSpPr/>
          <p:nvPr/>
        </p:nvSpPr>
        <p:spPr>
          <a:xfrm>
            <a:off x="6355080" y="25603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git push -u origin main</a:t>
            </a:r>
            <a:endParaRPr lang="en-US" sz="1250" dirty="0"/>
          </a:p>
        </p:txBody>
      </p:sp>
      <p:sp>
        <p:nvSpPr>
          <p:cNvPr id="15" name="Text 13"/>
          <p:cNvSpPr/>
          <p:nvPr/>
        </p:nvSpPr>
        <p:spPr>
          <a:xfrm>
            <a:off x="6355080" y="28803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First push, sets tracking</a:t>
            </a:r>
            <a:endParaRPr lang="en-US" sz="1100" dirty="0"/>
          </a:p>
        </p:txBody>
      </p:sp>
      <p:sp>
        <p:nvSpPr>
          <p:cNvPr id="16" name="Shape 14"/>
          <p:cNvSpPr/>
          <p:nvPr/>
        </p:nvSpPr>
        <p:spPr>
          <a:xfrm>
            <a:off x="548640" y="3383280"/>
            <a:ext cx="5349240" cy="777240"/>
          </a:xfrm>
          <a:prstGeom prst="roundRect">
            <a:avLst>
              <a:gd name="adj" fmla="val 8235"/>
            </a:avLst>
          </a:prstGeom>
          <a:solidFill>
            <a:srgbClr val="FFFFFF"/>
          </a:solidFill>
          <a:ln w="12700">
            <a:solidFill>
              <a:srgbClr val="D9DCE1"/>
            </a:solidFill>
            <a:prstDash val="solid"/>
          </a:ln>
        </p:spPr>
      </p:sp>
      <p:sp>
        <p:nvSpPr>
          <p:cNvPr id="17" name="Text 15"/>
          <p:cNvSpPr/>
          <p:nvPr/>
        </p:nvSpPr>
        <p:spPr>
          <a:xfrm>
            <a:off x="731520" y="34747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Pull Request</a:t>
            </a:r>
            <a:endParaRPr lang="en-US" sz="1250" dirty="0"/>
          </a:p>
        </p:txBody>
      </p:sp>
      <p:sp>
        <p:nvSpPr>
          <p:cNvPr id="18" name="Text 16"/>
          <p:cNvSpPr/>
          <p:nvPr/>
        </p:nvSpPr>
        <p:spPr>
          <a:xfrm>
            <a:off x="731520" y="37947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Propose merging a branch, with review</a:t>
            </a:r>
            <a:endParaRPr lang="en-US" sz="1100" dirty="0"/>
          </a:p>
        </p:txBody>
      </p:sp>
      <p:sp>
        <p:nvSpPr>
          <p:cNvPr id="19" name="Shape 17"/>
          <p:cNvSpPr/>
          <p:nvPr/>
        </p:nvSpPr>
        <p:spPr>
          <a:xfrm>
            <a:off x="6172200" y="3383280"/>
            <a:ext cx="5349240" cy="777240"/>
          </a:xfrm>
          <a:prstGeom prst="roundRect">
            <a:avLst>
              <a:gd name="adj" fmla="val 8235"/>
            </a:avLst>
          </a:prstGeom>
          <a:solidFill>
            <a:srgbClr val="FFFFFF"/>
          </a:solidFill>
          <a:ln w="12700">
            <a:solidFill>
              <a:srgbClr val="D9DCE1"/>
            </a:solidFill>
            <a:prstDash val="solid"/>
          </a:ln>
        </p:spPr>
      </p:sp>
      <p:sp>
        <p:nvSpPr>
          <p:cNvPr id="20" name="Text 18"/>
          <p:cNvSpPr/>
          <p:nvPr/>
        </p:nvSpPr>
        <p:spPr>
          <a:xfrm>
            <a:off x="6355080" y="34747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Issues tab</a:t>
            </a:r>
            <a:endParaRPr lang="en-US" sz="1250" dirty="0"/>
          </a:p>
        </p:txBody>
      </p:sp>
      <p:sp>
        <p:nvSpPr>
          <p:cNvPr id="21" name="Text 19"/>
          <p:cNvSpPr/>
          <p:nvPr/>
        </p:nvSpPr>
        <p:spPr>
          <a:xfrm>
            <a:off x="6355080" y="37947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Track bugs &amp; feature requests</a:t>
            </a:r>
            <a:endParaRPr lang="en-US" sz="1100" dirty="0"/>
          </a:p>
        </p:txBody>
      </p:sp>
      <p:sp>
        <p:nvSpPr>
          <p:cNvPr id="22" name="Shape 20"/>
          <p:cNvSpPr/>
          <p:nvPr/>
        </p:nvSpPr>
        <p:spPr>
          <a:xfrm>
            <a:off x="548640" y="4297680"/>
            <a:ext cx="5349240" cy="777240"/>
          </a:xfrm>
          <a:prstGeom prst="roundRect">
            <a:avLst>
              <a:gd name="adj" fmla="val 8235"/>
            </a:avLst>
          </a:prstGeom>
          <a:solidFill>
            <a:srgbClr val="FFFFFF"/>
          </a:solidFill>
          <a:ln w="12700">
            <a:solidFill>
              <a:srgbClr val="D9DCE1"/>
            </a:solidFill>
            <a:prstDash val="solid"/>
          </a:ln>
        </p:spPr>
      </p:sp>
      <p:sp>
        <p:nvSpPr>
          <p:cNvPr id="23" name="Text 21"/>
          <p:cNvSpPr/>
          <p:nvPr/>
        </p:nvSpPr>
        <p:spPr>
          <a:xfrm>
            <a:off x="731520" y="43891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Actions tab</a:t>
            </a:r>
            <a:endParaRPr lang="en-US" sz="1250" dirty="0"/>
          </a:p>
        </p:txBody>
      </p:sp>
      <p:sp>
        <p:nvSpPr>
          <p:cNvPr id="24" name="Text 22"/>
          <p:cNvSpPr/>
          <p:nvPr/>
        </p:nvSpPr>
        <p:spPr>
          <a:xfrm>
            <a:off x="731520" y="47091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Automated CI/CD workflows</a:t>
            </a:r>
            <a:endParaRPr lang="en-US" sz="1100" dirty="0"/>
          </a:p>
        </p:txBody>
      </p:sp>
      <p:sp>
        <p:nvSpPr>
          <p:cNvPr id="25" name="Shape 23"/>
          <p:cNvSpPr/>
          <p:nvPr/>
        </p:nvSpPr>
        <p:spPr>
          <a:xfrm>
            <a:off x="6172200" y="4297680"/>
            <a:ext cx="5349240" cy="777240"/>
          </a:xfrm>
          <a:prstGeom prst="roundRect">
            <a:avLst>
              <a:gd name="adj" fmla="val 8235"/>
            </a:avLst>
          </a:prstGeom>
          <a:solidFill>
            <a:srgbClr val="FFFFFF"/>
          </a:solidFill>
          <a:ln w="12700">
            <a:solidFill>
              <a:srgbClr val="D9DCE1"/>
            </a:solidFill>
            <a:prstDash val="solid"/>
          </a:ln>
        </p:spPr>
      </p:sp>
      <p:sp>
        <p:nvSpPr>
          <p:cNvPr id="26" name="Text 24"/>
          <p:cNvSpPr/>
          <p:nvPr/>
        </p:nvSpPr>
        <p:spPr>
          <a:xfrm>
            <a:off x="6355080" y="4389120"/>
            <a:ext cx="4983480" cy="320040"/>
          </a:xfrm>
          <a:prstGeom prst="rect">
            <a:avLst/>
          </a:prstGeom>
          <a:noFill/>
          <a:ln/>
        </p:spPr>
        <p:txBody>
          <a:bodyPr wrap="square" rtlCol="0" anchor="ctr"/>
          <a:lstStyle/>
          <a:p>
            <a:pPr marL="0" indent="0">
              <a:buNone/>
            </a:pPr>
            <a:r>
              <a:rPr lang="en-US" sz="1250" b="1" dirty="0">
                <a:solidFill>
                  <a:srgbClr val="6E40C9"/>
                </a:solidFill>
                <a:latin typeface="Consolas" pitchFamily="34" charset="0"/>
                <a:ea typeface="Consolas" pitchFamily="34" charset="-122"/>
                <a:cs typeface="Consolas" pitchFamily="34" charset="-120"/>
              </a:rPr>
              <a:t>Settings → Tokens</a:t>
            </a:r>
            <a:endParaRPr lang="en-US" sz="1250" dirty="0"/>
          </a:p>
        </p:txBody>
      </p:sp>
      <p:sp>
        <p:nvSpPr>
          <p:cNvPr id="27" name="Text 25"/>
          <p:cNvSpPr/>
          <p:nvPr/>
        </p:nvSpPr>
        <p:spPr>
          <a:xfrm>
            <a:off x="6355080" y="47091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Create a Personal Access Token</a:t>
            </a:r>
            <a:endParaRPr lang="en-US" sz="1100" dirty="0"/>
          </a:p>
        </p:txBody>
      </p:sp>
      <p:sp>
        <p:nvSpPr>
          <p:cNvPr id="28" name="Text 26"/>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9" name="Text 27"/>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Branching Workflow &amp; Conflict Guide</a:t>
            </a:r>
            <a:endParaRPr lang="en-US" sz="2800" dirty="0"/>
          </a:p>
        </p:txBody>
      </p:sp>
      <p:sp>
        <p:nvSpPr>
          <p:cNvPr id="4" name="Shape 2"/>
          <p:cNvSpPr/>
          <p:nvPr/>
        </p:nvSpPr>
        <p:spPr>
          <a:xfrm>
            <a:off x="548640" y="1554480"/>
            <a:ext cx="5394960" cy="4480560"/>
          </a:xfrm>
          <a:prstGeom prst="roundRect">
            <a:avLst>
              <a:gd name="adj" fmla="val 2041"/>
            </a:avLst>
          </a:prstGeom>
          <a:solidFill>
            <a:srgbClr val="FFFFFF"/>
          </a:solidFill>
          <a:ln w="12700">
            <a:solidFill>
              <a:srgbClr val="D9DCE1"/>
            </a:solidFill>
            <a:prstDash val="solid"/>
          </a:ln>
        </p:spPr>
      </p:sp>
      <p:sp>
        <p:nvSpPr>
          <p:cNvPr id="5" name="Text 3"/>
          <p:cNvSpPr/>
          <p:nvPr/>
        </p:nvSpPr>
        <p:spPr>
          <a:xfrm>
            <a:off x="822960" y="1737360"/>
            <a:ext cx="4846320" cy="320040"/>
          </a:xfrm>
          <a:prstGeom prst="rect">
            <a:avLst/>
          </a:prstGeom>
          <a:noFill/>
          <a:ln/>
        </p:spPr>
        <p:txBody>
          <a:bodyPr wrap="square" rtlCol="0" anchor="ctr"/>
          <a:lstStyle/>
          <a:p>
            <a:pPr marL="0" indent="0">
              <a:buNone/>
            </a:pPr>
            <a:r>
              <a:rPr lang="en-US" sz="1100" b="1" kern="0" spc="150" dirty="0">
                <a:solidFill>
                  <a:srgbClr val="FF9900"/>
                </a:solidFill>
                <a:latin typeface="Calibri" pitchFamily="34" charset="0"/>
                <a:ea typeface="Calibri" pitchFamily="34" charset="-122"/>
                <a:cs typeface="Calibri" pitchFamily="34" charset="-120"/>
              </a:rPr>
              <a:t>BRANCHING WORKFLOW</a:t>
            </a:r>
            <a:endParaRPr lang="en-US" sz="1100" dirty="0"/>
          </a:p>
        </p:txBody>
      </p:sp>
      <p:sp>
        <p:nvSpPr>
          <p:cNvPr id="6" name="Text 4"/>
          <p:cNvSpPr/>
          <p:nvPr/>
        </p:nvSpPr>
        <p:spPr>
          <a:xfrm>
            <a:off x="822960" y="214884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1. Start from an up-to-date main (git pull)</a:t>
            </a:r>
            <a:endParaRPr lang="en-US" sz="1150" dirty="0"/>
          </a:p>
        </p:txBody>
      </p:sp>
      <p:sp>
        <p:nvSpPr>
          <p:cNvPr id="7" name="Text 5"/>
          <p:cNvSpPr/>
          <p:nvPr/>
        </p:nvSpPr>
        <p:spPr>
          <a:xfrm>
            <a:off x="822960" y="265176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2. Create a branch: git switch -c feature/x</a:t>
            </a:r>
            <a:endParaRPr lang="en-US" sz="1150" dirty="0"/>
          </a:p>
        </p:txBody>
      </p:sp>
      <p:sp>
        <p:nvSpPr>
          <p:cNvPr id="8" name="Text 6"/>
          <p:cNvSpPr/>
          <p:nvPr/>
        </p:nvSpPr>
        <p:spPr>
          <a:xfrm>
            <a:off x="822960" y="315468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3. Make small, focused commits</a:t>
            </a:r>
            <a:endParaRPr lang="en-US" sz="1150" dirty="0"/>
          </a:p>
        </p:txBody>
      </p:sp>
      <p:sp>
        <p:nvSpPr>
          <p:cNvPr id="9" name="Text 7"/>
          <p:cNvSpPr/>
          <p:nvPr/>
        </p:nvSpPr>
        <p:spPr>
          <a:xfrm>
            <a:off x="822960" y="365760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4. Push the branch: git push -u origin feature/x</a:t>
            </a:r>
            <a:endParaRPr lang="en-US" sz="1150" dirty="0"/>
          </a:p>
        </p:txBody>
      </p:sp>
      <p:sp>
        <p:nvSpPr>
          <p:cNvPr id="10" name="Text 8"/>
          <p:cNvSpPr/>
          <p:nvPr/>
        </p:nvSpPr>
        <p:spPr>
          <a:xfrm>
            <a:off x="822960" y="416052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5. Open a Pull Request on GitHub</a:t>
            </a:r>
            <a:endParaRPr lang="en-US" sz="1150" dirty="0"/>
          </a:p>
        </p:txBody>
      </p:sp>
      <p:sp>
        <p:nvSpPr>
          <p:cNvPr id="11" name="Text 9"/>
          <p:cNvSpPr/>
          <p:nvPr/>
        </p:nvSpPr>
        <p:spPr>
          <a:xfrm>
            <a:off x="822960" y="466344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6. Address review feedback</a:t>
            </a:r>
            <a:endParaRPr lang="en-US" sz="1150" dirty="0"/>
          </a:p>
        </p:txBody>
      </p:sp>
      <p:sp>
        <p:nvSpPr>
          <p:cNvPr id="12" name="Text 10"/>
          <p:cNvSpPr/>
          <p:nvPr/>
        </p:nvSpPr>
        <p:spPr>
          <a:xfrm>
            <a:off x="822960" y="516636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7. Merge, then delete the branch</a:t>
            </a:r>
            <a:endParaRPr lang="en-US" sz="1150" dirty="0"/>
          </a:p>
        </p:txBody>
      </p:sp>
      <p:sp>
        <p:nvSpPr>
          <p:cNvPr id="13" name="Shape 11"/>
          <p:cNvSpPr/>
          <p:nvPr/>
        </p:nvSpPr>
        <p:spPr>
          <a:xfrm>
            <a:off x="6263640" y="1554480"/>
            <a:ext cx="5394960" cy="4480560"/>
          </a:xfrm>
          <a:prstGeom prst="roundRect">
            <a:avLst>
              <a:gd name="adj" fmla="val 2041"/>
            </a:avLst>
          </a:prstGeom>
          <a:solidFill>
            <a:srgbClr val="FFFFFF"/>
          </a:solidFill>
          <a:ln w="12700">
            <a:solidFill>
              <a:srgbClr val="D9DCE1"/>
            </a:solidFill>
            <a:prstDash val="solid"/>
          </a:ln>
        </p:spPr>
      </p:sp>
      <p:sp>
        <p:nvSpPr>
          <p:cNvPr id="14" name="Text 12"/>
          <p:cNvSpPr/>
          <p:nvPr/>
        </p:nvSpPr>
        <p:spPr>
          <a:xfrm>
            <a:off x="6537960" y="1737360"/>
            <a:ext cx="4846320" cy="320040"/>
          </a:xfrm>
          <a:prstGeom prst="rect">
            <a:avLst/>
          </a:prstGeom>
          <a:noFill/>
          <a:ln/>
        </p:spPr>
        <p:txBody>
          <a:bodyPr wrap="square" rtlCol="0" anchor="ctr"/>
          <a:lstStyle/>
          <a:p>
            <a:pPr marL="0" indent="0">
              <a:buNone/>
            </a:pPr>
            <a:r>
              <a:rPr lang="en-US" sz="1100" b="1" kern="0" spc="150" dirty="0">
                <a:solidFill>
                  <a:srgbClr val="FF9900"/>
                </a:solidFill>
                <a:latin typeface="Calibri" pitchFamily="34" charset="0"/>
                <a:ea typeface="Calibri" pitchFamily="34" charset="-122"/>
                <a:cs typeface="Calibri" pitchFamily="34" charset="-120"/>
              </a:rPr>
              <a:t>MERGE CONFLICT RESOLUTION</a:t>
            </a:r>
            <a:endParaRPr lang="en-US" sz="1100" dirty="0"/>
          </a:p>
        </p:txBody>
      </p:sp>
      <p:sp>
        <p:nvSpPr>
          <p:cNvPr id="15" name="Text 13"/>
          <p:cNvSpPr/>
          <p:nvPr/>
        </p:nvSpPr>
        <p:spPr>
          <a:xfrm>
            <a:off x="6537960" y="214884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1. Run git status to find conflicted files</a:t>
            </a:r>
            <a:endParaRPr lang="en-US" sz="1150" dirty="0"/>
          </a:p>
        </p:txBody>
      </p:sp>
      <p:sp>
        <p:nvSpPr>
          <p:cNvPr id="16" name="Text 14"/>
          <p:cNvSpPr/>
          <p:nvPr/>
        </p:nvSpPr>
        <p:spPr>
          <a:xfrm>
            <a:off x="6537960" y="265176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2. Open the file, find &lt;&lt;&lt;&lt; ==== &gt;&gt;&gt;&gt; markers</a:t>
            </a:r>
            <a:endParaRPr lang="en-US" sz="1150" dirty="0"/>
          </a:p>
        </p:txBody>
      </p:sp>
      <p:sp>
        <p:nvSpPr>
          <p:cNvPr id="17" name="Text 15"/>
          <p:cNvSpPr/>
          <p:nvPr/>
        </p:nvSpPr>
        <p:spPr>
          <a:xfrm>
            <a:off x="6537960" y="315468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3. Decide what the final content should be</a:t>
            </a:r>
            <a:endParaRPr lang="en-US" sz="1150" dirty="0"/>
          </a:p>
        </p:txBody>
      </p:sp>
      <p:sp>
        <p:nvSpPr>
          <p:cNvPr id="18" name="Text 16"/>
          <p:cNvSpPr/>
          <p:nvPr/>
        </p:nvSpPr>
        <p:spPr>
          <a:xfrm>
            <a:off x="6537960" y="365760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4. Delete all marker lines completely</a:t>
            </a:r>
            <a:endParaRPr lang="en-US" sz="1150" dirty="0"/>
          </a:p>
        </p:txBody>
      </p:sp>
      <p:sp>
        <p:nvSpPr>
          <p:cNvPr id="19" name="Text 17"/>
          <p:cNvSpPr/>
          <p:nvPr/>
        </p:nvSpPr>
        <p:spPr>
          <a:xfrm>
            <a:off x="6537960" y="416052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5. git add the resolved file</a:t>
            </a:r>
            <a:endParaRPr lang="en-US" sz="1150" dirty="0"/>
          </a:p>
        </p:txBody>
      </p:sp>
      <p:sp>
        <p:nvSpPr>
          <p:cNvPr id="20" name="Text 18"/>
          <p:cNvSpPr/>
          <p:nvPr/>
        </p:nvSpPr>
        <p:spPr>
          <a:xfrm>
            <a:off x="6537960" y="466344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6. git commit to complete the merge</a:t>
            </a:r>
            <a:endParaRPr lang="en-US" sz="1150" dirty="0"/>
          </a:p>
        </p:txBody>
      </p:sp>
      <p:sp>
        <p:nvSpPr>
          <p:cNvPr id="21" name="Text 19"/>
          <p:cNvSpPr/>
          <p:nvPr/>
        </p:nvSpPr>
        <p:spPr>
          <a:xfrm>
            <a:off x="6537960" y="5166360"/>
            <a:ext cx="4846320" cy="457200"/>
          </a:xfrm>
          <a:prstGeom prst="rect">
            <a:avLst/>
          </a:prstGeom>
          <a:noFill/>
          <a:ln/>
        </p:spPr>
        <p:txBody>
          <a:bodyPr wrap="square" rtlCol="0" anchor="ctr"/>
          <a:lstStyle/>
          <a:p>
            <a:pPr marL="0" indent="0">
              <a:buNone/>
            </a:pPr>
            <a:r>
              <a:rPr lang="en-US" sz="1150" dirty="0">
                <a:solidFill>
                  <a:srgbClr val="16191F"/>
                </a:solidFill>
                <a:latin typeface="Calibri" pitchFamily="34" charset="0"/>
                <a:ea typeface="Calibri" pitchFamily="34" charset="-122"/>
                <a:cs typeface="Calibri" pitchFamily="34" charset="-120"/>
              </a:rPr>
              <a:t>7. Push, then confirm on GitHub</a:t>
            </a:r>
            <a:endParaRPr lang="en-US" sz="1150" dirty="0"/>
          </a:p>
        </p:txBody>
      </p:sp>
      <p:sp>
        <p:nvSpPr>
          <p:cNvPr id="22" name="Text 20"/>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3" name="Text 21"/>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3F3"/>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marL="0" indent="0" algn="l">
              <a:buNone/>
            </a:pPr>
            <a:r>
              <a:rPr lang="en-US" sz="1200" b="1" kern="0" spc="20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marL="0" indent="0" algn="l">
              <a:buNone/>
            </a:pPr>
            <a:r>
              <a:rPr lang="en-US" sz="2800" b="1" dirty="0">
                <a:solidFill>
                  <a:srgbClr val="232F3E"/>
                </a:solidFill>
                <a:latin typeface="Arial" pitchFamily="34" charset="0"/>
                <a:ea typeface="Arial" pitchFamily="34" charset="-122"/>
                <a:cs typeface="Arial" pitchFamily="34" charset="-120"/>
              </a:rPr>
              <a:t>Useful Shortcuts &amp; Commands</a:t>
            </a:r>
            <a:endParaRPr lang="en-US" sz="2800" dirty="0"/>
          </a:p>
        </p:txBody>
      </p:sp>
      <p:sp>
        <p:nvSpPr>
          <p:cNvPr id="4" name="Shape 2"/>
          <p:cNvSpPr/>
          <p:nvPr/>
        </p:nvSpPr>
        <p:spPr>
          <a:xfrm>
            <a:off x="548640" y="1554480"/>
            <a:ext cx="5349240" cy="777240"/>
          </a:xfrm>
          <a:prstGeom prst="roundRect">
            <a:avLst>
              <a:gd name="adj" fmla="val 8235"/>
            </a:avLst>
          </a:prstGeom>
          <a:solidFill>
            <a:srgbClr val="FFFFFF"/>
          </a:solidFill>
          <a:ln w="12700">
            <a:solidFill>
              <a:srgbClr val="D9DCE1"/>
            </a:solidFill>
            <a:prstDash val="solid"/>
          </a:ln>
        </p:spPr>
      </p:sp>
      <p:sp>
        <p:nvSpPr>
          <p:cNvPr id="5" name="Text 3"/>
          <p:cNvSpPr/>
          <p:nvPr/>
        </p:nvSpPr>
        <p:spPr>
          <a:xfrm>
            <a:off x="731520" y="16459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Ctrl + C</a:t>
            </a:r>
            <a:endParaRPr lang="en-US" sz="1250" dirty="0"/>
          </a:p>
        </p:txBody>
      </p:sp>
      <p:sp>
        <p:nvSpPr>
          <p:cNvPr id="6" name="Text 4"/>
          <p:cNvSpPr/>
          <p:nvPr/>
        </p:nvSpPr>
        <p:spPr>
          <a:xfrm>
            <a:off x="731520" y="19659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Cancel a running terminal command</a:t>
            </a:r>
            <a:endParaRPr lang="en-US" sz="1100" dirty="0"/>
          </a:p>
        </p:txBody>
      </p:sp>
      <p:sp>
        <p:nvSpPr>
          <p:cNvPr id="7" name="Shape 5"/>
          <p:cNvSpPr/>
          <p:nvPr/>
        </p:nvSpPr>
        <p:spPr>
          <a:xfrm>
            <a:off x="6172200" y="1554480"/>
            <a:ext cx="5349240" cy="777240"/>
          </a:xfrm>
          <a:prstGeom prst="roundRect">
            <a:avLst>
              <a:gd name="adj" fmla="val 8235"/>
            </a:avLst>
          </a:prstGeom>
          <a:solidFill>
            <a:srgbClr val="FFFFFF"/>
          </a:solidFill>
          <a:ln w="12700">
            <a:solidFill>
              <a:srgbClr val="D9DCE1"/>
            </a:solidFill>
            <a:prstDash val="solid"/>
          </a:ln>
        </p:spPr>
      </p:sp>
      <p:sp>
        <p:nvSpPr>
          <p:cNvPr id="8" name="Text 6"/>
          <p:cNvSpPr/>
          <p:nvPr/>
        </p:nvSpPr>
        <p:spPr>
          <a:xfrm>
            <a:off x="6355080" y="16459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Tab</a:t>
            </a:r>
            <a:endParaRPr lang="en-US" sz="1250" dirty="0"/>
          </a:p>
        </p:txBody>
      </p:sp>
      <p:sp>
        <p:nvSpPr>
          <p:cNvPr id="9" name="Text 7"/>
          <p:cNvSpPr/>
          <p:nvPr/>
        </p:nvSpPr>
        <p:spPr>
          <a:xfrm>
            <a:off x="6355080" y="19659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Auto-complete file &amp; branch names</a:t>
            </a:r>
            <a:endParaRPr lang="en-US" sz="1100" dirty="0"/>
          </a:p>
        </p:txBody>
      </p:sp>
      <p:sp>
        <p:nvSpPr>
          <p:cNvPr id="10" name="Shape 8"/>
          <p:cNvSpPr/>
          <p:nvPr/>
        </p:nvSpPr>
        <p:spPr>
          <a:xfrm>
            <a:off x="548640" y="2468880"/>
            <a:ext cx="5349240" cy="777240"/>
          </a:xfrm>
          <a:prstGeom prst="roundRect">
            <a:avLst>
              <a:gd name="adj" fmla="val 8235"/>
            </a:avLst>
          </a:prstGeom>
          <a:solidFill>
            <a:srgbClr val="FFFFFF"/>
          </a:solidFill>
          <a:ln w="12700">
            <a:solidFill>
              <a:srgbClr val="D9DCE1"/>
            </a:solidFill>
            <a:prstDash val="solid"/>
          </a:ln>
        </p:spPr>
      </p:sp>
      <p:sp>
        <p:nvSpPr>
          <p:cNvPr id="11" name="Text 9"/>
          <p:cNvSpPr/>
          <p:nvPr/>
        </p:nvSpPr>
        <p:spPr>
          <a:xfrm>
            <a:off x="731520" y="25603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 / ↓ arrows</a:t>
            </a:r>
            <a:endParaRPr lang="en-US" sz="1250" dirty="0"/>
          </a:p>
        </p:txBody>
      </p:sp>
      <p:sp>
        <p:nvSpPr>
          <p:cNvPr id="12" name="Text 10"/>
          <p:cNvSpPr/>
          <p:nvPr/>
        </p:nvSpPr>
        <p:spPr>
          <a:xfrm>
            <a:off x="731520" y="28803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Cycle through command history</a:t>
            </a:r>
            <a:endParaRPr lang="en-US" sz="1100" dirty="0"/>
          </a:p>
        </p:txBody>
      </p:sp>
      <p:sp>
        <p:nvSpPr>
          <p:cNvPr id="13" name="Shape 11"/>
          <p:cNvSpPr/>
          <p:nvPr/>
        </p:nvSpPr>
        <p:spPr>
          <a:xfrm>
            <a:off x="6172200" y="2468880"/>
            <a:ext cx="5349240" cy="777240"/>
          </a:xfrm>
          <a:prstGeom prst="roundRect">
            <a:avLst>
              <a:gd name="adj" fmla="val 8235"/>
            </a:avLst>
          </a:prstGeom>
          <a:solidFill>
            <a:srgbClr val="FFFFFF"/>
          </a:solidFill>
          <a:ln w="12700">
            <a:solidFill>
              <a:srgbClr val="D9DCE1"/>
            </a:solidFill>
            <a:prstDash val="solid"/>
          </a:ln>
        </p:spPr>
      </p:sp>
      <p:sp>
        <p:nvSpPr>
          <p:cNvPr id="14" name="Text 12"/>
          <p:cNvSpPr/>
          <p:nvPr/>
        </p:nvSpPr>
        <p:spPr>
          <a:xfrm>
            <a:off x="6355080" y="25603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log --oneline</a:t>
            </a:r>
            <a:endParaRPr lang="en-US" sz="1250" dirty="0"/>
          </a:p>
        </p:txBody>
      </p:sp>
      <p:sp>
        <p:nvSpPr>
          <p:cNvPr id="15" name="Text 13"/>
          <p:cNvSpPr/>
          <p:nvPr/>
        </p:nvSpPr>
        <p:spPr>
          <a:xfrm>
            <a:off x="6355080" y="28803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Compact one-line commit history</a:t>
            </a:r>
            <a:endParaRPr lang="en-US" sz="1100" dirty="0"/>
          </a:p>
        </p:txBody>
      </p:sp>
      <p:sp>
        <p:nvSpPr>
          <p:cNvPr id="16" name="Shape 14"/>
          <p:cNvSpPr/>
          <p:nvPr/>
        </p:nvSpPr>
        <p:spPr>
          <a:xfrm>
            <a:off x="548640" y="3383280"/>
            <a:ext cx="5349240" cy="777240"/>
          </a:xfrm>
          <a:prstGeom prst="roundRect">
            <a:avLst>
              <a:gd name="adj" fmla="val 8235"/>
            </a:avLst>
          </a:prstGeom>
          <a:solidFill>
            <a:srgbClr val="FFFFFF"/>
          </a:solidFill>
          <a:ln w="12700">
            <a:solidFill>
              <a:srgbClr val="D9DCE1"/>
            </a:solidFill>
            <a:prstDash val="solid"/>
          </a:ln>
        </p:spPr>
      </p:sp>
      <p:sp>
        <p:nvSpPr>
          <p:cNvPr id="17" name="Text 15"/>
          <p:cNvSpPr/>
          <p:nvPr/>
        </p:nvSpPr>
        <p:spPr>
          <a:xfrm>
            <a:off x="731520" y="34747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branch -d &lt;name&gt;</a:t>
            </a:r>
            <a:endParaRPr lang="en-US" sz="1250" dirty="0"/>
          </a:p>
        </p:txBody>
      </p:sp>
      <p:sp>
        <p:nvSpPr>
          <p:cNvPr id="18" name="Text 16"/>
          <p:cNvSpPr/>
          <p:nvPr/>
        </p:nvSpPr>
        <p:spPr>
          <a:xfrm>
            <a:off x="731520" y="37947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Delete a merged branch</a:t>
            </a:r>
            <a:endParaRPr lang="en-US" sz="1100" dirty="0"/>
          </a:p>
        </p:txBody>
      </p:sp>
      <p:sp>
        <p:nvSpPr>
          <p:cNvPr id="19" name="Shape 17"/>
          <p:cNvSpPr/>
          <p:nvPr/>
        </p:nvSpPr>
        <p:spPr>
          <a:xfrm>
            <a:off x="6172200" y="3383280"/>
            <a:ext cx="5349240" cy="777240"/>
          </a:xfrm>
          <a:prstGeom prst="roundRect">
            <a:avLst>
              <a:gd name="adj" fmla="val 8235"/>
            </a:avLst>
          </a:prstGeom>
          <a:solidFill>
            <a:srgbClr val="FFFFFF"/>
          </a:solidFill>
          <a:ln w="12700">
            <a:solidFill>
              <a:srgbClr val="D9DCE1"/>
            </a:solidFill>
            <a:prstDash val="solid"/>
          </a:ln>
        </p:spPr>
      </p:sp>
      <p:sp>
        <p:nvSpPr>
          <p:cNvPr id="20" name="Text 18"/>
          <p:cNvSpPr/>
          <p:nvPr/>
        </p:nvSpPr>
        <p:spPr>
          <a:xfrm>
            <a:off x="6355080" y="3474720"/>
            <a:ext cx="4983480" cy="320040"/>
          </a:xfrm>
          <a:prstGeom prst="rect">
            <a:avLst/>
          </a:prstGeom>
          <a:noFill/>
          <a:ln/>
        </p:spPr>
        <p:txBody>
          <a:bodyPr wrap="square" rtlCol="0" anchor="ctr"/>
          <a:lstStyle/>
          <a:p>
            <a:pPr marL="0" indent="0">
              <a:buNone/>
            </a:pPr>
            <a:r>
              <a:rPr lang="en-US" sz="1250" b="1" dirty="0">
                <a:solidFill>
                  <a:srgbClr val="232F3E"/>
                </a:solidFill>
                <a:latin typeface="Consolas" pitchFamily="34" charset="0"/>
                <a:ea typeface="Consolas" pitchFamily="34" charset="-122"/>
                <a:cs typeface="Consolas" pitchFamily="34" charset="-120"/>
              </a:rPr>
              <a:t>git checkout -- &lt;file&gt;</a:t>
            </a:r>
            <a:endParaRPr lang="en-US" sz="1250" dirty="0"/>
          </a:p>
        </p:txBody>
      </p:sp>
      <p:sp>
        <p:nvSpPr>
          <p:cNvPr id="21" name="Text 19"/>
          <p:cNvSpPr/>
          <p:nvPr/>
        </p:nvSpPr>
        <p:spPr>
          <a:xfrm>
            <a:off x="6355080" y="3794760"/>
            <a:ext cx="4983480" cy="32004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Discard local changes to a file</a:t>
            </a:r>
            <a:endParaRPr lang="en-US" sz="1100" dirty="0"/>
          </a:p>
        </p:txBody>
      </p:sp>
      <p:sp>
        <p:nvSpPr>
          <p:cNvPr id="22" name="Shape 20"/>
          <p:cNvSpPr/>
          <p:nvPr/>
        </p:nvSpPr>
        <p:spPr>
          <a:xfrm>
            <a:off x="548640" y="5394960"/>
            <a:ext cx="11091672" cy="566928"/>
          </a:xfrm>
          <a:prstGeom prst="roundRect">
            <a:avLst>
              <a:gd name="adj" fmla="val 12903"/>
            </a:avLst>
          </a:prstGeom>
          <a:solidFill>
            <a:srgbClr val="232F3E"/>
          </a:solidFill>
          <a:ln/>
        </p:spPr>
      </p:sp>
      <p:sp>
        <p:nvSpPr>
          <p:cNvPr id="23" name="Shape 21"/>
          <p:cNvSpPr/>
          <p:nvPr/>
        </p:nvSpPr>
        <p:spPr>
          <a:xfrm>
            <a:off x="704088" y="5449824"/>
            <a:ext cx="457200" cy="457200"/>
          </a:xfrm>
          <a:prstGeom prst="ellipse">
            <a:avLst/>
          </a:prstGeom>
          <a:solidFill>
            <a:srgbClr val="33455B"/>
          </a:solidFill>
          <a:ln/>
        </p:spPr>
      </p:sp>
      <p:pic>
        <p:nvPicPr>
          <p:cNvPr id="24" name="Image 0" descr="/home/claude/ppt4/icon_lightbulb_o.png"/>
          <p:cNvPicPr>
            <a:picLocks noChangeAspect="1"/>
          </p:cNvPicPr>
          <p:nvPr/>
        </p:nvPicPr>
        <p:blipFill>
          <a:blip r:embed="rId3"/>
          <a:stretch>
            <a:fillRect/>
          </a:stretch>
        </p:blipFill>
        <p:spPr>
          <a:xfrm>
            <a:off x="813816" y="5559552"/>
            <a:ext cx="237744" cy="237744"/>
          </a:xfrm>
          <a:prstGeom prst="rect">
            <a:avLst/>
          </a:prstGeom>
        </p:spPr>
      </p:pic>
      <p:sp>
        <p:nvSpPr>
          <p:cNvPr id="25" name="Text 22"/>
          <p:cNvSpPr/>
          <p:nvPr/>
        </p:nvSpPr>
        <p:spPr>
          <a:xfrm>
            <a:off x="1234440" y="5394960"/>
            <a:ext cx="10177272" cy="566928"/>
          </a:xfrm>
          <a:prstGeom prst="rect">
            <a:avLst/>
          </a:prstGeom>
          <a:noFill/>
          <a:ln/>
        </p:spPr>
        <p:txBody>
          <a:bodyPr wrap="square" rtlCol="0" anchor="ctr"/>
          <a:lstStyle/>
          <a:p>
            <a:pPr marL="0" indent="0">
              <a:buNone/>
            </a:pPr>
            <a:r>
              <a:rPr lang="en-US" sz="1100" b="1" dirty="0">
                <a:solidFill>
                  <a:srgbClr val="FF9900"/>
                </a:solidFill>
                <a:latin typeface="Calibri" pitchFamily="34" charset="0"/>
                <a:ea typeface="Calibri" pitchFamily="34" charset="-122"/>
                <a:cs typeface="Calibri" pitchFamily="34" charset="-120"/>
              </a:rPr>
              <a:t>INSTRUCTOR TIP:  </a:t>
            </a:r>
            <a:r>
              <a:rPr lang="en-US" sz="1100" dirty="0">
                <a:solidFill>
                  <a:srgbClr val="FFFFFF"/>
                </a:solidFill>
                <a:latin typeface="Calibri" pitchFamily="34" charset="0"/>
                <a:ea typeface="Calibri" pitchFamily="34" charset="-122"/>
                <a:cs typeface="Calibri" pitchFamily="34" charset="-120"/>
              </a:rPr>
              <a:t>Tab-completion alone will save you dozens of typos a day — build the habit early.</a:t>
            </a:r>
            <a:endParaRPr lang="en-US" sz="1100" dirty="0"/>
          </a:p>
        </p:txBody>
      </p:sp>
      <p:sp>
        <p:nvSpPr>
          <p:cNvPr id="26" name="Text 23"/>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9AA5AC"/>
                </a:solidFill>
                <a:latin typeface="Calibri" pitchFamily="34" charset="0"/>
                <a:ea typeface="Calibri" pitchFamily="34" charset="-122"/>
                <a:cs typeface="Calibri" pitchFamily="34" charset="-120"/>
              </a:rPr>
              <a:t>DAY 4  ·  GIT &amp; GITHUB FUNDAMENTALS</a:t>
            </a:r>
            <a:endParaRPr lang="en-US" sz="900" dirty="0"/>
          </a:p>
        </p:txBody>
      </p:sp>
      <p:sp>
        <p:nvSpPr>
          <p:cNvPr id="27" name="Text 24"/>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9AA5A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Shape 1"/>
          <p:cNvSpPr/>
          <p:nvPr/>
        </p:nvSpPr>
        <p:spPr>
          <a:xfrm>
            <a:off x="5180076" y="1554480"/>
            <a:ext cx="1828800" cy="1828800"/>
          </a:xfrm>
          <a:prstGeom prst="ellipse">
            <a:avLst/>
          </a:prstGeom>
          <a:solidFill>
            <a:srgbClr val="161E2D"/>
          </a:solidFill>
          <a:ln/>
        </p:spPr>
      </p:sp>
      <p:pic>
        <p:nvPicPr>
          <p:cNvPr id="4" name="Image 0" descr="/home/claude/ppt4/icon_gitalt_o.png"/>
          <p:cNvPicPr>
            <a:picLocks noChangeAspect="1"/>
          </p:cNvPicPr>
          <p:nvPr/>
        </p:nvPicPr>
        <p:blipFill>
          <a:blip r:embed="rId3"/>
          <a:stretch>
            <a:fillRect/>
          </a:stretch>
        </p:blipFill>
        <p:spPr>
          <a:xfrm>
            <a:off x="5618988" y="1993392"/>
            <a:ext cx="950976" cy="950976"/>
          </a:xfrm>
          <a:prstGeom prst="rect">
            <a:avLst/>
          </a:prstGeom>
        </p:spPr>
      </p:pic>
      <p:sp>
        <p:nvSpPr>
          <p:cNvPr id="5" name="Text 2"/>
          <p:cNvSpPr/>
          <p:nvPr/>
        </p:nvSpPr>
        <p:spPr>
          <a:xfrm>
            <a:off x="822960" y="3657600"/>
            <a:ext cx="10543032"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Great Work Today!</a:t>
            </a:r>
            <a:endParaRPr lang="en-US" sz="3000" dirty="0"/>
          </a:p>
        </p:txBody>
      </p:sp>
      <p:sp>
        <p:nvSpPr>
          <p:cNvPr id="6" name="Text 3"/>
          <p:cNvSpPr/>
          <p:nvPr/>
        </p:nvSpPr>
        <p:spPr>
          <a:xfrm>
            <a:off x="1188720" y="4343400"/>
            <a:ext cx="9811512" cy="640080"/>
          </a:xfrm>
          <a:prstGeom prst="rect">
            <a:avLst/>
          </a:prstGeom>
          <a:noFill/>
          <a:ln/>
        </p:spPr>
        <p:txBody>
          <a:bodyPr wrap="square" rtlCol="0" anchor="ctr"/>
          <a:lstStyle/>
          <a:p>
            <a:pPr marL="0" indent="0" algn="ctr">
              <a:buNone/>
            </a:pPr>
            <a:r>
              <a:rPr lang="en-US" sz="1400" i="1" dirty="0">
                <a:solidFill>
                  <a:srgbClr val="C7D1D9"/>
                </a:solidFill>
                <a:latin typeface="Calibri" pitchFamily="34" charset="0"/>
                <a:ea typeface="Calibri" pitchFamily="34" charset="-122"/>
                <a:cs typeface="Calibri" pitchFamily="34" charset="-120"/>
              </a:rPr>
              <a:t>You can now track changes, branch, merge, and collaborate with Git and GitHub — just like a real engineering team.</a:t>
            </a:r>
            <a:endParaRPr lang="en-US" sz="1400" dirty="0"/>
          </a:p>
        </p:txBody>
      </p:sp>
      <p:sp>
        <p:nvSpPr>
          <p:cNvPr id="7" name="Text 4"/>
          <p:cNvSpPr/>
          <p:nvPr/>
        </p:nvSpPr>
        <p:spPr>
          <a:xfrm>
            <a:off x="548640" y="6400800"/>
            <a:ext cx="6400800" cy="292608"/>
          </a:xfrm>
          <a:prstGeom prst="rect">
            <a:avLst/>
          </a:prstGeom>
          <a:noFill/>
          <a:ln/>
        </p:spPr>
        <p:txBody>
          <a:bodyPr wrap="square" rtlCol="0" anchor="ctr"/>
          <a:lstStyle/>
          <a:p>
            <a:pPr marL="0" indent="0">
              <a:buNone/>
            </a:pPr>
            <a:r>
              <a:rPr lang="en-US" sz="900" kern="0" spc="100" dirty="0">
                <a:solidFill>
                  <a:srgbClr val="8A97A3"/>
                </a:solidFill>
                <a:latin typeface="Calibri" pitchFamily="34" charset="0"/>
                <a:ea typeface="Calibri" pitchFamily="34" charset="-122"/>
                <a:cs typeface="Calibri" pitchFamily="34" charset="-120"/>
              </a:rPr>
              <a:t>DAY 4  ·  GIT &amp; GITHUB FUNDAMENTALS</a:t>
            </a:r>
            <a:endParaRPr lang="en-US" sz="900" dirty="0"/>
          </a:p>
        </p:txBody>
      </p:sp>
      <p:sp>
        <p:nvSpPr>
          <p:cNvPr id="8" name="Text 5"/>
          <p:cNvSpPr/>
          <p:nvPr/>
        </p:nvSpPr>
        <p:spPr>
          <a:xfrm>
            <a:off x="11274552" y="6400800"/>
            <a:ext cx="548640" cy="292608"/>
          </a:xfrm>
          <a:prstGeom prst="rect">
            <a:avLst/>
          </a:prstGeom>
          <a:noFill/>
          <a:ln/>
        </p:spPr>
        <p:txBody>
          <a:bodyPr wrap="square" rtlCol="0" anchor="ctr"/>
          <a:lstStyle/>
          <a:p>
            <a:pPr marL="0" indent="0" algn="r">
              <a:buNone/>
            </a:pPr>
            <a:r>
              <a:rPr lang="en-US" sz="900" dirty="0">
                <a:solidFill>
                  <a:srgbClr val="8A97A3"/>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8285</Words>
  <Application>Microsoft Office PowerPoint</Application>
  <PresentationFormat>Widescreen</PresentationFormat>
  <Paragraphs>678</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Angel Dominic Kynnt Calixtro</cp:lastModifiedBy>
  <cp:revision>2</cp:revision>
  <dcterms:created xsi:type="dcterms:W3CDTF">2026-08-07T18:30:23Z</dcterms:created>
  <dcterms:modified xsi:type="dcterms:W3CDTF">2026-08-10T20:02:14Z</dcterms:modified>
</cp:coreProperties>
</file>